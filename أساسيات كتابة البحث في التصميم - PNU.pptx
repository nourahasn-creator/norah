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NU_TITLE">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760720" y="411480"/>
            <a:ext cx="5943600" cy="457200"/>
          </a:xfrm>
          <a:prstGeom prst="rect">
            <a:avLst/>
          </a:prstGeom>
          <a:noFill/>
          <a:ln/>
        </p:spPr>
        <p:txBody>
          <a:bodyPr wrap="square" lIns="0" tIns="0" rIns="0" bIns="0" rtlCol="0" anchor="ctr"/>
          <a:lstStyle/>
          <a:p>
            <a:pPr algn="r" indent="0" marL="0" rtl="1">
              <a:buNone/>
            </a:pPr>
            <a:r>
              <a:rPr lang="en-US" sz="2000" b="1" dirty="0">
                <a:solidFill>
                  <a:schemeClr val="bg1"/>
                </a:solidFill>
              </a:rPr>
              <a:t>جامعة الأميرة نورة بنت عبدالرحمن</a:t>
            </a:r>
            <a:endParaRPr lang="en-US" sz="2000" dirty="0"/>
          </a:p>
        </p:txBody>
      </p:sp>
      <p:sp>
        <p:nvSpPr>
          <p:cNvPr id="3" name="Text 1"/>
          <p:cNvSpPr/>
          <p:nvPr/>
        </p:nvSpPr>
        <p:spPr>
          <a:xfrm>
            <a:off x="5760720" y="868680"/>
            <a:ext cx="5943600" cy="320040"/>
          </a:xfrm>
          <a:prstGeom prst="rect">
            <a:avLst/>
          </a:prstGeom>
          <a:noFill/>
          <a:ln/>
        </p:spPr>
        <p:txBody>
          <a:bodyPr wrap="square" lIns="0" tIns="0" rIns="0" bIns="0" rtlCol="0" anchor="ctr"/>
          <a:lstStyle/>
          <a:p>
            <a:pPr algn="r" indent="0" marL="0">
              <a:buNone/>
            </a:pPr>
            <a:r>
              <a:rPr lang="en-US" sz="1200" dirty="0">
                <a:solidFill>
                  <a:schemeClr val="accent6"/>
                </a:solidFill>
              </a:rPr>
              <a:t>Princess Nourah bint Abdulrahman University</a:t>
            </a:r>
            <a:endParaRPr lang="en-US" sz="1200" dirty="0"/>
          </a:p>
        </p:txBody>
      </p:sp>
      <p:sp>
        <p:nvSpPr>
          <p:cNvPr id="4" name="Text 2"/>
          <p:cNvSpPr/>
          <p:nvPr>
            <p:ph idx="105" type="title" hasCustomPrompt="1"/>
          </p:nvPr>
        </p:nvSpPr>
        <p:spPr>
          <a:xfrm>
            <a:off x="2286000" y="2331720"/>
            <a:ext cx="9418320" cy="1463040"/>
          </a:xfrm>
          <a:prstGeom prst="rect">
            <a:avLst/>
          </a:prstGeom>
          <a:noFill/>
          <a:ln/>
        </p:spPr>
        <p:txBody>
          <a:bodyPr wrap="square" rtlCol="0"/>
          <a:lstStyle>
            <a:lvl1pPr rtl="1" algn="r" indent="0" marL="0">
              <a:buNone/>
              <a:defRPr lang="en-US" sz="4400" b="1" dirty="0">
                <a:solidFill>
                  <a:schemeClr val="bg1"/>
                </a:solidFill>
              </a:defRPr>
            </a:lvl1pPr>
          </a:lstStyle>
          <a:p>
            <a:pPr algn="r" indent="0" marL="0">
              <a:buNone/>
            </a:pPr>
            <a:endParaRPr lang="en-US" sz="4400" dirty="0"/>
          </a:p>
        </p:txBody>
      </p:sp>
      <p:sp>
        <p:nvSpPr>
          <p:cNvPr id="5" name="Text 2"/>
          <p:cNvSpPr/>
          <p:nvPr>
            <p:ph idx="106" type="body" hasCustomPrompt="1"/>
          </p:nvPr>
        </p:nvSpPr>
        <p:spPr>
          <a:xfrm>
            <a:off x="2286000" y="3977640"/>
            <a:ext cx="9418320" cy="548640"/>
          </a:xfrm>
          <a:prstGeom prst="rect">
            <a:avLst/>
          </a:prstGeom>
          <a:noFill/>
          <a:ln/>
        </p:spPr>
        <p:txBody>
          <a:bodyPr wrap="square" rtlCol="0"/>
          <a:lstStyle>
            <a:lvl1pPr rtl="1" algn="r" indent="0" marL="0">
              <a:buNone/>
              <a:defRPr lang="en-US" sz="2200" dirty="0">
                <a:solidFill>
                  <a:schemeClr val="accent2"/>
                </a:solidFill>
              </a:defRPr>
            </a:lvl1pPr>
          </a:lstStyle>
          <a:p>
            <a:pPr algn="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NU_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675120" y="274320"/>
            <a:ext cx="5056632" cy="292608"/>
          </a:xfrm>
          <a:prstGeom prst="rect">
            <a:avLst/>
          </a:prstGeom>
          <a:noFill/>
          <a:ln/>
        </p:spPr>
        <p:txBody>
          <a:bodyPr wrap="square" lIns="0" tIns="0" rIns="0" bIns="0" rtlCol="0" anchor="ctr"/>
          <a:lstStyle/>
          <a:p>
            <a:pPr algn="r" indent="0" marL="0" rtl="1">
              <a:buNone/>
            </a:pPr>
            <a:r>
              <a:rPr lang="en-US" sz="1200" b="1" dirty="0">
                <a:solidFill>
                  <a:schemeClr val="accent1"/>
                </a:solidFill>
              </a:rPr>
              <a:t>جامعة الأميرة نورة بنت عبدالرحمن</a:t>
            </a:r>
            <a:endParaRPr lang="en-US" sz="1200" dirty="0"/>
          </a:p>
        </p:txBody>
      </p:sp>
      <p:sp>
        <p:nvSpPr>
          <p:cNvPr id="3" name="Text 1"/>
          <p:cNvSpPr/>
          <p:nvPr/>
        </p:nvSpPr>
        <p:spPr>
          <a:xfrm>
            <a:off x="6675120" y="548640"/>
            <a:ext cx="5056632" cy="228600"/>
          </a:xfrm>
          <a:prstGeom prst="rect">
            <a:avLst/>
          </a:prstGeom>
          <a:noFill/>
          <a:ln/>
        </p:spPr>
        <p:txBody>
          <a:bodyPr wrap="square" lIns="0" tIns="0" rIns="0" bIns="0" rtlCol="0" anchor="ctr"/>
          <a:lstStyle/>
          <a:p>
            <a:pPr algn="r" indent="0" marL="0">
              <a:buNone/>
            </a:pPr>
            <a:r>
              <a:rPr lang="en-US" sz="900" dirty="0">
                <a:solidFill>
                  <a:schemeClr val="accent4"/>
                </a:solidFill>
              </a:rPr>
              <a:t>Princess Nourah bint Abdulrahman University</a:t>
            </a:r>
            <a:endParaRPr lang="en-US" sz="900" dirty="0"/>
          </a:p>
        </p:txBody>
      </p:sp>
      <p:sp>
        <p:nvSpPr>
          <p:cNvPr id="4" name="Text 2"/>
          <p:cNvSpPr/>
          <p:nvPr>
            <p:ph idx="104" type="title" hasCustomPrompt="1"/>
          </p:nvPr>
        </p:nvSpPr>
        <p:spPr>
          <a:xfrm>
            <a:off x="457200" y="914400"/>
            <a:ext cx="11274552" cy="685800"/>
          </a:xfrm>
          <a:prstGeom prst="rect">
            <a:avLst/>
          </a:prstGeom>
          <a:noFill/>
          <a:ln/>
        </p:spPr>
        <p:txBody>
          <a:bodyPr wrap="square" rtlCol="0"/>
          <a:lstStyle>
            <a:lvl1pPr rtl="1" algn="r" indent="0" marL="0">
              <a:buNone/>
              <a:defRPr lang="en-US" sz="3000" b="1" dirty="0">
                <a:solidFill>
                  <a:schemeClr val="tx2"/>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NU_END">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5120640"/>
            <a:ext cx="11274552" cy="411480"/>
          </a:xfrm>
          <a:prstGeom prst="rect">
            <a:avLst/>
          </a:prstGeom>
          <a:noFill/>
          <a:ln/>
        </p:spPr>
        <p:txBody>
          <a:bodyPr wrap="square" lIns="0" tIns="0" rIns="0" bIns="0" rtlCol="0" anchor="ctr"/>
          <a:lstStyle/>
          <a:p>
            <a:pPr algn="ctr" indent="0" marL="0" rtl="1">
              <a:buNone/>
            </a:pPr>
            <a:r>
              <a:rPr lang="en-US" sz="1800" b="1" dirty="0">
                <a:solidFill>
                  <a:schemeClr val="bg1"/>
                </a:solidFill>
              </a:rPr>
              <a:t>جامعة الأميرة نورة بنت عبدالرحمن</a:t>
            </a:r>
            <a:endParaRPr lang="en-US" sz="1800" dirty="0"/>
          </a:p>
        </p:txBody>
      </p:sp>
      <p:sp>
        <p:nvSpPr>
          <p:cNvPr id="3" name="Text 1"/>
          <p:cNvSpPr/>
          <p:nvPr/>
        </p:nvSpPr>
        <p:spPr>
          <a:xfrm>
            <a:off x="457200" y="5532120"/>
            <a:ext cx="11274552" cy="320040"/>
          </a:xfrm>
          <a:prstGeom prst="rect">
            <a:avLst/>
          </a:prstGeom>
          <a:noFill/>
          <a:ln/>
        </p:spPr>
        <p:txBody>
          <a:bodyPr wrap="square" lIns="0" tIns="0" rIns="0" bIns="0" rtlCol="0" anchor="ctr"/>
          <a:lstStyle/>
          <a:p>
            <a:pPr algn="ctr" indent="0" marL="0">
              <a:buNone/>
            </a:pPr>
            <a:r>
              <a:rPr lang="en-US" sz="1200" dirty="0">
                <a:solidFill>
                  <a:schemeClr val="accent6"/>
                </a:solidFill>
              </a:rPr>
              <a:t>Princess Nourah bint Abdulrahman University</a:t>
            </a:r>
            <a:endParaRPr lang="en-US" sz="1200" dirty="0"/>
          </a:p>
        </p:txBody>
      </p:sp>
      <p:sp>
        <p:nvSpPr>
          <p:cNvPr id="4" name="Text 2"/>
          <p:cNvSpPr/>
          <p:nvPr>
            <p:ph idx="104" type="title" hasCustomPrompt="1"/>
          </p:nvPr>
        </p:nvSpPr>
        <p:spPr>
          <a:xfrm>
            <a:off x="457200" y="2194560"/>
            <a:ext cx="11274552" cy="1463040"/>
          </a:xfrm>
          <a:prstGeom prst="rect">
            <a:avLst/>
          </a:prstGeom>
          <a:noFill/>
          <a:ln/>
        </p:spPr>
        <p:txBody>
          <a:bodyPr wrap="square" rtlCol="0"/>
          <a:lstStyle>
            <a:lvl1pPr rtl="1" algn="ctr" indent="0" marL="0">
              <a:buNone/>
              <a:defRPr lang="en-US" sz="6000" b="1" dirty="0">
                <a:solidFill>
                  <a:schemeClr val="bg1"/>
                </a:solidFill>
              </a:defRPr>
            </a:lvl1pPr>
          </a:lstStyle>
          <a:p>
            <a:pPr algn="ctr"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5" type="title" hasCustomPrompt="1"/>
          </p:nvPr>
        </p:nvSpPr>
        <p:spPr>
          <a:xfrm>
            <a:off x="2286000" y="2331720"/>
            <a:ext cx="9418320" cy="1463040"/>
          </a:xfrm>
          <a:prstGeom prst="rect">
            <a:avLst/>
          </a:prstGeom>
          <a:noFill/>
          <a:ln/>
        </p:spPr>
        <p:txBody>
          <a:bodyPr wrap="square" lIns="0" tIns="0" rIns="0" bIns="0" rtlCol="0" anchor="ctr"/>
          <a:lstStyle/>
          <a:p>
            <a:pPr rtl="1" algn="r" indent="0" marL="0">
              <a:buNone/>
            </a:pPr>
            <a:r>
              <a:rPr lang="en-US" sz="4400" b="1" dirty="0">
                <a:solidFill>
                  <a:schemeClr val="bg1"/>
                </a:solidFill>
              </a:rPr>
              <a:t>أساسيات كتابة البحث في التصميم</a:t>
            </a:r>
            <a:endParaRPr lang="en-US" sz="4400" dirty="0"/>
          </a:p>
        </p:txBody>
      </p:sp>
      <p:sp>
        <p:nvSpPr>
          <p:cNvPr id="3" name="Text 2"/>
          <p:cNvSpPr/>
          <p:nvPr>
            <p:ph idx="106" type="body" hasCustomPrompt="1"/>
          </p:nvPr>
        </p:nvSpPr>
        <p:spPr>
          <a:xfrm>
            <a:off x="2286000" y="3977640"/>
            <a:ext cx="9418320" cy="548640"/>
          </a:xfrm>
          <a:prstGeom prst="rect">
            <a:avLst/>
          </a:prstGeom>
          <a:noFill/>
          <a:ln/>
        </p:spPr>
        <p:txBody>
          <a:bodyPr wrap="square" lIns="0" tIns="0" rIns="0" bIns="0" rtlCol="0" anchor="t"/>
          <a:lstStyle/>
          <a:p>
            <a:pPr rtl="1" algn="r" indent="0" marL="0">
              <a:buNone/>
            </a:pPr>
            <a:r>
              <a:rPr lang="en-US" sz="2200" dirty="0">
                <a:solidFill>
                  <a:schemeClr val="accent2"/>
                </a:solidFill>
              </a:rPr>
              <a:t>إعداد: د. حنان بنت عبدالله الرشيد</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عنوان البحث</a:t>
            </a:r>
            <a:endParaRPr lang="en-US" sz="3000" dirty="0"/>
          </a:p>
        </p:txBody>
      </p:sp>
      <p:sp>
        <p:nvSpPr>
          <p:cNvPr id="3" name="Body"/>
          <p:cNvSpPr txBox="1"/>
          <p:nvPr/>
        </p:nvSpPr>
        <p:spPr>
          <a:xfrm>
            <a:off x="1371600" y="1874520"/>
            <a:ext cx="10360152" cy="914400"/>
          </a:xfrm>
          <a:prstGeom prst="rect">
            <a:avLst/>
          </a:prstGeom>
          <a:noFill/>
          <a:ln/>
        </p:spPr>
        <p:txBody>
          <a:bodyPr wrap="square" lIns="0" tIns="0" rIns="0" bIns="0" rtlCol="0" anchor="t"/>
          <a:lstStyle/>
          <a:p>
            <a:pPr algn="r" indent="0" marL="0" rtl="1">
              <a:lnSpc>
                <a:spcPct val="110000"/>
              </a:lnSpc>
              <a:spcAft>
                <a:spcPts val="600"/>
              </a:spcAft>
              <a:buNone/>
            </a:pPr>
            <a:r>
              <a:rPr lang="en-US" sz="2000" dirty="0">
                <a:solidFill>
                  <a:schemeClr val="tx1"/>
                </a:solidFill>
                <a:latin typeface="Arial" pitchFamily="34" charset="0"/>
                <a:ea typeface="Arial" pitchFamily="34" charset="-122"/>
                <a:cs typeface="Arial" pitchFamily="34" charset="-120"/>
              </a:rPr>
              <a:t>يتكون عنوان البحث المثالي من </a:t>
            </a:r>
            <a:pPr algn="r" indent="0" marL="0">
              <a:lnSpc>
                <a:spcPct val="110000"/>
              </a:lnSpc>
              <a:buNone/>
            </a:pPr>
            <a:r>
              <a:rPr lang="en-US" sz="2000" b="1" dirty="0">
                <a:solidFill>
                  <a:schemeClr val="tx1"/>
                </a:solidFill>
                <a:latin typeface="Arial" pitchFamily="34" charset="0"/>
                <a:ea typeface="Arial" pitchFamily="34" charset="-122"/>
                <a:cs typeface="Arial" pitchFamily="34" charset="-120"/>
              </a:rPr>
              <a:t>خمس خانات أساسية</a:t>
            </a:r>
            <a:pPr algn="r" indent="0" marL="0">
              <a:lnSpc>
                <a:spcPct val="110000"/>
              </a:lnSpc>
              <a:buNone/>
            </a:pPr>
            <a:r>
              <a:rPr lang="en-US" sz="2000" dirty="0">
                <a:solidFill>
                  <a:schemeClr val="tx1"/>
                </a:solidFill>
                <a:latin typeface="Arial" pitchFamily="34" charset="0"/>
                <a:ea typeface="Arial" pitchFamily="34" charset="-122"/>
                <a:cs typeface="Arial" pitchFamily="34" charset="-120"/>
              </a:rPr>
              <a:t> تضمن شمولية ودقة الدراسة، وهي: الغرض، المشكلة، الفئة المستهدفة، الحل، الموقع.</a:t>
            </a:r>
            <a:endParaRPr lang="en-US" sz="2000" dirty="0"/>
          </a:p>
        </p:txBody>
      </p:sp>
      <p:sp>
        <p:nvSpPr>
          <p:cNvPr id="4" name="Element 1"/>
          <p:cNvSpPr/>
          <p:nvPr/>
        </p:nvSpPr>
        <p:spPr>
          <a:xfrm>
            <a:off x="9674352" y="3246120"/>
            <a:ext cx="2057400" cy="2286000"/>
          </a:xfrm>
          <a:prstGeom prst="roundRect">
            <a:avLst>
              <a:gd name="adj" fmla="val 5333"/>
            </a:avLst>
          </a:prstGeom>
          <a:solidFill>
            <a:schemeClr val="bg2"/>
          </a:solidFill>
          <a:ln/>
        </p:spPr>
      </p:sp>
      <p:sp>
        <p:nvSpPr>
          <p:cNvPr id="5" name="Element 1 badge"/>
          <p:cNvSpPr/>
          <p:nvPr/>
        </p:nvSpPr>
        <p:spPr>
          <a:xfrm>
            <a:off x="10337292" y="3520440"/>
            <a:ext cx="731520" cy="731520"/>
          </a:xfrm>
          <a:prstGeom prst="ellipse">
            <a:avLst/>
          </a:prstGeom>
          <a:solidFill>
            <a:schemeClr val="accent1"/>
          </a:solidFill>
          <a:ln/>
        </p:spPr>
      </p:sp>
      <p:sp>
        <p:nvSpPr>
          <p:cNvPr id="6" name="Text 4"/>
          <p:cNvSpPr txBox="1"/>
          <p:nvPr/>
        </p:nvSpPr>
        <p:spPr>
          <a:xfrm>
            <a:off x="10337292" y="3520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5"/>
          <p:cNvSpPr txBox="1"/>
          <p:nvPr/>
        </p:nvSpPr>
        <p:spPr>
          <a:xfrm>
            <a:off x="9765792" y="4389120"/>
            <a:ext cx="1874520" cy="502920"/>
          </a:xfrm>
          <a:prstGeom prst="rect">
            <a:avLst/>
          </a:prstGeom>
          <a:noFill/>
          <a:ln/>
        </p:spPr>
        <p:txBody>
          <a:bodyPr wrap="square" lIns="0" tIns="0" rIns="0" bIns="0" rtlCol="0" anchor="ctr"/>
          <a:lstStyle/>
          <a:p>
            <a:pPr rtl="1" algn="ctr" indent="0" marL="0">
              <a:buNone/>
            </a:pPr>
            <a:r>
              <a:rPr lang="en-US" sz="2000" b="1" dirty="0">
                <a:solidFill>
                  <a:schemeClr val="tx2"/>
                </a:solidFill>
              </a:rPr>
              <a:t>الغرض</a:t>
            </a:r>
            <a:endParaRPr lang="en-US" sz="2000" dirty="0"/>
          </a:p>
        </p:txBody>
      </p:sp>
      <p:sp>
        <p:nvSpPr>
          <p:cNvPr id="8" name="Text 6"/>
          <p:cNvSpPr txBox="1"/>
          <p:nvPr/>
        </p:nvSpPr>
        <p:spPr>
          <a:xfrm>
            <a:off x="9765792" y="4892040"/>
            <a:ext cx="1874520" cy="365760"/>
          </a:xfrm>
          <a:prstGeom prst="rect">
            <a:avLst/>
          </a:prstGeom>
          <a:noFill/>
          <a:ln/>
        </p:spPr>
        <p:txBody>
          <a:bodyPr wrap="square" lIns="0" tIns="0" rIns="0" bIns="0" rtlCol="0" anchor="ctr"/>
          <a:lstStyle/>
          <a:p>
            <a:pPr algn="ctr" indent="0" marL="0">
              <a:buNone/>
            </a:pPr>
            <a:r>
              <a:rPr lang="en-US" sz="1400" dirty="0">
                <a:solidFill>
                  <a:schemeClr val="accent1"/>
                </a:solidFill>
              </a:rPr>
              <a:t>Purpose</a:t>
            </a:r>
            <a:endParaRPr lang="en-US" sz="1400" dirty="0"/>
          </a:p>
        </p:txBody>
      </p:sp>
      <p:sp>
        <p:nvSpPr>
          <p:cNvPr id="9" name="Element 2"/>
          <p:cNvSpPr/>
          <p:nvPr/>
        </p:nvSpPr>
        <p:spPr>
          <a:xfrm>
            <a:off x="7370064" y="3246120"/>
            <a:ext cx="2057400" cy="2286000"/>
          </a:xfrm>
          <a:prstGeom prst="roundRect">
            <a:avLst>
              <a:gd name="adj" fmla="val 5333"/>
            </a:avLst>
          </a:prstGeom>
          <a:solidFill>
            <a:schemeClr val="bg2"/>
          </a:solidFill>
          <a:ln/>
        </p:spPr>
      </p:sp>
      <p:sp>
        <p:nvSpPr>
          <p:cNvPr id="10" name="Element 2 badge"/>
          <p:cNvSpPr/>
          <p:nvPr/>
        </p:nvSpPr>
        <p:spPr>
          <a:xfrm>
            <a:off x="8033004" y="3520440"/>
            <a:ext cx="731520" cy="731520"/>
          </a:xfrm>
          <a:prstGeom prst="ellipse">
            <a:avLst/>
          </a:prstGeom>
          <a:solidFill>
            <a:schemeClr val="accent1"/>
          </a:solidFill>
          <a:ln/>
        </p:spPr>
      </p:sp>
      <p:sp>
        <p:nvSpPr>
          <p:cNvPr id="11" name="Text 9"/>
          <p:cNvSpPr txBox="1"/>
          <p:nvPr/>
        </p:nvSpPr>
        <p:spPr>
          <a:xfrm>
            <a:off x="8033004" y="3520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10"/>
          <p:cNvSpPr txBox="1"/>
          <p:nvPr/>
        </p:nvSpPr>
        <p:spPr>
          <a:xfrm>
            <a:off x="7461504" y="4389120"/>
            <a:ext cx="1874520" cy="502920"/>
          </a:xfrm>
          <a:prstGeom prst="rect">
            <a:avLst/>
          </a:prstGeom>
          <a:noFill/>
          <a:ln/>
        </p:spPr>
        <p:txBody>
          <a:bodyPr wrap="square" lIns="0" tIns="0" rIns="0" bIns="0" rtlCol="0" anchor="ctr"/>
          <a:lstStyle/>
          <a:p>
            <a:pPr rtl="1" algn="ctr" indent="0" marL="0">
              <a:buNone/>
            </a:pPr>
            <a:r>
              <a:rPr lang="en-US" sz="2000" b="1" dirty="0">
                <a:solidFill>
                  <a:schemeClr val="tx2"/>
                </a:solidFill>
              </a:rPr>
              <a:t>المشكلة</a:t>
            </a:r>
            <a:endParaRPr lang="en-US" sz="2000" dirty="0"/>
          </a:p>
        </p:txBody>
      </p:sp>
      <p:sp>
        <p:nvSpPr>
          <p:cNvPr id="13" name="Text 11"/>
          <p:cNvSpPr txBox="1"/>
          <p:nvPr/>
        </p:nvSpPr>
        <p:spPr>
          <a:xfrm>
            <a:off x="7461504" y="4892040"/>
            <a:ext cx="1874520" cy="365760"/>
          </a:xfrm>
          <a:prstGeom prst="rect">
            <a:avLst/>
          </a:prstGeom>
          <a:noFill/>
          <a:ln/>
        </p:spPr>
        <p:txBody>
          <a:bodyPr wrap="square" lIns="0" tIns="0" rIns="0" bIns="0" rtlCol="0" anchor="ctr"/>
          <a:lstStyle/>
          <a:p>
            <a:pPr algn="ctr" indent="0" marL="0">
              <a:buNone/>
            </a:pPr>
            <a:r>
              <a:rPr lang="en-US" sz="1400" dirty="0">
                <a:solidFill>
                  <a:schemeClr val="accent1"/>
                </a:solidFill>
              </a:rPr>
              <a:t>Issues</a:t>
            </a:r>
            <a:endParaRPr lang="en-US" sz="1400" dirty="0"/>
          </a:p>
        </p:txBody>
      </p:sp>
      <p:sp>
        <p:nvSpPr>
          <p:cNvPr id="14" name="Element 3"/>
          <p:cNvSpPr/>
          <p:nvPr/>
        </p:nvSpPr>
        <p:spPr>
          <a:xfrm>
            <a:off x="5065776" y="3246120"/>
            <a:ext cx="2057400" cy="2286000"/>
          </a:xfrm>
          <a:prstGeom prst="roundRect">
            <a:avLst>
              <a:gd name="adj" fmla="val 5333"/>
            </a:avLst>
          </a:prstGeom>
          <a:solidFill>
            <a:schemeClr val="bg2"/>
          </a:solidFill>
          <a:ln/>
        </p:spPr>
      </p:sp>
      <p:sp>
        <p:nvSpPr>
          <p:cNvPr id="15" name="Element 3 badge"/>
          <p:cNvSpPr/>
          <p:nvPr/>
        </p:nvSpPr>
        <p:spPr>
          <a:xfrm>
            <a:off x="5728716" y="3520440"/>
            <a:ext cx="731520" cy="731520"/>
          </a:xfrm>
          <a:prstGeom prst="ellipse">
            <a:avLst/>
          </a:prstGeom>
          <a:solidFill>
            <a:schemeClr val="accent1"/>
          </a:solidFill>
          <a:ln/>
        </p:spPr>
      </p:sp>
      <p:sp>
        <p:nvSpPr>
          <p:cNvPr id="16" name="Text 14"/>
          <p:cNvSpPr txBox="1"/>
          <p:nvPr/>
        </p:nvSpPr>
        <p:spPr>
          <a:xfrm>
            <a:off x="5728716" y="3520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 15"/>
          <p:cNvSpPr txBox="1"/>
          <p:nvPr/>
        </p:nvSpPr>
        <p:spPr>
          <a:xfrm>
            <a:off x="5157216" y="4389120"/>
            <a:ext cx="1874520" cy="502920"/>
          </a:xfrm>
          <a:prstGeom prst="rect">
            <a:avLst/>
          </a:prstGeom>
          <a:noFill/>
          <a:ln/>
        </p:spPr>
        <p:txBody>
          <a:bodyPr wrap="square" lIns="0" tIns="0" rIns="0" bIns="0" rtlCol="0" anchor="ctr"/>
          <a:lstStyle/>
          <a:p>
            <a:pPr rtl="1" algn="ctr" indent="0" marL="0">
              <a:buNone/>
            </a:pPr>
            <a:r>
              <a:rPr lang="en-US" sz="2000" b="1" dirty="0">
                <a:solidFill>
                  <a:schemeClr val="tx2"/>
                </a:solidFill>
              </a:rPr>
              <a:t>الفئة المستهدفة</a:t>
            </a:r>
            <a:endParaRPr lang="en-US" sz="2000" dirty="0"/>
          </a:p>
        </p:txBody>
      </p:sp>
      <p:sp>
        <p:nvSpPr>
          <p:cNvPr id="18" name="Text 16"/>
          <p:cNvSpPr txBox="1"/>
          <p:nvPr/>
        </p:nvSpPr>
        <p:spPr>
          <a:xfrm>
            <a:off x="5157216" y="4892040"/>
            <a:ext cx="1874520" cy="365760"/>
          </a:xfrm>
          <a:prstGeom prst="rect">
            <a:avLst/>
          </a:prstGeom>
          <a:noFill/>
          <a:ln/>
        </p:spPr>
        <p:txBody>
          <a:bodyPr wrap="square" lIns="0" tIns="0" rIns="0" bIns="0" rtlCol="0" anchor="ctr"/>
          <a:lstStyle/>
          <a:p>
            <a:pPr algn="ctr" indent="0" marL="0">
              <a:buNone/>
            </a:pPr>
            <a:r>
              <a:rPr lang="en-US" sz="1400" dirty="0">
                <a:solidFill>
                  <a:schemeClr val="accent1"/>
                </a:solidFill>
              </a:rPr>
              <a:t>Populations</a:t>
            </a:r>
            <a:endParaRPr lang="en-US" sz="1400" dirty="0"/>
          </a:p>
        </p:txBody>
      </p:sp>
      <p:sp>
        <p:nvSpPr>
          <p:cNvPr id="19" name="Element 4"/>
          <p:cNvSpPr/>
          <p:nvPr/>
        </p:nvSpPr>
        <p:spPr>
          <a:xfrm>
            <a:off x="2761488" y="3246120"/>
            <a:ext cx="2057400" cy="2286000"/>
          </a:xfrm>
          <a:prstGeom prst="roundRect">
            <a:avLst>
              <a:gd name="adj" fmla="val 5333"/>
            </a:avLst>
          </a:prstGeom>
          <a:solidFill>
            <a:schemeClr val="bg2"/>
          </a:solidFill>
          <a:ln/>
        </p:spPr>
      </p:sp>
      <p:sp>
        <p:nvSpPr>
          <p:cNvPr id="20" name="Element 4 badge"/>
          <p:cNvSpPr/>
          <p:nvPr/>
        </p:nvSpPr>
        <p:spPr>
          <a:xfrm>
            <a:off x="3424428" y="3520440"/>
            <a:ext cx="731520" cy="731520"/>
          </a:xfrm>
          <a:prstGeom prst="ellipse">
            <a:avLst/>
          </a:prstGeom>
          <a:solidFill>
            <a:schemeClr val="accent1"/>
          </a:solidFill>
          <a:ln/>
        </p:spPr>
      </p:sp>
      <p:sp>
        <p:nvSpPr>
          <p:cNvPr id="21" name="Text 19"/>
          <p:cNvSpPr txBox="1"/>
          <p:nvPr/>
        </p:nvSpPr>
        <p:spPr>
          <a:xfrm>
            <a:off x="3424428" y="3520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2" name="Text 20"/>
          <p:cNvSpPr txBox="1"/>
          <p:nvPr/>
        </p:nvSpPr>
        <p:spPr>
          <a:xfrm>
            <a:off x="2852928" y="4389120"/>
            <a:ext cx="1874520" cy="502920"/>
          </a:xfrm>
          <a:prstGeom prst="rect">
            <a:avLst/>
          </a:prstGeom>
          <a:noFill/>
          <a:ln/>
        </p:spPr>
        <p:txBody>
          <a:bodyPr wrap="square" lIns="0" tIns="0" rIns="0" bIns="0" rtlCol="0" anchor="ctr"/>
          <a:lstStyle/>
          <a:p>
            <a:pPr rtl="1" algn="ctr" indent="0" marL="0">
              <a:buNone/>
            </a:pPr>
            <a:r>
              <a:rPr lang="en-US" sz="2000" b="1" dirty="0">
                <a:solidFill>
                  <a:schemeClr val="tx2"/>
                </a:solidFill>
              </a:rPr>
              <a:t>الحل</a:t>
            </a:r>
            <a:endParaRPr lang="en-US" sz="2000" dirty="0"/>
          </a:p>
        </p:txBody>
      </p:sp>
      <p:sp>
        <p:nvSpPr>
          <p:cNvPr id="23" name="Text 21"/>
          <p:cNvSpPr txBox="1"/>
          <p:nvPr/>
        </p:nvSpPr>
        <p:spPr>
          <a:xfrm>
            <a:off x="2852928" y="4892040"/>
            <a:ext cx="1874520" cy="365760"/>
          </a:xfrm>
          <a:prstGeom prst="rect">
            <a:avLst/>
          </a:prstGeom>
          <a:noFill/>
          <a:ln/>
        </p:spPr>
        <p:txBody>
          <a:bodyPr wrap="square" lIns="0" tIns="0" rIns="0" bIns="0" rtlCol="0" anchor="ctr"/>
          <a:lstStyle/>
          <a:p>
            <a:pPr algn="ctr" indent="0" marL="0">
              <a:buNone/>
            </a:pPr>
            <a:r>
              <a:rPr lang="en-US" sz="1400" dirty="0">
                <a:solidFill>
                  <a:schemeClr val="accent1"/>
                </a:solidFill>
              </a:rPr>
              <a:t>Solutions</a:t>
            </a:r>
            <a:endParaRPr lang="en-US" sz="1400" dirty="0"/>
          </a:p>
        </p:txBody>
      </p:sp>
      <p:sp>
        <p:nvSpPr>
          <p:cNvPr id="24" name="Element 5"/>
          <p:cNvSpPr/>
          <p:nvPr/>
        </p:nvSpPr>
        <p:spPr>
          <a:xfrm>
            <a:off x="457200" y="3246120"/>
            <a:ext cx="2057400" cy="2286000"/>
          </a:xfrm>
          <a:prstGeom prst="roundRect">
            <a:avLst>
              <a:gd name="adj" fmla="val 5333"/>
            </a:avLst>
          </a:prstGeom>
          <a:solidFill>
            <a:schemeClr val="bg2"/>
          </a:solidFill>
          <a:ln/>
        </p:spPr>
      </p:sp>
      <p:sp>
        <p:nvSpPr>
          <p:cNvPr id="25" name="Element 5 badge"/>
          <p:cNvSpPr/>
          <p:nvPr/>
        </p:nvSpPr>
        <p:spPr>
          <a:xfrm>
            <a:off x="1120140" y="3520440"/>
            <a:ext cx="731520" cy="731520"/>
          </a:xfrm>
          <a:prstGeom prst="ellipse">
            <a:avLst/>
          </a:prstGeom>
          <a:solidFill>
            <a:schemeClr val="accent1"/>
          </a:solidFill>
          <a:ln/>
        </p:spPr>
      </p:sp>
      <p:sp>
        <p:nvSpPr>
          <p:cNvPr id="26" name="Text 24"/>
          <p:cNvSpPr txBox="1"/>
          <p:nvPr/>
        </p:nvSpPr>
        <p:spPr>
          <a:xfrm>
            <a:off x="1120140" y="3520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7" name="Text 25"/>
          <p:cNvSpPr txBox="1"/>
          <p:nvPr/>
        </p:nvSpPr>
        <p:spPr>
          <a:xfrm>
            <a:off x="548640" y="4389120"/>
            <a:ext cx="1874520" cy="502920"/>
          </a:xfrm>
          <a:prstGeom prst="rect">
            <a:avLst/>
          </a:prstGeom>
          <a:noFill/>
          <a:ln/>
        </p:spPr>
        <p:txBody>
          <a:bodyPr wrap="square" lIns="0" tIns="0" rIns="0" bIns="0" rtlCol="0" anchor="ctr"/>
          <a:lstStyle/>
          <a:p>
            <a:pPr rtl="1" algn="ctr" indent="0" marL="0">
              <a:buNone/>
            </a:pPr>
            <a:r>
              <a:rPr lang="en-US" sz="2000" b="1" dirty="0">
                <a:solidFill>
                  <a:schemeClr val="tx2"/>
                </a:solidFill>
              </a:rPr>
              <a:t>الموقع</a:t>
            </a:r>
            <a:endParaRPr lang="en-US" sz="2000" dirty="0"/>
          </a:p>
        </p:txBody>
      </p:sp>
      <p:sp>
        <p:nvSpPr>
          <p:cNvPr id="28" name="Text 26"/>
          <p:cNvSpPr txBox="1"/>
          <p:nvPr/>
        </p:nvSpPr>
        <p:spPr>
          <a:xfrm>
            <a:off x="548640" y="4892040"/>
            <a:ext cx="1874520" cy="365760"/>
          </a:xfrm>
          <a:prstGeom prst="rect">
            <a:avLst/>
          </a:prstGeom>
          <a:noFill/>
          <a:ln/>
        </p:spPr>
        <p:txBody>
          <a:bodyPr wrap="square" lIns="0" tIns="0" rIns="0" bIns="0" rtlCol="0" anchor="ctr"/>
          <a:lstStyle/>
          <a:p>
            <a:pPr algn="ctr" indent="0" marL="0">
              <a:buNone/>
            </a:pPr>
            <a:r>
              <a:rPr lang="en-US" sz="1400" dirty="0">
                <a:solidFill>
                  <a:schemeClr val="accent1"/>
                </a:solidFill>
              </a:rPr>
              <a:t>Location</a:t>
            </a:r>
            <a:endParaRPr lang="en-US" sz="14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الغرض (Purpose): الكلمة الافتتاحية التي تحدد توجه البحث</a:t>
            </a:r>
            <a:endParaRPr lang="en-US" sz="3000" dirty="0"/>
          </a:p>
        </p:txBody>
      </p:sp>
      <p:sp>
        <p:nvSpPr>
          <p:cNvPr id="3" name="Purpose card 1"/>
          <p:cNvSpPr/>
          <p:nvPr/>
        </p:nvSpPr>
        <p:spPr>
          <a:xfrm>
            <a:off x="6245352" y="1965960"/>
            <a:ext cx="5486400" cy="4069080"/>
          </a:xfrm>
          <a:prstGeom prst="roundRect">
            <a:avLst>
              <a:gd name="adj" fmla="val 2697"/>
            </a:avLst>
          </a:prstGeom>
          <a:solidFill>
            <a:schemeClr val="bg2"/>
          </a:solidFill>
          <a:ln/>
        </p:spPr>
      </p:sp>
      <p:sp>
        <p:nvSpPr>
          <p:cNvPr id="4" name="Term"/>
          <p:cNvSpPr txBox="1"/>
          <p:nvPr/>
        </p:nvSpPr>
        <p:spPr>
          <a:xfrm>
            <a:off x="6565392"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فاعلية</a:t>
            </a:r>
            <a:endParaRPr lang="en-US" sz="2400" dirty="0"/>
          </a:p>
        </p:txBody>
      </p:sp>
      <p:sp>
        <p:nvSpPr>
          <p:cNvPr id="5" name="Term EN"/>
          <p:cNvSpPr txBox="1"/>
          <p:nvPr/>
        </p:nvSpPr>
        <p:spPr>
          <a:xfrm>
            <a:off x="6565392"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Effectiveness</a:t>
            </a:r>
            <a:endParaRPr lang="en-US" sz="1500" dirty="0"/>
          </a:p>
        </p:txBody>
      </p:sp>
      <p:sp>
        <p:nvSpPr>
          <p:cNvPr id="6" name="Body"/>
          <p:cNvSpPr txBox="1"/>
          <p:nvPr/>
        </p:nvSpPr>
        <p:spPr>
          <a:xfrm>
            <a:off x="6565392"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عندما تريد إثبات مدى نجاح "حل" معين أو "برنامج" في تحقيق نتائج ملموسة.</a:t>
            </a:r>
            <a:endParaRPr lang="en-US" sz="1600" dirty="0"/>
          </a:p>
        </p:txBody>
      </p:sp>
      <p:sp>
        <p:nvSpPr>
          <p:cNvPr id="7" name="Example box"/>
          <p:cNvSpPr/>
          <p:nvPr/>
        </p:nvSpPr>
        <p:spPr>
          <a:xfrm>
            <a:off x="6519672" y="4709160"/>
            <a:ext cx="4937760" cy="1097280"/>
          </a:xfrm>
          <a:prstGeom prst="roundRect">
            <a:avLst>
              <a:gd name="adj" fmla="val 6667"/>
            </a:avLst>
          </a:prstGeom>
          <a:solidFill>
            <a:schemeClr val="bg1"/>
          </a:solidFill>
          <a:ln w="12700">
            <a:solidFill>
              <a:schemeClr val="accent3"/>
            </a:solidFill>
            <a:prstDash val="solid"/>
          </a:ln>
        </p:spPr>
      </p:sp>
      <p:sp>
        <p:nvSpPr>
          <p:cNvPr id="8" name="Body"/>
          <p:cNvSpPr txBox="1"/>
          <p:nvPr/>
        </p:nvSpPr>
        <p:spPr>
          <a:xfrm>
            <a:off x="6702552"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فاعلية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استخدام الواقع المعزز في تحسين التحصيل الدراسي...</a:t>
            </a:r>
            <a:endParaRPr lang="en-US" sz="1400" dirty="0"/>
          </a:p>
        </p:txBody>
      </p:sp>
      <p:sp>
        <p:nvSpPr>
          <p:cNvPr id="9" name="Purpose card 2"/>
          <p:cNvSpPr/>
          <p:nvPr/>
        </p:nvSpPr>
        <p:spPr>
          <a:xfrm>
            <a:off x="457200" y="1965960"/>
            <a:ext cx="5486400" cy="4069080"/>
          </a:xfrm>
          <a:prstGeom prst="roundRect">
            <a:avLst>
              <a:gd name="adj" fmla="val 2697"/>
            </a:avLst>
          </a:prstGeom>
          <a:solidFill>
            <a:schemeClr val="bg2"/>
          </a:solidFill>
          <a:ln/>
        </p:spPr>
      </p:sp>
      <p:sp>
        <p:nvSpPr>
          <p:cNvPr id="10" name="Term"/>
          <p:cNvSpPr txBox="1"/>
          <p:nvPr/>
        </p:nvSpPr>
        <p:spPr>
          <a:xfrm>
            <a:off x="777240"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دور</a:t>
            </a:r>
            <a:endParaRPr lang="en-US" sz="2400" dirty="0"/>
          </a:p>
        </p:txBody>
      </p:sp>
      <p:sp>
        <p:nvSpPr>
          <p:cNvPr id="11" name="Term EN"/>
          <p:cNvSpPr txBox="1"/>
          <p:nvPr/>
        </p:nvSpPr>
        <p:spPr>
          <a:xfrm>
            <a:off x="777240"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Role</a:t>
            </a:r>
            <a:endParaRPr lang="en-US" sz="1500" dirty="0"/>
          </a:p>
        </p:txBody>
      </p:sp>
      <p:sp>
        <p:nvSpPr>
          <p:cNvPr id="12" name="Body"/>
          <p:cNvSpPr txBox="1"/>
          <p:nvPr/>
        </p:nvSpPr>
        <p:spPr>
          <a:xfrm>
            <a:off x="777240"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لإبراز مساهمة عنصر معين في قضية ما، وهي أقل حدة من كلمة "أثر".</a:t>
            </a:r>
            <a:endParaRPr lang="en-US" sz="1600" dirty="0"/>
          </a:p>
        </p:txBody>
      </p:sp>
      <p:sp>
        <p:nvSpPr>
          <p:cNvPr id="13" name="Example box"/>
          <p:cNvSpPr/>
          <p:nvPr/>
        </p:nvSpPr>
        <p:spPr>
          <a:xfrm>
            <a:off x="731520" y="4709160"/>
            <a:ext cx="4937760" cy="1097280"/>
          </a:xfrm>
          <a:prstGeom prst="roundRect">
            <a:avLst>
              <a:gd name="adj" fmla="val 6667"/>
            </a:avLst>
          </a:prstGeom>
          <a:solidFill>
            <a:schemeClr val="bg1"/>
          </a:solidFill>
          <a:ln w="12700">
            <a:solidFill>
              <a:schemeClr val="accent3"/>
            </a:solidFill>
            <a:prstDash val="solid"/>
          </a:ln>
        </p:spPr>
      </p:sp>
      <p:sp>
        <p:nvSpPr>
          <p:cNvPr id="14" name="Body"/>
          <p:cNvSpPr txBox="1"/>
          <p:nvPr/>
        </p:nvSpPr>
        <p:spPr>
          <a:xfrm>
            <a:off x="914400"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دور</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القيادة التحويلية في تعزيز الولاء المؤسسي...</a:t>
            </a:r>
            <a:endParaRPr lang="en-US" sz="14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الغرض (Purpose): الكلمة الافتتاحية التي تحدد توجه البحث</a:t>
            </a:r>
            <a:endParaRPr lang="en-US" sz="3000" dirty="0"/>
          </a:p>
        </p:txBody>
      </p:sp>
      <p:sp>
        <p:nvSpPr>
          <p:cNvPr id="3" name="Purpose card 1"/>
          <p:cNvSpPr/>
          <p:nvPr/>
        </p:nvSpPr>
        <p:spPr>
          <a:xfrm>
            <a:off x="6245352" y="1965960"/>
            <a:ext cx="5486400" cy="4069080"/>
          </a:xfrm>
          <a:prstGeom prst="roundRect">
            <a:avLst>
              <a:gd name="adj" fmla="val 2697"/>
            </a:avLst>
          </a:prstGeom>
          <a:solidFill>
            <a:schemeClr val="bg2"/>
          </a:solidFill>
          <a:ln/>
        </p:spPr>
      </p:sp>
      <p:sp>
        <p:nvSpPr>
          <p:cNvPr id="4" name="Term"/>
          <p:cNvSpPr txBox="1"/>
          <p:nvPr/>
        </p:nvSpPr>
        <p:spPr>
          <a:xfrm>
            <a:off x="6565392"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أثر</a:t>
            </a:r>
            <a:endParaRPr lang="en-US" sz="2400" dirty="0"/>
          </a:p>
        </p:txBody>
      </p:sp>
      <p:sp>
        <p:nvSpPr>
          <p:cNvPr id="5" name="Term EN"/>
          <p:cNvSpPr txBox="1"/>
          <p:nvPr/>
        </p:nvSpPr>
        <p:spPr>
          <a:xfrm>
            <a:off x="6565392"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Impact / Effect</a:t>
            </a:r>
            <a:endParaRPr lang="en-US" sz="1500" dirty="0"/>
          </a:p>
        </p:txBody>
      </p:sp>
      <p:sp>
        <p:nvSpPr>
          <p:cNvPr id="6" name="Body"/>
          <p:cNvSpPr txBox="1"/>
          <p:nvPr/>
        </p:nvSpPr>
        <p:spPr>
          <a:xfrm>
            <a:off x="6565392"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عندما تريد معرفة مدى التغيير الذي أحدثه "شيء معين" على "ظاهرة ما". هي الأنسب للبحوث التي تحتوي على تجربة أو برنامج تريد رؤية نتائجه.</a:t>
            </a:r>
            <a:endParaRPr lang="en-US" sz="1600" dirty="0"/>
          </a:p>
        </p:txBody>
      </p:sp>
      <p:sp>
        <p:nvSpPr>
          <p:cNvPr id="7" name="Example box"/>
          <p:cNvSpPr/>
          <p:nvPr/>
        </p:nvSpPr>
        <p:spPr>
          <a:xfrm>
            <a:off x="6519672" y="4709160"/>
            <a:ext cx="4937760" cy="1097280"/>
          </a:xfrm>
          <a:prstGeom prst="roundRect">
            <a:avLst>
              <a:gd name="adj" fmla="val 6667"/>
            </a:avLst>
          </a:prstGeom>
          <a:solidFill>
            <a:schemeClr val="bg1"/>
          </a:solidFill>
          <a:ln w="12700">
            <a:solidFill>
              <a:schemeClr val="accent3"/>
            </a:solidFill>
            <a:prstDash val="solid"/>
          </a:ln>
        </p:spPr>
      </p:sp>
      <p:sp>
        <p:nvSpPr>
          <p:cNvPr id="8" name="Body"/>
          <p:cNvSpPr txBox="1"/>
          <p:nvPr/>
        </p:nvSpPr>
        <p:spPr>
          <a:xfrm>
            <a:off x="6702552"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أثر</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استخدام منصة مدرستي في رفع مستوى التحصيل الدراسي لدى طلاب المرحلة الابتدائية في مدينة الرياض.</a:t>
            </a:r>
            <a:endParaRPr lang="en-US" sz="1400" dirty="0"/>
          </a:p>
        </p:txBody>
      </p:sp>
      <p:sp>
        <p:nvSpPr>
          <p:cNvPr id="9" name="Purpose card 2"/>
          <p:cNvSpPr/>
          <p:nvPr/>
        </p:nvSpPr>
        <p:spPr>
          <a:xfrm>
            <a:off x="457200" y="1965960"/>
            <a:ext cx="5486400" cy="4069080"/>
          </a:xfrm>
          <a:prstGeom prst="roundRect">
            <a:avLst>
              <a:gd name="adj" fmla="val 2697"/>
            </a:avLst>
          </a:prstGeom>
          <a:solidFill>
            <a:schemeClr val="bg2"/>
          </a:solidFill>
          <a:ln/>
        </p:spPr>
      </p:sp>
      <p:sp>
        <p:nvSpPr>
          <p:cNvPr id="10" name="Term"/>
          <p:cNvSpPr txBox="1"/>
          <p:nvPr/>
        </p:nvSpPr>
        <p:spPr>
          <a:xfrm>
            <a:off x="777240"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تقييم</a:t>
            </a:r>
            <a:endParaRPr lang="en-US" sz="2400" dirty="0"/>
          </a:p>
        </p:txBody>
      </p:sp>
      <p:sp>
        <p:nvSpPr>
          <p:cNvPr id="11" name="Term EN"/>
          <p:cNvSpPr txBox="1"/>
          <p:nvPr/>
        </p:nvSpPr>
        <p:spPr>
          <a:xfrm>
            <a:off x="777240"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Evaluation</a:t>
            </a:r>
            <a:endParaRPr lang="en-US" sz="1500" dirty="0"/>
          </a:p>
        </p:txBody>
      </p:sp>
      <p:sp>
        <p:nvSpPr>
          <p:cNvPr id="12" name="Body"/>
          <p:cNvSpPr txBox="1"/>
          <p:nvPr/>
        </p:nvSpPr>
        <p:spPr>
          <a:xfrm>
            <a:off x="777240"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عندما يكون الهدف هو نقد وضع قائم أو برنامج مفعل حالياً لمعرفة نقاط قوته وضعفه.</a:t>
            </a:r>
            <a:endParaRPr lang="en-US" sz="1600" dirty="0"/>
          </a:p>
        </p:txBody>
      </p:sp>
      <p:sp>
        <p:nvSpPr>
          <p:cNvPr id="13" name="Example box"/>
          <p:cNvSpPr/>
          <p:nvPr/>
        </p:nvSpPr>
        <p:spPr>
          <a:xfrm>
            <a:off x="731520" y="4709160"/>
            <a:ext cx="4937760" cy="1097280"/>
          </a:xfrm>
          <a:prstGeom prst="roundRect">
            <a:avLst>
              <a:gd name="adj" fmla="val 6667"/>
            </a:avLst>
          </a:prstGeom>
          <a:solidFill>
            <a:schemeClr val="bg1"/>
          </a:solidFill>
          <a:ln w="12700">
            <a:solidFill>
              <a:schemeClr val="accent3"/>
            </a:solidFill>
            <a:prstDash val="solid"/>
          </a:ln>
        </p:spPr>
      </p:sp>
      <p:sp>
        <p:nvSpPr>
          <p:cNvPr id="14" name="Body"/>
          <p:cNvSpPr txBox="1"/>
          <p:nvPr/>
        </p:nvSpPr>
        <p:spPr>
          <a:xfrm>
            <a:off x="914400"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تقييم</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جودة الخدمات الصحية في المستشفيات الحكومية...</a:t>
            </a:r>
            <a:endParaRPr lang="en-US" sz="14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الغرض (Purpose): الكلمة الافتتاحية التي تحدد توجه البحث</a:t>
            </a:r>
            <a:endParaRPr lang="en-US" sz="3000" dirty="0"/>
          </a:p>
        </p:txBody>
      </p:sp>
      <p:sp>
        <p:nvSpPr>
          <p:cNvPr id="3" name="Purpose card 1"/>
          <p:cNvSpPr/>
          <p:nvPr/>
        </p:nvSpPr>
        <p:spPr>
          <a:xfrm>
            <a:off x="6245352" y="1965960"/>
            <a:ext cx="5486400" cy="4069080"/>
          </a:xfrm>
          <a:prstGeom prst="roundRect">
            <a:avLst>
              <a:gd name="adj" fmla="val 2697"/>
            </a:avLst>
          </a:prstGeom>
          <a:solidFill>
            <a:schemeClr val="bg2"/>
          </a:solidFill>
          <a:ln/>
        </p:spPr>
      </p:sp>
      <p:sp>
        <p:nvSpPr>
          <p:cNvPr id="4" name="Term"/>
          <p:cNvSpPr txBox="1"/>
          <p:nvPr/>
        </p:nvSpPr>
        <p:spPr>
          <a:xfrm>
            <a:off x="6565392"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قياس</a:t>
            </a:r>
            <a:endParaRPr lang="en-US" sz="2400" dirty="0"/>
          </a:p>
        </p:txBody>
      </p:sp>
      <p:sp>
        <p:nvSpPr>
          <p:cNvPr id="5" name="Term EN"/>
          <p:cNvSpPr txBox="1"/>
          <p:nvPr/>
        </p:nvSpPr>
        <p:spPr>
          <a:xfrm>
            <a:off x="6565392"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Measuring / Assessment</a:t>
            </a:r>
            <a:endParaRPr lang="en-US" sz="1500" dirty="0"/>
          </a:p>
        </p:txBody>
      </p:sp>
      <p:sp>
        <p:nvSpPr>
          <p:cNvPr id="6" name="Body"/>
          <p:cNvSpPr txBox="1"/>
          <p:nvPr/>
        </p:nvSpPr>
        <p:spPr>
          <a:xfrm>
            <a:off x="6565392"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عندما يكون هدفك الأساسي هو "إعطاء قيمة" أو "تحديد مستوى" موجود حالياً دون التدخل لتغييره. أنت هنا مثل "الميزان" الذي يرصد الواقع فقط.</a:t>
            </a:r>
            <a:endParaRPr lang="en-US" sz="1600" dirty="0"/>
          </a:p>
        </p:txBody>
      </p:sp>
      <p:sp>
        <p:nvSpPr>
          <p:cNvPr id="7" name="Example box"/>
          <p:cNvSpPr/>
          <p:nvPr/>
        </p:nvSpPr>
        <p:spPr>
          <a:xfrm>
            <a:off x="6519672" y="4709160"/>
            <a:ext cx="4937760" cy="1097280"/>
          </a:xfrm>
          <a:prstGeom prst="roundRect">
            <a:avLst>
              <a:gd name="adj" fmla="val 6667"/>
            </a:avLst>
          </a:prstGeom>
          <a:solidFill>
            <a:schemeClr val="bg1"/>
          </a:solidFill>
          <a:ln w="12700">
            <a:solidFill>
              <a:schemeClr val="accent3"/>
            </a:solidFill>
            <a:prstDash val="solid"/>
          </a:ln>
        </p:spPr>
      </p:sp>
      <p:sp>
        <p:nvSpPr>
          <p:cNvPr id="8" name="Body"/>
          <p:cNvSpPr txBox="1"/>
          <p:nvPr/>
        </p:nvSpPr>
        <p:spPr>
          <a:xfrm>
            <a:off x="6702552"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قياس</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مستوى الرضا الوظيفي لدى ممرضي المستشفيات الحكومية في مدينة جدة.</a:t>
            </a:r>
            <a:endParaRPr lang="en-US" sz="1400" dirty="0"/>
          </a:p>
        </p:txBody>
      </p:sp>
      <p:sp>
        <p:nvSpPr>
          <p:cNvPr id="9" name="Purpose card 2"/>
          <p:cNvSpPr/>
          <p:nvPr/>
        </p:nvSpPr>
        <p:spPr>
          <a:xfrm>
            <a:off x="457200" y="1965960"/>
            <a:ext cx="5486400" cy="4069080"/>
          </a:xfrm>
          <a:prstGeom prst="roundRect">
            <a:avLst>
              <a:gd name="adj" fmla="val 2697"/>
            </a:avLst>
          </a:prstGeom>
          <a:solidFill>
            <a:schemeClr val="bg2"/>
          </a:solidFill>
          <a:ln/>
        </p:spPr>
      </p:sp>
      <p:sp>
        <p:nvSpPr>
          <p:cNvPr id="10" name="Term"/>
          <p:cNvSpPr txBox="1"/>
          <p:nvPr/>
        </p:nvSpPr>
        <p:spPr>
          <a:xfrm>
            <a:off x="777240" y="2240280"/>
            <a:ext cx="4846320" cy="548640"/>
          </a:xfrm>
          <a:prstGeom prst="rect">
            <a:avLst/>
          </a:prstGeom>
          <a:noFill/>
          <a:ln/>
        </p:spPr>
        <p:txBody>
          <a:bodyPr wrap="square" lIns="0" tIns="0" rIns="0" bIns="0" rtlCol="0" anchor="ctr"/>
          <a:lstStyle/>
          <a:p>
            <a:pPr rtl="1" algn="r" indent="0" marL="0">
              <a:buNone/>
            </a:pPr>
            <a:r>
              <a:rPr lang="en-US" sz="2400" b="1" dirty="0">
                <a:solidFill>
                  <a:schemeClr val="tx2"/>
                </a:solidFill>
              </a:rPr>
              <a:t>تحليل</a:t>
            </a:r>
            <a:endParaRPr lang="en-US" sz="2400" dirty="0"/>
          </a:p>
        </p:txBody>
      </p:sp>
      <p:sp>
        <p:nvSpPr>
          <p:cNvPr id="11" name="Term EN"/>
          <p:cNvSpPr txBox="1"/>
          <p:nvPr/>
        </p:nvSpPr>
        <p:spPr>
          <a:xfrm>
            <a:off x="777240" y="2788920"/>
            <a:ext cx="4846320" cy="365760"/>
          </a:xfrm>
          <a:prstGeom prst="rect">
            <a:avLst/>
          </a:prstGeom>
          <a:noFill/>
          <a:ln/>
        </p:spPr>
        <p:txBody>
          <a:bodyPr wrap="square" lIns="0" tIns="0" rIns="0" bIns="0" rtlCol="0" anchor="ctr"/>
          <a:lstStyle/>
          <a:p>
            <a:pPr algn="r" indent="0" marL="0">
              <a:buNone/>
            </a:pPr>
            <a:r>
              <a:rPr lang="en-US" sz="1500" dirty="0">
                <a:solidFill>
                  <a:schemeClr val="accent1"/>
                </a:solidFill>
              </a:rPr>
              <a:t>Analysis</a:t>
            </a:r>
            <a:endParaRPr lang="en-US" sz="1500" dirty="0"/>
          </a:p>
        </p:txBody>
      </p:sp>
      <p:sp>
        <p:nvSpPr>
          <p:cNvPr id="12" name="Body"/>
          <p:cNvSpPr txBox="1"/>
          <p:nvPr/>
        </p:nvSpPr>
        <p:spPr>
          <a:xfrm>
            <a:off x="777240" y="3337560"/>
            <a:ext cx="4846320" cy="1325880"/>
          </a:xfrm>
          <a:prstGeom prst="rect">
            <a:avLst/>
          </a:prstGeom>
          <a:noFill/>
          <a:ln/>
        </p:spPr>
        <p:txBody>
          <a:bodyPr wrap="square" lIns="0" tIns="0" rIns="0" bIns="0" rtlCol="0" anchor="t"/>
          <a:lstStyle/>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تستخدم عندما تقوم بتفكيك مادة معينة (مثل كتب، تقارير، أو محتوى إعلامي) لفهم مكوناتها العميقة.</a:t>
            </a:r>
            <a:endParaRPr lang="en-US" sz="1600" dirty="0"/>
          </a:p>
        </p:txBody>
      </p:sp>
      <p:sp>
        <p:nvSpPr>
          <p:cNvPr id="13" name="Example box"/>
          <p:cNvSpPr/>
          <p:nvPr/>
        </p:nvSpPr>
        <p:spPr>
          <a:xfrm>
            <a:off x="731520" y="4709160"/>
            <a:ext cx="4937760" cy="1097280"/>
          </a:xfrm>
          <a:prstGeom prst="roundRect">
            <a:avLst>
              <a:gd name="adj" fmla="val 6667"/>
            </a:avLst>
          </a:prstGeom>
          <a:solidFill>
            <a:schemeClr val="bg1"/>
          </a:solidFill>
          <a:ln w="12700">
            <a:solidFill>
              <a:schemeClr val="accent3"/>
            </a:solidFill>
            <a:prstDash val="solid"/>
          </a:ln>
        </p:spPr>
      </p:sp>
      <p:sp>
        <p:nvSpPr>
          <p:cNvPr id="14" name="Body"/>
          <p:cNvSpPr txBox="1"/>
          <p:nvPr/>
        </p:nvSpPr>
        <p:spPr>
          <a:xfrm>
            <a:off x="914400" y="4782312"/>
            <a:ext cx="4572000" cy="960120"/>
          </a:xfrm>
          <a:prstGeom prst="rect">
            <a:avLst/>
          </a:prstGeom>
          <a:noFill/>
          <a:ln/>
        </p:spPr>
        <p:txBody>
          <a:bodyPr wrap="square" lIns="0" tIns="0" rIns="0" bIns="0" rtlCol="0" anchor="ctr"/>
          <a:lstStyle/>
          <a:p>
            <a:pPr algn="r" indent="0" marL="0" rtl="1">
              <a:lnSpc>
                <a:spcPct val="110000"/>
              </a:lnSpc>
              <a:spcAft>
                <a:spcPts val="200"/>
              </a:spcAft>
              <a:buNone/>
            </a:pPr>
            <a:r>
              <a:rPr lang="en-US" sz="1400" b="1" dirty="0">
                <a:solidFill>
                  <a:schemeClr val="accent1"/>
                </a:solidFill>
                <a:latin typeface="Arial" pitchFamily="34" charset="0"/>
                <a:ea typeface="Arial" pitchFamily="34" charset="-122"/>
                <a:cs typeface="Arial" pitchFamily="34" charset="-120"/>
              </a:rPr>
              <a:t>مثال:</a:t>
            </a:r>
            <a:endParaRPr lang="en-US" sz="14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تحليل</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محتوى الإعلانات التجارية الموجهة للأطفال في القنوات الفضائية العربية.</a:t>
            </a:r>
            <a:endParaRPr lang="en-US" sz="14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عنوان البحث: بقية الخانات</a:t>
            </a:r>
            <a:endParaRPr lang="en-US" sz="3000" dirty="0"/>
          </a:p>
        </p:txBody>
      </p:sp>
      <p:sp>
        <p:nvSpPr>
          <p:cNvPr id="3" name="Element card 1"/>
          <p:cNvSpPr/>
          <p:nvPr/>
        </p:nvSpPr>
        <p:spPr>
          <a:xfrm>
            <a:off x="6245352" y="1920240"/>
            <a:ext cx="5486400" cy="1920240"/>
          </a:xfrm>
          <a:prstGeom prst="roundRect">
            <a:avLst>
              <a:gd name="adj" fmla="val 5714"/>
            </a:avLst>
          </a:prstGeom>
          <a:solidFill>
            <a:schemeClr val="bg2"/>
          </a:solidFill>
          <a:ln/>
        </p:spPr>
      </p:sp>
      <p:sp>
        <p:nvSpPr>
          <p:cNvPr id="4" name="Body"/>
          <p:cNvSpPr txBox="1"/>
          <p:nvPr/>
        </p:nvSpPr>
        <p:spPr>
          <a:xfrm>
            <a:off x="6565392" y="2148840"/>
            <a:ext cx="4846320" cy="1463040"/>
          </a:xfrm>
          <a:prstGeom prst="rect">
            <a:avLst/>
          </a:prstGeom>
          <a:noFill/>
          <a:ln/>
        </p:spPr>
        <p:txBody>
          <a:bodyPr wrap="square" lIns="0" tIns="0" rIns="0" bIns="0" rtlCol="0" anchor="t"/>
          <a:lstStyle/>
          <a:p>
            <a:pPr algn="r" indent="0" marL="0" rtl="1">
              <a:lnSpc>
                <a:spcPct val="110000"/>
              </a:lnSpc>
              <a:spcAft>
                <a:spcPts val="800"/>
              </a:spcAft>
              <a:buNone/>
            </a:pPr>
            <a:r>
              <a:rPr lang="en-US" sz="2000" b="1" dirty="0">
                <a:solidFill>
                  <a:schemeClr val="accent1"/>
                </a:solidFill>
                <a:latin typeface="Arial" pitchFamily="34" charset="0"/>
                <a:ea typeface="Arial" pitchFamily="34" charset="-122"/>
                <a:cs typeface="Arial" pitchFamily="34" charset="-120"/>
              </a:rPr>
              <a:t>المشكلة (Issue)</a:t>
            </a:r>
            <a:endParaRPr lang="en-US" sz="20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وهي القضية أو الظاهرة التي يسعى البحث لحلها أو دراستها، مثل: ضعف الأداء، القلق، أو تدني الأرباح.</a:t>
            </a:r>
            <a:endParaRPr lang="en-US" sz="2000" dirty="0"/>
          </a:p>
        </p:txBody>
      </p:sp>
      <p:sp>
        <p:nvSpPr>
          <p:cNvPr id="5" name="Element card 2"/>
          <p:cNvSpPr/>
          <p:nvPr/>
        </p:nvSpPr>
        <p:spPr>
          <a:xfrm>
            <a:off x="457200" y="1920240"/>
            <a:ext cx="5486400" cy="1920240"/>
          </a:xfrm>
          <a:prstGeom prst="roundRect">
            <a:avLst>
              <a:gd name="adj" fmla="val 5714"/>
            </a:avLst>
          </a:prstGeom>
          <a:solidFill>
            <a:schemeClr val="bg2"/>
          </a:solidFill>
          <a:ln/>
        </p:spPr>
      </p:sp>
      <p:sp>
        <p:nvSpPr>
          <p:cNvPr id="6" name="Body"/>
          <p:cNvSpPr txBox="1"/>
          <p:nvPr/>
        </p:nvSpPr>
        <p:spPr>
          <a:xfrm>
            <a:off x="777240" y="2148840"/>
            <a:ext cx="4846320" cy="1463040"/>
          </a:xfrm>
          <a:prstGeom prst="rect">
            <a:avLst/>
          </a:prstGeom>
          <a:noFill/>
          <a:ln/>
        </p:spPr>
        <p:txBody>
          <a:bodyPr wrap="square" lIns="0" tIns="0" rIns="0" bIns="0" rtlCol="0" anchor="t"/>
          <a:lstStyle/>
          <a:p>
            <a:pPr algn="r" indent="0" marL="0" rtl="1">
              <a:lnSpc>
                <a:spcPct val="110000"/>
              </a:lnSpc>
              <a:spcAft>
                <a:spcPts val="800"/>
              </a:spcAft>
              <a:buNone/>
            </a:pPr>
            <a:r>
              <a:rPr lang="en-US" sz="2000" b="1" dirty="0">
                <a:solidFill>
                  <a:schemeClr val="accent1"/>
                </a:solidFill>
                <a:latin typeface="Arial" pitchFamily="34" charset="0"/>
                <a:ea typeface="Arial" pitchFamily="34" charset="-122"/>
                <a:cs typeface="Arial" pitchFamily="34" charset="-120"/>
              </a:rPr>
              <a:t>الفئة المستهدفة (Populations)</a:t>
            </a:r>
            <a:endParaRPr lang="en-US" sz="20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وهم الأشخاص الذين تُجرى عليهم الدراسة، مثل: طلاب الجامعات، الموظفين، أو الأطفال.</a:t>
            </a:r>
            <a:endParaRPr lang="en-US" sz="2000" dirty="0"/>
          </a:p>
        </p:txBody>
      </p:sp>
      <p:sp>
        <p:nvSpPr>
          <p:cNvPr id="7" name="Element card 3"/>
          <p:cNvSpPr/>
          <p:nvPr/>
        </p:nvSpPr>
        <p:spPr>
          <a:xfrm>
            <a:off x="6245352" y="4114800"/>
            <a:ext cx="5486400" cy="1920240"/>
          </a:xfrm>
          <a:prstGeom prst="roundRect">
            <a:avLst>
              <a:gd name="adj" fmla="val 5714"/>
            </a:avLst>
          </a:prstGeom>
          <a:solidFill>
            <a:schemeClr val="bg2"/>
          </a:solidFill>
          <a:ln/>
        </p:spPr>
      </p:sp>
      <p:sp>
        <p:nvSpPr>
          <p:cNvPr id="8" name="Body"/>
          <p:cNvSpPr txBox="1"/>
          <p:nvPr/>
        </p:nvSpPr>
        <p:spPr>
          <a:xfrm>
            <a:off x="6565392" y="4343400"/>
            <a:ext cx="4846320" cy="1463040"/>
          </a:xfrm>
          <a:prstGeom prst="rect">
            <a:avLst/>
          </a:prstGeom>
          <a:noFill/>
          <a:ln/>
        </p:spPr>
        <p:txBody>
          <a:bodyPr wrap="square" lIns="0" tIns="0" rIns="0" bIns="0" rtlCol="0" anchor="t"/>
          <a:lstStyle/>
          <a:p>
            <a:pPr algn="r" indent="0" marL="0" rtl="1">
              <a:lnSpc>
                <a:spcPct val="110000"/>
              </a:lnSpc>
              <a:spcAft>
                <a:spcPts val="800"/>
              </a:spcAft>
              <a:buNone/>
            </a:pPr>
            <a:r>
              <a:rPr lang="en-US" sz="2000" b="1" dirty="0">
                <a:solidFill>
                  <a:schemeClr val="accent1"/>
                </a:solidFill>
                <a:latin typeface="Arial" pitchFamily="34" charset="0"/>
                <a:ea typeface="Arial" pitchFamily="34" charset="-122"/>
                <a:cs typeface="Arial" pitchFamily="34" charset="-120"/>
              </a:rPr>
              <a:t>الحل (Solution)</a:t>
            </a:r>
            <a:endParaRPr lang="en-US" sz="20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وهو المتغير المستقل أو الأداة التي تستخدمها لمعالجة القضية، مثل: تطبيق إلكتروني، أو استراتيجية تعليمية... إلخ.</a:t>
            </a:r>
            <a:endParaRPr lang="en-US" sz="2000" dirty="0"/>
          </a:p>
        </p:txBody>
      </p:sp>
      <p:sp>
        <p:nvSpPr>
          <p:cNvPr id="9" name="Element card 4"/>
          <p:cNvSpPr/>
          <p:nvPr/>
        </p:nvSpPr>
        <p:spPr>
          <a:xfrm>
            <a:off x="457200" y="4114800"/>
            <a:ext cx="5486400" cy="1920240"/>
          </a:xfrm>
          <a:prstGeom prst="roundRect">
            <a:avLst>
              <a:gd name="adj" fmla="val 5714"/>
            </a:avLst>
          </a:prstGeom>
          <a:solidFill>
            <a:schemeClr val="bg2"/>
          </a:solidFill>
          <a:ln/>
        </p:spPr>
      </p:sp>
      <p:sp>
        <p:nvSpPr>
          <p:cNvPr id="10" name="Body"/>
          <p:cNvSpPr txBox="1"/>
          <p:nvPr/>
        </p:nvSpPr>
        <p:spPr>
          <a:xfrm>
            <a:off x="777240" y="4343400"/>
            <a:ext cx="4846320" cy="1463040"/>
          </a:xfrm>
          <a:prstGeom prst="rect">
            <a:avLst/>
          </a:prstGeom>
          <a:noFill/>
          <a:ln/>
        </p:spPr>
        <p:txBody>
          <a:bodyPr wrap="square" lIns="0" tIns="0" rIns="0" bIns="0" rtlCol="0" anchor="t"/>
          <a:lstStyle/>
          <a:p>
            <a:pPr algn="r" indent="0" marL="0" rtl="1">
              <a:lnSpc>
                <a:spcPct val="110000"/>
              </a:lnSpc>
              <a:spcAft>
                <a:spcPts val="800"/>
              </a:spcAft>
              <a:buNone/>
            </a:pPr>
            <a:r>
              <a:rPr lang="en-US" sz="2000" b="1" dirty="0">
                <a:solidFill>
                  <a:schemeClr val="accent1"/>
                </a:solidFill>
                <a:latin typeface="Arial" pitchFamily="34" charset="0"/>
                <a:ea typeface="Arial" pitchFamily="34" charset="-122"/>
                <a:cs typeface="Arial" pitchFamily="34" charset="-120"/>
              </a:rPr>
              <a:t>الموقع (Location)</a:t>
            </a:r>
            <a:endParaRPr lang="en-US" sz="20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وهو النطاق الجغرافي أو المؤسسي للبحث، مثل: مدينة الرياض، شركة معينة، أو المدارس الحكومية.</a:t>
            </a:r>
            <a:endParaRPr lang="en-US" sz="2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ملخص البحث (Abstract)</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ABSTRACT</a:t>
            </a:r>
            <a:endParaRPr lang="en-US" sz="1400" dirty="0"/>
          </a:p>
        </p:txBody>
      </p:sp>
      <p:sp>
        <p:nvSpPr>
          <p:cNvPr id="5" name="Step 1"/>
          <p:cNvSpPr/>
          <p:nvPr/>
        </p:nvSpPr>
        <p:spPr>
          <a:xfrm>
            <a:off x="457200" y="2532888"/>
            <a:ext cx="3931920" cy="603504"/>
          </a:xfrm>
          <a:prstGeom prst="roundRect">
            <a:avLst>
              <a:gd name="adj" fmla="val 15152"/>
            </a:avLst>
          </a:prstGeom>
          <a:solidFill>
            <a:schemeClr val="accent1"/>
          </a:solidFill>
          <a:ln/>
        </p:spPr>
      </p:sp>
      <p:sp>
        <p:nvSpPr>
          <p:cNvPr id="6" name="Step 1 badge"/>
          <p:cNvSpPr/>
          <p:nvPr/>
        </p:nvSpPr>
        <p:spPr>
          <a:xfrm>
            <a:off x="594360" y="2642616"/>
            <a:ext cx="384048" cy="384048"/>
          </a:xfrm>
          <a:prstGeom prst="ellipse">
            <a:avLst/>
          </a:prstGeom>
          <a:solidFill>
            <a:schemeClr val="bg1"/>
          </a:solidFill>
          <a:ln/>
        </p:spPr>
      </p:sp>
      <p:sp>
        <p:nvSpPr>
          <p:cNvPr id="7" name="Step 1 num"/>
          <p:cNvSpPr txBox="1"/>
          <p:nvPr/>
        </p:nvSpPr>
        <p:spPr>
          <a:xfrm>
            <a:off x="594360" y="2642616"/>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Step 1 text"/>
          <p:cNvSpPr txBox="1"/>
          <p:nvPr/>
        </p:nvSpPr>
        <p:spPr>
          <a:xfrm>
            <a:off x="1115568" y="2532888"/>
            <a:ext cx="3136392" cy="603504"/>
          </a:xfrm>
          <a:prstGeom prst="rect">
            <a:avLst/>
          </a:prstGeom>
          <a:noFill/>
          <a:ln/>
        </p:spPr>
        <p:txBody>
          <a:bodyPr wrap="square" lIns="0" tIns="0" rIns="0" bIns="0" rtlCol="0" anchor="ctr"/>
          <a:lstStyle/>
          <a:p>
            <a:pPr algn="l" indent="0" marL="0">
              <a:buNone/>
            </a:pPr>
            <a:r>
              <a:rPr lang="en-US" sz="1250" b="1" dirty="0">
                <a:solidFill>
                  <a:schemeClr val="bg1"/>
                </a:solidFill>
              </a:rPr>
              <a:t>General &amp; Specific Background</a:t>
            </a:r>
            <a:endParaRPr lang="en-US" sz="1250" dirty="0"/>
          </a:p>
        </p:txBody>
      </p:sp>
      <p:sp>
        <p:nvSpPr>
          <p:cNvPr id="9" name="Step 2"/>
          <p:cNvSpPr/>
          <p:nvPr/>
        </p:nvSpPr>
        <p:spPr>
          <a:xfrm>
            <a:off x="457200" y="3246120"/>
            <a:ext cx="3931920" cy="603504"/>
          </a:xfrm>
          <a:prstGeom prst="roundRect">
            <a:avLst>
              <a:gd name="adj" fmla="val 15152"/>
            </a:avLst>
          </a:prstGeom>
          <a:solidFill>
            <a:schemeClr val="bg2"/>
          </a:solidFill>
          <a:ln/>
        </p:spPr>
      </p:sp>
      <p:sp>
        <p:nvSpPr>
          <p:cNvPr id="10" name="Step 2 badge"/>
          <p:cNvSpPr/>
          <p:nvPr/>
        </p:nvSpPr>
        <p:spPr>
          <a:xfrm>
            <a:off x="594360" y="3355848"/>
            <a:ext cx="384048" cy="384048"/>
          </a:xfrm>
          <a:prstGeom prst="ellipse">
            <a:avLst/>
          </a:prstGeom>
          <a:solidFill>
            <a:schemeClr val="accent1"/>
          </a:solidFill>
          <a:ln/>
        </p:spPr>
      </p:sp>
      <p:sp>
        <p:nvSpPr>
          <p:cNvPr id="11" name="Step 2 num"/>
          <p:cNvSpPr txBox="1"/>
          <p:nvPr/>
        </p:nvSpPr>
        <p:spPr>
          <a:xfrm>
            <a:off x="594360" y="33558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246120"/>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Problem / Issues / Gap</a:t>
            </a:r>
            <a:endParaRPr lang="en-US" sz="1250" dirty="0"/>
          </a:p>
        </p:txBody>
      </p:sp>
      <p:sp>
        <p:nvSpPr>
          <p:cNvPr id="13" name="Step 3"/>
          <p:cNvSpPr/>
          <p:nvPr/>
        </p:nvSpPr>
        <p:spPr>
          <a:xfrm>
            <a:off x="457200" y="3959352"/>
            <a:ext cx="3931920" cy="603504"/>
          </a:xfrm>
          <a:prstGeom prst="roundRect">
            <a:avLst>
              <a:gd name="adj" fmla="val 15152"/>
            </a:avLst>
          </a:prstGeom>
          <a:solidFill>
            <a:schemeClr val="bg2"/>
          </a:solidFill>
          <a:ln/>
        </p:spPr>
      </p:sp>
      <p:sp>
        <p:nvSpPr>
          <p:cNvPr id="14" name="Step 3 badge"/>
          <p:cNvSpPr/>
          <p:nvPr/>
        </p:nvSpPr>
        <p:spPr>
          <a:xfrm>
            <a:off x="594360" y="4069080"/>
            <a:ext cx="384048" cy="384048"/>
          </a:xfrm>
          <a:prstGeom prst="ellipse">
            <a:avLst/>
          </a:prstGeom>
          <a:solidFill>
            <a:schemeClr val="accent1"/>
          </a:solidFill>
          <a:ln/>
        </p:spPr>
      </p:sp>
      <p:sp>
        <p:nvSpPr>
          <p:cNvPr id="15" name="Step 3 num"/>
          <p:cNvSpPr txBox="1"/>
          <p:nvPr/>
        </p:nvSpPr>
        <p:spPr>
          <a:xfrm>
            <a:off x="594360" y="4069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3959352"/>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Aims</a:t>
            </a:r>
            <a:endParaRPr lang="en-US" sz="1250" dirty="0"/>
          </a:p>
        </p:txBody>
      </p:sp>
      <p:sp>
        <p:nvSpPr>
          <p:cNvPr id="17" name="Step 4"/>
          <p:cNvSpPr/>
          <p:nvPr/>
        </p:nvSpPr>
        <p:spPr>
          <a:xfrm>
            <a:off x="457200" y="4672584"/>
            <a:ext cx="3931920" cy="603504"/>
          </a:xfrm>
          <a:prstGeom prst="roundRect">
            <a:avLst>
              <a:gd name="adj" fmla="val 15152"/>
            </a:avLst>
          </a:prstGeom>
          <a:solidFill>
            <a:schemeClr val="bg2"/>
          </a:solidFill>
          <a:ln/>
        </p:spPr>
      </p:sp>
      <p:sp>
        <p:nvSpPr>
          <p:cNvPr id="18" name="Step 4 badge"/>
          <p:cNvSpPr/>
          <p:nvPr/>
        </p:nvSpPr>
        <p:spPr>
          <a:xfrm>
            <a:off x="594360" y="4782312"/>
            <a:ext cx="384048" cy="384048"/>
          </a:xfrm>
          <a:prstGeom prst="ellipse">
            <a:avLst/>
          </a:prstGeom>
          <a:solidFill>
            <a:schemeClr val="accent1"/>
          </a:solidFill>
          <a:ln/>
        </p:spPr>
      </p:sp>
      <p:sp>
        <p:nvSpPr>
          <p:cNvPr id="19" name="Step 4 num"/>
          <p:cNvSpPr txBox="1"/>
          <p:nvPr/>
        </p:nvSpPr>
        <p:spPr>
          <a:xfrm>
            <a:off x="594360" y="4782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Step 4 text"/>
          <p:cNvSpPr txBox="1"/>
          <p:nvPr/>
        </p:nvSpPr>
        <p:spPr>
          <a:xfrm>
            <a:off x="1115568" y="4672584"/>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Methodology / Design Process</a:t>
            </a:r>
            <a:endParaRPr lang="en-US" sz="1250" dirty="0"/>
          </a:p>
        </p:txBody>
      </p:sp>
      <p:sp>
        <p:nvSpPr>
          <p:cNvPr id="21" name="Step 5"/>
          <p:cNvSpPr/>
          <p:nvPr/>
        </p:nvSpPr>
        <p:spPr>
          <a:xfrm>
            <a:off x="457200" y="5385816"/>
            <a:ext cx="3931920" cy="603504"/>
          </a:xfrm>
          <a:prstGeom prst="roundRect">
            <a:avLst>
              <a:gd name="adj" fmla="val 15152"/>
            </a:avLst>
          </a:prstGeom>
          <a:solidFill>
            <a:schemeClr val="bg2"/>
          </a:solidFill>
          <a:ln/>
        </p:spPr>
      </p:sp>
      <p:sp>
        <p:nvSpPr>
          <p:cNvPr id="22" name="Step 5 badge"/>
          <p:cNvSpPr/>
          <p:nvPr/>
        </p:nvSpPr>
        <p:spPr>
          <a:xfrm>
            <a:off x="594360" y="5495544"/>
            <a:ext cx="384048" cy="384048"/>
          </a:xfrm>
          <a:prstGeom prst="ellipse">
            <a:avLst/>
          </a:prstGeom>
          <a:solidFill>
            <a:schemeClr val="accent1"/>
          </a:solidFill>
          <a:ln/>
        </p:spPr>
      </p:sp>
      <p:sp>
        <p:nvSpPr>
          <p:cNvPr id="23" name="Step 5 num"/>
          <p:cNvSpPr txBox="1"/>
          <p:nvPr/>
        </p:nvSpPr>
        <p:spPr>
          <a:xfrm>
            <a:off x="594360" y="54955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Step 5 text"/>
          <p:cNvSpPr txBox="1"/>
          <p:nvPr/>
        </p:nvSpPr>
        <p:spPr>
          <a:xfrm>
            <a:off x="1115568" y="5385816"/>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Results</a:t>
            </a:r>
            <a:endParaRPr lang="en-US" sz="1250" dirty="0"/>
          </a:p>
        </p:txBody>
      </p:sp>
      <p:sp>
        <p:nvSpPr>
          <p:cNvPr id="25" name="Body"/>
          <p:cNvSpPr txBox="1"/>
          <p:nvPr/>
        </p:nvSpPr>
        <p:spPr>
          <a:xfrm>
            <a:off x="4800600" y="1874520"/>
            <a:ext cx="6931152" cy="4206240"/>
          </a:xfrm>
          <a:prstGeom prst="rect">
            <a:avLst/>
          </a:prstGeom>
          <a:noFill/>
          <a:ln/>
        </p:spPr>
        <p:txBody>
          <a:bodyPr wrap="square" lIns="0" tIns="0" rIns="0" bIns="0" rtlCol="0" anchor="t"/>
          <a:lstStyle/>
          <a:p>
            <a:pPr algn="r" indent="0" marL="0" rtl="1">
              <a:lnSpc>
                <a:spcPct val="110000"/>
              </a:lnSpc>
              <a:spcAft>
                <a:spcPts val="1600"/>
              </a:spcAft>
              <a:buNone/>
            </a:pPr>
            <a:r>
              <a:rPr lang="en-US" sz="1600" dirty="0">
                <a:solidFill>
                  <a:schemeClr val="tx1"/>
                </a:solidFill>
                <a:latin typeface="Arial" pitchFamily="34" charset="0"/>
                <a:ea typeface="Arial" pitchFamily="34" charset="-122"/>
                <a:cs typeface="Arial" pitchFamily="34" charset="-120"/>
              </a:rPr>
              <a:t>يُعدّ الملخص أحد أهم أجزاء البحث العلمي، حيث يقدّم نظرة شاملة ومركّزة عن الدراسة، ويُكتب بأسلوب واضح ومختصر يعكس محتوى البحث بالكامل. ويتكوّن عادةً من العناصر التالية:</a:t>
            </a:r>
            <a:endParaRPr lang="en-US" sz="1600" dirty="0"/>
          </a:p>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1. الخلفية العامة والخاصة (General &amp; Specific Background)</a:t>
            </a:r>
            <a:endParaRPr lang="en-US" sz="16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تبدأ كتابة الملخص بتقديم خلفية عامة عن الموضوع، تتضمن السياق العام للدراسة وأهميتها في المجال العلمي.</a:t>
            </a:r>
            <a:endParaRPr lang="en-US" sz="16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ثم يتم الانتقال إلى الخلفية الخاصة، حيث يتم تضييق نطاق الموضوع والتركيز على جانب محدد من المشكلة البحثية.</a:t>
            </a:r>
            <a:endParaRPr lang="en-US" sz="16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يهدف هذا الجزء إلى تهيئة القارئ وفهم الإطار الذي تنطلق منه الدراسة.</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ملخص البحث (Abstract)</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ABSTRACT</a:t>
            </a:r>
            <a:endParaRPr lang="en-US" sz="1400" dirty="0"/>
          </a:p>
        </p:txBody>
      </p:sp>
      <p:sp>
        <p:nvSpPr>
          <p:cNvPr id="5" name="Step 1"/>
          <p:cNvSpPr/>
          <p:nvPr/>
        </p:nvSpPr>
        <p:spPr>
          <a:xfrm>
            <a:off x="457200" y="2532888"/>
            <a:ext cx="3931920" cy="603504"/>
          </a:xfrm>
          <a:prstGeom prst="roundRect">
            <a:avLst>
              <a:gd name="adj" fmla="val 15152"/>
            </a:avLst>
          </a:prstGeom>
          <a:solidFill>
            <a:schemeClr val="bg2"/>
          </a:solidFill>
          <a:ln/>
        </p:spPr>
      </p:sp>
      <p:sp>
        <p:nvSpPr>
          <p:cNvPr id="6" name="Step 1 badge"/>
          <p:cNvSpPr/>
          <p:nvPr/>
        </p:nvSpPr>
        <p:spPr>
          <a:xfrm>
            <a:off x="594360" y="2642616"/>
            <a:ext cx="384048" cy="384048"/>
          </a:xfrm>
          <a:prstGeom prst="ellipse">
            <a:avLst/>
          </a:prstGeom>
          <a:solidFill>
            <a:schemeClr val="accent1"/>
          </a:solidFill>
          <a:ln/>
        </p:spPr>
      </p:sp>
      <p:sp>
        <p:nvSpPr>
          <p:cNvPr id="7" name="Step 1 num"/>
          <p:cNvSpPr txBox="1"/>
          <p:nvPr/>
        </p:nvSpPr>
        <p:spPr>
          <a:xfrm>
            <a:off x="594360" y="26426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General &amp; Specific Background</a:t>
            </a:r>
            <a:endParaRPr lang="en-US" sz="1250" dirty="0"/>
          </a:p>
        </p:txBody>
      </p:sp>
      <p:sp>
        <p:nvSpPr>
          <p:cNvPr id="9" name="Step 2"/>
          <p:cNvSpPr/>
          <p:nvPr/>
        </p:nvSpPr>
        <p:spPr>
          <a:xfrm>
            <a:off x="457200" y="3246120"/>
            <a:ext cx="3931920" cy="603504"/>
          </a:xfrm>
          <a:prstGeom prst="roundRect">
            <a:avLst>
              <a:gd name="adj" fmla="val 15152"/>
            </a:avLst>
          </a:prstGeom>
          <a:solidFill>
            <a:schemeClr val="accent1"/>
          </a:solidFill>
          <a:ln/>
        </p:spPr>
      </p:sp>
      <p:sp>
        <p:nvSpPr>
          <p:cNvPr id="10" name="Step 2 badge"/>
          <p:cNvSpPr/>
          <p:nvPr/>
        </p:nvSpPr>
        <p:spPr>
          <a:xfrm>
            <a:off x="594360" y="3355848"/>
            <a:ext cx="384048" cy="384048"/>
          </a:xfrm>
          <a:prstGeom prst="ellipse">
            <a:avLst/>
          </a:prstGeom>
          <a:solidFill>
            <a:schemeClr val="bg1"/>
          </a:solidFill>
          <a:ln/>
        </p:spPr>
      </p:sp>
      <p:sp>
        <p:nvSpPr>
          <p:cNvPr id="11" name="Step 2 num"/>
          <p:cNvSpPr txBox="1"/>
          <p:nvPr/>
        </p:nvSpPr>
        <p:spPr>
          <a:xfrm>
            <a:off x="594360" y="3355848"/>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12" name="Step 2 text"/>
          <p:cNvSpPr txBox="1"/>
          <p:nvPr/>
        </p:nvSpPr>
        <p:spPr>
          <a:xfrm>
            <a:off x="1115568" y="3246120"/>
            <a:ext cx="3136392" cy="603504"/>
          </a:xfrm>
          <a:prstGeom prst="rect">
            <a:avLst/>
          </a:prstGeom>
          <a:noFill/>
          <a:ln/>
        </p:spPr>
        <p:txBody>
          <a:bodyPr wrap="square" lIns="0" tIns="0" rIns="0" bIns="0" rtlCol="0" anchor="ctr"/>
          <a:lstStyle/>
          <a:p>
            <a:pPr algn="l" indent="0" marL="0">
              <a:buNone/>
            </a:pPr>
            <a:r>
              <a:rPr lang="en-US" sz="1250" b="1" dirty="0">
                <a:solidFill>
                  <a:schemeClr val="bg1"/>
                </a:solidFill>
              </a:rPr>
              <a:t>Problem / Issues / Gap</a:t>
            </a:r>
            <a:endParaRPr lang="en-US" sz="1250" dirty="0"/>
          </a:p>
        </p:txBody>
      </p:sp>
      <p:sp>
        <p:nvSpPr>
          <p:cNvPr id="13" name="Step 3"/>
          <p:cNvSpPr/>
          <p:nvPr/>
        </p:nvSpPr>
        <p:spPr>
          <a:xfrm>
            <a:off x="457200" y="3959352"/>
            <a:ext cx="3931920" cy="603504"/>
          </a:xfrm>
          <a:prstGeom prst="roundRect">
            <a:avLst>
              <a:gd name="adj" fmla="val 15152"/>
            </a:avLst>
          </a:prstGeom>
          <a:solidFill>
            <a:schemeClr val="accent1"/>
          </a:solidFill>
          <a:ln/>
        </p:spPr>
      </p:sp>
      <p:sp>
        <p:nvSpPr>
          <p:cNvPr id="14" name="Step 3 badge"/>
          <p:cNvSpPr/>
          <p:nvPr/>
        </p:nvSpPr>
        <p:spPr>
          <a:xfrm>
            <a:off x="594360" y="4069080"/>
            <a:ext cx="384048" cy="384048"/>
          </a:xfrm>
          <a:prstGeom prst="ellipse">
            <a:avLst/>
          </a:prstGeom>
          <a:solidFill>
            <a:schemeClr val="bg1"/>
          </a:solidFill>
          <a:ln/>
        </p:spPr>
      </p:sp>
      <p:sp>
        <p:nvSpPr>
          <p:cNvPr id="15" name="Step 3 num"/>
          <p:cNvSpPr txBox="1"/>
          <p:nvPr/>
        </p:nvSpPr>
        <p:spPr>
          <a:xfrm>
            <a:off x="594360" y="4069080"/>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6" name="Step 3 text"/>
          <p:cNvSpPr txBox="1"/>
          <p:nvPr/>
        </p:nvSpPr>
        <p:spPr>
          <a:xfrm>
            <a:off x="1115568" y="3959352"/>
            <a:ext cx="3136392" cy="603504"/>
          </a:xfrm>
          <a:prstGeom prst="rect">
            <a:avLst/>
          </a:prstGeom>
          <a:noFill/>
          <a:ln/>
        </p:spPr>
        <p:txBody>
          <a:bodyPr wrap="square" lIns="0" tIns="0" rIns="0" bIns="0" rtlCol="0" anchor="ctr"/>
          <a:lstStyle/>
          <a:p>
            <a:pPr algn="l" indent="0" marL="0">
              <a:buNone/>
            </a:pPr>
            <a:r>
              <a:rPr lang="en-US" sz="1250" b="1" dirty="0">
                <a:solidFill>
                  <a:schemeClr val="bg1"/>
                </a:solidFill>
              </a:rPr>
              <a:t>Aims</a:t>
            </a:r>
            <a:endParaRPr lang="en-US" sz="1250" dirty="0"/>
          </a:p>
        </p:txBody>
      </p:sp>
      <p:sp>
        <p:nvSpPr>
          <p:cNvPr id="17" name="Step 4"/>
          <p:cNvSpPr/>
          <p:nvPr/>
        </p:nvSpPr>
        <p:spPr>
          <a:xfrm>
            <a:off x="457200" y="4672584"/>
            <a:ext cx="3931920" cy="603504"/>
          </a:xfrm>
          <a:prstGeom prst="roundRect">
            <a:avLst>
              <a:gd name="adj" fmla="val 15152"/>
            </a:avLst>
          </a:prstGeom>
          <a:solidFill>
            <a:schemeClr val="bg2"/>
          </a:solidFill>
          <a:ln/>
        </p:spPr>
      </p:sp>
      <p:sp>
        <p:nvSpPr>
          <p:cNvPr id="18" name="Step 4 badge"/>
          <p:cNvSpPr/>
          <p:nvPr/>
        </p:nvSpPr>
        <p:spPr>
          <a:xfrm>
            <a:off x="594360" y="4782312"/>
            <a:ext cx="384048" cy="384048"/>
          </a:xfrm>
          <a:prstGeom prst="ellipse">
            <a:avLst/>
          </a:prstGeom>
          <a:solidFill>
            <a:schemeClr val="accent1"/>
          </a:solidFill>
          <a:ln/>
        </p:spPr>
      </p:sp>
      <p:sp>
        <p:nvSpPr>
          <p:cNvPr id="19" name="Step 4 num"/>
          <p:cNvSpPr txBox="1"/>
          <p:nvPr/>
        </p:nvSpPr>
        <p:spPr>
          <a:xfrm>
            <a:off x="594360" y="4782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Step 4 text"/>
          <p:cNvSpPr txBox="1"/>
          <p:nvPr/>
        </p:nvSpPr>
        <p:spPr>
          <a:xfrm>
            <a:off x="1115568" y="4672584"/>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Methodology / Design Process</a:t>
            </a:r>
            <a:endParaRPr lang="en-US" sz="1250" dirty="0"/>
          </a:p>
        </p:txBody>
      </p:sp>
      <p:sp>
        <p:nvSpPr>
          <p:cNvPr id="21" name="Step 5"/>
          <p:cNvSpPr/>
          <p:nvPr/>
        </p:nvSpPr>
        <p:spPr>
          <a:xfrm>
            <a:off x="457200" y="5385816"/>
            <a:ext cx="3931920" cy="603504"/>
          </a:xfrm>
          <a:prstGeom prst="roundRect">
            <a:avLst>
              <a:gd name="adj" fmla="val 15152"/>
            </a:avLst>
          </a:prstGeom>
          <a:solidFill>
            <a:schemeClr val="bg2"/>
          </a:solidFill>
          <a:ln/>
        </p:spPr>
      </p:sp>
      <p:sp>
        <p:nvSpPr>
          <p:cNvPr id="22" name="Step 5 badge"/>
          <p:cNvSpPr/>
          <p:nvPr/>
        </p:nvSpPr>
        <p:spPr>
          <a:xfrm>
            <a:off x="594360" y="5495544"/>
            <a:ext cx="384048" cy="384048"/>
          </a:xfrm>
          <a:prstGeom prst="ellipse">
            <a:avLst/>
          </a:prstGeom>
          <a:solidFill>
            <a:schemeClr val="accent1"/>
          </a:solidFill>
          <a:ln/>
        </p:spPr>
      </p:sp>
      <p:sp>
        <p:nvSpPr>
          <p:cNvPr id="23" name="Step 5 num"/>
          <p:cNvSpPr txBox="1"/>
          <p:nvPr/>
        </p:nvSpPr>
        <p:spPr>
          <a:xfrm>
            <a:off x="594360" y="54955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Step 5 text"/>
          <p:cNvSpPr txBox="1"/>
          <p:nvPr/>
        </p:nvSpPr>
        <p:spPr>
          <a:xfrm>
            <a:off x="1115568" y="5385816"/>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Results</a:t>
            </a:r>
            <a:endParaRPr lang="en-US" sz="1250" dirty="0"/>
          </a:p>
        </p:txBody>
      </p:sp>
      <p:sp>
        <p:nvSpPr>
          <p:cNvPr id="25" name="Body"/>
          <p:cNvSpPr txBox="1"/>
          <p:nvPr/>
        </p:nvSpPr>
        <p:spPr>
          <a:xfrm>
            <a:off x="4800600" y="1874520"/>
            <a:ext cx="6931152" cy="420624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2. المشكلة / القضايا / الفجوة البحثية (Problem / Issues / Gap)</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في هذا الجزء يتم توضيح المشكلة التي يعالجها البحث، أو القضايا المرتبطة بها.</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كما يتم تحديد الفجوة البحثية (Research Gap)، أي ما ينقص الدراسات السابقة أو ما لم يتم تناوله بشكل كافٍ، مما يبرّر إجراء هذه الدراسة.</a:t>
            </a:r>
            <a:endParaRPr lang="en-US" sz="1800" dirty="0"/>
          </a:p>
          <a:p>
            <a:pPr algn="r" marL="228600" indent="-228600" rtl="1">
              <a:lnSpc>
                <a:spcPct val="110000"/>
              </a:lnSpc>
              <a:spcAft>
                <a:spcPts val="1800"/>
              </a:spcAft>
              <a:buSzPct val="100000"/>
              <a:buChar char="•"/>
            </a:pPr>
            <a:r>
              <a:rPr lang="en-US" sz="1600" dirty="0">
                <a:solidFill>
                  <a:schemeClr val="tx1"/>
                </a:solidFill>
                <a:latin typeface="Arial" pitchFamily="34" charset="0"/>
                <a:ea typeface="Arial" pitchFamily="34" charset="-122"/>
                <a:cs typeface="Arial" pitchFamily="34" charset="-120"/>
              </a:rPr>
              <a:t>يجب أن يكون الطرح واضحًا ومباشرًا دون تفصيل مفرط.</a:t>
            </a:r>
            <a:endParaRPr lang="en-US" sz="1800" dirty="0"/>
          </a:p>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3. الأهداف (Aims)</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يتم عرض أهداف البحث بشكل محدد ودقيق، بحيث توضّح ما يسعى الباحث إلى تحقيقه من خلال الدراسة.</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قد تكون الأهداف وصفية، تحليلية، أو تطبيقية، ويُفضل صياغتها بجمل واضحة تعكس ناتج البحث المتوقع.</a:t>
            </a:r>
            <a:endParaRPr lang="en-US" sz="1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ملخص البحث (Abstract)</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ABSTRACT</a:t>
            </a:r>
            <a:endParaRPr lang="en-US" sz="1400" dirty="0"/>
          </a:p>
        </p:txBody>
      </p:sp>
      <p:sp>
        <p:nvSpPr>
          <p:cNvPr id="5" name="Step 1"/>
          <p:cNvSpPr/>
          <p:nvPr/>
        </p:nvSpPr>
        <p:spPr>
          <a:xfrm>
            <a:off x="457200" y="2532888"/>
            <a:ext cx="3931920" cy="603504"/>
          </a:xfrm>
          <a:prstGeom prst="roundRect">
            <a:avLst>
              <a:gd name="adj" fmla="val 15152"/>
            </a:avLst>
          </a:prstGeom>
          <a:solidFill>
            <a:schemeClr val="bg2"/>
          </a:solidFill>
          <a:ln/>
        </p:spPr>
      </p:sp>
      <p:sp>
        <p:nvSpPr>
          <p:cNvPr id="6" name="Step 1 badge"/>
          <p:cNvSpPr/>
          <p:nvPr/>
        </p:nvSpPr>
        <p:spPr>
          <a:xfrm>
            <a:off x="594360" y="2642616"/>
            <a:ext cx="384048" cy="384048"/>
          </a:xfrm>
          <a:prstGeom prst="ellipse">
            <a:avLst/>
          </a:prstGeom>
          <a:solidFill>
            <a:schemeClr val="accent1"/>
          </a:solidFill>
          <a:ln/>
        </p:spPr>
      </p:sp>
      <p:sp>
        <p:nvSpPr>
          <p:cNvPr id="7" name="Step 1 num"/>
          <p:cNvSpPr txBox="1"/>
          <p:nvPr/>
        </p:nvSpPr>
        <p:spPr>
          <a:xfrm>
            <a:off x="594360" y="26426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General &amp; Specific Background</a:t>
            </a:r>
            <a:endParaRPr lang="en-US" sz="1250" dirty="0"/>
          </a:p>
        </p:txBody>
      </p:sp>
      <p:sp>
        <p:nvSpPr>
          <p:cNvPr id="9" name="Step 2"/>
          <p:cNvSpPr/>
          <p:nvPr/>
        </p:nvSpPr>
        <p:spPr>
          <a:xfrm>
            <a:off x="457200" y="3246120"/>
            <a:ext cx="3931920" cy="603504"/>
          </a:xfrm>
          <a:prstGeom prst="roundRect">
            <a:avLst>
              <a:gd name="adj" fmla="val 15152"/>
            </a:avLst>
          </a:prstGeom>
          <a:solidFill>
            <a:schemeClr val="bg2"/>
          </a:solidFill>
          <a:ln/>
        </p:spPr>
      </p:sp>
      <p:sp>
        <p:nvSpPr>
          <p:cNvPr id="10" name="Step 2 badge"/>
          <p:cNvSpPr/>
          <p:nvPr/>
        </p:nvSpPr>
        <p:spPr>
          <a:xfrm>
            <a:off x="594360" y="3355848"/>
            <a:ext cx="384048" cy="384048"/>
          </a:xfrm>
          <a:prstGeom prst="ellipse">
            <a:avLst/>
          </a:prstGeom>
          <a:solidFill>
            <a:schemeClr val="accent1"/>
          </a:solidFill>
          <a:ln/>
        </p:spPr>
      </p:sp>
      <p:sp>
        <p:nvSpPr>
          <p:cNvPr id="11" name="Step 2 num"/>
          <p:cNvSpPr txBox="1"/>
          <p:nvPr/>
        </p:nvSpPr>
        <p:spPr>
          <a:xfrm>
            <a:off x="594360" y="33558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246120"/>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Problem / Issues / Gap</a:t>
            </a:r>
            <a:endParaRPr lang="en-US" sz="1250" dirty="0"/>
          </a:p>
        </p:txBody>
      </p:sp>
      <p:sp>
        <p:nvSpPr>
          <p:cNvPr id="13" name="Step 3"/>
          <p:cNvSpPr/>
          <p:nvPr/>
        </p:nvSpPr>
        <p:spPr>
          <a:xfrm>
            <a:off x="457200" y="3959352"/>
            <a:ext cx="3931920" cy="603504"/>
          </a:xfrm>
          <a:prstGeom prst="roundRect">
            <a:avLst>
              <a:gd name="adj" fmla="val 15152"/>
            </a:avLst>
          </a:prstGeom>
          <a:solidFill>
            <a:schemeClr val="bg2"/>
          </a:solidFill>
          <a:ln/>
        </p:spPr>
      </p:sp>
      <p:sp>
        <p:nvSpPr>
          <p:cNvPr id="14" name="Step 3 badge"/>
          <p:cNvSpPr/>
          <p:nvPr/>
        </p:nvSpPr>
        <p:spPr>
          <a:xfrm>
            <a:off x="594360" y="4069080"/>
            <a:ext cx="384048" cy="384048"/>
          </a:xfrm>
          <a:prstGeom prst="ellipse">
            <a:avLst/>
          </a:prstGeom>
          <a:solidFill>
            <a:schemeClr val="accent1"/>
          </a:solidFill>
          <a:ln/>
        </p:spPr>
      </p:sp>
      <p:sp>
        <p:nvSpPr>
          <p:cNvPr id="15" name="Step 3 num"/>
          <p:cNvSpPr txBox="1"/>
          <p:nvPr/>
        </p:nvSpPr>
        <p:spPr>
          <a:xfrm>
            <a:off x="594360" y="4069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3959352"/>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Aims</a:t>
            </a:r>
            <a:endParaRPr lang="en-US" sz="1250" dirty="0"/>
          </a:p>
        </p:txBody>
      </p:sp>
      <p:sp>
        <p:nvSpPr>
          <p:cNvPr id="17" name="Step 4"/>
          <p:cNvSpPr/>
          <p:nvPr/>
        </p:nvSpPr>
        <p:spPr>
          <a:xfrm>
            <a:off x="457200" y="4672584"/>
            <a:ext cx="3931920" cy="603504"/>
          </a:xfrm>
          <a:prstGeom prst="roundRect">
            <a:avLst>
              <a:gd name="adj" fmla="val 15152"/>
            </a:avLst>
          </a:prstGeom>
          <a:solidFill>
            <a:schemeClr val="accent1"/>
          </a:solidFill>
          <a:ln/>
        </p:spPr>
      </p:sp>
      <p:sp>
        <p:nvSpPr>
          <p:cNvPr id="18" name="Step 4 badge"/>
          <p:cNvSpPr/>
          <p:nvPr/>
        </p:nvSpPr>
        <p:spPr>
          <a:xfrm>
            <a:off x="594360" y="4782312"/>
            <a:ext cx="384048" cy="384048"/>
          </a:xfrm>
          <a:prstGeom prst="ellipse">
            <a:avLst/>
          </a:prstGeom>
          <a:solidFill>
            <a:schemeClr val="bg1"/>
          </a:solidFill>
          <a:ln/>
        </p:spPr>
      </p:sp>
      <p:sp>
        <p:nvSpPr>
          <p:cNvPr id="19" name="Step 4 num"/>
          <p:cNvSpPr txBox="1"/>
          <p:nvPr/>
        </p:nvSpPr>
        <p:spPr>
          <a:xfrm>
            <a:off x="594360" y="478231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20" name="Step 4 text"/>
          <p:cNvSpPr txBox="1"/>
          <p:nvPr/>
        </p:nvSpPr>
        <p:spPr>
          <a:xfrm>
            <a:off x="1115568" y="4672584"/>
            <a:ext cx="3136392" cy="603504"/>
          </a:xfrm>
          <a:prstGeom prst="rect">
            <a:avLst/>
          </a:prstGeom>
          <a:noFill/>
          <a:ln/>
        </p:spPr>
        <p:txBody>
          <a:bodyPr wrap="square" lIns="0" tIns="0" rIns="0" bIns="0" rtlCol="0" anchor="ctr"/>
          <a:lstStyle/>
          <a:p>
            <a:pPr algn="l" indent="0" marL="0">
              <a:buNone/>
            </a:pPr>
            <a:r>
              <a:rPr lang="en-US" sz="1250" b="1" dirty="0">
                <a:solidFill>
                  <a:schemeClr val="bg1"/>
                </a:solidFill>
              </a:rPr>
              <a:t>Methodology / Design Process</a:t>
            </a:r>
            <a:endParaRPr lang="en-US" sz="1250" dirty="0"/>
          </a:p>
        </p:txBody>
      </p:sp>
      <p:sp>
        <p:nvSpPr>
          <p:cNvPr id="21" name="Step 5"/>
          <p:cNvSpPr/>
          <p:nvPr/>
        </p:nvSpPr>
        <p:spPr>
          <a:xfrm>
            <a:off x="457200" y="5385816"/>
            <a:ext cx="3931920" cy="603504"/>
          </a:xfrm>
          <a:prstGeom prst="roundRect">
            <a:avLst>
              <a:gd name="adj" fmla="val 15152"/>
            </a:avLst>
          </a:prstGeom>
          <a:solidFill>
            <a:schemeClr val="bg2"/>
          </a:solidFill>
          <a:ln/>
        </p:spPr>
      </p:sp>
      <p:sp>
        <p:nvSpPr>
          <p:cNvPr id="22" name="Step 5 badge"/>
          <p:cNvSpPr/>
          <p:nvPr/>
        </p:nvSpPr>
        <p:spPr>
          <a:xfrm>
            <a:off x="594360" y="5495544"/>
            <a:ext cx="384048" cy="384048"/>
          </a:xfrm>
          <a:prstGeom prst="ellipse">
            <a:avLst/>
          </a:prstGeom>
          <a:solidFill>
            <a:schemeClr val="accent1"/>
          </a:solidFill>
          <a:ln/>
        </p:spPr>
      </p:sp>
      <p:sp>
        <p:nvSpPr>
          <p:cNvPr id="23" name="Step 5 num"/>
          <p:cNvSpPr txBox="1"/>
          <p:nvPr/>
        </p:nvSpPr>
        <p:spPr>
          <a:xfrm>
            <a:off x="594360" y="54955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Step 5 text"/>
          <p:cNvSpPr txBox="1"/>
          <p:nvPr/>
        </p:nvSpPr>
        <p:spPr>
          <a:xfrm>
            <a:off x="1115568" y="5385816"/>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Results</a:t>
            </a:r>
            <a:endParaRPr lang="en-US" sz="1250" dirty="0"/>
          </a:p>
        </p:txBody>
      </p:sp>
      <p:sp>
        <p:nvSpPr>
          <p:cNvPr id="25" name="Body"/>
          <p:cNvSpPr txBox="1"/>
          <p:nvPr/>
        </p:nvSpPr>
        <p:spPr>
          <a:xfrm>
            <a:off x="4800600" y="1874520"/>
            <a:ext cx="6931152" cy="420624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4. المنهجية / عملية التصميم (Methodology / Design Process)</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يشرح هذا الجزء بإيجاز المنهج أو الأسلوب الذي تم اتباعه في إجراء البحث. ويشمل ذلك:</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نوع المنهج (وصفي، تجريبي، تحليلي، تصميمي…)</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أدوات جمع البيانات</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خطوات عملية التصميم (في حال كان البحث مرتبطًا بالتصميم الجرافيكي)</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يجب أن يكون الوصف مختصرًا لكنه كافٍ لفهم كيفية تنفيذ الدراسة.</a:t>
            </a:r>
            <a:endParaRPr lang="en-US" sz="1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ملخص البحث (Abstract)</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ABSTRACT</a:t>
            </a:r>
            <a:endParaRPr lang="en-US" sz="1400" dirty="0"/>
          </a:p>
        </p:txBody>
      </p:sp>
      <p:sp>
        <p:nvSpPr>
          <p:cNvPr id="5" name="Step 1"/>
          <p:cNvSpPr/>
          <p:nvPr/>
        </p:nvSpPr>
        <p:spPr>
          <a:xfrm>
            <a:off x="457200" y="2532888"/>
            <a:ext cx="3931920" cy="603504"/>
          </a:xfrm>
          <a:prstGeom prst="roundRect">
            <a:avLst>
              <a:gd name="adj" fmla="val 15152"/>
            </a:avLst>
          </a:prstGeom>
          <a:solidFill>
            <a:schemeClr val="bg2"/>
          </a:solidFill>
          <a:ln/>
        </p:spPr>
      </p:sp>
      <p:sp>
        <p:nvSpPr>
          <p:cNvPr id="6" name="Step 1 badge"/>
          <p:cNvSpPr/>
          <p:nvPr/>
        </p:nvSpPr>
        <p:spPr>
          <a:xfrm>
            <a:off x="594360" y="2642616"/>
            <a:ext cx="384048" cy="384048"/>
          </a:xfrm>
          <a:prstGeom prst="ellipse">
            <a:avLst/>
          </a:prstGeom>
          <a:solidFill>
            <a:schemeClr val="accent1"/>
          </a:solidFill>
          <a:ln/>
        </p:spPr>
      </p:sp>
      <p:sp>
        <p:nvSpPr>
          <p:cNvPr id="7" name="Step 1 num"/>
          <p:cNvSpPr txBox="1"/>
          <p:nvPr/>
        </p:nvSpPr>
        <p:spPr>
          <a:xfrm>
            <a:off x="594360" y="26426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General &amp; Specific Background</a:t>
            </a:r>
            <a:endParaRPr lang="en-US" sz="1250" dirty="0"/>
          </a:p>
        </p:txBody>
      </p:sp>
      <p:sp>
        <p:nvSpPr>
          <p:cNvPr id="9" name="Step 2"/>
          <p:cNvSpPr/>
          <p:nvPr/>
        </p:nvSpPr>
        <p:spPr>
          <a:xfrm>
            <a:off x="457200" y="3246120"/>
            <a:ext cx="3931920" cy="603504"/>
          </a:xfrm>
          <a:prstGeom prst="roundRect">
            <a:avLst>
              <a:gd name="adj" fmla="val 15152"/>
            </a:avLst>
          </a:prstGeom>
          <a:solidFill>
            <a:schemeClr val="bg2"/>
          </a:solidFill>
          <a:ln/>
        </p:spPr>
      </p:sp>
      <p:sp>
        <p:nvSpPr>
          <p:cNvPr id="10" name="Step 2 badge"/>
          <p:cNvSpPr/>
          <p:nvPr/>
        </p:nvSpPr>
        <p:spPr>
          <a:xfrm>
            <a:off x="594360" y="3355848"/>
            <a:ext cx="384048" cy="384048"/>
          </a:xfrm>
          <a:prstGeom prst="ellipse">
            <a:avLst/>
          </a:prstGeom>
          <a:solidFill>
            <a:schemeClr val="accent1"/>
          </a:solidFill>
          <a:ln/>
        </p:spPr>
      </p:sp>
      <p:sp>
        <p:nvSpPr>
          <p:cNvPr id="11" name="Step 2 num"/>
          <p:cNvSpPr txBox="1"/>
          <p:nvPr/>
        </p:nvSpPr>
        <p:spPr>
          <a:xfrm>
            <a:off x="594360" y="33558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246120"/>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Problem / Issues / Gap</a:t>
            </a:r>
            <a:endParaRPr lang="en-US" sz="1250" dirty="0"/>
          </a:p>
        </p:txBody>
      </p:sp>
      <p:sp>
        <p:nvSpPr>
          <p:cNvPr id="13" name="Step 3"/>
          <p:cNvSpPr/>
          <p:nvPr/>
        </p:nvSpPr>
        <p:spPr>
          <a:xfrm>
            <a:off x="457200" y="3959352"/>
            <a:ext cx="3931920" cy="603504"/>
          </a:xfrm>
          <a:prstGeom prst="roundRect">
            <a:avLst>
              <a:gd name="adj" fmla="val 15152"/>
            </a:avLst>
          </a:prstGeom>
          <a:solidFill>
            <a:schemeClr val="bg2"/>
          </a:solidFill>
          <a:ln/>
        </p:spPr>
      </p:sp>
      <p:sp>
        <p:nvSpPr>
          <p:cNvPr id="14" name="Step 3 badge"/>
          <p:cNvSpPr/>
          <p:nvPr/>
        </p:nvSpPr>
        <p:spPr>
          <a:xfrm>
            <a:off x="594360" y="4069080"/>
            <a:ext cx="384048" cy="384048"/>
          </a:xfrm>
          <a:prstGeom prst="ellipse">
            <a:avLst/>
          </a:prstGeom>
          <a:solidFill>
            <a:schemeClr val="accent1"/>
          </a:solidFill>
          <a:ln/>
        </p:spPr>
      </p:sp>
      <p:sp>
        <p:nvSpPr>
          <p:cNvPr id="15" name="Step 3 num"/>
          <p:cNvSpPr txBox="1"/>
          <p:nvPr/>
        </p:nvSpPr>
        <p:spPr>
          <a:xfrm>
            <a:off x="594360" y="4069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3959352"/>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Aims</a:t>
            </a:r>
            <a:endParaRPr lang="en-US" sz="1250" dirty="0"/>
          </a:p>
        </p:txBody>
      </p:sp>
      <p:sp>
        <p:nvSpPr>
          <p:cNvPr id="17" name="Step 4"/>
          <p:cNvSpPr/>
          <p:nvPr/>
        </p:nvSpPr>
        <p:spPr>
          <a:xfrm>
            <a:off x="457200" y="4672584"/>
            <a:ext cx="3931920" cy="603504"/>
          </a:xfrm>
          <a:prstGeom prst="roundRect">
            <a:avLst>
              <a:gd name="adj" fmla="val 15152"/>
            </a:avLst>
          </a:prstGeom>
          <a:solidFill>
            <a:schemeClr val="bg2"/>
          </a:solidFill>
          <a:ln/>
        </p:spPr>
      </p:sp>
      <p:sp>
        <p:nvSpPr>
          <p:cNvPr id="18" name="Step 4 badge"/>
          <p:cNvSpPr/>
          <p:nvPr/>
        </p:nvSpPr>
        <p:spPr>
          <a:xfrm>
            <a:off x="594360" y="4782312"/>
            <a:ext cx="384048" cy="384048"/>
          </a:xfrm>
          <a:prstGeom prst="ellipse">
            <a:avLst/>
          </a:prstGeom>
          <a:solidFill>
            <a:schemeClr val="accent1"/>
          </a:solidFill>
          <a:ln/>
        </p:spPr>
      </p:sp>
      <p:sp>
        <p:nvSpPr>
          <p:cNvPr id="19" name="Step 4 num"/>
          <p:cNvSpPr txBox="1"/>
          <p:nvPr/>
        </p:nvSpPr>
        <p:spPr>
          <a:xfrm>
            <a:off x="594360" y="4782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Step 4 text"/>
          <p:cNvSpPr txBox="1"/>
          <p:nvPr/>
        </p:nvSpPr>
        <p:spPr>
          <a:xfrm>
            <a:off x="1115568" y="4672584"/>
            <a:ext cx="3136392" cy="603504"/>
          </a:xfrm>
          <a:prstGeom prst="rect">
            <a:avLst/>
          </a:prstGeom>
          <a:noFill/>
          <a:ln/>
        </p:spPr>
        <p:txBody>
          <a:bodyPr wrap="square" lIns="0" tIns="0" rIns="0" bIns="0" rtlCol="0" anchor="ctr"/>
          <a:lstStyle/>
          <a:p>
            <a:pPr algn="l" indent="0" marL="0">
              <a:buNone/>
            </a:pPr>
            <a:r>
              <a:rPr lang="en-US" sz="1250" dirty="0">
                <a:solidFill>
                  <a:schemeClr val="tx1"/>
                </a:solidFill>
              </a:rPr>
              <a:t>Methodology / Design Process</a:t>
            </a:r>
            <a:endParaRPr lang="en-US" sz="1250" dirty="0"/>
          </a:p>
        </p:txBody>
      </p:sp>
      <p:sp>
        <p:nvSpPr>
          <p:cNvPr id="21" name="Step 5"/>
          <p:cNvSpPr/>
          <p:nvPr/>
        </p:nvSpPr>
        <p:spPr>
          <a:xfrm>
            <a:off x="457200" y="5385816"/>
            <a:ext cx="3931920" cy="603504"/>
          </a:xfrm>
          <a:prstGeom prst="roundRect">
            <a:avLst>
              <a:gd name="adj" fmla="val 15152"/>
            </a:avLst>
          </a:prstGeom>
          <a:solidFill>
            <a:schemeClr val="accent1"/>
          </a:solidFill>
          <a:ln/>
        </p:spPr>
      </p:sp>
      <p:sp>
        <p:nvSpPr>
          <p:cNvPr id="22" name="Step 5 badge"/>
          <p:cNvSpPr/>
          <p:nvPr/>
        </p:nvSpPr>
        <p:spPr>
          <a:xfrm>
            <a:off x="594360" y="5495544"/>
            <a:ext cx="384048" cy="384048"/>
          </a:xfrm>
          <a:prstGeom prst="ellipse">
            <a:avLst/>
          </a:prstGeom>
          <a:solidFill>
            <a:schemeClr val="bg1"/>
          </a:solidFill>
          <a:ln/>
        </p:spPr>
      </p:sp>
      <p:sp>
        <p:nvSpPr>
          <p:cNvPr id="23" name="Step 5 num"/>
          <p:cNvSpPr txBox="1"/>
          <p:nvPr/>
        </p:nvSpPr>
        <p:spPr>
          <a:xfrm>
            <a:off x="594360" y="549554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5</a:t>
            </a:r>
            <a:endParaRPr lang="en-US" sz="1300" dirty="0"/>
          </a:p>
        </p:txBody>
      </p:sp>
      <p:sp>
        <p:nvSpPr>
          <p:cNvPr id="24" name="Step 5 text"/>
          <p:cNvSpPr txBox="1"/>
          <p:nvPr/>
        </p:nvSpPr>
        <p:spPr>
          <a:xfrm>
            <a:off x="1115568" y="5385816"/>
            <a:ext cx="3136392" cy="603504"/>
          </a:xfrm>
          <a:prstGeom prst="rect">
            <a:avLst/>
          </a:prstGeom>
          <a:noFill/>
          <a:ln/>
        </p:spPr>
        <p:txBody>
          <a:bodyPr wrap="square" lIns="0" tIns="0" rIns="0" bIns="0" rtlCol="0" anchor="ctr"/>
          <a:lstStyle/>
          <a:p>
            <a:pPr algn="l" indent="0" marL="0">
              <a:buNone/>
            </a:pPr>
            <a:r>
              <a:rPr lang="en-US" sz="1250" b="1" dirty="0">
                <a:solidFill>
                  <a:schemeClr val="bg1"/>
                </a:solidFill>
              </a:rPr>
              <a:t>Results</a:t>
            </a:r>
            <a:endParaRPr lang="en-US" sz="1250" dirty="0"/>
          </a:p>
        </p:txBody>
      </p:sp>
      <p:sp>
        <p:nvSpPr>
          <p:cNvPr id="25" name="Body"/>
          <p:cNvSpPr txBox="1"/>
          <p:nvPr/>
        </p:nvSpPr>
        <p:spPr>
          <a:xfrm>
            <a:off x="4800600" y="1874520"/>
            <a:ext cx="6931152" cy="237744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5. النتائج (Results)</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يُختتم الملخص بعرض أهم النتائج التي توصّل إليها البحث.</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ينبغي أن تكون النتائج واضحة ومباشرة، وتعكس مدى تحقيق أهداف الدراسة، دون الدخول في تفاصيل أو مناقشات مطولة.</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وقد يتضمن هذا الجزء أيضًا الإشارة إلى أهمية النتائج أو تطبيقاتها المحتملة.</a:t>
            </a:r>
            <a:endParaRPr lang="en-US" sz="1800" dirty="0"/>
          </a:p>
        </p:txBody>
      </p:sp>
      <p:sp>
        <p:nvSpPr>
          <p:cNvPr id="26" name="Note box"/>
          <p:cNvSpPr/>
          <p:nvPr/>
        </p:nvSpPr>
        <p:spPr>
          <a:xfrm>
            <a:off x="4800600" y="4434840"/>
            <a:ext cx="6931152" cy="1600200"/>
          </a:xfrm>
          <a:prstGeom prst="roundRect">
            <a:avLst>
              <a:gd name="adj" fmla="val 5714"/>
            </a:avLst>
          </a:prstGeom>
          <a:solidFill>
            <a:schemeClr val="bg2"/>
          </a:solidFill>
          <a:ln/>
        </p:spPr>
      </p:sp>
      <p:sp>
        <p:nvSpPr>
          <p:cNvPr id="27" name="Body"/>
          <p:cNvSpPr txBox="1"/>
          <p:nvPr/>
        </p:nvSpPr>
        <p:spPr>
          <a:xfrm>
            <a:off x="5074920" y="4434840"/>
            <a:ext cx="6382512" cy="1600200"/>
          </a:xfrm>
          <a:prstGeom prst="rect">
            <a:avLst/>
          </a:prstGeom>
          <a:noFill/>
          <a:ln/>
        </p:spPr>
        <p:txBody>
          <a:bodyPr wrap="square" lIns="0" tIns="0" rIns="0" bIns="0" rtlCol="0" anchor="ctr"/>
          <a:lstStyle/>
          <a:p>
            <a:pPr algn="r" indent="0" marL="0" rtl="1">
              <a:lnSpc>
                <a:spcPct val="110000"/>
              </a:lnSpc>
              <a:spcAft>
                <a:spcPts val="400"/>
              </a:spcAft>
              <a:buNone/>
            </a:pPr>
            <a:r>
              <a:rPr lang="en-US" sz="1600" b="1" dirty="0">
                <a:solidFill>
                  <a:schemeClr val="accent1"/>
                </a:solidFill>
                <a:latin typeface="Arial" pitchFamily="34" charset="0"/>
                <a:ea typeface="Arial" pitchFamily="34" charset="-122"/>
                <a:cs typeface="Arial" pitchFamily="34" charset="-120"/>
              </a:rPr>
              <a:t>ملاحظة عامة</a:t>
            </a:r>
            <a:endParaRPr lang="en-US" sz="1600" dirty="0"/>
          </a:p>
          <a:p>
            <a:pPr algn="r" indent="0" marL="0" rtl="1">
              <a:lnSpc>
                <a:spcPct val="110000"/>
              </a:lnSpc>
              <a:spcAft>
                <a:spcPts val="600"/>
              </a:spcAft>
              <a:buNone/>
            </a:pPr>
            <a:r>
              <a:rPr lang="en-US" sz="1500" dirty="0">
                <a:solidFill>
                  <a:schemeClr val="tx1"/>
                </a:solidFill>
                <a:latin typeface="Arial" pitchFamily="34" charset="0"/>
                <a:ea typeface="Arial" pitchFamily="34" charset="-122"/>
                <a:cs typeface="Arial" pitchFamily="34" charset="-120"/>
              </a:rPr>
              <a:t>يُكتب الـ Abstract عادةً في فقرة واحدة مترابطة، باستخدام لغة علمية واضحة، وبعدد كلمات محدد (غالبًا بين 150–250 كلمة)، مع تجنّب الاقتباسات أو التفاصيل غير الضرورية.</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خلفية الدراسة (Background of Study)</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BACKGROUND OF STUDY</a:t>
            </a:r>
            <a:endParaRPr lang="en-US" sz="1400" dirty="0"/>
          </a:p>
        </p:txBody>
      </p:sp>
      <p:sp>
        <p:nvSpPr>
          <p:cNvPr id="5" name="Step 1"/>
          <p:cNvSpPr/>
          <p:nvPr/>
        </p:nvSpPr>
        <p:spPr>
          <a:xfrm>
            <a:off x="457200" y="2532888"/>
            <a:ext cx="3931920" cy="960120"/>
          </a:xfrm>
          <a:prstGeom prst="roundRect">
            <a:avLst>
              <a:gd name="adj" fmla="val 9524"/>
            </a:avLst>
          </a:prstGeom>
          <a:solidFill>
            <a:schemeClr val="accent1"/>
          </a:solidFill>
          <a:ln/>
        </p:spPr>
      </p:sp>
      <p:sp>
        <p:nvSpPr>
          <p:cNvPr id="6" name="Step 1 badge"/>
          <p:cNvSpPr/>
          <p:nvPr/>
        </p:nvSpPr>
        <p:spPr>
          <a:xfrm>
            <a:off x="594360" y="2820924"/>
            <a:ext cx="384048" cy="384048"/>
          </a:xfrm>
          <a:prstGeom prst="ellipse">
            <a:avLst/>
          </a:prstGeom>
          <a:solidFill>
            <a:schemeClr val="bg1"/>
          </a:solidFill>
          <a:ln/>
        </p:spPr>
      </p:sp>
      <p:sp>
        <p:nvSpPr>
          <p:cNvPr id="7" name="Step 1 num"/>
          <p:cNvSpPr txBox="1"/>
          <p:nvPr/>
        </p:nvSpPr>
        <p:spPr>
          <a:xfrm>
            <a:off x="594360" y="282092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Step 1 text"/>
          <p:cNvSpPr txBox="1"/>
          <p:nvPr/>
        </p:nvSpPr>
        <p:spPr>
          <a:xfrm>
            <a:off x="1115568" y="2532888"/>
            <a:ext cx="3136392" cy="960120"/>
          </a:xfrm>
          <a:prstGeom prst="rect">
            <a:avLst/>
          </a:prstGeom>
          <a:noFill/>
          <a:ln/>
        </p:spPr>
        <p:txBody>
          <a:bodyPr wrap="square" lIns="0" tIns="0" rIns="0" bIns="0" rtlCol="0" anchor="ctr"/>
          <a:lstStyle/>
          <a:p>
            <a:pPr algn="l" indent="0" marL="0">
              <a:buNone/>
            </a:pPr>
            <a:r>
              <a:rPr lang="en-US" sz="1300" b="1" dirty="0">
                <a:solidFill>
                  <a:schemeClr val="bg1"/>
                </a:solidFill>
              </a:rPr>
              <a:t>General and Specific Background of Study</a:t>
            </a:r>
            <a:endParaRPr lang="en-US" sz="1300" dirty="0"/>
          </a:p>
        </p:txBody>
      </p:sp>
      <p:sp>
        <p:nvSpPr>
          <p:cNvPr id="9" name="Step 2"/>
          <p:cNvSpPr/>
          <p:nvPr/>
        </p:nvSpPr>
        <p:spPr>
          <a:xfrm>
            <a:off x="457200" y="3602736"/>
            <a:ext cx="3931920" cy="960120"/>
          </a:xfrm>
          <a:prstGeom prst="roundRect">
            <a:avLst>
              <a:gd name="adj" fmla="val 9524"/>
            </a:avLst>
          </a:prstGeom>
          <a:solidFill>
            <a:schemeClr val="bg2"/>
          </a:solidFill>
          <a:ln/>
        </p:spPr>
      </p:sp>
      <p:sp>
        <p:nvSpPr>
          <p:cNvPr id="10" name="Step 2 badge"/>
          <p:cNvSpPr/>
          <p:nvPr/>
        </p:nvSpPr>
        <p:spPr>
          <a:xfrm>
            <a:off x="594360" y="3890772"/>
            <a:ext cx="384048" cy="384048"/>
          </a:xfrm>
          <a:prstGeom prst="ellipse">
            <a:avLst/>
          </a:prstGeom>
          <a:solidFill>
            <a:schemeClr val="accent1"/>
          </a:solidFill>
          <a:ln/>
        </p:spPr>
      </p:sp>
      <p:sp>
        <p:nvSpPr>
          <p:cNvPr id="11" name="Step 2 num"/>
          <p:cNvSpPr txBox="1"/>
          <p:nvPr/>
        </p:nvSpPr>
        <p:spPr>
          <a:xfrm>
            <a:off x="594360" y="38907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602736"/>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Explain the Variables under the Study</a:t>
            </a:r>
            <a:endParaRPr lang="en-US" sz="1300" dirty="0"/>
          </a:p>
        </p:txBody>
      </p:sp>
      <p:sp>
        <p:nvSpPr>
          <p:cNvPr id="13" name="Step 3"/>
          <p:cNvSpPr/>
          <p:nvPr/>
        </p:nvSpPr>
        <p:spPr>
          <a:xfrm>
            <a:off x="457200" y="4672584"/>
            <a:ext cx="3931920" cy="960120"/>
          </a:xfrm>
          <a:prstGeom prst="roundRect">
            <a:avLst>
              <a:gd name="adj" fmla="val 9524"/>
            </a:avLst>
          </a:prstGeom>
          <a:solidFill>
            <a:schemeClr val="bg2"/>
          </a:solidFill>
          <a:ln/>
        </p:spPr>
      </p:sp>
      <p:sp>
        <p:nvSpPr>
          <p:cNvPr id="14" name="Step 3 badge"/>
          <p:cNvSpPr/>
          <p:nvPr/>
        </p:nvSpPr>
        <p:spPr>
          <a:xfrm>
            <a:off x="594360" y="4960620"/>
            <a:ext cx="384048" cy="384048"/>
          </a:xfrm>
          <a:prstGeom prst="ellipse">
            <a:avLst/>
          </a:prstGeom>
          <a:solidFill>
            <a:schemeClr val="accent1"/>
          </a:solidFill>
          <a:ln/>
        </p:spPr>
      </p:sp>
      <p:sp>
        <p:nvSpPr>
          <p:cNvPr id="15" name="Step 3 num"/>
          <p:cNvSpPr txBox="1"/>
          <p:nvPr/>
        </p:nvSpPr>
        <p:spPr>
          <a:xfrm>
            <a:off x="594360" y="49606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4672584"/>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Literature Reviews on Study Variables</a:t>
            </a:r>
            <a:endParaRPr lang="en-US" sz="1300" dirty="0"/>
          </a:p>
        </p:txBody>
      </p:sp>
      <p:sp>
        <p:nvSpPr>
          <p:cNvPr id="17" name="Body"/>
          <p:cNvSpPr txBox="1"/>
          <p:nvPr/>
        </p:nvSpPr>
        <p:spPr>
          <a:xfrm>
            <a:off x="4800600" y="1874520"/>
            <a:ext cx="6931152" cy="4206240"/>
          </a:xfrm>
          <a:prstGeom prst="rect">
            <a:avLst/>
          </a:prstGeom>
          <a:noFill/>
          <a:ln/>
        </p:spPr>
        <p:txBody>
          <a:bodyPr wrap="square" lIns="0" tIns="0" rIns="0" bIns="0" rtlCol="0" anchor="t"/>
          <a:lstStyle/>
          <a:p>
            <a:pPr algn="r" indent="0" marL="0" rtl="1">
              <a:lnSpc>
                <a:spcPct val="110000"/>
              </a:lnSpc>
              <a:spcAft>
                <a:spcPts val="1600"/>
              </a:spcAft>
              <a:buNone/>
            </a:pPr>
            <a:r>
              <a:rPr lang="en-US" sz="1600" dirty="0">
                <a:solidFill>
                  <a:schemeClr val="tx1"/>
                </a:solidFill>
                <a:latin typeface="Arial" pitchFamily="34" charset="0"/>
                <a:ea typeface="Arial" pitchFamily="34" charset="-122"/>
                <a:cs typeface="Arial" pitchFamily="34" charset="-120"/>
              </a:rPr>
              <a:t>تُعد خلفية الدراسة جزءًا مهمًا في البحث العلمي، حيث تساعد في توضيح موضوع البحث بشكل عام، ثم التدرج إلى التركيز على المشكلة بشكل محدد.</a:t>
            </a:r>
            <a:endParaRPr lang="en-US" sz="1600" dirty="0"/>
          </a:p>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1. الخلفية العامة والخاصة (General and Specific Background)</a:t>
            </a:r>
            <a:endParaRPr lang="en-US" sz="16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في البداية، يتم التحدث عن الموضوع بشكل عام، مثل أهمية المجال أو المشكلة في المجتمع أو في التصميم.</a:t>
            </a:r>
            <a:endParaRPr lang="en-US" sz="16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بعد ذلك، يتم الانتقال إلى جانب محدد مرتبط بموضوع البحث بشكل مباشر.</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خلفية الدراسة (Background of Study)</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BACKGROUND OF STUDY</a:t>
            </a:r>
            <a:endParaRPr lang="en-US" sz="1400" dirty="0"/>
          </a:p>
        </p:txBody>
      </p:sp>
      <p:sp>
        <p:nvSpPr>
          <p:cNvPr id="5" name="Step 1"/>
          <p:cNvSpPr/>
          <p:nvPr/>
        </p:nvSpPr>
        <p:spPr>
          <a:xfrm>
            <a:off x="457200" y="2532888"/>
            <a:ext cx="3931920" cy="960120"/>
          </a:xfrm>
          <a:prstGeom prst="roundRect">
            <a:avLst>
              <a:gd name="adj" fmla="val 9524"/>
            </a:avLst>
          </a:prstGeom>
          <a:solidFill>
            <a:schemeClr val="bg2"/>
          </a:solidFill>
          <a:ln/>
        </p:spPr>
      </p:sp>
      <p:sp>
        <p:nvSpPr>
          <p:cNvPr id="6" name="Step 1 badge"/>
          <p:cNvSpPr/>
          <p:nvPr/>
        </p:nvSpPr>
        <p:spPr>
          <a:xfrm>
            <a:off x="594360" y="2820924"/>
            <a:ext cx="384048" cy="384048"/>
          </a:xfrm>
          <a:prstGeom prst="ellipse">
            <a:avLst/>
          </a:prstGeom>
          <a:solidFill>
            <a:schemeClr val="accent1"/>
          </a:solidFill>
          <a:ln/>
        </p:spPr>
      </p:sp>
      <p:sp>
        <p:nvSpPr>
          <p:cNvPr id="7" name="Step 1 num"/>
          <p:cNvSpPr txBox="1"/>
          <p:nvPr/>
        </p:nvSpPr>
        <p:spPr>
          <a:xfrm>
            <a:off x="594360" y="282092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General and Specific Background of Study</a:t>
            </a:r>
            <a:endParaRPr lang="en-US" sz="1300" dirty="0"/>
          </a:p>
        </p:txBody>
      </p:sp>
      <p:sp>
        <p:nvSpPr>
          <p:cNvPr id="9" name="Step 2"/>
          <p:cNvSpPr/>
          <p:nvPr/>
        </p:nvSpPr>
        <p:spPr>
          <a:xfrm>
            <a:off x="457200" y="3602736"/>
            <a:ext cx="3931920" cy="960120"/>
          </a:xfrm>
          <a:prstGeom prst="roundRect">
            <a:avLst>
              <a:gd name="adj" fmla="val 9524"/>
            </a:avLst>
          </a:prstGeom>
          <a:solidFill>
            <a:schemeClr val="accent1"/>
          </a:solidFill>
          <a:ln/>
        </p:spPr>
      </p:sp>
      <p:sp>
        <p:nvSpPr>
          <p:cNvPr id="10" name="Step 2 badge"/>
          <p:cNvSpPr/>
          <p:nvPr/>
        </p:nvSpPr>
        <p:spPr>
          <a:xfrm>
            <a:off x="594360" y="3890772"/>
            <a:ext cx="384048" cy="384048"/>
          </a:xfrm>
          <a:prstGeom prst="ellipse">
            <a:avLst/>
          </a:prstGeom>
          <a:solidFill>
            <a:schemeClr val="bg1"/>
          </a:solidFill>
          <a:ln/>
        </p:spPr>
      </p:sp>
      <p:sp>
        <p:nvSpPr>
          <p:cNvPr id="11" name="Step 2 num"/>
          <p:cNvSpPr txBox="1"/>
          <p:nvPr/>
        </p:nvSpPr>
        <p:spPr>
          <a:xfrm>
            <a:off x="594360" y="389077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12" name="Step 2 text"/>
          <p:cNvSpPr txBox="1"/>
          <p:nvPr/>
        </p:nvSpPr>
        <p:spPr>
          <a:xfrm>
            <a:off x="1115568" y="3602736"/>
            <a:ext cx="3136392" cy="960120"/>
          </a:xfrm>
          <a:prstGeom prst="rect">
            <a:avLst/>
          </a:prstGeom>
          <a:noFill/>
          <a:ln/>
        </p:spPr>
        <p:txBody>
          <a:bodyPr wrap="square" lIns="0" tIns="0" rIns="0" bIns="0" rtlCol="0" anchor="ctr"/>
          <a:lstStyle/>
          <a:p>
            <a:pPr algn="l" indent="0" marL="0">
              <a:buNone/>
            </a:pPr>
            <a:r>
              <a:rPr lang="en-US" sz="1300" b="1" dirty="0">
                <a:solidFill>
                  <a:schemeClr val="bg1"/>
                </a:solidFill>
              </a:rPr>
              <a:t>Explain the Variables under the Study</a:t>
            </a:r>
            <a:endParaRPr lang="en-US" sz="1300" dirty="0"/>
          </a:p>
        </p:txBody>
      </p:sp>
      <p:sp>
        <p:nvSpPr>
          <p:cNvPr id="13" name="Step 3"/>
          <p:cNvSpPr/>
          <p:nvPr/>
        </p:nvSpPr>
        <p:spPr>
          <a:xfrm>
            <a:off x="457200" y="4672584"/>
            <a:ext cx="3931920" cy="960120"/>
          </a:xfrm>
          <a:prstGeom prst="roundRect">
            <a:avLst>
              <a:gd name="adj" fmla="val 9524"/>
            </a:avLst>
          </a:prstGeom>
          <a:solidFill>
            <a:schemeClr val="bg2"/>
          </a:solidFill>
          <a:ln/>
        </p:spPr>
      </p:sp>
      <p:sp>
        <p:nvSpPr>
          <p:cNvPr id="14" name="Step 3 badge"/>
          <p:cNvSpPr/>
          <p:nvPr/>
        </p:nvSpPr>
        <p:spPr>
          <a:xfrm>
            <a:off x="594360" y="4960620"/>
            <a:ext cx="384048" cy="384048"/>
          </a:xfrm>
          <a:prstGeom prst="ellipse">
            <a:avLst/>
          </a:prstGeom>
          <a:solidFill>
            <a:schemeClr val="accent1"/>
          </a:solidFill>
          <a:ln/>
        </p:spPr>
      </p:sp>
      <p:sp>
        <p:nvSpPr>
          <p:cNvPr id="15" name="Step 3 num"/>
          <p:cNvSpPr txBox="1"/>
          <p:nvPr/>
        </p:nvSpPr>
        <p:spPr>
          <a:xfrm>
            <a:off x="594360" y="49606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4672584"/>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Literature Reviews on Study Variables</a:t>
            </a:r>
            <a:endParaRPr lang="en-US" sz="1300" dirty="0"/>
          </a:p>
        </p:txBody>
      </p:sp>
      <p:sp>
        <p:nvSpPr>
          <p:cNvPr id="17" name="Body"/>
          <p:cNvSpPr txBox="1"/>
          <p:nvPr/>
        </p:nvSpPr>
        <p:spPr>
          <a:xfrm>
            <a:off x="4800600" y="1874520"/>
            <a:ext cx="6931152" cy="91440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2. شرح المتغيرات في الدراسة (Variables)</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المتغيرات هي الأشياء التي ندرس العلاقة بينها في البحث، وتنقسم إلى نوعين:</a:t>
            </a:r>
            <a:endParaRPr lang="en-US" sz="1800" dirty="0"/>
          </a:p>
        </p:txBody>
      </p:sp>
      <p:sp>
        <p:nvSpPr>
          <p:cNvPr id="18" name="Variable card 1"/>
          <p:cNvSpPr/>
          <p:nvPr/>
        </p:nvSpPr>
        <p:spPr>
          <a:xfrm>
            <a:off x="8403336" y="2971800"/>
            <a:ext cx="3328416" cy="3063240"/>
          </a:xfrm>
          <a:prstGeom prst="roundRect">
            <a:avLst>
              <a:gd name="adj" fmla="val 3582"/>
            </a:avLst>
          </a:prstGeom>
          <a:solidFill>
            <a:schemeClr val="bg2"/>
          </a:solidFill>
          <a:ln/>
        </p:spPr>
      </p:sp>
      <p:sp>
        <p:nvSpPr>
          <p:cNvPr id="19" name="Body"/>
          <p:cNvSpPr txBox="1"/>
          <p:nvPr/>
        </p:nvSpPr>
        <p:spPr>
          <a:xfrm>
            <a:off x="8677656" y="3200400"/>
            <a:ext cx="2779776" cy="2606040"/>
          </a:xfrm>
          <a:prstGeom prst="rect">
            <a:avLst/>
          </a:prstGeom>
          <a:noFill/>
          <a:ln/>
        </p:spPr>
        <p:txBody>
          <a:bodyPr wrap="square" lIns="0" tIns="0" rIns="0" bIns="0" rtlCol="0" anchor="t"/>
          <a:lstStyle/>
          <a:p>
            <a:pPr algn="r" indent="0" marL="0" rtl="1">
              <a:lnSpc>
                <a:spcPct val="110000"/>
              </a:lnSpc>
              <a:buNone/>
            </a:pPr>
            <a:r>
              <a:rPr lang="en-US" sz="1900" b="1" dirty="0">
                <a:solidFill>
                  <a:schemeClr val="accent1"/>
                </a:solidFill>
                <a:latin typeface="Arial" pitchFamily="34" charset="0"/>
                <a:ea typeface="Arial" pitchFamily="34" charset="-122"/>
                <a:cs typeface="Arial" pitchFamily="34" charset="-120"/>
              </a:rPr>
              <a:t>المتغير المستقل</a:t>
            </a:r>
            <a:endParaRPr lang="en-US" sz="1900" dirty="0"/>
          </a:p>
          <a:p>
            <a:pPr algn="r" indent="0" marL="0">
              <a:lnSpc>
                <a:spcPct val="110000"/>
              </a:lnSpc>
              <a:spcAft>
                <a:spcPts val="1000"/>
              </a:spcAft>
              <a:buNone/>
            </a:pPr>
            <a:r>
              <a:rPr lang="en-US" sz="1300" dirty="0">
                <a:solidFill>
                  <a:schemeClr val="accent4"/>
                </a:solidFill>
                <a:latin typeface="Arial" pitchFamily="34" charset="0"/>
                <a:ea typeface="Arial" pitchFamily="34" charset="-122"/>
                <a:cs typeface="Arial" pitchFamily="34" charset="-120"/>
              </a:rPr>
              <a:t>Independent Variable</a:t>
            </a:r>
            <a:endParaRPr lang="en-US" sz="1900" dirty="0"/>
          </a:p>
          <a:p>
            <a:pPr algn="r" indent="0" marL="0" rtl="1">
              <a:lnSpc>
                <a:spcPct val="110000"/>
              </a:lnSpc>
              <a:spcAft>
                <a:spcPts val="1000"/>
              </a:spcAft>
              <a:buNone/>
            </a:pPr>
            <a:r>
              <a:rPr lang="en-US" sz="1500" dirty="0">
                <a:solidFill>
                  <a:schemeClr val="tx1"/>
                </a:solidFill>
                <a:latin typeface="Arial" pitchFamily="34" charset="0"/>
                <a:ea typeface="Arial" pitchFamily="34" charset="-122"/>
                <a:cs typeface="Arial" pitchFamily="34" charset="-120"/>
              </a:rPr>
              <a:t>هو الشيء الذي يؤثر أو يسبب التغيير، ويكون تحت تحكم الباحث.</a:t>
            </a:r>
            <a:endParaRPr lang="en-US" sz="19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مثال:</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استخدام الواقع المعزز في التعلم</a:t>
            </a:r>
            <a:endParaRPr lang="en-US" sz="1900" dirty="0"/>
          </a:p>
        </p:txBody>
      </p:sp>
      <p:sp>
        <p:nvSpPr>
          <p:cNvPr id="20" name="Variable card 2"/>
          <p:cNvSpPr/>
          <p:nvPr/>
        </p:nvSpPr>
        <p:spPr>
          <a:xfrm>
            <a:off x="4800600" y="2971800"/>
            <a:ext cx="3328416" cy="3063240"/>
          </a:xfrm>
          <a:prstGeom prst="roundRect">
            <a:avLst>
              <a:gd name="adj" fmla="val 3582"/>
            </a:avLst>
          </a:prstGeom>
          <a:solidFill>
            <a:schemeClr val="bg2"/>
          </a:solidFill>
          <a:ln/>
        </p:spPr>
      </p:sp>
      <p:sp>
        <p:nvSpPr>
          <p:cNvPr id="21" name="Body"/>
          <p:cNvSpPr txBox="1"/>
          <p:nvPr/>
        </p:nvSpPr>
        <p:spPr>
          <a:xfrm>
            <a:off x="5074920" y="3200400"/>
            <a:ext cx="2779776" cy="2606040"/>
          </a:xfrm>
          <a:prstGeom prst="rect">
            <a:avLst/>
          </a:prstGeom>
          <a:noFill/>
          <a:ln/>
        </p:spPr>
        <p:txBody>
          <a:bodyPr wrap="square" lIns="0" tIns="0" rIns="0" bIns="0" rtlCol="0" anchor="t"/>
          <a:lstStyle/>
          <a:p>
            <a:pPr algn="r" indent="0" marL="0" rtl="1">
              <a:lnSpc>
                <a:spcPct val="110000"/>
              </a:lnSpc>
              <a:buNone/>
            </a:pPr>
            <a:r>
              <a:rPr lang="en-US" sz="1900" b="1" dirty="0">
                <a:solidFill>
                  <a:schemeClr val="accent1"/>
                </a:solidFill>
                <a:latin typeface="Arial" pitchFamily="34" charset="0"/>
                <a:ea typeface="Arial" pitchFamily="34" charset="-122"/>
                <a:cs typeface="Arial" pitchFamily="34" charset="-120"/>
              </a:rPr>
              <a:t>المتغير التابع</a:t>
            </a:r>
            <a:endParaRPr lang="en-US" sz="1900" dirty="0"/>
          </a:p>
          <a:p>
            <a:pPr algn="r" indent="0" marL="0">
              <a:lnSpc>
                <a:spcPct val="110000"/>
              </a:lnSpc>
              <a:spcAft>
                <a:spcPts val="1000"/>
              </a:spcAft>
              <a:buNone/>
            </a:pPr>
            <a:r>
              <a:rPr lang="en-US" sz="1300" dirty="0">
                <a:solidFill>
                  <a:schemeClr val="accent4"/>
                </a:solidFill>
                <a:latin typeface="Arial" pitchFamily="34" charset="0"/>
                <a:ea typeface="Arial" pitchFamily="34" charset="-122"/>
                <a:cs typeface="Arial" pitchFamily="34" charset="-120"/>
              </a:rPr>
              <a:t>Dependent Variable</a:t>
            </a:r>
            <a:endParaRPr lang="en-US" sz="1900" dirty="0"/>
          </a:p>
          <a:p>
            <a:pPr algn="r" indent="0" marL="0" rtl="1">
              <a:lnSpc>
                <a:spcPct val="110000"/>
              </a:lnSpc>
              <a:spcAft>
                <a:spcPts val="1000"/>
              </a:spcAft>
              <a:buNone/>
            </a:pPr>
            <a:r>
              <a:rPr lang="en-US" sz="1500" dirty="0">
                <a:solidFill>
                  <a:schemeClr val="tx1"/>
                </a:solidFill>
                <a:latin typeface="Arial" pitchFamily="34" charset="0"/>
                <a:ea typeface="Arial" pitchFamily="34" charset="-122"/>
                <a:cs typeface="Arial" pitchFamily="34" charset="-120"/>
              </a:rPr>
              <a:t>هو النتيجة التي تتأثر بالمتغير المستقل، ويتم قياسها.</a:t>
            </a:r>
            <a:endParaRPr lang="en-US" sz="19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مثال:</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مستوى تعلم لغة الإشارة أو سرعة التعلم</a:t>
            </a:r>
            <a:endParaRPr lang="en-US" sz="1900" dirty="0"/>
          </a:p>
        </p:txBody>
      </p:sp>
      <p:sp>
        <p:nvSpPr>
          <p:cNvPr id="22" name="Cause arrow"/>
          <p:cNvSpPr/>
          <p:nvPr/>
        </p:nvSpPr>
        <p:spPr>
          <a:xfrm>
            <a:off x="8083296" y="4297680"/>
            <a:ext cx="365760" cy="411480"/>
          </a:xfrm>
          <a:prstGeom prst="leftArrow">
            <a:avLst/>
          </a:prstGeom>
          <a:solidFill>
            <a:schemeClr val="accent2"/>
          </a:solidFill>
          <a:ln/>
        </p:spPr>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خلفية الدراسة (Background of Study)</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BACKGROUND OF STUDY</a:t>
            </a:r>
            <a:endParaRPr lang="en-US" sz="1400" dirty="0"/>
          </a:p>
        </p:txBody>
      </p:sp>
      <p:sp>
        <p:nvSpPr>
          <p:cNvPr id="5" name="Step 1"/>
          <p:cNvSpPr/>
          <p:nvPr/>
        </p:nvSpPr>
        <p:spPr>
          <a:xfrm>
            <a:off x="457200" y="2532888"/>
            <a:ext cx="3931920" cy="960120"/>
          </a:xfrm>
          <a:prstGeom prst="roundRect">
            <a:avLst>
              <a:gd name="adj" fmla="val 9524"/>
            </a:avLst>
          </a:prstGeom>
          <a:solidFill>
            <a:schemeClr val="bg2"/>
          </a:solidFill>
          <a:ln/>
        </p:spPr>
      </p:sp>
      <p:sp>
        <p:nvSpPr>
          <p:cNvPr id="6" name="Step 1 badge"/>
          <p:cNvSpPr/>
          <p:nvPr/>
        </p:nvSpPr>
        <p:spPr>
          <a:xfrm>
            <a:off x="594360" y="2820924"/>
            <a:ext cx="384048" cy="384048"/>
          </a:xfrm>
          <a:prstGeom prst="ellipse">
            <a:avLst/>
          </a:prstGeom>
          <a:solidFill>
            <a:schemeClr val="accent1"/>
          </a:solidFill>
          <a:ln/>
        </p:spPr>
      </p:sp>
      <p:sp>
        <p:nvSpPr>
          <p:cNvPr id="7" name="Step 1 num"/>
          <p:cNvSpPr txBox="1"/>
          <p:nvPr/>
        </p:nvSpPr>
        <p:spPr>
          <a:xfrm>
            <a:off x="594360" y="282092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General and Specific Background of Study</a:t>
            </a:r>
            <a:endParaRPr lang="en-US" sz="1300" dirty="0"/>
          </a:p>
        </p:txBody>
      </p:sp>
      <p:sp>
        <p:nvSpPr>
          <p:cNvPr id="9" name="Step 2"/>
          <p:cNvSpPr/>
          <p:nvPr/>
        </p:nvSpPr>
        <p:spPr>
          <a:xfrm>
            <a:off x="457200" y="3602736"/>
            <a:ext cx="3931920" cy="960120"/>
          </a:xfrm>
          <a:prstGeom prst="roundRect">
            <a:avLst>
              <a:gd name="adj" fmla="val 9524"/>
            </a:avLst>
          </a:prstGeom>
          <a:solidFill>
            <a:schemeClr val="bg2"/>
          </a:solidFill>
          <a:ln/>
        </p:spPr>
      </p:sp>
      <p:sp>
        <p:nvSpPr>
          <p:cNvPr id="10" name="Step 2 badge"/>
          <p:cNvSpPr/>
          <p:nvPr/>
        </p:nvSpPr>
        <p:spPr>
          <a:xfrm>
            <a:off x="594360" y="3890772"/>
            <a:ext cx="384048" cy="384048"/>
          </a:xfrm>
          <a:prstGeom prst="ellipse">
            <a:avLst/>
          </a:prstGeom>
          <a:solidFill>
            <a:schemeClr val="accent1"/>
          </a:solidFill>
          <a:ln/>
        </p:spPr>
      </p:sp>
      <p:sp>
        <p:nvSpPr>
          <p:cNvPr id="11" name="Step 2 num"/>
          <p:cNvSpPr txBox="1"/>
          <p:nvPr/>
        </p:nvSpPr>
        <p:spPr>
          <a:xfrm>
            <a:off x="594360" y="38907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602736"/>
            <a:ext cx="3136392" cy="960120"/>
          </a:xfrm>
          <a:prstGeom prst="rect">
            <a:avLst/>
          </a:prstGeom>
          <a:noFill/>
          <a:ln/>
        </p:spPr>
        <p:txBody>
          <a:bodyPr wrap="square" lIns="0" tIns="0" rIns="0" bIns="0" rtlCol="0" anchor="ctr"/>
          <a:lstStyle/>
          <a:p>
            <a:pPr algn="l" indent="0" marL="0">
              <a:buNone/>
            </a:pPr>
            <a:r>
              <a:rPr lang="en-US" sz="1300" dirty="0">
                <a:solidFill>
                  <a:schemeClr val="tx1"/>
                </a:solidFill>
              </a:rPr>
              <a:t>Explain the Variables under the Study</a:t>
            </a:r>
            <a:endParaRPr lang="en-US" sz="1300" dirty="0"/>
          </a:p>
        </p:txBody>
      </p:sp>
      <p:sp>
        <p:nvSpPr>
          <p:cNvPr id="13" name="Step 3"/>
          <p:cNvSpPr/>
          <p:nvPr/>
        </p:nvSpPr>
        <p:spPr>
          <a:xfrm>
            <a:off x="457200" y="4672584"/>
            <a:ext cx="3931920" cy="960120"/>
          </a:xfrm>
          <a:prstGeom prst="roundRect">
            <a:avLst>
              <a:gd name="adj" fmla="val 9524"/>
            </a:avLst>
          </a:prstGeom>
          <a:solidFill>
            <a:schemeClr val="accent1"/>
          </a:solidFill>
          <a:ln/>
        </p:spPr>
      </p:sp>
      <p:sp>
        <p:nvSpPr>
          <p:cNvPr id="14" name="Step 3 badge"/>
          <p:cNvSpPr/>
          <p:nvPr/>
        </p:nvSpPr>
        <p:spPr>
          <a:xfrm>
            <a:off x="594360" y="4960620"/>
            <a:ext cx="384048" cy="384048"/>
          </a:xfrm>
          <a:prstGeom prst="ellipse">
            <a:avLst/>
          </a:prstGeom>
          <a:solidFill>
            <a:schemeClr val="bg1"/>
          </a:solidFill>
          <a:ln/>
        </p:spPr>
      </p:sp>
      <p:sp>
        <p:nvSpPr>
          <p:cNvPr id="15" name="Step 3 num"/>
          <p:cNvSpPr txBox="1"/>
          <p:nvPr/>
        </p:nvSpPr>
        <p:spPr>
          <a:xfrm>
            <a:off x="594360" y="4960620"/>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6" name="Step 3 text"/>
          <p:cNvSpPr txBox="1"/>
          <p:nvPr/>
        </p:nvSpPr>
        <p:spPr>
          <a:xfrm>
            <a:off x="1115568" y="4672584"/>
            <a:ext cx="3136392" cy="960120"/>
          </a:xfrm>
          <a:prstGeom prst="rect">
            <a:avLst/>
          </a:prstGeom>
          <a:noFill/>
          <a:ln/>
        </p:spPr>
        <p:txBody>
          <a:bodyPr wrap="square" lIns="0" tIns="0" rIns="0" bIns="0" rtlCol="0" anchor="ctr"/>
          <a:lstStyle/>
          <a:p>
            <a:pPr algn="l" indent="0" marL="0">
              <a:buNone/>
            </a:pPr>
            <a:r>
              <a:rPr lang="en-US" sz="1300" b="1" dirty="0">
                <a:solidFill>
                  <a:schemeClr val="bg1"/>
                </a:solidFill>
              </a:rPr>
              <a:t>Literature Reviews on Study Variables</a:t>
            </a:r>
            <a:endParaRPr lang="en-US" sz="1300" dirty="0"/>
          </a:p>
        </p:txBody>
      </p:sp>
      <p:sp>
        <p:nvSpPr>
          <p:cNvPr id="17" name="Body"/>
          <p:cNvSpPr txBox="1"/>
          <p:nvPr/>
        </p:nvSpPr>
        <p:spPr>
          <a:xfrm>
            <a:off x="4800600" y="1874520"/>
            <a:ext cx="6931152" cy="91440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3. مراجعة الدراسات السابقة (Literature Review)</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في هذا الجزء يتم عرض دراسات سابقة مرتبطة بموضوع البحث، بهدف:</a:t>
            </a:r>
            <a:endParaRPr lang="en-US" sz="1800" dirty="0"/>
          </a:p>
        </p:txBody>
      </p:sp>
      <p:sp>
        <p:nvSpPr>
          <p:cNvPr id="18" name="Lit goal 1"/>
          <p:cNvSpPr/>
          <p:nvPr/>
        </p:nvSpPr>
        <p:spPr>
          <a:xfrm>
            <a:off x="4800600" y="3017520"/>
            <a:ext cx="6931152" cy="822960"/>
          </a:xfrm>
          <a:prstGeom prst="roundRect">
            <a:avLst>
              <a:gd name="adj" fmla="val 13333"/>
            </a:avLst>
          </a:prstGeom>
          <a:solidFill>
            <a:schemeClr val="bg2"/>
          </a:solidFill>
          <a:ln/>
        </p:spPr>
      </p:sp>
      <p:sp>
        <p:nvSpPr>
          <p:cNvPr id="19" name="Lit goal 1 badge"/>
          <p:cNvSpPr/>
          <p:nvPr/>
        </p:nvSpPr>
        <p:spPr>
          <a:xfrm>
            <a:off x="11045952" y="3182112"/>
            <a:ext cx="493776" cy="493776"/>
          </a:xfrm>
          <a:prstGeom prst="ellipse">
            <a:avLst/>
          </a:prstGeom>
          <a:solidFill>
            <a:schemeClr val="accent1"/>
          </a:solidFill>
          <a:ln/>
        </p:spPr>
      </p:sp>
      <p:sp>
        <p:nvSpPr>
          <p:cNvPr id="20" name="Text 18"/>
          <p:cNvSpPr txBox="1"/>
          <p:nvPr/>
        </p:nvSpPr>
        <p:spPr>
          <a:xfrm>
            <a:off x="11045952" y="3182112"/>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Text 19"/>
          <p:cNvSpPr txBox="1"/>
          <p:nvPr/>
        </p:nvSpPr>
        <p:spPr>
          <a:xfrm>
            <a:off x="5074920" y="3017520"/>
            <a:ext cx="5788152" cy="822960"/>
          </a:xfrm>
          <a:prstGeom prst="rect">
            <a:avLst/>
          </a:prstGeom>
          <a:noFill/>
          <a:ln/>
        </p:spPr>
        <p:txBody>
          <a:bodyPr wrap="square" lIns="0" tIns="0" rIns="0" bIns="0" rtlCol="0" anchor="ctr"/>
          <a:lstStyle/>
          <a:p>
            <a:pPr rtl="1" algn="r" indent="0" marL="0">
              <a:buNone/>
            </a:pPr>
            <a:r>
              <a:rPr lang="en-US" sz="1800" dirty="0">
                <a:solidFill>
                  <a:schemeClr val="tx1"/>
                </a:solidFill>
              </a:rPr>
              <a:t>معرفة ماذا قال الباحثون السابقون</a:t>
            </a:r>
            <a:endParaRPr lang="en-US" sz="1800" dirty="0"/>
          </a:p>
        </p:txBody>
      </p:sp>
      <p:sp>
        <p:nvSpPr>
          <p:cNvPr id="22" name="Lit goal 2"/>
          <p:cNvSpPr/>
          <p:nvPr/>
        </p:nvSpPr>
        <p:spPr>
          <a:xfrm>
            <a:off x="4800600" y="4023360"/>
            <a:ext cx="6931152" cy="822960"/>
          </a:xfrm>
          <a:prstGeom prst="roundRect">
            <a:avLst>
              <a:gd name="adj" fmla="val 13333"/>
            </a:avLst>
          </a:prstGeom>
          <a:solidFill>
            <a:schemeClr val="bg2"/>
          </a:solidFill>
          <a:ln/>
        </p:spPr>
      </p:sp>
      <p:sp>
        <p:nvSpPr>
          <p:cNvPr id="23" name="Lit goal 2 badge"/>
          <p:cNvSpPr/>
          <p:nvPr/>
        </p:nvSpPr>
        <p:spPr>
          <a:xfrm>
            <a:off x="11045952" y="4187952"/>
            <a:ext cx="493776" cy="493776"/>
          </a:xfrm>
          <a:prstGeom prst="ellipse">
            <a:avLst/>
          </a:prstGeom>
          <a:solidFill>
            <a:schemeClr val="accent1"/>
          </a:solidFill>
          <a:ln/>
        </p:spPr>
      </p:sp>
      <p:sp>
        <p:nvSpPr>
          <p:cNvPr id="24" name="Text 22"/>
          <p:cNvSpPr txBox="1"/>
          <p:nvPr/>
        </p:nvSpPr>
        <p:spPr>
          <a:xfrm>
            <a:off x="11045952" y="4187952"/>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Text 23"/>
          <p:cNvSpPr txBox="1"/>
          <p:nvPr/>
        </p:nvSpPr>
        <p:spPr>
          <a:xfrm>
            <a:off x="5074920" y="4023360"/>
            <a:ext cx="5788152" cy="822960"/>
          </a:xfrm>
          <a:prstGeom prst="rect">
            <a:avLst/>
          </a:prstGeom>
          <a:noFill/>
          <a:ln/>
        </p:spPr>
        <p:txBody>
          <a:bodyPr wrap="square" lIns="0" tIns="0" rIns="0" bIns="0" rtlCol="0" anchor="ctr"/>
          <a:lstStyle/>
          <a:p>
            <a:pPr rtl="1" algn="r" indent="0" marL="0">
              <a:buNone/>
            </a:pPr>
            <a:r>
              <a:rPr lang="en-US" sz="1800" dirty="0">
                <a:solidFill>
                  <a:schemeClr val="tx1"/>
                </a:solidFill>
              </a:rPr>
              <a:t>مقارنة النتائج</a:t>
            </a:r>
            <a:endParaRPr lang="en-US" sz="1800" dirty="0"/>
          </a:p>
        </p:txBody>
      </p:sp>
      <p:sp>
        <p:nvSpPr>
          <p:cNvPr id="26" name="Lit goal 3"/>
          <p:cNvSpPr/>
          <p:nvPr/>
        </p:nvSpPr>
        <p:spPr>
          <a:xfrm>
            <a:off x="4800600" y="5029200"/>
            <a:ext cx="6931152" cy="822960"/>
          </a:xfrm>
          <a:prstGeom prst="roundRect">
            <a:avLst>
              <a:gd name="adj" fmla="val 13333"/>
            </a:avLst>
          </a:prstGeom>
          <a:solidFill>
            <a:schemeClr val="bg2"/>
          </a:solidFill>
          <a:ln/>
        </p:spPr>
      </p:sp>
      <p:sp>
        <p:nvSpPr>
          <p:cNvPr id="27" name="Lit goal 3 badge"/>
          <p:cNvSpPr/>
          <p:nvPr/>
        </p:nvSpPr>
        <p:spPr>
          <a:xfrm>
            <a:off x="11045952" y="5193792"/>
            <a:ext cx="493776" cy="493776"/>
          </a:xfrm>
          <a:prstGeom prst="ellipse">
            <a:avLst/>
          </a:prstGeom>
          <a:solidFill>
            <a:schemeClr val="accent1"/>
          </a:solidFill>
          <a:ln/>
        </p:spPr>
      </p:sp>
      <p:sp>
        <p:nvSpPr>
          <p:cNvPr id="28" name="Text 26"/>
          <p:cNvSpPr txBox="1"/>
          <p:nvPr/>
        </p:nvSpPr>
        <p:spPr>
          <a:xfrm>
            <a:off x="11045952" y="5193792"/>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9" name="Text 27"/>
          <p:cNvSpPr txBox="1"/>
          <p:nvPr/>
        </p:nvSpPr>
        <p:spPr>
          <a:xfrm>
            <a:off x="5074920" y="5029200"/>
            <a:ext cx="5788152" cy="822960"/>
          </a:xfrm>
          <a:prstGeom prst="rect">
            <a:avLst/>
          </a:prstGeom>
          <a:noFill/>
          <a:ln/>
        </p:spPr>
        <p:txBody>
          <a:bodyPr wrap="square" lIns="0" tIns="0" rIns="0" bIns="0" rtlCol="0" anchor="ctr"/>
          <a:lstStyle/>
          <a:p>
            <a:pPr rtl="1" algn="r" indent="0" marL="0">
              <a:buNone/>
            </a:pPr>
            <a:r>
              <a:rPr lang="en-US" sz="1800" dirty="0">
                <a:solidFill>
                  <a:schemeClr val="tx1"/>
                </a:solidFill>
              </a:rPr>
              <a:t>تحديد ما ينقص (الفجوة البحثية)</a:t>
            </a:r>
            <a:endParaRPr lang="en-US" sz="1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مشكلة البحث</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PROBLEM STATEMENTS · 4 STEPS</a:t>
            </a:r>
            <a:endParaRPr lang="en-US" sz="1400" dirty="0"/>
          </a:p>
        </p:txBody>
      </p:sp>
      <p:sp>
        <p:nvSpPr>
          <p:cNvPr id="5" name="Step 1"/>
          <p:cNvSpPr/>
          <p:nvPr/>
        </p:nvSpPr>
        <p:spPr>
          <a:xfrm>
            <a:off x="457200" y="2532888"/>
            <a:ext cx="3931920" cy="777240"/>
          </a:xfrm>
          <a:prstGeom prst="roundRect">
            <a:avLst>
              <a:gd name="adj" fmla="val 11765"/>
            </a:avLst>
          </a:prstGeom>
          <a:solidFill>
            <a:schemeClr val="accent1"/>
          </a:solidFill>
          <a:ln/>
        </p:spPr>
      </p:sp>
      <p:sp>
        <p:nvSpPr>
          <p:cNvPr id="6" name="Step 1 badge"/>
          <p:cNvSpPr/>
          <p:nvPr/>
        </p:nvSpPr>
        <p:spPr>
          <a:xfrm>
            <a:off x="594360" y="2729484"/>
            <a:ext cx="384048" cy="384048"/>
          </a:xfrm>
          <a:prstGeom prst="ellipse">
            <a:avLst/>
          </a:prstGeom>
          <a:solidFill>
            <a:schemeClr val="bg1"/>
          </a:solidFill>
          <a:ln/>
        </p:spPr>
      </p:sp>
      <p:sp>
        <p:nvSpPr>
          <p:cNvPr id="7" name="Step 1 num"/>
          <p:cNvSpPr txBox="1"/>
          <p:nvPr/>
        </p:nvSpPr>
        <p:spPr>
          <a:xfrm>
            <a:off x="594360" y="272948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Step 1 text"/>
          <p:cNvSpPr txBox="1"/>
          <p:nvPr/>
        </p:nvSpPr>
        <p:spPr>
          <a:xfrm>
            <a:off x="1115568" y="2532888"/>
            <a:ext cx="3136392" cy="777240"/>
          </a:xfrm>
          <a:prstGeom prst="rect">
            <a:avLst/>
          </a:prstGeom>
          <a:noFill/>
          <a:ln/>
        </p:spPr>
        <p:txBody>
          <a:bodyPr wrap="square" lIns="0" tIns="0" rIns="0" bIns="0" rtlCol="0" anchor="ctr"/>
          <a:lstStyle/>
          <a:p>
            <a:pPr algn="l" indent="0" marL="0">
              <a:buNone/>
            </a:pPr>
            <a:r>
              <a:rPr lang="en-US" sz="1250" b="1" dirty="0">
                <a:solidFill>
                  <a:schemeClr val="bg1"/>
                </a:solidFill>
              </a:rPr>
              <a:t>State the Original statement related to issue.</a:t>
            </a:r>
            <a:endParaRPr lang="en-US" sz="1250" dirty="0"/>
          </a:p>
        </p:txBody>
      </p:sp>
      <p:sp>
        <p:nvSpPr>
          <p:cNvPr id="9" name="Step 2"/>
          <p:cNvSpPr/>
          <p:nvPr/>
        </p:nvSpPr>
        <p:spPr>
          <a:xfrm>
            <a:off x="457200" y="3419856"/>
            <a:ext cx="3931920" cy="777240"/>
          </a:xfrm>
          <a:prstGeom prst="roundRect">
            <a:avLst>
              <a:gd name="adj" fmla="val 11765"/>
            </a:avLst>
          </a:prstGeom>
          <a:solidFill>
            <a:schemeClr val="accent1"/>
          </a:solidFill>
          <a:ln/>
        </p:spPr>
      </p:sp>
      <p:sp>
        <p:nvSpPr>
          <p:cNvPr id="10" name="Step 2 badge"/>
          <p:cNvSpPr/>
          <p:nvPr/>
        </p:nvSpPr>
        <p:spPr>
          <a:xfrm>
            <a:off x="594360" y="3616452"/>
            <a:ext cx="384048" cy="384048"/>
          </a:xfrm>
          <a:prstGeom prst="ellipse">
            <a:avLst/>
          </a:prstGeom>
          <a:solidFill>
            <a:schemeClr val="bg1"/>
          </a:solidFill>
          <a:ln/>
        </p:spPr>
      </p:sp>
      <p:sp>
        <p:nvSpPr>
          <p:cNvPr id="11" name="Step 2 num"/>
          <p:cNvSpPr txBox="1"/>
          <p:nvPr/>
        </p:nvSpPr>
        <p:spPr>
          <a:xfrm>
            <a:off x="594360" y="361645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12" name="Step 2 text"/>
          <p:cNvSpPr txBox="1"/>
          <p:nvPr/>
        </p:nvSpPr>
        <p:spPr>
          <a:xfrm>
            <a:off x="1115568" y="3419856"/>
            <a:ext cx="3136392" cy="777240"/>
          </a:xfrm>
          <a:prstGeom prst="rect">
            <a:avLst/>
          </a:prstGeom>
          <a:noFill/>
          <a:ln/>
        </p:spPr>
        <p:txBody>
          <a:bodyPr wrap="square" lIns="0" tIns="0" rIns="0" bIns="0" rtlCol="0" anchor="ctr"/>
          <a:lstStyle/>
          <a:p>
            <a:pPr algn="l" indent="0" marL="0">
              <a:buNone/>
            </a:pPr>
            <a:r>
              <a:rPr lang="en-US" sz="1250" b="1" dirty="0">
                <a:solidFill>
                  <a:schemeClr val="bg1"/>
                </a:solidFill>
              </a:rPr>
              <a:t>State the Conflict statement related to issue.</a:t>
            </a:r>
            <a:endParaRPr lang="en-US" sz="1250" dirty="0"/>
          </a:p>
        </p:txBody>
      </p:sp>
      <p:sp>
        <p:nvSpPr>
          <p:cNvPr id="13" name="Step 3"/>
          <p:cNvSpPr/>
          <p:nvPr/>
        </p:nvSpPr>
        <p:spPr>
          <a:xfrm>
            <a:off x="457200" y="4306824"/>
            <a:ext cx="3931920" cy="777240"/>
          </a:xfrm>
          <a:prstGeom prst="roundRect">
            <a:avLst>
              <a:gd name="adj" fmla="val 11765"/>
            </a:avLst>
          </a:prstGeom>
          <a:solidFill>
            <a:schemeClr val="accent1"/>
          </a:solidFill>
          <a:ln/>
        </p:spPr>
      </p:sp>
      <p:sp>
        <p:nvSpPr>
          <p:cNvPr id="14" name="Step 3 badge"/>
          <p:cNvSpPr/>
          <p:nvPr/>
        </p:nvSpPr>
        <p:spPr>
          <a:xfrm>
            <a:off x="594360" y="4503420"/>
            <a:ext cx="384048" cy="384048"/>
          </a:xfrm>
          <a:prstGeom prst="ellipse">
            <a:avLst/>
          </a:prstGeom>
          <a:solidFill>
            <a:schemeClr val="bg1"/>
          </a:solidFill>
          <a:ln/>
        </p:spPr>
      </p:sp>
      <p:sp>
        <p:nvSpPr>
          <p:cNvPr id="15" name="Step 3 num"/>
          <p:cNvSpPr txBox="1"/>
          <p:nvPr/>
        </p:nvSpPr>
        <p:spPr>
          <a:xfrm>
            <a:off x="594360" y="4503420"/>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6" name="Step 3 text"/>
          <p:cNvSpPr txBox="1"/>
          <p:nvPr/>
        </p:nvSpPr>
        <p:spPr>
          <a:xfrm>
            <a:off x="1115568" y="4306824"/>
            <a:ext cx="3136392" cy="777240"/>
          </a:xfrm>
          <a:prstGeom prst="rect">
            <a:avLst/>
          </a:prstGeom>
          <a:noFill/>
          <a:ln/>
        </p:spPr>
        <p:txBody>
          <a:bodyPr wrap="square" lIns="0" tIns="0" rIns="0" bIns="0" rtlCol="0" anchor="ctr"/>
          <a:lstStyle/>
          <a:p>
            <a:pPr algn="l" indent="0" marL="0">
              <a:buNone/>
            </a:pPr>
            <a:r>
              <a:rPr lang="en-US" sz="1250" b="1" dirty="0">
                <a:solidFill>
                  <a:schemeClr val="bg1"/>
                </a:solidFill>
              </a:rPr>
              <a:t>State own Speculation / Research Questions.</a:t>
            </a:r>
            <a:endParaRPr lang="en-US" sz="1250" dirty="0"/>
          </a:p>
        </p:txBody>
      </p:sp>
      <p:sp>
        <p:nvSpPr>
          <p:cNvPr id="17" name="Step 4"/>
          <p:cNvSpPr/>
          <p:nvPr/>
        </p:nvSpPr>
        <p:spPr>
          <a:xfrm>
            <a:off x="457200" y="5193792"/>
            <a:ext cx="3931920" cy="777240"/>
          </a:xfrm>
          <a:prstGeom prst="roundRect">
            <a:avLst>
              <a:gd name="adj" fmla="val 11765"/>
            </a:avLst>
          </a:prstGeom>
          <a:solidFill>
            <a:schemeClr val="accent1"/>
          </a:solidFill>
          <a:ln/>
        </p:spPr>
      </p:sp>
      <p:sp>
        <p:nvSpPr>
          <p:cNvPr id="18" name="Step 4 badge"/>
          <p:cNvSpPr/>
          <p:nvPr/>
        </p:nvSpPr>
        <p:spPr>
          <a:xfrm>
            <a:off x="594360" y="5390388"/>
            <a:ext cx="384048" cy="384048"/>
          </a:xfrm>
          <a:prstGeom prst="ellipse">
            <a:avLst/>
          </a:prstGeom>
          <a:solidFill>
            <a:schemeClr val="bg1"/>
          </a:solidFill>
          <a:ln/>
        </p:spPr>
      </p:sp>
      <p:sp>
        <p:nvSpPr>
          <p:cNvPr id="19" name="Step 4 num"/>
          <p:cNvSpPr txBox="1"/>
          <p:nvPr/>
        </p:nvSpPr>
        <p:spPr>
          <a:xfrm>
            <a:off x="594360" y="5390388"/>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20" name="Step 4 text"/>
          <p:cNvSpPr txBox="1"/>
          <p:nvPr/>
        </p:nvSpPr>
        <p:spPr>
          <a:xfrm>
            <a:off x="1115568" y="5193792"/>
            <a:ext cx="3136392" cy="777240"/>
          </a:xfrm>
          <a:prstGeom prst="rect">
            <a:avLst/>
          </a:prstGeom>
          <a:noFill/>
          <a:ln/>
        </p:spPr>
        <p:txBody>
          <a:bodyPr wrap="square" lIns="0" tIns="0" rIns="0" bIns="0" rtlCol="0" anchor="ctr"/>
          <a:lstStyle/>
          <a:p>
            <a:pPr algn="l" indent="0" marL="0">
              <a:buNone/>
            </a:pPr>
            <a:r>
              <a:rPr lang="en-US" sz="1250" b="1" dirty="0">
                <a:solidFill>
                  <a:schemeClr val="bg1"/>
                </a:solidFill>
              </a:rPr>
              <a:t>State the Research Objective.</a:t>
            </a:r>
            <a:endParaRPr lang="en-US" sz="1250" dirty="0"/>
          </a:p>
        </p:txBody>
      </p:sp>
      <p:sp>
        <p:nvSpPr>
          <p:cNvPr id="21" name="Body"/>
          <p:cNvSpPr txBox="1"/>
          <p:nvPr/>
        </p:nvSpPr>
        <p:spPr>
          <a:xfrm>
            <a:off x="4800600" y="1874520"/>
            <a:ext cx="6931152" cy="4297680"/>
          </a:xfrm>
          <a:prstGeom prst="rect">
            <a:avLst/>
          </a:prstGeom>
          <a:noFill/>
          <a:ln/>
        </p:spPr>
        <p:txBody>
          <a:bodyPr wrap="square" lIns="0" tIns="0" rIns="0" bIns="0" rtlCol="0" anchor="t"/>
          <a:lstStyle/>
          <a:p>
            <a:pPr algn="r" indent="0" marL="0" rtl="1">
              <a:lnSpc>
                <a:spcPct val="110000"/>
              </a:lnSpc>
              <a:spcAft>
                <a:spcPts val="1200"/>
              </a:spcAft>
              <a:buNone/>
            </a:pPr>
            <a:r>
              <a:rPr lang="en-US" sz="1500" dirty="0">
                <a:solidFill>
                  <a:schemeClr val="tx1"/>
                </a:solidFill>
                <a:latin typeface="Arial" pitchFamily="34" charset="0"/>
                <a:ea typeface="Arial" pitchFamily="34" charset="-122"/>
                <a:cs typeface="Arial" pitchFamily="34" charset="-120"/>
              </a:rPr>
              <a:t>تُعد مشكلة البحث من أهم عناصر الدراسة، حيث توضّح القضية التي يسعى البحث إلى معالجتها. ويتم بناؤها بطريقة منظمة تساعد على الانتقال من عرض المشكلة إلى تحديد أهداف البحث بشكل منطقي. وتُكتب مشكلة البحث وفق </a:t>
            </a:r>
            <a:pPr algn="r" indent="0" marL="0">
              <a:lnSpc>
                <a:spcPct val="110000"/>
              </a:lnSpc>
              <a:buNone/>
            </a:pPr>
            <a:r>
              <a:rPr lang="en-US" sz="1500" b="1" dirty="0">
                <a:solidFill>
                  <a:schemeClr val="tx1"/>
                </a:solidFill>
                <a:latin typeface="Arial" pitchFamily="34" charset="0"/>
                <a:ea typeface="Arial" pitchFamily="34" charset="-122"/>
                <a:cs typeface="Arial" pitchFamily="34" charset="-120"/>
              </a:rPr>
              <a:t>أربع خطوات رئيسية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a:t>
            </a:r>
            <a:endParaRPr lang="en-US" sz="1500" dirty="0"/>
          </a:p>
          <a:p>
            <a:pPr algn="r" indent="0" marL="0" rtl="1">
              <a:lnSpc>
                <a:spcPct val="110000"/>
              </a:lnSpc>
              <a:spcAft>
                <a:spcPts val="800"/>
              </a:spcAft>
              <a:buNone/>
            </a:pPr>
            <a:r>
              <a:rPr lang="en-US" sz="1500" b="1" dirty="0">
                <a:solidFill>
                  <a:schemeClr val="tx1"/>
                </a:solidFill>
                <a:latin typeface="Arial" pitchFamily="34" charset="0"/>
                <a:ea typeface="Arial" pitchFamily="34" charset="-122"/>
                <a:cs typeface="Arial" pitchFamily="34" charset="-120"/>
              </a:rPr>
              <a:t>1. عرض المشكلة الأساسية: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في هذه الخطوة يتم توضيح المشكلة بشكل عام، من خلال وصف الوضع الحالي أو الظاهرة محل الدراسة.</a:t>
            </a:r>
            <a:endParaRPr lang="en-US" sz="1500" dirty="0"/>
          </a:p>
          <a:p>
            <a:pPr algn="r" indent="0" marL="0" rtl="1">
              <a:lnSpc>
                <a:spcPct val="110000"/>
              </a:lnSpc>
              <a:spcAft>
                <a:spcPts val="800"/>
              </a:spcAft>
              <a:buNone/>
            </a:pPr>
            <a:r>
              <a:rPr lang="en-US" sz="1500" b="1" dirty="0">
                <a:solidFill>
                  <a:schemeClr val="tx1"/>
                </a:solidFill>
                <a:latin typeface="Arial" pitchFamily="34" charset="0"/>
                <a:ea typeface="Arial" pitchFamily="34" charset="-122"/>
                <a:cs typeface="Arial" pitchFamily="34" charset="-120"/>
              </a:rPr>
              <a:t>2. عرض التناقض أو التعارض:</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هنا يتم توضيح التناقض أو المشكلة بشكل أعمق، من خلال إبراز الفجوة بين الوضع الحالي وما يُفترض أن يكون.</a:t>
            </a:r>
            <a:endParaRPr lang="en-US" sz="1500" dirty="0"/>
          </a:p>
          <a:p>
            <a:pPr algn="r" indent="0" marL="0" rtl="1">
              <a:lnSpc>
                <a:spcPct val="110000"/>
              </a:lnSpc>
              <a:spcAft>
                <a:spcPts val="800"/>
              </a:spcAft>
              <a:buNone/>
            </a:pPr>
            <a:r>
              <a:rPr lang="en-US" sz="1500" b="1" dirty="0">
                <a:solidFill>
                  <a:schemeClr val="tx1"/>
                </a:solidFill>
                <a:latin typeface="Arial" pitchFamily="34" charset="0"/>
                <a:ea typeface="Arial" pitchFamily="34" charset="-122"/>
                <a:cs typeface="Arial" pitchFamily="34" charset="-120"/>
              </a:rPr>
              <a:t>3. طرح التساؤلات البحثية: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في هذه المرحلة يتم تحويل المشكلة إلى أسئلة بحثية واضحة، تساعد في توجيه الدراسة.</a:t>
            </a:r>
            <a:endParaRPr lang="en-US" sz="1500" dirty="0"/>
          </a:p>
          <a:p>
            <a:pPr algn="r" indent="0" marL="0" rtl="1">
              <a:lnSpc>
                <a:spcPct val="110000"/>
              </a:lnSpc>
              <a:spcAft>
                <a:spcPts val="600"/>
              </a:spcAft>
              <a:buNone/>
            </a:pPr>
            <a:r>
              <a:rPr lang="en-US" sz="1500" b="1" dirty="0">
                <a:solidFill>
                  <a:schemeClr val="tx1"/>
                </a:solidFill>
                <a:latin typeface="Arial" pitchFamily="34" charset="0"/>
                <a:ea typeface="Arial" pitchFamily="34" charset="-122"/>
                <a:cs typeface="Arial" pitchFamily="34" charset="-120"/>
              </a:rPr>
              <a:t>4. تحديد أهداف البحث:</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في الخطوة الأخيرة يتم تحويل الأسئلة إلى أهداف واضحة يسعى البحث لتحقيقها.</a:t>
            </a:r>
            <a:endParaRPr lang="en-US" sz="15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أهداف البحث</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AIMS OF RESEARCH</a:t>
            </a:r>
            <a:endParaRPr lang="en-US" sz="1400" dirty="0"/>
          </a:p>
        </p:txBody>
      </p:sp>
      <p:sp>
        <p:nvSpPr>
          <p:cNvPr id="5" name="Step 1"/>
          <p:cNvSpPr/>
          <p:nvPr/>
        </p:nvSpPr>
        <p:spPr>
          <a:xfrm>
            <a:off x="457200" y="2532888"/>
            <a:ext cx="3931920" cy="914400"/>
          </a:xfrm>
          <a:prstGeom prst="roundRect">
            <a:avLst>
              <a:gd name="adj" fmla="val 10000"/>
            </a:avLst>
          </a:prstGeom>
          <a:solidFill>
            <a:schemeClr val="accent1"/>
          </a:solidFill>
          <a:ln/>
        </p:spPr>
      </p:sp>
      <p:sp>
        <p:nvSpPr>
          <p:cNvPr id="6" name="Step 1 badge"/>
          <p:cNvSpPr/>
          <p:nvPr/>
        </p:nvSpPr>
        <p:spPr>
          <a:xfrm>
            <a:off x="594360" y="2798064"/>
            <a:ext cx="384048" cy="384048"/>
          </a:xfrm>
          <a:prstGeom prst="ellipse">
            <a:avLst/>
          </a:prstGeom>
          <a:solidFill>
            <a:schemeClr val="bg1"/>
          </a:solidFill>
          <a:ln/>
        </p:spPr>
      </p:sp>
      <p:sp>
        <p:nvSpPr>
          <p:cNvPr id="7" name="Step 1 num"/>
          <p:cNvSpPr txBox="1"/>
          <p:nvPr/>
        </p:nvSpPr>
        <p:spPr>
          <a:xfrm>
            <a:off x="594360" y="279806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Step 1 text"/>
          <p:cNvSpPr txBox="1"/>
          <p:nvPr/>
        </p:nvSpPr>
        <p:spPr>
          <a:xfrm>
            <a:off x="1115568" y="2532888"/>
            <a:ext cx="3136392" cy="914400"/>
          </a:xfrm>
          <a:prstGeom prst="rect">
            <a:avLst/>
          </a:prstGeom>
          <a:noFill/>
          <a:ln/>
        </p:spPr>
        <p:txBody>
          <a:bodyPr wrap="square" lIns="0" tIns="0" rIns="0" bIns="0" rtlCol="0" anchor="ctr"/>
          <a:lstStyle/>
          <a:p>
            <a:pPr algn="l" indent="0" marL="0">
              <a:buNone/>
            </a:pPr>
            <a:r>
              <a:rPr lang="en-US" sz="1400" b="1" dirty="0">
                <a:solidFill>
                  <a:schemeClr val="bg1"/>
                </a:solidFill>
              </a:rPr>
              <a:t>State Aims of Research.</a:t>
            </a:r>
            <a:endParaRPr lang="en-US" sz="1400" dirty="0"/>
          </a:p>
        </p:txBody>
      </p:sp>
      <p:sp>
        <p:nvSpPr>
          <p:cNvPr id="9" name="Body"/>
          <p:cNvSpPr txBox="1"/>
          <p:nvPr/>
        </p:nvSpPr>
        <p:spPr>
          <a:xfrm>
            <a:off x="4800600" y="1874520"/>
            <a:ext cx="6931152" cy="2011680"/>
          </a:xfrm>
          <a:prstGeom prst="rect">
            <a:avLst/>
          </a:prstGeom>
          <a:noFill/>
          <a:ln/>
        </p:spPr>
        <p:txBody>
          <a:bodyPr wrap="square" lIns="0" tIns="0" rIns="0" bIns="0" rtlCol="0" anchor="t"/>
          <a:lstStyle/>
          <a:p>
            <a:pPr algn="r" indent="0" marL="0" rtl="1">
              <a:lnSpc>
                <a:spcPct val="110000"/>
              </a:lnSpc>
              <a:spcAft>
                <a:spcPts val="1400"/>
              </a:spcAft>
              <a:buNone/>
            </a:pPr>
            <a:r>
              <a:rPr lang="en-US" sz="1600" dirty="0">
                <a:solidFill>
                  <a:schemeClr val="tx1"/>
                </a:solidFill>
                <a:latin typeface="Arial" pitchFamily="34" charset="0"/>
                <a:ea typeface="Arial" pitchFamily="34" charset="-122"/>
                <a:cs typeface="Arial" pitchFamily="34" charset="-120"/>
              </a:rPr>
              <a:t>تُعد أهداف البحث من العناصر الأساسية التي توضّح الغاية الرئيسية من الدراسة، حيث تعبّر عن ما يسعى الباحث إلى تحقيقه من خلال بحثه. وتُكتب الأهداف بناءً على مشكلة البحث والتساؤلات التي تم طرحها سابقًا.</a:t>
            </a:r>
            <a:endParaRPr lang="en-US" sz="16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في هذه المرحلة يتم </a:t>
            </a:r>
            <a:pPr algn="r" indent="0" marL="0">
              <a:lnSpc>
                <a:spcPct val="110000"/>
              </a:lnSpc>
              <a:buNone/>
            </a:pPr>
            <a:r>
              <a:rPr lang="en-US" sz="1600" b="1" dirty="0">
                <a:solidFill>
                  <a:schemeClr val="tx1"/>
                </a:solidFill>
                <a:latin typeface="Arial" pitchFamily="34" charset="0"/>
                <a:ea typeface="Arial" pitchFamily="34" charset="-122"/>
                <a:cs typeface="Arial" pitchFamily="34" charset="-120"/>
              </a:rPr>
              <a:t>صياغة أهداف واضحة ومحددة</a:t>
            </a:r>
            <a:pPr algn="r" indent="0" marL="0">
              <a:lnSpc>
                <a:spcPct val="110000"/>
              </a:lnSpc>
              <a:buNone/>
            </a:pPr>
            <a:r>
              <a:rPr lang="en-US" sz="1600" dirty="0">
                <a:solidFill>
                  <a:schemeClr val="tx1"/>
                </a:solidFill>
                <a:latin typeface="Arial" pitchFamily="34" charset="0"/>
                <a:ea typeface="Arial" pitchFamily="34" charset="-122"/>
                <a:cs typeface="Arial" pitchFamily="34" charset="-120"/>
              </a:rPr>
              <a:t> تعبّر عن نتائج البحث المتوقعة، ويُفضل أن تكون:</a:t>
            </a:r>
            <a:endParaRPr lang="en-US" sz="1600" dirty="0"/>
          </a:p>
        </p:txBody>
      </p:sp>
      <p:sp>
        <p:nvSpPr>
          <p:cNvPr id="10" name="Aim trait 1"/>
          <p:cNvSpPr/>
          <p:nvPr/>
        </p:nvSpPr>
        <p:spPr>
          <a:xfrm>
            <a:off x="8403336" y="4023360"/>
            <a:ext cx="3328416" cy="914400"/>
          </a:xfrm>
          <a:prstGeom prst="roundRect">
            <a:avLst>
              <a:gd name="adj" fmla="val 12000"/>
            </a:avLst>
          </a:prstGeom>
          <a:solidFill>
            <a:schemeClr val="bg2"/>
          </a:solidFill>
          <a:ln/>
        </p:spPr>
      </p:sp>
      <p:sp>
        <p:nvSpPr>
          <p:cNvPr id="11" name="Aim trait 1 dot"/>
          <p:cNvSpPr/>
          <p:nvPr/>
        </p:nvSpPr>
        <p:spPr>
          <a:xfrm>
            <a:off x="11228832" y="4315968"/>
            <a:ext cx="329184" cy="329184"/>
          </a:xfrm>
          <a:prstGeom prst="ellipse">
            <a:avLst/>
          </a:prstGeom>
          <a:solidFill>
            <a:schemeClr val="accent1"/>
          </a:solidFill>
          <a:ln/>
        </p:spPr>
      </p:sp>
      <p:sp>
        <p:nvSpPr>
          <p:cNvPr id="12" name="Text 10"/>
          <p:cNvSpPr txBox="1"/>
          <p:nvPr/>
        </p:nvSpPr>
        <p:spPr>
          <a:xfrm>
            <a:off x="11228832" y="43159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3" name="Text 11"/>
          <p:cNvSpPr txBox="1"/>
          <p:nvPr/>
        </p:nvSpPr>
        <p:spPr>
          <a:xfrm>
            <a:off x="8586216" y="4023360"/>
            <a:ext cx="2551176" cy="914400"/>
          </a:xfrm>
          <a:prstGeom prst="rect">
            <a:avLst/>
          </a:prstGeom>
          <a:noFill/>
          <a:ln/>
        </p:spPr>
        <p:txBody>
          <a:bodyPr wrap="square" lIns="0" tIns="0" rIns="0" bIns="0" rtlCol="0" anchor="ctr"/>
          <a:lstStyle/>
          <a:p>
            <a:pPr rtl="1" algn="r" indent="0" marL="0">
              <a:buNone/>
            </a:pPr>
            <a:r>
              <a:rPr lang="en-US" sz="1500" dirty="0">
                <a:solidFill>
                  <a:schemeClr val="tx1"/>
                </a:solidFill>
              </a:rPr>
              <a:t>واضحة ومباشرة</a:t>
            </a:r>
            <a:endParaRPr lang="en-US" sz="1500" dirty="0"/>
          </a:p>
        </p:txBody>
      </p:sp>
      <p:sp>
        <p:nvSpPr>
          <p:cNvPr id="14" name="Aim trait 2"/>
          <p:cNvSpPr/>
          <p:nvPr/>
        </p:nvSpPr>
        <p:spPr>
          <a:xfrm>
            <a:off x="4800600" y="4023360"/>
            <a:ext cx="3328416" cy="914400"/>
          </a:xfrm>
          <a:prstGeom prst="roundRect">
            <a:avLst>
              <a:gd name="adj" fmla="val 12000"/>
            </a:avLst>
          </a:prstGeom>
          <a:solidFill>
            <a:schemeClr val="bg2"/>
          </a:solidFill>
          <a:ln/>
        </p:spPr>
      </p:sp>
      <p:sp>
        <p:nvSpPr>
          <p:cNvPr id="15" name="Aim trait 2 dot"/>
          <p:cNvSpPr/>
          <p:nvPr/>
        </p:nvSpPr>
        <p:spPr>
          <a:xfrm>
            <a:off x="7626096" y="4315968"/>
            <a:ext cx="329184" cy="329184"/>
          </a:xfrm>
          <a:prstGeom prst="ellipse">
            <a:avLst/>
          </a:prstGeom>
          <a:solidFill>
            <a:schemeClr val="accent1"/>
          </a:solidFill>
          <a:ln/>
        </p:spPr>
      </p:sp>
      <p:sp>
        <p:nvSpPr>
          <p:cNvPr id="16" name="Text 14"/>
          <p:cNvSpPr txBox="1"/>
          <p:nvPr/>
        </p:nvSpPr>
        <p:spPr>
          <a:xfrm>
            <a:off x="7626096" y="43159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7" name="Text 15"/>
          <p:cNvSpPr txBox="1"/>
          <p:nvPr/>
        </p:nvSpPr>
        <p:spPr>
          <a:xfrm>
            <a:off x="4983480" y="4023360"/>
            <a:ext cx="2551176" cy="914400"/>
          </a:xfrm>
          <a:prstGeom prst="rect">
            <a:avLst/>
          </a:prstGeom>
          <a:noFill/>
          <a:ln/>
        </p:spPr>
        <p:txBody>
          <a:bodyPr wrap="square" lIns="0" tIns="0" rIns="0" bIns="0" rtlCol="0" anchor="ctr"/>
          <a:lstStyle/>
          <a:p>
            <a:pPr rtl="1" algn="r" indent="0" marL="0">
              <a:buNone/>
            </a:pPr>
            <a:r>
              <a:rPr lang="en-US" sz="1500" dirty="0">
                <a:solidFill>
                  <a:schemeClr val="tx1"/>
                </a:solidFill>
              </a:rPr>
              <a:t>قابلة للقياس أو الملاحظة</a:t>
            </a:r>
            <a:endParaRPr lang="en-US" sz="1500" dirty="0"/>
          </a:p>
        </p:txBody>
      </p:sp>
      <p:sp>
        <p:nvSpPr>
          <p:cNvPr id="18" name="Aim trait 3"/>
          <p:cNvSpPr/>
          <p:nvPr/>
        </p:nvSpPr>
        <p:spPr>
          <a:xfrm>
            <a:off x="8403336" y="5120640"/>
            <a:ext cx="3328416" cy="914400"/>
          </a:xfrm>
          <a:prstGeom prst="roundRect">
            <a:avLst>
              <a:gd name="adj" fmla="val 12000"/>
            </a:avLst>
          </a:prstGeom>
          <a:solidFill>
            <a:schemeClr val="bg2"/>
          </a:solidFill>
          <a:ln/>
        </p:spPr>
      </p:sp>
      <p:sp>
        <p:nvSpPr>
          <p:cNvPr id="19" name="Aim trait 3 dot"/>
          <p:cNvSpPr/>
          <p:nvPr/>
        </p:nvSpPr>
        <p:spPr>
          <a:xfrm>
            <a:off x="11228832" y="5413248"/>
            <a:ext cx="329184" cy="329184"/>
          </a:xfrm>
          <a:prstGeom prst="ellipse">
            <a:avLst/>
          </a:prstGeom>
          <a:solidFill>
            <a:schemeClr val="accent1"/>
          </a:solidFill>
          <a:ln/>
        </p:spPr>
      </p:sp>
      <p:sp>
        <p:nvSpPr>
          <p:cNvPr id="20" name="Text 18"/>
          <p:cNvSpPr txBox="1"/>
          <p:nvPr/>
        </p:nvSpPr>
        <p:spPr>
          <a:xfrm>
            <a:off x="11228832" y="54132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1" name="Text 19"/>
          <p:cNvSpPr txBox="1"/>
          <p:nvPr/>
        </p:nvSpPr>
        <p:spPr>
          <a:xfrm>
            <a:off x="8586216" y="5120640"/>
            <a:ext cx="2551176" cy="914400"/>
          </a:xfrm>
          <a:prstGeom prst="rect">
            <a:avLst/>
          </a:prstGeom>
          <a:noFill/>
          <a:ln/>
        </p:spPr>
        <p:txBody>
          <a:bodyPr wrap="square" lIns="0" tIns="0" rIns="0" bIns="0" rtlCol="0" anchor="ctr"/>
          <a:lstStyle/>
          <a:p>
            <a:pPr rtl="1" algn="r" indent="0" marL="0">
              <a:buNone/>
            </a:pPr>
            <a:r>
              <a:rPr lang="en-US" sz="1500" dirty="0">
                <a:solidFill>
                  <a:schemeClr val="tx1"/>
                </a:solidFill>
              </a:rPr>
              <a:t>مرتبطة بمشكلة البحث</a:t>
            </a:r>
            <a:endParaRPr lang="en-US" sz="1500" dirty="0"/>
          </a:p>
        </p:txBody>
      </p:sp>
      <p:sp>
        <p:nvSpPr>
          <p:cNvPr id="22" name="Aim trait 4"/>
          <p:cNvSpPr/>
          <p:nvPr/>
        </p:nvSpPr>
        <p:spPr>
          <a:xfrm>
            <a:off x="4800600" y="5120640"/>
            <a:ext cx="3328416" cy="914400"/>
          </a:xfrm>
          <a:prstGeom prst="roundRect">
            <a:avLst>
              <a:gd name="adj" fmla="val 12000"/>
            </a:avLst>
          </a:prstGeom>
          <a:solidFill>
            <a:schemeClr val="bg2"/>
          </a:solidFill>
          <a:ln/>
        </p:spPr>
      </p:sp>
      <p:sp>
        <p:nvSpPr>
          <p:cNvPr id="23" name="Aim trait 4 dot"/>
          <p:cNvSpPr/>
          <p:nvPr/>
        </p:nvSpPr>
        <p:spPr>
          <a:xfrm>
            <a:off x="7626096" y="5413248"/>
            <a:ext cx="329184" cy="329184"/>
          </a:xfrm>
          <a:prstGeom prst="ellipse">
            <a:avLst/>
          </a:prstGeom>
          <a:solidFill>
            <a:schemeClr val="accent1"/>
          </a:solidFill>
          <a:ln/>
        </p:spPr>
      </p:sp>
      <p:sp>
        <p:nvSpPr>
          <p:cNvPr id="24" name="Text 22"/>
          <p:cNvSpPr txBox="1"/>
          <p:nvPr/>
        </p:nvSpPr>
        <p:spPr>
          <a:xfrm>
            <a:off x="7626096" y="54132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5" name="Text 23"/>
          <p:cNvSpPr txBox="1"/>
          <p:nvPr/>
        </p:nvSpPr>
        <p:spPr>
          <a:xfrm>
            <a:off x="4983480" y="5120640"/>
            <a:ext cx="2551176" cy="914400"/>
          </a:xfrm>
          <a:prstGeom prst="rect">
            <a:avLst/>
          </a:prstGeom>
          <a:noFill/>
          <a:ln/>
        </p:spPr>
        <p:txBody>
          <a:bodyPr wrap="square" lIns="0" tIns="0" rIns="0" bIns="0" rtlCol="0" anchor="ctr"/>
          <a:lstStyle/>
          <a:p>
            <a:pPr rtl="1" algn="r" indent="0" marL="0">
              <a:buNone/>
            </a:pPr>
            <a:r>
              <a:rPr lang="en-US" sz="1500" dirty="0">
                <a:solidFill>
                  <a:schemeClr val="tx1"/>
                </a:solidFill>
              </a:rPr>
              <a:t>مكتوبة بصيغة فعل (مثل: يهدف، يدرس، يحلل…)</a:t>
            </a:r>
            <a:endParaRPr lang="en-US" sz="15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الهدف البحثي</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Text 2"/>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RESEARCH OBJECTIVE</a:t>
            </a:r>
            <a:endParaRPr lang="en-US" sz="1400" dirty="0"/>
          </a:p>
        </p:txBody>
      </p:sp>
      <p:sp>
        <p:nvSpPr>
          <p:cNvPr id="5" name="Step 1"/>
          <p:cNvSpPr/>
          <p:nvPr/>
        </p:nvSpPr>
        <p:spPr>
          <a:xfrm>
            <a:off x="457200" y="2532888"/>
            <a:ext cx="3931920" cy="685800"/>
          </a:xfrm>
          <a:prstGeom prst="roundRect">
            <a:avLst>
              <a:gd name="adj" fmla="val 13333"/>
            </a:avLst>
          </a:prstGeom>
          <a:solidFill>
            <a:schemeClr val="accent1"/>
          </a:solidFill>
          <a:ln/>
        </p:spPr>
      </p:sp>
      <p:sp>
        <p:nvSpPr>
          <p:cNvPr id="6" name="Shape 4"/>
          <p:cNvSpPr/>
          <p:nvPr/>
        </p:nvSpPr>
        <p:spPr>
          <a:xfrm>
            <a:off x="594360" y="2688336"/>
            <a:ext cx="384048" cy="384048"/>
          </a:xfrm>
          <a:prstGeom prst="ellipse">
            <a:avLst/>
          </a:prstGeom>
          <a:solidFill>
            <a:schemeClr val="bg1"/>
          </a:solidFill>
          <a:ln/>
        </p:spPr>
      </p:sp>
      <p:sp>
        <p:nvSpPr>
          <p:cNvPr id="7" name="Text 5"/>
          <p:cNvSpPr txBox="1"/>
          <p:nvPr/>
        </p:nvSpPr>
        <p:spPr>
          <a:xfrm>
            <a:off x="594360" y="2688336"/>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Text 6"/>
          <p:cNvSpPr txBox="1"/>
          <p:nvPr/>
        </p:nvSpPr>
        <p:spPr>
          <a:xfrm>
            <a:off x="1115568" y="2642616"/>
            <a:ext cx="3136392" cy="466344"/>
          </a:xfrm>
          <a:prstGeom prst="rect">
            <a:avLst/>
          </a:prstGeom>
          <a:noFill/>
          <a:ln/>
        </p:spPr>
        <p:txBody>
          <a:bodyPr wrap="square" lIns="0" tIns="0" rIns="0" bIns="0" rtlCol="0" anchor="ctr"/>
          <a:lstStyle/>
          <a:p>
            <a:pPr algn="l" indent="0" marL="0">
              <a:spcAft>
                <a:spcPts val="300"/>
              </a:spcAft>
              <a:buNone/>
            </a:pPr>
            <a:r>
              <a:rPr lang="en-US" sz="1200" dirty="0">
                <a:solidFill>
                  <a:schemeClr val="bg1"/>
                </a:solidFill>
              </a:rPr>
              <a:t>State the Research Title.</a:t>
            </a:r>
            <a:endParaRPr lang="en-US" sz="1200" dirty="0"/>
          </a:p>
        </p:txBody>
      </p:sp>
      <p:sp>
        <p:nvSpPr>
          <p:cNvPr id="9" name="Step 2"/>
          <p:cNvSpPr/>
          <p:nvPr/>
        </p:nvSpPr>
        <p:spPr>
          <a:xfrm>
            <a:off x="457200" y="3328416"/>
            <a:ext cx="3931920" cy="2011680"/>
          </a:xfrm>
          <a:prstGeom prst="roundRect">
            <a:avLst>
              <a:gd name="adj" fmla="val 4545"/>
            </a:avLst>
          </a:prstGeom>
          <a:solidFill>
            <a:schemeClr val="accent1"/>
          </a:solidFill>
          <a:ln/>
        </p:spPr>
      </p:sp>
      <p:sp>
        <p:nvSpPr>
          <p:cNvPr id="10" name="Shape 8"/>
          <p:cNvSpPr/>
          <p:nvPr/>
        </p:nvSpPr>
        <p:spPr>
          <a:xfrm>
            <a:off x="594360" y="3483864"/>
            <a:ext cx="384048" cy="384048"/>
          </a:xfrm>
          <a:prstGeom prst="ellipse">
            <a:avLst/>
          </a:prstGeom>
          <a:solidFill>
            <a:schemeClr val="bg1"/>
          </a:solidFill>
          <a:ln/>
        </p:spPr>
      </p:sp>
      <p:sp>
        <p:nvSpPr>
          <p:cNvPr id="11" name="Text 9"/>
          <p:cNvSpPr txBox="1"/>
          <p:nvPr/>
        </p:nvSpPr>
        <p:spPr>
          <a:xfrm>
            <a:off x="594360" y="348386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12" name="Text 10"/>
          <p:cNvSpPr txBox="1"/>
          <p:nvPr/>
        </p:nvSpPr>
        <p:spPr>
          <a:xfrm>
            <a:off x="1115568" y="3438144"/>
            <a:ext cx="3136392" cy="1792224"/>
          </a:xfrm>
          <a:prstGeom prst="rect">
            <a:avLst/>
          </a:prstGeom>
          <a:noFill/>
          <a:ln/>
        </p:spPr>
        <p:txBody>
          <a:bodyPr wrap="square" lIns="0" tIns="0" rIns="0" bIns="0" rtlCol="0" anchor="t"/>
          <a:lstStyle/>
          <a:p>
            <a:pPr algn="l" indent="0" marL="0">
              <a:spcAft>
                <a:spcPts val="300"/>
              </a:spcAft>
              <a:buNone/>
            </a:pPr>
            <a:r>
              <a:rPr lang="en-US" sz="1200" dirty="0">
                <a:solidFill>
                  <a:schemeClr val="bg1"/>
                </a:solidFill>
              </a:rPr>
              <a:t>State own Aims of Research. Usually starts with a sentence:</a:t>
            </a:r>
            <a:endParaRPr lang="en-US" sz="1200" dirty="0"/>
          </a:p>
          <a:p>
            <a:pPr algn="l" indent="0" marL="0">
              <a:spcAft>
                <a:spcPts val="300"/>
              </a:spcAft>
              <a:buNone/>
            </a:pPr>
            <a:r>
              <a:rPr lang="en-US" sz="1200" dirty="0">
                <a:solidFill>
                  <a:schemeClr val="bg1"/>
                </a:solidFill>
              </a:rPr>
              <a:t>• The purpose of this descriptive study is...</a:t>
            </a:r>
            <a:endParaRPr lang="en-US" sz="1200" dirty="0"/>
          </a:p>
          <a:p>
            <a:pPr algn="l" indent="0" marL="0">
              <a:spcAft>
                <a:spcPts val="300"/>
              </a:spcAft>
              <a:buNone/>
            </a:pPr>
            <a:r>
              <a:rPr lang="en-US" sz="1200" dirty="0">
                <a:solidFill>
                  <a:schemeClr val="bg1"/>
                </a:solidFill>
              </a:rPr>
              <a:t>• This study investigates...</a:t>
            </a:r>
            <a:endParaRPr lang="en-US" sz="1200" dirty="0"/>
          </a:p>
          <a:p>
            <a:pPr algn="l" indent="0" marL="0">
              <a:spcAft>
                <a:spcPts val="300"/>
              </a:spcAft>
              <a:buNone/>
            </a:pPr>
            <a:r>
              <a:rPr lang="en-US" sz="1200" dirty="0">
                <a:solidFill>
                  <a:schemeClr val="bg1"/>
                </a:solidFill>
              </a:rPr>
              <a:t>• In this study the researcher identified...</a:t>
            </a:r>
            <a:endParaRPr lang="en-US" sz="1200" dirty="0"/>
          </a:p>
        </p:txBody>
      </p:sp>
      <p:sp>
        <p:nvSpPr>
          <p:cNvPr id="13" name="Step 3"/>
          <p:cNvSpPr/>
          <p:nvPr/>
        </p:nvSpPr>
        <p:spPr>
          <a:xfrm>
            <a:off x="457200" y="5449824"/>
            <a:ext cx="3931920" cy="685800"/>
          </a:xfrm>
          <a:prstGeom prst="roundRect">
            <a:avLst>
              <a:gd name="adj" fmla="val 13333"/>
            </a:avLst>
          </a:prstGeom>
          <a:solidFill>
            <a:schemeClr val="bg2"/>
          </a:solidFill>
          <a:ln/>
        </p:spPr>
      </p:sp>
      <p:sp>
        <p:nvSpPr>
          <p:cNvPr id="14" name="Shape 12"/>
          <p:cNvSpPr/>
          <p:nvPr/>
        </p:nvSpPr>
        <p:spPr>
          <a:xfrm>
            <a:off x="594360" y="5605272"/>
            <a:ext cx="384048" cy="384048"/>
          </a:xfrm>
          <a:prstGeom prst="ellipse">
            <a:avLst/>
          </a:prstGeom>
          <a:solidFill>
            <a:schemeClr val="accent1"/>
          </a:solidFill>
          <a:ln/>
        </p:spPr>
      </p:sp>
      <p:sp>
        <p:nvSpPr>
          <p:cNvPr id="15" name="Text 13"/>
          <p:cNvSpPr txBox="1"/>
          <p:nvPr/>
        </p:nvSpPr>
        <p:spPr>
          <a:xfrm>
            <a:off x="594360" y="56052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115568" y="5559552"/>
            <a:ext cx="3136392" cy="466344"/>
          </a:xfrm>
          <a:prstGeom prst="rect">
            <a:avLst/>
          </a:prstGeom>
          <a:noFill/>
          <a:ln/>
        </p:spPr>
        <p:txBody>
          <a:bodyPr wrap="square" lIns="0" tIns="0" rIns="0" bIns="0" rtlCol="0" anchor="ctr"/>
          <a:lstStyle/>
          <a:p>
            <a:pPr algn="l" indent="0" marL="0">
              <a:spcAft>
                <a:spcPts val="300"/>
              </a:spcAft>
              <a:buNone/>
            </a:pPr>
            <a:r>
              <a:rPr lang="en-US" sz="1200" dirty="0">
                <a:solidFill>
                  <a:schemeClr val="tx1"/>
                </a:solidFill>
              </a:rPr>
              <a:t>State the Research Objective.</a:t>
            </a:r>
            <a:endParaRPr lang="en-US" sz="1200" dirty="0"/>
          </a:p>
        </p:txBody>
      </p:sp>
      <p:sp>
        <p:nvSpPr>
          <p:cNvPr id="17" name="Body"/>
          <p:cNvSpPr txBox="1"/>
          <p:nvPr/>
        </p:nvSpPr>
        <p:spPr>
          <a:xfrm>
            <a:off x="4800600" y="1874520"/>
            <a:ext cx="6931152" cy="4297680"/>
          </a:xfrm>
          <a:prstGeom prst="rect">
            <a:avLst/>
          </a:prstGeom>
          <a:noFill/>
          <a:ln/>
        </p:spPr>
        <p:txBody>
          <a:bodyPr wrap="square" lIns="0" tIns="0" rIns="0" bIns="0" rtlCol="0" anchor="t"/>
          <a:lstStyle/>
          <a:p>
            <a:pPr algn="r" indent="0" marL="0" rtl="1">
              <a:lnSpc>
                <a:spcPct val="110000"/>
              </a:lnSpc>
              <a:spcAft>
                <a:spcPts val="1400"/>
              </a:spcAft>
              <a:buNone/>
            </a:pPr>
            <a:r>
              <a:rPr lang="en-US" sz="1600" dirty="0">
                <a:solidFill>
                  <a:schemeClr val="tx1"/>
                </a:solidFill>
                <a:latin typeface="Arial" pitchFamily="34" charset="0"/>
                <a:ea typeface="Arial" pitchFamily="34" charset="-122"/>
                <a:cs typeface="Arial" pitchFamily="34" charset="-120"/>
              </a:rPr>
              <a:t>يُعبّر الهدف البحثي عن </a:t>
            </a:r>
            <a:pPr algn="r" indent="0" marL="0">
              <a:lnSpc>
                <a:spcPct val="110000"/>
              </a:lnSpc>
              <a:buNone/>
            </a:pPr>
            <a:r>
              <a:rPr lang="en-US" sz="1600" b="1" dirty="0">
                <a:solidFill>
                  <a:schemeClr val="tx1"/>
                </a:solidFill>
                <a:latin typeface="Arial" pitchFamily="34" charset="0"/>
                <a:ea typeface="Arial" pitchFamily="34" charset="-122"/>
                <a:cs typeface="Arial" pitchFamily="34" charset="-120"/>
              </a:rPr>
              <a:t>الغاية النهائية للدراسة</a:t>
            </a:r>
            <a:pPr algn="r" indent="0" marL="0">
              <a:lnSpc>
                <a:spcPct val="110000"/>
              </a:lnSpc>
              <a:buNone/>
            </a:pPr>
            <a:r>
              <a:rPr lang="en-US" sz="1600" dirty="0">
                <a:solidFill>
                  <a:schemeClr val="tx1"/>
                </a:solidFill>
                <a:latin typeface="Arial" pitchFamily="34" charset="0"/>
                <a:ea typeface="Arial" pitchFamily="34" charset="-122"/>
                <a:cs typeface="Arial" pitchFamily="34" charset="-120"/>
              </a:rPr>
              <a:t>، أي النتيجة التي يسعى الباحث إلى الوصول إليها بشكل واضح ومحدد. ويُعد أكثر دقة من أهداف البحث، حيث يركّز على الهدف الرئيسي المباشر للدراسة.</a:t>
            </a:r>
            <a:endParaRPr lang="en-US" sz="1600" dirty="0"/>
          </a:p>
          <a:p>
            <a:pPr algn="r" indent="0" marL="0" rtl="1">
              <a:lnSpc>
                <a:spcPct val="110000"/>
              </a:lnSpc>
              <a:spcAft>
                <a:spcPts val="800"/>
              </a:spcAft>
              <a:buNone/>
            </a:pPr>
            <a:r>
              <a:rPr lang="en-US" sz="1800" b="1" dirty="0">
                <a:solidFill>
                  <a:schemeClr val="accent1"/>
                </a:solidFill>
                <a:latin typeface="Arial" pitchFamily="34" charset="0"/>
                <a:ea typeface="Arial" pitchFamily="34" charset="-122"/>
                <a:cs typeface="Arial" pitchFamily="34" charset="-120"/>
              </a:rPr>
              <a:t>خطوات كتابة الهدف البحثي:</a:t>
            </a:r>
            <a:endParaRPr lang="en-US" sz="1600" dirty="0"/>
          </a:p>
          <a:p>
            <a:pPr algn="r" indent="0" marL="0" rtl="1">
              <a:lnSpc>
                <a:spcPct val="110000"/>
              </a:lnSpc>
              <a:spcAft>
                <a:spcPts val="1000"/>
              </a:spcAft>
              <a:buNone/>
            </a:pPr>
            <a:r>
              <a:rPr lang="en-US" sz="1600" b="1" dirty="0">
                <a:solidFill>
                  <a:schemeClr val="tx1"/>
                </a:solidFill>
                <a:latin typeface="Arial" pitchFamily="34" charset="0"/>
                <a:ea typeface="Arial" pitchFamily="34" charset="-122"/>
                <a:cs typeface="Arial" pitchFamily="34" charset="-120"/>
              </a:rPr>
              <a:t>1. كتابة عنوان البحث:</a:t>
            </a:r>
            <a:pPr algn="r" indent="0" marL="0">
              <a:lnSpc>
                <a:spcPct val="110000"/>
              </a:lnSpc>
              <a:buNone/>
            </a:pPr>
            <a:r>
              <a:rPr lang="en-US" sz="1600" dirty="0">
                <a:solidFill>
                  <a:schemeClr val="tx1"/>
                </a:solidFill>
                <a:latin typeface="Arial" pitchFamily="34" charset="0"/>
                <a:ea typeface="Arial" pitchFamily="34" charset="-122"/>
                <a:cs typeface="Arial" pitchFamily="34" charset="-120"/>
              </a:rPr>
              <a:t> في البداية يتم ذكر عنوان البحث، لأنه يوضّح موضوع الدراسة ويحدد نطاقها بشكل واضح.</a:t>
            </a:r>
            <a:endParaRPr lang="en-US" sz="1600" dirty="0"/>
          </a:p>
          <a:p>
            <a:pPr algn="r" indent="0" marL="0" rtl="1">
              <a:lnSpc>
                <a:spcPct val="110000"/>
              </a:lnSpc>
              <a:spcAft>
                <a:spcPts val="600"/>
              </a:spcAft>
              <a:buNone/>
            </a:pPr>
            <a:r>
              <a:rPr lang="en-US" sz="1600" b="1" dirty="0">
                <a:solidFill>
                  <a:schemeClr val="tx1"/>
                </a:solidFill>
                <a:latin typeface="Arial" pitchFamily="34" charset="0"/>
                <a:ea typeface="Arial" pitchFamily="34" charset="-122"/>
                <a:cs typeface="Arial" pitchFamily="34" charset="-120"/>
              </a:rPr>
              <a:t>2. صياغة أهداف البحث:</a:t>
            </a:r>
            <a:pPr algn="r" indent="0" marL="0">
              <a:lnSpc>
                <a:spcPct val="110000"/>
              </a:lnSpc>
              <a:buNone/>
            </a:pPr>
            <a:r>
              <a:rPr lang="en-US" sz="1600" dirty="0">
                <a:solidFill>
                  <a:schemeClr val="tx1"/>
                </a:solidFill>
                <a:latin typeface="Arial" pitchFamily="34" charset="0"/>
                <a:ea typeface="Arial" pitchFamily="34" charset="-122"/>
                <a:cs typeface="Arial" pitchFamily="34" charset="-120"/>
              </a:rPr>
              <a:t> في هذه الخطوة يتم التعبير عن أهداف البحث بصيغة أكاديمية واضحة، وغالبًا تبدأ بعبارات مثل: يهدف هذا البحث إلى… / تسعى هذه الدراسة إلى… / تقوم هذه الدراسة بدراسة/تحليل…</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الهدف البحثي</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Text 2"/>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RESEARCH OBJECTIVE</a:t>
            </a:r>
            <a:endParaRPr lang="en-US" sz="1400" dirty="0"/>
          </a:p>
        </p:txBody>
      </p:sp>
      <p:sp>
        <p:nvSpPr>
          <p:cNvPr id="5" name="Step 1"/>
          <p:cNvSpPr/>
          <p:nvPr/>
        </p:nvSpPr>
        <p:spPr>
          <a:xfrm>
            <a:off x="457200" y="2532888"/>
            <a:ext cx="3931920" cy="685800"/>
          </a:xfrm>
          <a:prstGeom prst="roundRect">
            <a:avLst>
              <a:gd name="adj" fmla="val 13333"/>
            </a:avLst>
          </a:prstGeom>
          <a:solidFill>
            <a:schemeClr val="bg2"/>
          </a:solidFill>
          <a:ln/>
        </p:spPr>
      </p:sp>
      <p:sp>
        <p:nvSpPr>
          <p:cNvPr id="6" name="Shape 4"/>
          <p:cNvSpPr/>
          <p:nvPr/>
        </p:nvSpPr>
        <p:spPr>
          <a:xfrm>
            <a:off x="594360" y="2688336"/>
            <a:ext cx="384048" cy="384048"/>
          </a:xfrm>
          <a:prstGeom prst="ellipse">
            <a:avLst/>
          </a:prstGeom>
          <a:solidFill>
            <a:schemeClr val="accent1"/>
          </a:solidFill>
          <a:ln/>
        </p:spPr>
      </p:sp>
      <p:sp>
        <p:nvSpPr>
          <p:cNvPr id="7" name="Text 5"/>
          <p:cNvSpPr txBox="1"/>
          <p:nvPr/>
        </p:nvSpPr>
        <p:spPr>
          <a:xfrm>
            <a:off x="594360" y="26883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115568" y="2642616"/>
            <a:ext cx="3136392" cy="466344"/>
          </a:xfrm>
          <a:prstGeom prst="rect">
            <a:avLst/>
          </a:prstGeom>
          <a:noFill/>
          <a:ln/>
        </p:spPr>
        <p:txBody>
          <a:bodyPr wrap="square" lIns="0" tIns="0" rIns="0" bIns="0" rtlCol="0" anchor="ctr"/>
          <a:lstStyle/>
          <a:p>
            <a:pPr algn="l" indent="0" marL="0">
              <a:spcAft>
                <a:spcPts val="300"/>
              </a:spcAft>
              <a:buNone/>
            </a:pPr>
            <a:r>
              <a:rPr lang="en-US" sz="1200" dirty="0">
                <a:solidFill>
                  <a:schemeClr val="tx1"/>
                </a:solidFill>
              </a:rPr>
              <a:t>State the Research Title.</a:t>
            </a:r>
            <a:endParaRPr lang="en-US" sz="1200" dirty="0"/>
          </a:p>
        </p:txBody>
      </p:sp>
      <p:sp>
        <p:nvSpPr>
          <p:cNvPr id="9" name="Step 2"/>
          <p:cNvSpPr/>
          <p:nvPr/>
        </p:nvSpPr>
        <p:spPr>
          <a:xfrm>
            <a:off x="457200" y="3328416"/>
            <a:ext cx="3931920" cy="2011680"/>
          </a:xfrm>
          <a:prstGeom prst="roundRect">
            <a:avLst>
              <a:gd name="adj" fmla="val 4545"/>
            </a:avLst>
          </a:prstGeom>
          <a:solidFill>
            <a:schemeClr val="bg2"/>
          </a:solidFill>
          <a:ln/>
        </p:spPr>
      </p:sp>
      <p:sp>
        <p:nvSpPr>
          <p:cNvPr id="10" name="Shape 8"/>
          <p:cNvSpPr/>
          <p:nvPr/>
        </p:nvSpPr>
        <p:spPr>
          <a:xfrm>
            <a:off x="594360" y="3483864"/>
            <a:ext cx="384048" cy="384048"/>
          </a:xfrm>
          <a:prstGeom prst="ellipse">
            <a:avLst/>
          </a:prstGeom>
          <a:solidFill>
            <a:schemeClr val="accent1"/>
          </a:solidFill>
          <a:ln/>
        </p:spPr>
      </p:sp>
      <p:sp>
        <p:nvSpPr>
          <p:cNvPr id="11" name="Text 9"/>
          <p:cNvSpPr txBox="1"/>
          <p:nvPr/>
        </p:nvSpPr>
        <p:spPr>
          <a:xfrm>
            <a:off x="594360" y="34838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115568" y="3438144"/>
            <a:ext cx="3136392" cy="1792224"/>
          </a:xfrm>
          <a:prstGeom prst="rect">
            <a:avLst/>
          </a:prstGeom>
          <a:noFill/>
          <a:ln/>
        </p:spPr>
        <p:txBody>
          <a:bodyPr wrap="square" lIns="0" tIns="0" rIns="0" bIns="0" rtlCol="0" anchor="t"/>
          <a:lstStyle/>
          <a:p>
            <a:pPr algn="l" indent="0" marL="0">
              <a:spcAft>
                <a:spcPts val="300"/>
              </a:spcAft>
              <a:buNone/>
            </a:pPr>
            <a:r>
              <a:rPr lang="en-US" sz="1200" dirty="0">
                <a:solidFill>
                  <a:schemeClr val="tx1"/>
                </a:solidFill>
              </a:rPr>
              <a:t>State own Aims of Research. Usually starts with a sentence:</a:t>
            </a:r>
            <a:endParaRPr lang="en-US" sz="1200" dirty="0"/>
          </a:p>
          <a:p>
            <a:pPr algn="l" indent="0" marL="0">
              <a:spcAft>
                <a:spcPts val="300"/>
              </a:spcAft>
              <a:buNone/>
            </a:pPr>
            <a:r>
              <a:rPr lang="en-US" sz="1200" dirty="0">
                <a:solidFill>
                  <a:schemeClr val="tx1"/>
                </a:solidFill>
              </a:rPr>
              <a:t>• The purpose of this descriptive study is...</a:t>
            </a:r>
            <a:endParaRPr lang="en-US" sz="1200" dirty="0"/>
          </a:p>
          <a:p>
            <a:pPr algn="l" indent="0" marL="0">
              <a:spcAft>
                <a:spcPts val="300"/>
              </a:spcAft>
              <a:buNone/>
            </a:pPr>
            <a:r>
              <a:rPr lang="en-US" sz="1200" dirty="0">
                <a:solidFill>
                  <a:schemeClr val="tx1"/>
                </a:solidFill>
              </a:rPr>
              <a:t>• This study investigates...</a:t>
            </a:r>
            <a:endParaRPr lang="en-US" sz="1200" dirty="0"/>
          </a:p>
          <a:p>
            <a:pPr algn="l" indent="0" marL="0">
              <a:spcAft>
                <a:spcPts val="300"/>
              </a:spcAft>
              <a:buNone/>
            </a:pPr>
            <a:r>
              <a:rPr lang="en-US" sz="1200" dirty="0">
                <a:solidFill>
                  <a:schemeClr val="tx1"/>
                </a:solidFill>
              </a:rPr>
              <a:t>• In this study the researcher identified...</a:t>
            </a:r>
            <a:endParaRPr lang="en-US" sz="1200" dirty="0"/>
          </a:p>
        </p:txBody>
      </p:sp>
      <p:sp>
        <p:nvSpPr>
          <p:cNvPr id="13" name="Step 3"/>
          <p:cNvSpPr/>
          <p:nvPr/>
        </p:nvSpPr>
        <p:spPr>
          <a:xfrm>
            <a:off x="457200" y="5449824"/>
            <a:ext cx="3931920" cy="685800"/>
          </a:xfrm>
          <a:prstGeom prst="roundRect">
            <a:avLst>
              <a:gd name="adj" fmla="val 13333"/>
            </a:avLst>
          </a:prstGeom>
          <a:solidFill>
            <a:schemeClr val="accent1"/>
          </a:solidFill>
          <a:ln/>
        </p:spPr>
      </p:sp>
      <p:sp>
        <p:nvSpPr>
          <p:cNvPr id="14" name="Shape 12"/>
          <p:cNvSpPr/>
          <p:nvPr/>
        </p:nvSpPr>
        <p:spPr>
          <a:xfrm>
            <a:off x="594360" y="5605272"/>
            <a:ext cx="384048" cy="384048"/>
          </a:xfrm>
          <a:prstGeom prst="ellipse">
            <a:avLst/>
          </a:prstGeom>
          <a:solidFill>
            <a:schemeClr val="bg1"/>
          </a:solidFill>
          <a:ln/>
        </p:spPr>
      </p:sp>
      <p:sp>
        <p:nvSpPr>
          <p:cNvPr id="15" name="Text 13"/>
          <p:cNvSpPr txBox="1"/>
          <p:nvPr/>
        </p:nvSpPr>
        <p:spPr>
          <a:xfrm>
            <a:off x="594360" y="560527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6" name="Text 14"/>
          <p:cNvSpPr txBox="1"/>
          <p:nvPr/>
        </p:nvSpPr>
        <p:spPr>
          <a:xfrm>
            <a:off x="1115568" y="5559552"/>
            <a:ext cx="3136392" cy="466344"/>
          </a:xfrm>
          <a:prstGeom prst="rect">
            <a:avLst/>
          </a:prstGeom>
          <a:noFill/>
          <a:ln/>
        </p:spPr>
        <p:txBody>
          <a:bodyPr wrap="square" lIns="0" tIns="0" rIns="0" bIns="0" rtlCol="0" anchor="ctr"/>
          <a:lstStyle/>
          <a:p>
            <a:pPr algn="l" indent="0" marL="0">
              <a:spcAft>
                <a:spcPts val="300"/>
              </a:spcAft>
              <a:buNone/>
            </a:pPr>
            <a:r>
              <a:rPr lang="en-US" sz="1200" dirty="0">
                <a:solidFill>
                  <a:schemeClr val="bg1"/>
                </a:solidFill>
              </a:rPr>
              <a:t>State the Research Objective.</a:t>
            </a:r>
            <a:endParaRPr lang="en-US" sz="1200" dirty="0"/>
          </a:p>
        </p:txBody>
      </p:sp>
      <p:sp>
        <p:nvSpPr>
          <p:cNvPr id="17" name="Body"/>
          <p:cNvSpPr txBox="1"/>
          <p:nvPr/>
        </p:nvSpPr>
        <p:spPr>
          <a:xfrm>
            <a:off x="4800600" y="1874520"/>
            <a:ext cx="6931152" cy="210312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3. تحديد الهدف البحثي النهائي</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في هذه المرحلة يتم كتابة الهدف البحثي بشكل مباشر ومركز، بحيث:</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يكون واضحًا ومحددًا</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يعكس نتيجة البحث</a:t>
            </a:r>
            <a:endParaRPr lang="en-US" sz="1800" dirty="0"/>
          </a:p>
          <a:p>
            <a:pPr algn="r" marL="228600" indent="-228600" rtl="1">
              <a:lnSpc>
                <a:spcPct val="110000"/>
              </a:lnSpc>
              <a:spcAft>
                <a:spcPts val="600"/>
              </a:spcAft>
              <a:buSzPct val="100000"/>
              <a:buChar char="•"/>
            </a:pPr>
            <a:r>
              <a:rPr lang="en-US" sz="1600" dirty="0">
                <a:solidFill>
                  <a:schemeClr val="tx1"/>
                </a:solidFill>
                <a:latin typeface="Arial" pitchFamily="34" charset="0"/>
                <a:ea typeface="Arial" pitchFamily="34" charset="-122"/>
                <a:cs typeface="Arial" pitchFamily="34" charset="-120"/>
              </a:rPr>
              <a:t>يرتبط بمشكلة البحث والمتغيرات</a:t>
            </a:r>
            <a:endParaRPr lang="en-US" sz="1800" dirty="0"/>
          </a:p>
        </p:txBody>
      </p:sp>
      <p:sp>
        <p:nvSpPr>
          <p:cNvPr id="18" name="Text 16"/>
          <p:cNvSpPr txBox="1"/>
          <p:nvPr/>
        </p:nvSpPr>
        <p:spPr>
          <a:xfrm>
            <a:off x="4800600" y="4069080"/>
            <a:ext cx="6931152" cy="411480"/>
          </a:xfrm>
          <a:prstGeom prst="rect">
            <a:avLst/>
          </a:prstGeom>
          <a:noFill/>
          <a:ln/>
        </p:spPr>
        <p:txBody>
          <a:bodyPr wrap="square" lIns="0" tIns="0" rIns="0" bIns="0" rtlCol="0" anchor="ctr"/>
          <a:lstStyle/>
          <a:p>
            <a:pPr rtl="1" algn="r" indent="0" marL="0">
              <a:buNone/>
            </a:pPr>
            <a:r>
              <a:rPr lang="en-US" sz="1800" b="1" dirty="0">
                <a:solidFill>
                  <a:schemeClr val="tx2"/>
                </a:solidFill>
              </a:rPr>
              <a:t>الفرق بين أهداف البحث والهدف البحثي</a:t>
            </a:r>
            <a:endParaRPr lang="en-US" sz="1800" dirty="0"/>
          </a:p>
        </p:txBody>
      </p:sp>
      <p:sp>
        <p:nvSpPr>
          <p:cNvPr id="19" name="Compare 1"/>
          <p:cNvSpPr/>
          <p:nvPr/>
        </p:nvSpPr>
        <p:spPr>
          <a:xfrm>
            <a:off x="8403336" y="4572000"/>
            <a:ext cx="3328416" cy="1463040"/>
          </a:xfrm>
          <a:prstGeom prst="roundRect">
            <a:avLst>
              <a:gd name="adj" fmla="val 7500"/>
            </a:avLst>
          </a:prstGeom>
          <a:solidFill>
            <a:schemeClr val="bg2"/>
          </a:solidFill>
          <a:ln/>
        </p:spPr>
      </p:sp>
      <p:sp>
        <p:nvSpPr>
          <p:cNvPr id="20" name="Text 18"/>
          <p:cNvSpPr txBox="1"/>
          <p:nvPr/>
        </p:nvSpPr>
        <p:spPr>
          <a:xfrm>
            <a:off x="8677656" y="4572000"/>
            <a:ext cx="2779776" cy="1463040"/>
          </a:xfrm>
          <a:prstGeom prst="rect">
            <a:avLst/>
          </a:prstGeom>
          <a:noFill/>
          <a:ln/>
        </p:spPr>
        <p:txBody>
          <a:bodyPr wrap="square" lIns="0" tIns="0" rIns="0" bIns="0" rtlCol="0" anchor="ctr"/>
          <a:lstStyle/>
          <a:p>
            <a:pPr algn="r" indent="0" marL="0" rtl="1">
              <a:spcAft>
                <a:spcPts val="600"/>
              </a:spcAft>
              <a:buNone/>
            </a:pPr>
            <a:r>
              <a:rPr lang="en-US" sz="1900" b="1" dirty="0">
                <a:solidFill>
                  <a:schemeClr val="tx1"/>
                </a:solidFill>
              </a:rPr>
              <a:t>أهداف البحث</a:t>
            </a:r>
            <a:endParaRPr lang="en-US" sz="1900" dirty="0"/>
          </a:p>
          <a:p>
            <a:pPr algn="r" indent="0" marL="0" rtl="1">
              <a:buNone/>
            </a:pPr>
            <a:r>
              <a:rPr lang="en-US" sz="1500" dirty="0">
                <a:solidFill>
                  <a:schemeClr val="tx1"/>
                </a:solidFill>
              </a:rPr>
              <a:t>تكون عامة ومتعددة</a:t>
            </a:r>
            <a:endParaRPr lang="en-US" sz="1900" dirty="0"/>
          </a:p>
        </p:txBody>
      </p:sp>
      <p:sp>
        <p:nvSpPr>
          <p:cNvPr id="21" name="Compare 2"/>
          <p:cNvSpPr/>
          <p:nvPr/>
        </p:nvSpPr>
        <p:spPr>
          <a:xfrm>
            <a:off x="4800600" y="4572000"/>
            <a:ext cx="3328416" cy="1463040"/>
          </a:xfrm>
          <a:prstGeom prst="roundRect">
            <a:avLst>
              <a:gd name="adj" fmla="val 7500"/>
            </a:avLst>
          </a:prstGeom>
          <a:solidFill>
            <a:schemeClr val="accent1"/>
          </a:solidFill>
          <a:ln/>
        </p:spPr>
      </p:sp>
      <p:sp>
        <p:nvSpPr>
          <p:cNvPr id="22" name="Text 20"/>
          <p:cNvSpPr txBox="1"/>
          <p:nvPr/>
        </p:nvSpPr>
        <p:spPr>
          <a:xfrm>
            <a:off x="5074920" y="4572000"/>
            <a:ext cx="2779776" cy="1463040"/>
          </a:xfrm>
          <a:prstGeom prst="rect">
            <a:avLst/>
          </a:prstGeom>
          <a:noFill/>
          <a:ln/>
        </p:spPr>
        <p:txBody>
          <a:bodyPr wrap="square" lIns="0" tIns="0" rIns="0" bIns="0" rtlCol="0" anchor="ctr"/>
          <a:lstStyle/>
          <a:p>
            <a:pPr algn="r" indent="0" marL="0" rtl="1">
              <a:spcAft>
                <a:spcPts val="600"/>
              </a:spcAft>
              <a:buNone/>
            </a:pPr>
            <a:r>
              <a:rPr lang="en-US" sz="1900" b="1" dirty="0">
                <a:solidFill>
                  <a:schemeClr val="bg1"/>
                </a:solidFill>
              </a:rPr>
              <a:t>الهدف البحثي</a:t>
            </a:r>
            <a:endParaRPr lang="en-US" sz="1900" dirty="0"/>
          </a:p>
          <a:p>
            <a:pPr algn="r" indent="0" marL="0" rtl="1">
              <a:buNone/>
            </a:pPr>
            <a:r>
              <a:rPr lang="en-US" sz="1500" dirty="0">
                <a:solidFill>
                  <a:schemeClr val="bg1"/>
                </a:solidFill>
              </a:rPr>
              <a:t>يكون محددًا ومباشرًا ويختصر الدراسة</a:t>
            </a:r>
            <a:endParaRPr lang="en-US" sz="19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المنهجية / عملية التصميم</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METHODOLOGY / DESIGN PROCESS</a:t>
            </a:r>
            <a:endParaRPr lang="en-US" sz="1400" dirty="0"/>
          </a:p>
        </p:txBody>
      </p:sp>
      <p:sp>
        <p:nvSpPr>
          <p:cNvPr id="5" name="Step 1"/>
          <p:cNvSpPr/>
          <p:nvPr/>
        </p:nvSpPr>
        <p:spPr>
          <a:xfrm>
            <a:off x="457200" y="2532888"/>
            <a:ext cx="3931920" cy="777240"/>
          </a:xfrm>
          <a:prstGeom prst="roundRect">
            <a:avLst>
              <a:gd name="adj" fmla="val 11765"/>
            </a:avLst>
          </a:prstGeom>
          <a:solidFill>
            <a:schemeClr val="accent1"/>
          </a:solidFill>
          <a:ln/>
        </p:spPr>
      </p:sp>
      <p:sp>
        <p:nvSpPr>
          <p:cNvPr id="6" name="Step 1 badge"/>
          <p:cNvSpPr/>
          <p:nvPr/>
        </p:nvSpPr>
        <p:spPr>
          <a:xfrm>
            <a:off x="594360" y="2729484"/>
            <a:ext cx="384048" cy="384048"/>
          </a:xfrm>
          <a:prstGeom prst="ellipse">
            <a:avLst/>
          </a:prstGeom>
          <a:solidFill>
            <a:schemeClr val="bg1"/>
          </a:solidFill>
          <a:ln/>
        </p:spPr>
      </p:sp>
      <p:sp>
        <p:nvSpPr>
          <p:cNvPr id="7" name="Step 1 num"/>
          <p:cNvSpPr txBox="1"/>
          <p:nvPr/>
        </p:nvSpPr>
        <p:spPr>
          <a:xfrm>
            <a:off x="594360" y="272948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8" name="Step 1 text"/>
          <p:cNvSpPr txBox="1"/>
          <p:nvPr/>
        </p:nvSpPr>
        <p:spPr>
          <a:xfrm>
            <a:off x="1115568" y="2532888"/>
            <a:ext cx="3136392" cy="777240"/>
          </a:xfrm>
          <a:prstGeom prst="rect">
            <a:avLst/>
          </a:prstGeom>
          <a:noFill/>
          <a:ln/>
        </p:spPr>
        <p:txBody>
          <a:bodyPr wrap="square" lIns="0" tIns="0" rIns="0" bIns="0" rtlCol="0" anchor="ctr"/>
          <a:lstStyle/>
          <a:p>
            <a:pPr algn="l" indent="0" marL="0">
              <a:buNone/>
            </a:pPr>
            <a:r>
              <a:rPr lang="en-US" sz="1300" b="1" dirty="0">
                <a:solidFill>
                  <a:schemeClr val="bg1"/>
                </a:solidFill>
              </a:rPr>
              <a:t>State the Research Design.</a:t>
            </a:r>
            <a:endParaRPr lang="en-US" sz="1300" dirty="0"/>
          </a:p>
        </p:txBody>
      </p:sp>
      <p:sp>
        <p:nvSpPr>
          <p:cNvPr id="9" name="Step 2"/>
          <p:cNvSpPr/>
          <p:nvPr/>
        </p:nvSpPr>
        <p:spPr>
          <a:xfrm>
            <a:off x="457200" y="3419856"/>
            <a:ext cx="3931920" cy="777240"/>
          </a:xfrm>
          <a:prstGeom prst="roundRect">
            <a:avLst>
              <a:gd name="adj" fmla="val 11765"/>
            </a:avLst>
          </a:prstGeom>
          <a:solidFill>
            <a:schemeClr val="bg2"/>
          </a:solidFill>
          <a:ln/>
        </p:spPr>
      </p:sp>
      <p:sp>
        <p:nvSpPr>
          <p:cNvPr id="10" name="Step 2 badge"/>
          <p:cNvSpPr/>
          <p:nvPr/>
        </p:nvSpPr>
        <p:spPr>
          <a:xfrm>
            <a:off x="594360" y="3616452"/>
            <a:ext cx="384048" cy="384048"/>
          </a:xfrm>
          <a:prstGeom prst="ellipse">
            <a:avLst/>
          </a:prstGeom>
          <a:solidFill>
            <a:schemeClr val="accent1"/>
          </a:solidFill>
          <a:ln/>
        </p:spPr>
      </p:sp>
      <p:sp>
        <p:nvSpPr>
          <p:cNvPr id="11" name="Step 2 num"/>
          <p:cNvSpPr txBox="1"/>
          <p:nvPr/>
        </p:nvSpPr>
        <p:spPr>
          <a:xfrm>
            <a:off x="594360" y="36164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419856"/>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Population &amp; Sample.</a:t>
            </a:r>
            <a:endParaRPr lang="en-US" sz="1300" dirty="0"/>
          </a:p>
        </p:txBody>
      </p:sp>
      <p:sp>
        <p:nvSpPr>
          <p:cNvPr id="13" name="Step 3"/>
          <p:cNvSpPr/>
          <p:nvPr/>
        </p:nvSpPr>
        <p:spPr>
          <a:xfrm>
            <a:off x="457200" y="4306824"/>
            <a:ext cx="3931920" cy="777240"/>
          </a:xfrm>
          <a:prstGeom prst="roundRect">
            <a:avLst>
              <a:gd name="adj" fmla="val 11765"/>
            </a:avLst>
          </a:prstGeom>
          <a:solidFill>
            <a:schemeClr val="bg2"/>
          </a:solidFill>
          <a:ln/>
        </p:spPr>
      </p:sp>
      <p:sp>
        <p:nvSpPr>
          <p:cNvPr id="14" name="Step 3 badge"/>
          <p:cNvSpPr/>
          <p:nvPr/>
        </p:nvSpPr>
        <p:spPr>
          <a:xfrm>
            <a:off x="594360" y="4503420"/>
            <a:ext cx="384048" cy="384048"/>
          </a:xfrm>
          <a:prstGeom prst="ellipse">
            <a:avLst/>
          </a:prstGeom>
          <a:solidFill>
            <a:schemeClr val="accent1"/>
          </a:solidFill>
          <a:ln/>
        </p:spPr>
      </p:sp>
      <p:sp>
        <p:nvSpPr>
          <p:cNvPr id="15" name="Step 3 num"/>
          <p:cNvSpPr txBox="1"/>
          <p:nvPr/>
        </p:nvSpPr>
        <p:spPr>
          <a:xfrm>
            <a:off x="594360" y="45034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4306824"/>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Instrumentation.</a:t>
            </a:r>
            <a:endParaRPr lang="en-US" sz="1300" dirty="0"/>
          </a:p>
        </p:txBody>
      </p:sp>
      <p:sp>
        <p:nvSpPr>
          <p:cNvPr id="17" name="Step 4"/>
          <p:cNvSpPr/>
          <p:nvPr/>
        </p:nvSpPr>
        <p:spPr>
          <a:xfrm>
            <a:off x="457200" y="5193792"/>
            <a:ext cx="3931920" cy="777240"/>
          </a:xfrm>
          <a:prstGeom prst="roundRect">
            <a:avLst>
              <a:gd name="adj" fmla="val 11765"/>
            </a:avLst>
          </a:prstGeom>
          <a:solidFill>
            <a:schemeClr val="bg2"/>
          </a:solidFill>
          <a:ln/>
        </p:spPr>
      </p:sp>
      <p:sp>
        <p:nvSpPr>
          <p:cNvPr id="18" name="Step 4 badge"/>
          <p:cNvSpPr/>
          <p:nvPr/>
        </p:nvSpPr>
        <p:spPr>
          <a:xfrm>
            <a:off x="594360" y="5390388"/>
            <a:ext cx="384048" cy="384048"/>
          </a:xfrm>
          <a:prstGeom prst="ellipse">
            <a:avLst/>
          </a:prstGeom>
          <a:solidFill>
            <a:schemeClr val="accent1"/>
          </a:solidFill>
          <a:ln/>
        </p:spPr>
      </p:sp>
      <p:sp>
        <p:nvSpPr>
          <p:cNvPr id="19" name="Step 4 num"/>
          <p:cNvSpPr txBox="1"/>
          <p:nvPr/>
        </p:nvSpPr>
        <p:spPr>
          <a:xfrm>
            <a:off x="594360" y="53903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Step 4 text"/>
          <p:cNvSpPr txBox="1"/>
          <p:nvPr/>
        </p:nvSpPr>
        <p:spPr>
          <a:xfrm>
            <a:off x="1115568" y="5193792"/>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Data Analysis.</a:t>
            </a:r>
            <a:endParaRPr lang="en-US" sz="1300" dirty="0"/>
          </a:p>
        </p:txBody>
      </p:sp>
      <p:sp>
        <p:nvSpPr>
          <p:cNvPr id="21" name="Body"/>
          <p:cNvSpPr txBox="1"/>
          <p:nvPr/>
        </p:nvSpPr>
        <p:spPr>
          <a:xfrm>
            <a:off x="4800600" y="1874520"/>
            <a:ext cx="6931152" cy="1920240"/>
          </a:xfrm>
          <a:prstGeom prst="rect">
            <a:avLst/>
          </a:prstGeom>
          <a:noFill/>
          <a:ln/>
        </p:spPr>
        <p:txBody>
          <a:bodyPr wrap="square" lIns="0" tIns="0" rIns="0" bIns="0" rtlCol="0" anchor="t"/>
          <a:lstStyle/>
          <a:p>
            <a:pPr algn="r" indent="0" marL="0" rtl="1">
              <a:lnSpc>
                <a:spcPct val="110000"/>
              </a:lnSpc>
              <a:spcAft>
                <a:spcPts val="1400"/>
              </a:spcAft>
              <a:buNone/>
            </a:pPr>
            <a:r>
              <a:rPr lang="en-US" sz="1600" dirty="0">
                <a:solidFill>
                  <a:schemeClr val="tx1"/>
                </a:solidFill>
                <a:latin typeface="Arial" pitchFamily="34" charset="0"/>
                <a:ea typeface="Arial" pitchFamily="34" charset="-122"/>
                <a:cs typeface="Arial" pitchFamily="34" charset="-120"/>
              </a:rPr>
              <a:t>هذا الجزء يوضّح </a:t>
            </a:r>
            <a:pPr algn="r" indent="0" marL="0">
              <a:lnSpc>
                <a:spcPct val="110000"/>
              </a:lnSpc>
              <a:buNone/>
            </a:pPr>
            <a:r>
              <a:rPr lang="en-US" sz="1600" b="1" dirty="0">
                <a:solidFill>
                  <a:schemeClr val="tx1"/>
                </a:solidFill>
                <a:latin typeface="Arial" pitchFamily="34" charset="0"/>
                <a:ea typeface="Arial" pitchFamily="34" charset="-122"/>
                <a:cs typeface="Arial" pitchFamily="34" charset="-120"/>
              </a:rPr>
              <a:t>كيف تم تنفيذ البحث</a:t>
            </a:r>
            <a:pPr algn="r" indent="0" marL="0">
              <a:lnSpc>
                <a:spcPct val="110000"/>
              </a:lnSpc>
              <a:buNone/>
            </a:pPr>
            <a:r>
              <a:rPr lang="en-US" sz="1600" dirty="0">
                <a:solidFill>
                  <a:schemeClr val="tx1"/>
                </a:solidFill>
                <a:latin typeface="Arial" pitchFamily="34" charset="0"/>
                <a:ea typeface="Arial" pitchFamily="34" charset="-122"/>
                <a:cs typeface="Arial" pitchFamily="34" charset="-120"/>
              </a:rPr>
              <a:t> خطوة بخطوة، أي الطريقة التي استخدمها الباحث للوصول إلى النتائج.</a:t>
            </a:r>
            <a:endParaRPr lang="en-US" sz="1600" dirty="0"/>
          </a:p>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1. تصميم البحث (Research Design)</a:t>
            </a:r>
            <a:endParaRPr lang="en-US" sz="16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في هذه الخطوة يتم تحديد نوع البحث المستخدم، مثل:</a:t>
            </a:r>
            <a:endParaRPr lang="en-US" sz="1600" dirty="0"/>
          </a:p>
        </p:txBody>
      </p:sp>
      <p:sp>
        <p:nvSpPr>
          <p:cNvPr id="22" name="Design type 1"/>
          <p:cNvSpPr/>
          <p:nvPr/>
        </p:nvSpPr>
        <p:spPr>
          <a:xfrm>
            <a:off x="8403336" y="3931920"/>
            <a:ext cx="3328416" cy="914400"/>
          </a:xfrm>
          <a:prstGeom prst="roundRect">
            <a:avLst>
              <a:gd name="adj" fmla="val 12000"/>
            </a:avLst>
          </a:prstGeom>
          <a:solidFill>
            <a:schemeClr val="bg2"/>
          </a:solidFill>
          <a:ln/>
        </p:spPr>
      </p:sp>
      <p:sp>
        <p:nvSpPr>
          <p:cNvPr id="23" name="Text 21"/>
          <p:cNvSpPr txBox="1"/>
          <p:nvPr/>
        </p:nvSpPr>
        <p:spPr>
          <a:xfrm>
            <a:off x="8677656" y="3931920"/>
            <a:ext cx="2779776" cy="914400"/>
          </a:xfrm>
          <a:prstGeom prst="rect">
            <a:avLst/>
          </a:prstGeom>
          <a:noFill/>
          <a:ln/>
        </p:spPr>
        <p:txBody>
          <a:bodyPr wrap="square" lIns="0" tIns="0" rIns="0" bIns="0" rtlCol="0" anchor="ctr"/>
          <a:lstStyle/>
          <a:p>
            <a:pPr algn="r" indent="0" marL="0" rtl="1">
              <a:buNone/>
            </a:pPr>
            <a:r>
              <a:rPr lang="en-US" sz="1800" b="1" dirty="0">
                <a:solidFill>
                  <a:schemeClr val="tx2"/>
                </a:solidFill>
              </a:rPr>
              <a:t>وصفي</a:t>
            </a:r>
            <a:pPr algn="r" indent="0" marL="0">
              <a:buNone/>
            </a:pPr>
            <a:r>
              <a:rPr lang="en-US" sz="1400" dirty="0">
                <a:solidFill>
                  <a:schemeClr val="accent1"/>
                </a:solidFill>
              </a:rPr>
              <a:t>  Descriptive</a:t>
            </a:r>
            <a:endParaRPr lang="en-US" sz="1800" dirty="0"/>
          </a:p>
        </p:txBody>
      </p:sp>
      <p:sp>
        <p:nvSpPr>
          <p:cNvPr id="24" name="Design type 2"/>
          <p:cNvSpPr/>
          <p:nvPr/>
        </p:nvSpPr>
        <p:spPr>
          <a:xfrm>
            <a:off x="4800600" y="3931920"/>
            <a:ext cx="3328416" cy="914400"/>
          </a:xfrm>
          <a:prstGeom prst="roundRect">
            <a:avLst>
              <a:gd name="adj" fmla="val 12000"/>
            </a:avLst>
          </a:prstGeom>
          <a:solidFill>
            <a:schemeClr val="bg2"/>
          </a:solidFill>
          <a:ln/>
        </p:spPr>
      </p:sp>
      <p:sp>
        <p:nvSpPr>
          <p:cNvPr id="25" name="Text 23"/>
          <p:cNvSpPr txBox="1"/>
          <p:nvPr/>
        </p:nvSpPr>
        <p:spPr>
          <a:xfrm>
            <a:off x="5074920" y="3931920"/>
            <a:ext cx="2779776" cy="914400"/>
          </a:xfrm>
          <a:prstGeom prst="rect">
            <a:avLst/>
          </a:prstGeom>
          <a:noFill/>
          <a:ln/>
        </p:spPr>
        <p:txBody>
          <a:bodyPr wrap="square" lIns="0" tIns="0" rIns="0" bIns="0" rtlCol="0" anchor="ctr"/>
          <a:lstStyle/>
          <a:p>
            <a:pPr algn="r" indent="0" marL="0" rtl="1">
              <a:buNone/>
            </a:pPr>
            <a:r>
              <a:rPr lang="en-US" sz="1800" b="1" dirty="0">
                <a:solidFill>
                  <a:schemeClr val="tx2"/>
                </a:solidFill>
              </a:rPr>
              <a:t>تجريبي</a:t>
            </a:r>
            <a:pPr algn="r" indent="0" marL="0">
              <a:buNone/>
            </a:pPr>
            <a:r>
              <a:rPr lang="en-US" sz="1400" dirty="0">
                <a:solidFill>
                  <a:schemeClr val="accent1"/>
                </a:solidFill>
              </a:rPr>
              <a:t>  Experimental</a:t>
            </a:r>
            <a:endParaRPr lang="en-US" sz="1800" dirty="0"/>
          </a:p>
        </p:txBody>
      </p:sp>
      <p:sp>
        <p:nvSpPr>
          <p:cNvPr id="26" name="Design type 3"/>
          <p:cNvSpPr/>
          <p:nvPr/>
        </p:nvSpPr>
        <p:spPr>
          <a:xfrm>
            <a:off x="8403336" y="5029200"/>
            <a:ext cx="3328416" cy="914400"/>
          </a:xfrm>
          <a:prstGeom prst="roundRect">
            <a:avLst>
              <a:gd name="adj" fmla="val 12000"/>
            </a:avLst>
          </a:prstGeom>
          <a:solidFill>
            <a:schemeClr val="bg2"/>
          </a:solidFill>
          <a:ln/>
        </p:spPr>
      </p:sp>
      <p:sp>
        <p:nvSpPr>
          <p:cNvPr id="27" name="Text 25"/>
          <p:cNvSpPr txBox="1"/>
          <p:nvPr/>
        </p:nvSpPr>
        <p:spPr>
          <a:xfrm>
            <a:off x="8677656" y="5029200"/>
            <a:ext cx="2779776" cy="914400"/>
          </a:xfrm>
          <a:prstGeom prst="rect">
            <a:avLst/>
          </a:prstGeom>
          <a:noFill/>
          <a:ln/>
        </p:spPr>
        <p:txBody>
          <a:bodyPr wrap="square" lIns="0" tIns="0" rIns="0" bIns="0" rtlCol="0" anchor="ctr"/>
          <a:lstStyle/>
          <a:p>
            <a:pPr algn="r" indent="0" marL="0" rtl="1">
              <a:buNone/>
            </a:pPr>
            <a:r>
              <a:rPr lang="en-US" sz="1800" b="1" dirty="0">
                <a:solidFill>
                  <a:schemeClr val="tx2"/>
                </a:solidFill>
              </a:rPr>
              <a:t>تحليلي</a:t>
            </a:r>
            <a:pPr algn="r" indent="0" marL="0">
              <a:buNone/>
            </a:pPr>
            <a:r>
              <a:rPr lang="en-US" sz="1400" dirty="0">
                <a:solidFill>
                  <a:schemeClr val="accent1"/>
                </a:solidFill>
              </a:rPr>
              <a:t>  Analytical</a:t>
            </a:r>
            <a:endParaRPr lang="en-US" sz="1800" dirty="0"/>
          </a:p>
        </p:txBody>
      </p:sp>
      <p:sp>
        <p:nvSpPr>
          <p:cNvPr id="28" name="Design type 4"/>
          <p:cNvSpPr/>
          <p:nvPr/>
        </p:nvSpPr>
        <p:spPr>
          <a:xfrm>
            <a:off x="4800600" y="5029200"/>
            <a:ext cx="3328416" cy="914400"/>
          </a:xfrm>
          <a:prstGeom prst="roundRect">
            <a:avLst>
              <a:gd name="adj" fmla="val 12000"/>
            </a:avLst>
          </a:prstGeom>
          <a:solidFill>
            <a:schemeClr val="bg2"/>
          </a:solidFill>
          <a:ln/>
        </p:spPr>
      </p:sp>
      <p:sp>
        <p:nvSpPr>
          <p:cNvPr id="29" name="Text 27"/>
          <p:cNvSpPr txBox="1"/>
          <p:nvPr/>
        </p:nvSpPr>
        <p:spPr>
          <a:xfrm>
            <a:off x="5074920" y="5029200"/>
            <a:ext cx="2779776" cy="914400"/>
          </a:xfrm>
          <a:prstGeom prst="rect">
            <a:avLst/>
          </a:prstGeom>
          <a:noFill/>
          <a:ln/>
        </p:spPr>
        <p:txBody>
          <a:bodyPr wrap="square" lIns="0" tIns="0" rIns="0" bIns="0" rtlCol="0" anchor="ctr"/>
          <a:lstStyle/>
          <a:p>
            <a:pPr algn="r" indent="0" marL="0" rtl="1">
              <a:buNone/>
            </a:pPr>
            <a:r>
              <a:rPr lang="en-US" sz="1800" b="1" dirty="0">
                <a:solidFill>
                  <a:schemeClr val="tx2"/>
                </a:solidFill>
              </a:rPr>
              <a:t>تصميمي</a:t>
            </a:r>
            <a:pPr algn="r" indent="0" marL="0">
              <a:buNone/>
            </a:pPr>
            <a:r>
              <a:rPr lang="en-US" sz="1400" dirty="0">
                <a:solidFill>
                  <a:schemeClr val="accent1"/>
                </a:solidFill>
              </a:rPr>
              <a:t>  Design-based</a:t>
            </a:r>
            <a:endParaRPr lang="en-US" sz="1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المنهجية / عملية التصميم</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METHODOLOGY / DESIGN PROCESS</a:t>
            </a:r>
            <a:endParaRPr lang="en-US" sz="1400" dirty="0"/>
          </a:p>
        </p:txBody>
      </p:sp>
      <p:sp>
        <p:nvSpPr>
          <p:cNvPr id="5" name="Step 1"/>
          <p:cNvSpPr/>
          <p:nvPr/>
        </p:nvSpPr>
        <p:spPr>
          <a:xfrm>
            <a:off x="457200" y="2532888"/>
            <a:ext cx="3931920" cy="777240"/>
          </a:xfrm>
          <a:prstGeom prst="roundRect">
            <a:avLst>
              <a:gd name="adj" fmla="val 11765"/>
            </a:avLst>
          </a:prstGeom>
          <a:solidFill>
            <a:schemeClr val="bg2"/>
          </a:solidFill>
          <a:ln/>
        </p:spPr>
      </p:sp>
      <p:sp>
        <p:nvSpPr>
          <p:cNvPr id="6" name="Step 1 badge"/>
          <p:cNvSpPr/>
          <p:nvPr/>
        </p:nvSpPr>
        <p:spPr>
          <a:xfrm>
            <a:off x="594360" y="2729484"/>
            <a:ext cx="384048" cy="384048"/>
          </a:xfrm>
          <a:prstGeom prst="ellipse">
            <a:avLst/>
          </a:prstGeom>
          <a:solidFill>
            <a:schemeClr val="accent1"/>
          </a:solidFill>
          <a:ln/>
        </p:spPr>
      </p:sp>
      <p:sp>
        <p:nvSpPr>
          <p:cNvPr id="7" name="Step 1 num"/>
          <p:cNvSpPr txBox="1"/>
          <p:nvPr/>
        </p:nvSpPr>
        <p:spPr>
          <a:xfrm>
            <a:off x="594360" y="27294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Research Design.</a:t>
            </a:r>
            <a:endParaRPr lang="en-US" sz="1300" dirty="0"/>
          </a:p>
        </p:txBody>
      </p:sp>
      <p:sp>
        <p:nvSpPr>
          <p:cNvPr id="9" name="Step 2"/>
          <p:cNvSpPr/>
          <p:nvPr/>
        </p:nvSpPr>
        <p:spPr>
          <a:xfrm>
            <a:off x="457200" y="3419856"/>
            <a:ext cx="3931920" cy="777240"/>
          </a:xfrm>
          <a:prstGeom prst="roundRect">
            <a:avLst>
              <a:gd name="adj" fmla="val 11765"/>
            </a:avLst>
          </a:prstGeom>
          <a:solidFill>
            <a:schemeClr val="accent1"/>
          </a:solidFill>
          <a:ln/>
        </p:spPr>
      </p:sp>
      <p:sp>
        <p:nvSpPr>
          <p:cNvPr id="10" name="Step 2 badge"/>
          <p:cNvSpPr/>
          <p:nvPr/>
        </p:nvSpPr>
        <p:spPr>
          <a:xfrm>
            <a:off x="594360" y="3616452"/>
            <a:ext cx="384048" cy="384048"/>
          </a:xfrm>
          <a:prstGeom prst="ellipse">
            <a:avLst/>
          </a:prstGeom>
          <a:solidFill>
            <a:schemeClr val="bg1"/>
          </a:solidFill>
          <a:ln/>
        </p:spPr>
      </p:sp>
      <p:sp>
        <p:nvSpPr>
          <p:cNvPr id="11" name="Step 2 num"/>
          <p:cNvSpPr txBox="1"/>
          <p:nvPr/>
        </p:nvSpPr>
        <p:spPr>
          <a:xfrm>
            <a:off x="594360" y="361645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12" name="Step 2 text"/>
          <p:cNvSpPr txBox="1"/>
          <p:nvPr/>
        </p:nvSpPr>
        <p:spPr>
          <a:xfrm>
            <a:off x="1115568" y="3419856"/>
            <a:ext cx="3136392" cy="777240"/>
          </a:xfrm>
          <a:prstGeom prst="rect">
            <a:avLst/>
          </a:prstGeom>
          <a:noFill/>
          <a:ln/>
        </p:spPr>
        <p:txBody>
          <a:bodyPr wrap="square" lIns="0" tIns="0" rIns="0" bIns="0" rtlCol="0" anchor="ctr"/>
          <a:lstStyle/>
          <a:p>
            <a:pPr algn="l" indent="0" marL="0">
              <a:buNone/>
            </a:pPr>
            <a:r>
              <a:rPr lang="en-US" sz="1300" b="1" dirty="0">
                <a:solidFill>
                  <a:schemeClr val="bg1"/>
                </a:solidFill>
              </a:rPr>
              <a:t>State the Population &amp; Sample.</a:t>
            </a:r>
            <a:endParaRPr lang="en-US" sz="1300" dirty="0"/>
          </a:p>
        </p:txBody>
      </p:sp>
      <p:sp>
        <p:nvSpPr>
          <p:cNvPr id="13" name="Step 3"/>
          <p:cNvSpPr/>
          <p:nvPr/>
        </p:nvSpPr>
        <p:spPr>
          <a:xfrm>
            <a:off x="457200" y="4306824"/>
            <a:ext cx="3931920" cy="777240"/>
          </a:xfrm>
          <a:prstGeom prst="roundRect">
            <a:avLst>
              <a:gd name="adj" fmla="val 11765"/>
            </a:avLst>
          </a:prstGeom>
          <a:solidFill>
            <a:schemeClr val="accent1"/>
          </a:solidFill>
          <a:ln/>
        </p:spPr>
      </p:sp>
      <p:sp>
        <p:nvSpPr>
          <p:cNvPr id="14" name="Step 3 badge"/>
          <p:cNvSpPr/>
          <p:nvPr/>
        </p:nvSpPr>
        <p:spPr>
          <a:xfrm>
            <a:off x="594360" y="4503420"/>
            <a:ext cx="384048" cy="384048"/>
          </a:xfrm>
          <a:prstGeom prst="ellipse">
            <a:avLst/>
          </a:prstGeom>
          <a:solidFill>
            <a:schemeClr val="bg1"/>
          </a:solidFill>
          <a:ln/>
        </p:spPr>
      </p:sp>
      <p:sp>
        <p:nvSpPr>
          <p:cNvPr id="15" name="Step 3 num"/>
          <p:cNvSpPr txBox="1"/>
          <p:nvPr/>
        </p:nvSpPr>
        <p:spPr>
          <a:xfrm>
            <a:off x="594360" y="4503420"/>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6" name="Step 3 text"/>
          <p:cNvSpPr txBox="1"/>
          <p:nvPr/>
        </p:nvSpPr>
        <p:spPr>
          <a:xfrm>
            <a:off x="1115568" y="4306824"/>
            <a:ext cx="3136392" cy="777240"/>
          </a:xfrm>
          <a:prstGeom prst="rect">
            <a:avLst/>
          </a:prstGeom>
          <a:noFill/>
          <a:ln/>
        </p:spPr>
        <p:txBody>
          <a:bodyPr wrap="square" lIns="0" tIns="0" rIns="0" bIns="0" rtlCol="0" anchor="ctr"/>
          <a:lstStyle/>
          <a:p>
            <a:pPr algn="l" indent="0" marL="0">
              <a:buNone/>
            </a:pPr>
            <a:r>
              <a:rPr lang="en-US" sz="1300" b="1" dirty="0">
                <a:solidFill>
                  <a:schemeClr val="bg1"/>
                </a:solidFill>
              </a:rPr>
              <a:t>State the Instrumentation.</a:t>
            </a:r>
            <a:endParaRPr lang="en-US" sz="1300" dirty="0"/>
          </a:p>
        </p:txBody>
      </p:sp>
      <p:sp>
        <p:nvSpPr>
          <p:cNvPr id="17" name="Step 4"/>
          <p:cNvSpPr/>
          <p:nvPr/>
        </p:nvSpPr>
        <p:spPr>
          <a:xfrm>
            <a:off x="457200" y="5193792"/>
            <a:ext cx="3931920" cy="777240"/>
          </a:xfrm>
          <a:prstGeom prst="roundRect">
            <a:avLst>
              <a:gd name="adj" fmla="val 11765"/>
            </a:avLst>
          </a:prstGeom>
          <a:solidFill>
            <a:schemeClr val="bg2"/>
          </a:solidFill>
          <a:ln/>
        </p:spPr>
      </p:sp>
      <p:sp>
        <p:nvSpPr>
          <p:cNvPr id="18" name="Step 4 badge"/>
          <p:cNvSpPr/>
          <p:nvPr/>
        </p:nvSpPr>
        <p:spPr>
          <a:xfrm>
            <a:off x="594360" y="5390388"/>
            <a:ext cx="384048" cy="384048"/>
          </a:xfrm>
          <a:prstGeom prst="ellipse">
            <a:avLst/>
          </a:prstGeom>
          <a:solidFill>
            <a:schemeClr val="accent1"/>
          </a:solidFill>
          <a:ln/>
        </p:spPr>
      </p:sp>
      <p:sp>
        <p:nvSpPr>
          <p:cNvPr id="19" name="Step 4 num"/>
          <p:cNvSpPr txBox="1"/>
          <p:nvPr/>
        </p:nvSpPr>
        <p:spPr>
          <a:xfrm>
            <a:off x="594360" y="53903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Step 4 text"/>
          <p:cNvSpPr txBox="1"/>
          <p:nvPr/>
        </p:nvSpPr>
        <p:spPr>
          <a:xfrm>
            <a:off x="1115568" y="5193792"/>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Data Analysis.</a:t>
            </a:r>
            <a:endParaRPr lang="en-US" sz="1300" dirty="0"/>
          </a:p>
        </p:txBody>
      </p:sp>
      <p:sp>
        <p:nvSpPr>
          <p:cNvPr id="21" name="Population card"/>
          <p:cNvSpPr/>
          <p:nvPr/>
        </p:nvSpPr>
        <p:spPr>
          <a:xfrm>
            <a:off x="8403336" y="1874520"/>
            <a:ext cx="3328416" cy="4206240"/>
          </a:xfrm>
          <a:prstGeom prst="roundRect">
            <a:avLst>
              <a:gd name="adj" fmla="val 3297"/>
            </a:avLst>
          </a:prstGeom>
          <a:solidFill>
            <a:schemeClr val="bg2"/>
          </a:solidFill>
          <a:ln/>
        </p:spPr>
      </p:sp>
      <p:sp>
        <p:nvSpPr>
          <p:cNvPr id="22" name="Body"/>
          <p:cNvSpPr txBox="1"/>
          <p:nvPr/>
        </p:nvSpPr>
        <p:spPr>
          <a:xfrm>
            <a:off x="8677656" y="2103120"/>
            <a:ext cx="2779776" cy="3749040"/>
          </a:xfrm>
          <a:prstGeom prst="rect">
            <a:avLst/>
          </a:prstGeom>
          <a:noFill/>
          <a:ln/>
        </p:spPr>
        <p:txBody>
          <a:bodyPr wrap="square" lIns="0" tIns="0" rIns="0" bIns="0" rtlCol="0" anchor="t"/>
          <a:lstStyle/>
          <a:p>
            <a:pPr algn="r" indent="0" marL="0" rtl="1">
              <a:lnSpc>
                <a:spcPct val="110000"/>
              </a:lnSpc>
              <a:buNone/>
            </a:pPr>
            <a:r>
              <a:rPr lang="en-US" sz="1800" b="1" dirty="0">
                <a:solidFill>
                  <a:schemeClr val="accent1"/>
                </a:solidFill>
                <a:latin typeface="Arial" pitchFamily="34" charset="0"/>
                <a:ea typeface="Arial" pitchFamily="34" charset="-122"/>
                <a:cs typeface="Arial" pitchFamily="34" charset="-120"/>
              </a:rPr>
              <a:t>2. مجتمع الدراسة والعينة</a:t>
            </a:r>
            <a:endParaRPr lang="en-US" sz="1800" dirty="0"/>
          </a:p>
          <a:p>
            <a:pPr algn="r" indent="0" marL="0">
              <a:lnSpc>
                <a:spcPct val="110000"/>
              </a:lnSpc>
              <a:spcAft>
                <a:spcPts val="1200"/>
              </a:spcAft>
              <a:buNone/>
            </a:pPr>
            <a:r>
              <a:rPr lang="en-US" sz="1300" dirty="0">
                <a:solidFill>
                  <a:schemeClr val="accent4"/>
                </a:solidFill>
                <a:latin typeface="Arial" pitchFamily="34" charset="0"/>
                <a:ea typeface="Arial" pitchFamily="34" charset="-122"/>
                <a:cs typeface="Arial" pitchFamily="34" charset="-120"/>
              </a:rPr>
              <a:t>Population &amp; Sample</a:t>
            </a:r>
            <a:endParaRPr lang="en-US" sz="1800" dirty="0"/>
          </a:p>
          <a:p>
            <a:pPr algn="r" indent="0" marL="0" rtl="1">
              <a:lnSpc>
                <a:spcPct val="110000"/>
              </a:lnSpc>
              <a:spcAft>
                <a:spcPts val="600"/>
              </a:spcAft>
              <a:buNone/>
            </a:pPr>
            <a:r>
              <a:rPr lang="en-US" sz="1500" dirty="0">
                <a:solidFill>
                  <a:schemeClr val="tx1"/>
                </a:solidFill>
                <a:latin typeface="Arial" pitchFamily="34" charset="0"/>
                <a:ea typeface="Arial" pitchFamily="34" charset="-122"/>
                <a:cs typeface="Arial" pitchFamily="34" charset="-120"/>
              </a:rPr>
              <a:t>يتم تحديد:</a:t>
            </a:r>
            <a:endParaRPr lang="en-US" sz="1800" dirty="0"/>
          </a:p>
          <a:p>
            <a:pPr algn="r" marL="228600" indent="-228600" rtl="1">
              <a:lnSpc>
                <a:spcPct val="110000"/>
              </a:lnSpc>
              <a:spcAft>
                <a:spcPts val="600"/>
              </a:spcAft>
              <a:buSzPct val="100000"/>
              <a:buChar char="•"/>
            </a:pPr>
            <a:r>
              <a:rPr lang="en-US" sz="1500" b="1" dirty="0">
                <a:solidFill>
                  <a:schemeClr val="tx1"/>
                </a:solidFill>
                <a:latin typeface="Arial" pitchFamily="34" charset="0"/>
                <a:ea typeface="Arial" pitchFamily="34" charset="-122"/>
                <a:cs typeface="Arial" pitchFamily="34" charset="-120"/>
              </a:rPr>
              <a:t>مجتمع الدراسة: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الفئة المستهدفة (مثل: مستخدمي التطبيقات)</a:t>
            </a:r>
            <a:endParaRPr lang="en-US" sz="1800" dirty="0"/>
          </a:p>
          <a:p>
            <a:pPr algn="r" marL="228600" indent="-228600" rtl="1">
              <a:lnSpc>
                <a:spcPct val="110000"/>
              </a:lnSpc>
              <a:spcAft>
                <a:spcPts val="600"/>
              </a:spcAft>
              <a:buSzPct val="100000"/>
              <a:buChar char="•"/>
            </a:pPr>
            <a:r>
              <a:rPr lang="en-US" sz="1500" b="1" dirty="0">
                <a:solidFill>
                  <a:schemeClr val="tx1"/>
                </a:solidFill>
                <a:latin typeface="Arial" pitchFamily="34" charset="0"/>
                <a:ea typeface="Arial" pitchFamily="34" charset="-122"/>
                <a:cs typeface="Arial" pitchFamily="34" charset="-120"/>
              </a:rPr>
              <a:t>العينة:</a:t>
            </a:r>
            <a:pPr algn="r" indent="0" marL="0">
              <a:lnSpc>
                <a:spcPct val="110000"/>
              </a:lnSpc>
              <a:buNone/>
            </a:pPr>
            <a:r>
              <a:rPr lang="en-US" sz="1500" dirty="0">
                <a:solidFill>
                  <a:schemeClr val="tx1"/>
                </a:solidFill>
                <a:latin typeface="Arial" pitchFamily="34" charset="0"/>
                <a:ea typeface="Arial" pitchFamily="34" charset="-122"/>
                <a:cs typeface="Arial" pitchFamily="34" charset="-120"/>
              </a:rPr>
              <a:t> عدد الأشخاص الذين تم اختيارهم للدراسة</a:t>
            </a:r>
            <a:endParaRPr lang="en-US" sz="1800" dirty="0"/>
          </a:p>
        </p:txBody>
      </p:sp>
      <p:sp>
        <p:nvSpPr>
          <p:cNvPr id="23" name="Instruments card"/>
          <p:cNvSpPr/>
          <p:nvPr/>
        </p:nvSpPr>
        <p:spPr>
          <a:xfrm>
            <a:off x="4800600" y="1874520"/>
            <a:ext cx="3328416" cy="4206240"/>
          </a:xfrm>
          <a:prstGeom prst="roundRect">
            <a:avLst>
              <a:gd name="adj" fmla="val 3297"/>
            </a:avLst>
          </a:prstGeom>
          <a:solidFill>
            <a:schemeClr val="bg2"/>
          </a:solidFill>
          <a:ln/>
        </p:spPr>
      </p:sp>
      <p:sp>
        <p:nvSpPr>
          <p:cNvPr id="24" name="Body"/>
          <p:cNvSpPr txBox="1"/>
          <p:nvPr/>
        </p:nvSpPr>
        <p:spPr>
          <a:xfrm>
            <a:off x="5074920" y="2103120"/>
            <a:ext cx="2779776" cy="3749040"/>
          </a:xfrm>
          <a:prstGeom prst="rect">
            <a:avLst/>
          </a:prstGeom>
          <a:noFill/>
          <a:ln/>
        </p:spPr>
        <p:txBody>
          <a:bodyPr wrap="square" lIns="0" tIns="0" rIns="0" bIns="0" rtlCol="0" anchor="t"/>
          <a:lstStyle/>
          <a:p>
            <a:pPr algn="r" indent="0" marL="0" rtl="1">
              <a:lnSpc>
                <a:spcPct val="110000"/>
              </a:lnSpc>
              <a:buNone/>
            </a:pPr>
            <a:r>
              <a:rPr lang="en-US" sz="1800" b="1" dirty="0">
                <a:solidFill>
                  <a:schemeClr val="accent1"/>
                </a:solidFill>
                <a:latin typeface="Arial" pitchFamily="34" charset="0"/>
                <a:ea typeface="Arial" pitchFamily="34" charset="-122"/>
                <a:cs typeface="Arial" pitchFamily="34" charset="-120"/>
              </a:rPr>
              <a:t>3. أدوات البحث</a:t>
            </a:r>
            <a:endParaRPr lang="en-US" sz="1800" dirty="0"/>
          </a:p>
          <a:p>
            <a:pPr algn="r" indent="0" marL="0">
              <a:lnSpc>
                <a:spcPct val="110000"/>
              </a:lnSpc>
              <a:spcAft>
                <a:spcPts val="1200"/>
              </a:spcAft>
              <a:buNone/>
            </a:pPr>
            <a:r>
              <a:rPr lang="en-US" sz="1300" dirty="0">
                <a:solidFill>
                  <a:schemeClr val="accent4"/>
                </a:solidFill>
                <a:latin typeface="Arial" pitchFamily="34" charset="0"/>
                <a:ea typeface="Arial" pitchFamily="34" charset="-122"/>
                <a:cs typeface="Arial" pitchFamily="34" charset="-120"/>
              </a:rPr>
              <a:t>Instrumentation</a:t>
            </a:r>
            <a:endParaRPr lang="en-US" sz="1800" dirty="0"/>
          </a:p>
          <a:p>
            <a:pPr algn="r" indent="0" marL="0" rtl="1">
              <a:lnSpc>
                <a:spcPct val="110000"/>
              </a:lnSpc>
              <a:spcAft>
                <a:spcPts val="600"/>
              </a:spcAft>
              <a:buNone/>
            </a:pPr>
            <a:r>
              <a:rPr lang="en-US" sz="1500" dirty="0">
                <a:solidFill>
                  <a:schemeClr val="tx1"/>
                </a:solidFill>
                <a:latin typeface="Arial" pitchFamily="34" charset="0"/>
                <a:ea typeface="Arial" pitchFamily="34" charset="-122"/>
                <a:cs typeface="Arial" pitchFamily="34" charset="-120"/>
              </a:rPr>
              <a:t>في هذه الخطوة يتم ذكر الأدوات المستخدمة لجمع البيانات، مثل:</a:t>
            </a:r>
            <a:endParaRPr lang="en-US" sz="1800" dirty="0"/>
          </a:p>
          <a:p>
            <a:pPr algn="r" marL="228600" indent="-228600" rtl="1">
              <a:lnSpc>
                <a:spcPct val="110000"/>
              </a:lnSpc>
              <a:spcAft>
                <a:spcPts val="600"/>
              </a:spcAft>
              <a:buSzPct val="100000"/>
              <a:buChar char="•"/>
            </a:pPr>
            <a:r>
              <a:rPr lang="en-US" sz="1500" dirty="0">
                <a:solidFill>
                  <a:schemeClr val="tx1"/>
                </a:solidFill>
                <a:latin typeface="Arial" pitchFamily="34" charset="0"/>
                <a:ea typeface="Arial" pitchFamily="34" charset="-122"/>
                <a:cs typeface="Arial" pitchFamily="34" charset="-120"/>
              </a:rPr>
              <a:t>الاستبيانات (Questionnaires)</a:t>
            </a:r>
            <a:endParaRPr lang="en-US" sz="1800" dirty="0"/>
          </a:p>
          <a:p>
            <a:pPr algn="r" marL="228600" indent="-228600" rtl="1">
              <a:lnSpc>
                <a:spcPct val="110000"/>
              </a:lnSpc>
              <a:spcAft>
                <a:spcPts val="600"/>
              </a:spcAft>
              <a:buSzPct val="100000"/>
              <a:buChar char="•"/>
            </a:pPr>
            <a:r>
              <a:rPr lang="en-US" sz="1500" dirty="0">
                <a:solidFill>
                  <a:schemeClr val="tx1"/>
                </a:solidFill>
                <a:latin typeface="Arial" pitchFamily="34" charset="0"/>
                <a:ea typeface="Arial" pitchFamily="34" charset="-122"/>
                <a:cs typeface="Arial" pitchFamily="34" charset="-120"/>
              </a:rPr>
              <a:t>المقابلات (Interviews)</a:t>
            </a:r>
            <a:endParaRPr lang="en-US" sz="1800" dirty="0"/>
          </a:p>
          <a:p>
            <a:pPr algn="r" marL="228600" indent="-228600" rtl="1">
              <a:lnSpc>
                <a:spcPct val="110000"/>
              </a:lnSpc>
              <a:spcAft>
                <a:spcPts val="600"/>
              </a:spcAft>
              <a:buSzPct val="100000"/>
              <a:buChar char="•"/>
            </a:pPr>
            <a:r>
              <a:rPr lang="en-US" sz="1500" dirty="0">
                <a:solidFill>
                  <a:schemeClr val="tx1"/>
                </a:solidFill>
                <a:latin typeface="Arial" pitchFamily="34" charset="0"/>
                <a:ea typeface="Arial" pitchFamily="34" charset="-122"/>
                <a:cs typeface="Arial" pitchFamily="34" charset="-120"/>
              </a:rPr>
              <a:t>الملاحظة (Observation)</a:t>
            </a:r>
            <a:endParaRPr lang="en-US" sz="1800" dirty="0"/>
          </a:p>
          <a:p>
            <a:pPr algn="r" marL="228600" indent="-228600" rtl="1">
              <a:lnSpc>
                <a:spcPct val="110000"/>
              </a:lnSpc>
              <a:spcAft>
                <a:spcPts val="600"/>
              </a:spcAft>
              <a:buSzPct val="100000"/>
              <a:buChar char="•"/>
            </a:pPr>
            <a:r>
              <a:rPr lang="en-US" sz="1500" dirty="0">
                <a:solidFill>
                  <a:schemeClr val="tx1"/>
                </a:solidFill>
                <a:latin typeface="Arial" pitchFamily="34" charset="0"/>
                <a:ea typeface="Arial" pitchFamily="34" charset="-122"/>
                <a:cs typeface="Arial" pitchFamily="34" charset="-120"/>
              </a:rPr>
              <a:t>أو أدوات تصميم مثل النماذج الأولية (Prototype)</a:t>
            </a:r>
            <a:endParaRPr lang="en-US" sz="1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4" type="title" hasCustomPrompt="1"/>
          </p:nvPr>
        </p:nvSpPr>
        <p:spPr>
          <a:xfrm>
            <a:off x="457200" y="914400"/>
            <a:ext cx="11274552" cy="685800"/>
          </a:xfrm>
          <a:prstGeom prst="rect">
            <a:avLst/>
          </a:prstGeom>
          <a:noFill/>
          <a:ln/>
        </p:spPr>
        <p:txBody>
          <a:bodyPr wrap="square" lIns="0" tIns="0" rIns="0" bIns="0" rtlCol="0" anchor="ctr"/>
          <a:lstStyle/>
          <a:p>
            <a:pPr rtl="1" algn="r" indent="0" marL="0">
              <a:buNone/>
            </a:pPr>
            <a:r>
              <a:rPr lang="en-US" sz="3000" b="1" dirty="0">
                <a:solidFill>
                  <a:schemeClr val="tx2"/>
                </a:solidFill>
              </a:rPr>
              <a:t>أساسيات كتابة المنهجية / عملية التصميم</a:t>
            </a:r>
            <a:endParaRPr lang="en-US" sz="3000" dirty="0"/>
          </a:p>
        </p:txBody>
      </p:sp>
      <p:sp>
        <p:nvSpPr>
          <p:cNvPr id="3" name="Panel header"/>
          <p:cNvSpPr/>
          <p:nvPr/>
        </p:nvSpPr>
        <p:spPr>
          <a:xfrm>
            <a:off x="457200" y="1874520"/>
            <a:ext cx="3931920" cy="548640"/>
          </a:xfrm>
          <a:prstGeom prst="roundRect">
            <a:avLst>
              <a:gd name="adj" fmla="val 16667"/>
            </a:avLst>
          </a:prstGeom>
          <a:solidFill>
            <a:schemeClr val="tx2"/>
          </a:solidFill>
          <a:ln/>
        </p:spPr>
      </p:sp>
      <p:sp>
        <p:nvSpPr>
          <p:cNvPr id="4" name="Panel header text"/>
          <p:cNvSpPr txBox="1"/>
          <p:nvPr/>
        </p:nvSpPr>
        <p:spPr>
          <a:xfrm>
            <a:off x="640080" y="1874520"/>
            <a:ext cx="3566160" cy="548640"/>
          </a:xfrm>
          <a:prstGeom prst="rect">
            <a:avLst/>
          </a:prstGeom>
          <a:noFill/>
          <a:ln/>
        </p:spPr>
        <p:txBody>
          <a:bodyPr wrap="square" lIns="0" tIns="0" rIns="0" bIns="0" rtlCol="0" anchor="ctr"/>
          <a:lstStyle/>
          <a:p>
            <a:pPr algn="l" indent="0" marL="0">
              <a:buNone/>
            </a:pPr>
            <a:r>
              <a:rPr lang="en-US" sz="1400" b="1" spc="100" kern="0" dirty="0">
                <a:solidFill>
                  <a:schemeClr val="bg1"/>
                </a:solidFill>
              </a:rPr>
              <a:t>METHODOLOGY / DESIGN PROCESS</a:t>
            </a:r>
            <a:endParaRPr lang="en-US" sz="1400" dirty="0"/>
          </a:p>
        </p:txBody>
      </p:sp>
      <p:sp>
        <p:nvSpPr>
          <p:cNvPr id="5" name="Step 1"/>
          <p:cNvSpPr/>
          <p:nvPr/>
        </p:nvSpPr>
        <p:spPr>
          <a:xfrm>
            <a:off x="457200" y="2532888"/>
            <a:ext cx="3931920" cy="777240"/>
          </a:xfrm>
          <a:prstGeom prst="roundRect">
            <a:avLst>
              <a:gd name="adj" fmla="val 11765"/>
            </a:avLst>
          </a:prstGeom>
          <a:solidFill>
            <a:schemeClr val="bg2"/>
          </a:solidFill>
          <a:ln/>
        </p:spPr>
      </p:sp>
      <p:sp>
        <p:nvSpPr>
          <p:cNvPr id="6" name="Step 1 badge"/>
          <p:cNvSpPr/>
          <p:nvPr/>
        </p:nvSpPr>
        <p:spPr>
          <a:xfrm>
            <a:off x="594360" y="2729484"/>
            <a:ext cx="384048" cy="384048"/>
          </a:xfrm>
          <a:prstGeom prst="ellipse">
            <a:avLst/>
          </a:prstGeom>
          <a:solidFill>
            <a:schemeClr val="accent1"/>
          </a:solidFill>
          <a:ln/>
        </p:spPr>
      </p:sp>
      <p:sp>
        <p:nvSpPr>
          <p:cNvPr id="7" name="Step 1 num"/>
          <p:cNvSpPr txBox="1"/>
          <p:nvPr/>
        </p:nvSpPr>
        <p:spPr>
          <a:xfrm>
            <a:off x="594360" y="27294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Step 1 text"/>
          <p:cNvSpPr txBox="1"/>
          <p:nvPr/>
        </p:nvSpPr>
        <p:spPr>
          <a:xfrm>
            <a:off x="1115568" y="2532888"/>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Research Design.</a:t>
            </a:r>
            <a:endParaRPr lang="en-US" sz="1300" dirty="0"/>
          </a:p>
        </p:txBody>
      </p:sp>
      <p:sp>
        <p:nvSpPr>
          <p:cNvPr id="9" name="Step 2"/>
          <p:cNvSpPr/>
          <p:nvPr/>
        </p:nvSpPr>
        <p:spPr>
          <a:xfrm>
            <a:off x="457200" y="3419856"/>
            <a:ext cx="3931920" cy="777240"/>
          </a:xfrm>
          <a:prstGeom prst="roundRect">
            <a:avLst>
              <a:gd name="adj" fmla="val 11765"/>
            </a:avLst>
          </a:prstGeom>
          <a:solidFill>
            <a:schemeClr val="bg2"/>
          </a:solidFill>
          <a:ln/>
        </p:spPr>
      </p:sp>
      <p:sp>
        <p:nvSpPr>
          <p:cNvPr id="10" name="Step 2 badge"/>
          <p:cNvSpPr/>
          <p:nvPr/>
        </p:nvSpPr>
        <p:spPr>
          <a:xfrm>
            <a:off x="594360" y="3616452"/>
            <a:ext cx="384048" cy="384048"/>
          </a:xfrm>
          <a:prstGeom prst="ellipse">
            <a:avLst/>
          </a:prstGeom>
          <a:solidFill>
            <a:schemeClr val="accent1"/>
          </a:solidFill>
          <a:ln/>
        </p:spPr>
      </p:sp>
      <p:sp>
        <p:nvSpPr>
          <p:cNvPr id="11" name="Step 2 num"/>
          <p:cNvSpPr txBox="1"/>
          <p:nvPr/>
        </p:nvSpPr>
        <p:spPr>
          <a:xfrm>
            <a:off x="594360" y="36164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Step 2 text"/>
          <p:cNvSpPr txBox="1"/>
          <p:nvPr/>
        </p:nvSpPr>
        <p:spPr>
          <a:xfrm>
            <a:off x="1115568" y="3419856"/>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Population &amp; Sample.</a:t>
            </a:r>
            <a:endParaRPr lang="en-US" sz="1300" dirty="0"/>
          </a:p>
        </p:txBody>
      </p:sp>
      <p:sp>
        <p:nvSpPr>
          <p:cNvPr id="13" name="Step 3"/>
          <p:cNvSpPr/>
          <p:nvPr/>
        </p:nvSpPr>
        <p:spPr>
          <a:xfrm>
            <a:off x="457200" y="4306824"/>
            <a:ext cx="3931920" cy="777240"/>
          </a:xfrm>
          <a:prstGeom prst="roundRect">
            <a:avLst>
              <a:gd name="adj" fmla="val 11765"/>
            </a:avLst>
          </a:prstGeom>
          <a:solidFill>
            <a:schemeClr val="bg2"/>
          </a:solidFill>
          <a:ln/>
        </p:spPr>
      </p:sp>
      <p:sp>
        <p:nvSpPr>
          <p:cNvPr id="14" name="Step 3 badge"/>
          <p:cNvSpPr/>
          <p:nvPr/>
        </p:nvSpPr>
        <p:spPr>
          <a:xfrm>
            <a:off x="594360" y="4503420"/>
            <a:ext cx="384048" cy="384048"/>
          </a:xfrm>
          <a:prstGeom prst="ellipse">
            <a:avLst/>
          </a:prstGeom>
          <a:solidFill>
            <a:schemeClr val="accent1"/>
          </a:solidFill>
          <a:ln/>
        </p:spPr>
      </p:sp>
      <p:sp>
        <p:nvSpPr>
          <p:cNvPr id="15" name="Step 3 num"/>
          <p:cNvSpPr txBox="1"/>
          <p:nvPr/>
        </p:nvSpPr>
        <p:spPr>
          <a:xfrm>
            <a:off x="594360" y="45034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Step 3 text"/>
          <p:cNvSpPr txBox="1"/>
          <p:nvPr/>
        </p:nvSpPr>
        <p:spPr>
          <a:xfrm>
            <a:off x="1115568" y="4306824"/>
            <a:ext cx="3136392" cy="777240"/>
          </a:xfrm>
          <a:prstGeom prst="rect">
            <a:avLst/>
          </a:prstGeom>
          <a:noFill/>
          <a:ln/>
        </p:spPr>
        <p:txBody>
          <a:bodyPr wrap="square" lIns="0" tIns="0" rIns="0" bIns="0" rtlCol="0" anchor="ctr"/>
          <a:lstStyle/>
          <a:p>
            <a:pPr algn="l" indent="0" marL="0">
              <a:buNone/>
            </a:pPr>
            <a:r>
              <a:rPr lang="en-US" sz="1300" dirty="0">
                <a:solidFill>
                  <a:schemeClr val="tx1"/>
                </a:solidFill>
              </a:rPr>
              <a:t>State the Instrumentation.</a:t>
            </a:r>
            <a:endParaRPr lang="en-US" sz="1300" dirty="0"/>
          </a:p>
        </p:txBody>
      </p:sp>
      <p:sp>
        <p:nvSpPr>
          <p:cNvPr id="17" name="Step 4"/>
          <p:cNvSpPr/>
          <p:nvPr/>
        </p:nvSpPr>
        <p:spPr>
          <a:xfrm>
            <a:off x="457200" y="5193792"/>
            <a:ext cx="3931920" cy="777240"/>
          </a:xfrm>
          <a:prstGeom prst="roundRect">
            <a:avLst>
              <a:gd name="adj" fmla="val 11765"/>
            </a:avLst>
          </a:prstGeom>
          <a:solidFill>
            <a:schemeClr val="accent1"/>
          </a:solidFill>
          <a:ln/>
        </p:spPr>
      </p:sp>
      <p:sp>
        <p:nvSpPr>
          <p:cNvPr id="18" name="Step 4 badge"/>
          <p:cNvSpPr/>
          <p:nvPr/>
        </p:nvSpPr>
        <p:spPr>
          <a:xfrm>
            <a:off x="594360" y="5390388"/>
            <a:ext cx="384048" cy="384048"/>
          </a:xfrm>
          <a:prstGeom prst="ellipse">
            <a:avLst/>
          </a:prstGeom>
          <a:solidFill>
            <a:schemeClr val="bg1"/>
          </a:solidFill>
          <a:ln/>
        </p:spPr>
      </p:sp>
      <p:sp>
        <p:nvSpPr>
          <p:cNvPr id="19" name="Step 4 num"/>
          <p:cNvSpPr txBox="1"/>
          <p:nvPr/>
        </p:nvSpPr>
        <p:spPr>
          <a:xfrm>
            <a:off x="594360" y="5390388"/>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20" name="Step 4 text"/>
          <p:cNvSpPr txBox="1"/>
          <p:nvPr/>
        </p:nvSpPr>
        <p:spPr>
          <a:xfrm>
            <a:off x="1115568" y="5193792"/>
            <a:ext cx="3136392" cy="777240"/>
          </a:xfrm>
          <a:prstGeom prst="rect">
            <a:avLst/>
          </a:prstGeom>
          <a:noFill/>
          <a:ln/>
        </p:spPr>
        <p:txBody>
          <a:bodyPr wrap="square" lIns="0" tIns="0" rIns="0" bIns="0" rtlCol="0" anchor="ctr"/>
          <a:lstStyle/>
          <a:p>
            <a:pPr algn="l" indent="0" marL="0">
              <a:buNone/>
            </a:pPr>
            <a:r>
              <a:rPr lang="en-US" sz="1300" b="1" dirty="0">
                <a:solidFill>
                  <a:schemeClr val="bg1"/>
                </a:solidFill>
              </a:rPr>
              <a:t>State the Data Analysis.</a:t>
            </a:r>
            <a:endParaRPr lang="en-US" sz="1300" dirty="0"/>
          </a:p>
        </p:txBody>
      </p:sp>
      <p:sp>
        <p:nvSpPr>
          <p:cNvPr id="21" name="Body"/>
          <p:cNvSpPr txBox="1"/>
          <p:nvPr/>
        </p:nvSpPr>
        <p:spPr>
          <a:xfrm>
            <a:off x="4800600" y="1874520"/>
            <a:ext cx="6931152" cy="914400"/>
          </a:xfrm>
          <a:prstGeom prst="rect">
            <a:avLst/>
          </a:prstGeom>
          <a:noFill/>
          <a:ln/>
        </p:spPr>
        <p:txBody>
          <a:bodyPr wrap="square" lIns="0" tIns="0" rIns="0" bIns="0" rtlCol="0" anchor="t"/>
          <a:lstStyle/>
          <a:p>
            <a:pPr algn="r" indent="0" marL="0" rtl="1">
              <a:lnSpc>
                <a:spcPct val="110000"/>
              </a:lnSpc>
              <a:spcAft>
                <a:spcPts val="600"/>
              </a:spcAft>
              <a:buNone/>
            </a:pPr>
            <a:r>
              <a:rPr lang="en-US" sz="1800" b="1" dirty="0">
                <a:solidFill>
                  <a:schemeClr val="accent1"/>
                </a:solidFill>
                <a:latin typeface="Arial" pitchFamily="34" charset="0"/>
                <a:ea typeface="Arial" pitchFamily="34" charset="-122"/>
                <a:cs typeface="Arial" pitchFamily="34" charset="-120"/>
              </a:rPr>
              <a:t>4. تحليل البيانات (Data Analysis)</a:t>
            </a:r>
            <a:endParaRPr lang="en-US" sz="1800" dirty="0"/>
          </a:p>
          <a:p>
            <a:pPr algn="r" indent="0" marL="0" rtl="1">
              <a:lnSpc>
                <a:spcPct val="110000"/>
              </a:lnSpc>
              <a:spcAft>
                <a:spcPts val="600"/>
              </a:spcAft>
              <a:buNone/>
            </a:pPr>
            <a:r>
              <a:rPr lang="en-US" sz="1600" dirty="0">
                <a:solidFill>
                  <a:schemeClr val="tx1"/>
                </a:solidFill>
                <a:latin typeface="Arial" pitchFamily="34" charset="0"/>
                <a:ea typeface="Arial" pitchFamily="34" charset="-122"/>
                <a:cs typeface="Arial" pitchFamily="34" charset="-120"/>
              </a:rPr>
              <a:t>يتم شرح الطريقة التي تم بها تحليل البيانات، مثل:</a:t>
            </a:r>
            <a:endParaRPr lang="en-US" sz="1800" dirty="0"/>
          </a:p>
        </p:txBody>
      </p:sp>
      <p:sp>
        <p:nvSpPr>
          <p:cNvPr id="22" name="Analysis 1"/>
          <p:cNvSpPr/>
          <p:nvPr/>
        </p:nvSpPr>
        <p:spPr>
          <a:xfrm>
            <a:off x="9604248" y="3108960"/>
            <a:ext cx="2127504" cy="2194560"/>
          </a:xfrm>
          <a:prstGeom prst="roundRect">
            <a:avLst>
              <a:gd name="adj" fmla="val 5158"/>
            </a:avLst>
          </a:prstGeom>
          <a:solidFill>
            <a:schemeClr val="bg2"/>
          </a:solidFill>
          <a:ln/>
        </p:spPr>
      </p:sp>
      <p:sp>
        <p:nvSpPr>
          <p:cNvPr id="23" name="Shape 21"/>
          <p:cNvSpPr/>
          <p:nvPr/>
        </p:nvSpPr>
        <p:spPr>
          <a:xfrm>
            <a:off x="10347960" y="3474720"/>
            <a:ext cx="640080" cy="640080"/>
          </a:xfrm>
          <a:prstGeom prst="ellipse">
            <a:avLst/>
          </a:prstGeom>
          <a:solidFill>
            <a:schemeClr val="accent1"/>
          </a:solidFill>
          <a:ln/>
        </p:spPr>
      </p:sp>
      <p:sp>
        <p:nvSpPr>
          <p:cNvPr id="24" name="Text 22"/>
          <p:cNvSpPr txBox="1"/>
          <p:nvPr/>
        </p:nvSpPr>
        <p:spPr>
          <a:xfrm>
            <a:off x="10347960" y="3474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5" name="Text 23"/>
          <p:cNvSpPr txBox="1"/>
          <p:nvPr/>
        </p:nvSpPr>
        <p:spPr>
          <a:xfrm>
            <a:off x="9741408" y="4297680"/>
            <a:ext cx="1853184" cy="731520"/>
          </a:xfrm>
          <a:prstGeom prst="rect">
            <a:avLst/>
          </a:prstGeom>
          <a:noFill/>
          <a:ln/>
        </p:spPr>
        <p:txBody>
          <a:bodyPr wrap="square" lIns="0" tIns="0" rIns="0" bIns="0" rtlCol="0" anchor="ctr"/>
          <a:lstStyle/>
          <a:p>
            <a:pPr rtl="1" algn="ctr" indent="0" marL="0">
              <a:buNone/>
            </a:pPr>
            <a:r>
              <a:rPr lang="en-US" sz="1700" b="1" dirty="0">
                <a:solidFill>
                  <a:schemeClr val="tx2"/>
                </a:solidFill>
              </a:rPr>
              <a:t>التحليل الإحصائي</a:t>
            </a:r>
            <a:endParaRPr lang="en-US" sz="1700" dirty="0"/>
          </a:p>
        </p:txBody>
      </p:sp>
      <p:sp>
        <p:nvSpPr>
          <p:cNvPr id="26" name="Analysis 2"/>
          <p:cNvSpPr/>
          <p:nvPr/>
        </p:nvSpPr>
        <p:spPr>
          <a:xfrm>
            <a:off x="7202424" y="3108960"/>
            <a:ext cx="2127504" cy="2194560"/>
          </a:xfrm>
          <a:prstGeom prst="roundRect">
            <a:avLst>
              <a:gd name="adj" fmla="val 5158"/>
            </a:avLst>
          </a:prstGeom>
          <a:solidFill>
            <a:schemeClr val="bg2"/>
          </a:solidFill>
          <a:ln/>
        </p:spPr>
      </p:sp>
      <p:sp>
        <p:nvSpPr>
          <p:cNvPr id="27" name="Shape 25"/>
          <p:cNvSpPr/>
          <p:nvPr/>
        </p:nvSpPr>
        <p:spPr>
          <a:xfrm>
            <a:off x="7946136" y="3474720"/>
            <a:ext cx="640080" cy="640080"/>
          </a:xfrm>
          <a:prstGeom prst="ellipse">
            <a:avLst/>
          </a:prstGeom>
          <a:solidFill>
            <a:schemeClr val="accent1"/>
          </a:solidFill>
          <a:ln/>
        </p:spPr>
      </p:sp>
      <p:sp>
        <p:nvSpPr>
          <p:cNvPr id="28" name="Text 26"/>
          <p:cNvSpPr txBox="1"/>
          <p:nvPr/>
        </p:nvSpPr>
        <p:spPr>
          <a:xfrm>
            <a:off x="7946136" y="3474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9" name="Text 27"/>
          <p:cNvSpPr txBox="1"/>
          <p:nvPr/>
        </p:nvSpPr>
        <p:spPr>
          <a:xfrm>
            <a:off x="7339584" y="4297680"/>
            <a:ext cx="1853184" cy="731520"/>
          </a:xfrm>
          <a:prstGeom prst="rect">
            <a:avLst/>
          </a:prstGeom>
          <a:noFill/>
          <a:ln/>
        </p:spPr>
        <p:txBody>
          <a:bodyPr wrap="square" lIns="0" tIns="0" rIns="0" bIns="0" rtlCol="0" anchor="ctr"/>
          <a:lstStyle/>
          <a:p>
            <a:pPr rtl="1" algn="ctr" indent="0" marL="0">
              <a:buNone/>
            </a:pPr>
            <a:r>
              <a:rPr lang="en-US" sz="1700" b="1" dirty="0">
                <a:solidFill>
                  <a:schemeClr val="tx2"/>
                </a:solidFill>
              </a:rPr>
              <a:t>المقارنة بين النتائج</a:t>
            </a:r>
            <a:endParaRPr lang="en-US" sz="1700" dirty="0"/>
          </a:p>
        </p:txBody>
      </p:sp>
      <p:sp>
        <p:nvSpPr>
          <p:cNvPr id="30" name="Analysis 3"/>
          <p:cNvSpPr/>
          <p:nvPr/>
        </p:nvSpPr>
        <p:spPr>
          <a:xfrm>
            <a:off x="4800600" y="3108960"/>
            <a:ext cx="2127504" cy="2194560"/>
          </a:xfrm>
          <a:prstGeom prst="roundRect">
            <a:avLst>
              <a:gd name="adj" fmla="val 5158"/>
            </a:avLst>
          </a:prstGeom>
          <a:solidFill>
            <a:schemeClr val="bg2"/>
          </a:solidFill>
          <a:ln/>
        </p:spPr>
      </p:sp>
      <p:sp>
        <p:nvSpPr>
          <p:cNvPr id="31" name="Shape 29"/>
          <p:cNvSpPr/>
          <p:nvPr/>
        </p:nvSpPr>
        <p:spPr>
          <a:xfrm>
            <a:off x="5544312" y="3474720"/>
            <a:ext cx="640080" cy="640080"/>
          </a:xfrm>
          <a:prstGeom prst="ellipse">
            <a:avLst/>
          </a:prstGeom>
          <a:solidFill>
            <a:schemeClr val="accent1"/>
          </a:solidFill>
          <a:ln/>
        </p:spPr>
      </p:sp>
      <p:sp>
        <p:nvSpPr>
          <p:cNvPr id="32" name="Text 30"/>
          <p:cNvSpPr txBox="1"/>
          <p:nvPr/>
        </p:nvSpPr>
        <p:spPr>
          <a:xfrm>
            <a:off x="5544312" y="3474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3" name="Text 31"/>
          <p:cNvSpPr txBox="1"/>
          <p:nvPr/>
        </p:nvSpPr>
        <p:spPr>
          <a:xfrm>
            <a:off x="4937760" y="4297680"/>
            <a:ext cx="1853184" cy="731520"/>
          </a:xfrm>
          <a:prstGeom prst="rect">
            <a:avLst/>
          </a:prstGeom>
          <a:noFill/>
          <a:ln/>
        </p:spPr>
        <p:txBody>
          <a:bodyPr wrap="square" lIns="0" tIns="0" rIns="0" bIns="0" rtlCol="0" anchor="ctr"/>
          <a:lstStyle/>
          <a:p>
            <a:pPr rtl="1" algn="ctr" indent="0" marL="0">
              <a:buNone/>
            </a:pPr>
            <a:r>
              <a:rPr lang="en-US" sz="1700" b="1" dirty="0">
                <a:solidFill>
                  <a:schemeClr val="tx2"/>
                </a:solidFill>
              </a:rPr>
              <a:t>تحليل سلوك المستخدم</a:t>
            </a:r>
            <a:endParaRPr lang="en-US" sz="17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4" type="title" hasCustomPrompt="1"/>
          </p:nvPr>
        </p:nvSpPr>
        <p:spPr>
          <a:xfrm>
            <a:off x="457200" y="2194560"/>
            <a:ext cx="11274552" cy="1463040"/>
          </a:xfrm>
          <a:prstGeom prst="rect">
            <a:avLst/>
          </a:prstGeom>
          <a:noFill/>
          <a:ln/>
        </p:spPr>
        <p:txBody>
          <a:bodyPr wrap="square" lIns="0" tIns="0" rIns="0" bIns="0" rtlCol="0" anchor="ctr"/>
          <a:lstStyle/>
          <a:p>
            <a:pPr rtl="1" algn="ctr" indent="0" marL="0">
              <a:buNone/>
            </a:pPr>
            <a:r>
              <a:rPr lang="en-US" sz="6000" b="1" dirty="0">
                <a:solidFill>
                  <a:schemeClr val="bg1"/>
                </a:solidFill>
              </a:rPr>
              <a:t>شكرًا لكم</a:t>
            </a:r>
            <a:endParaRPr lang="en-US" sz="6000" dirty="0"/>
          </a:p>
        </p:txBody>
      </p:sp>
    </p:spTree>
  </p:cSld>
  <p:clrMapOvr>
    <a:masterClrMapping/>
  </p:clrMapOvr>
</p:sld>
</file>

<file path=ppt/theme/theme1.xml><?xml version="1.0" encoding="utf-8"?>
<a:theme xmlns:a="http://schemas.openxmlformats.org/drawingml/2006/main" name="PNU Teal">
  <a:themeElements>
    <a:clrScheme name="PNU Teal">
      <a:dk1>
        <a:srgbClr val="1F2A2C"/>
      </a:dk1>
      <a:lt1>
        <a:srgbClr val="FFFFFF"/>
      </a:lt1>
      <a:dk2>
        <a:srgbClr val="0B4A50"/>
      </a:dk2>
      <a:lt2>
        <a:srgbClr val="E8F3F3"/>
      </a:lt2>
      <a:accent1>
        <a:srgbClr val="13858C"/>
      </a:accent1>
      <a:accent2>
        <a:srgbClr val="C49A45"/>
      </a:accent2>
      <a:accent3>
        <a:srgbClr val="5FB3B3"/>
      </a:accent3>
      <a:accent4>
        <a:srgbClr val="7A8C8E"/>
      </a:accent4>
      <a:accent5>
        <a:srgbClr val="0B4A50"/>
      </a:accent5>
      <a:accent6>
        <a:srgbClr val="D9ECEC"/>
      </a:accent6>
      <a:hlink>
        <a:srgbClr val="13858C"/>
      </a:hlink>
      <a:folHlink>
        <a:srgbClr val="5FB3B3"/>
      </a:folHlink>
    </a:clrScheme>
    <a:fontScheme name="PNU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جامعة الأميرة نورة بنت عبدالرحمن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أساسيات كتابة البحث في التصميم</dc:title>
  <dc:subject>PptxGenJS Presentation</dc:subject>
  <dc:creator>د. حنان بنت عبدالله الرشيد</dc:creator>
  <cp:lastModifiedBy>د. حنان بنت عبدالله الرشيد</cp:lastModifiedBy>
  <cp:revision>1</cp:revision>
  <dcterms:created xsi:type="dcterms:W3CDTF">2026-10-03T18:24:35Z</dcterms:created>
  <dcterms:modified xsi:type="dcterms:W3CDTF">2026-10-03T18:24:35Z</dcterms:modified>
</cp:coreProperties>
</file>