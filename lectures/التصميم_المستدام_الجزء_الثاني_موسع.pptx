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handoutMasterIdLst>
    <p:handoutMasterId r:id="rId12"/>
  </p:handoutMasterIdLst>
  <p:sldIdLst>
    <p:sldId id="256" r:id="rId2"/>
    <p:sldId id="257" r:id="rId3"/>
    <p:sldId id="290" r:id="rId17"/>
    <p:sldId id="291" r:id="rId18"/>
    <p:sldId id="292" r:id="rId19"/>
    <p:sldId id="293" r:id="rId20"/>
    <p:sldId id="294" r:id="rId21"/>
    <p:sldId id="295" r:id="rId22"/>
    <p:sldId id="296" r:id="rId23"/>
    <p:sldId id="283" r:id="rId4"/>
    <p:sldId id="284" r:id="rId5"/>
    <p:sldId id="285" r:id="rId6"/>
    <p:sldId id="286" r:id="rId7"/>
    <p:sldId id="287" r:id="rId8"/>
    <p:sldId id="288" r:id="rId9"/>
    <p:sldId id="289" r:id="rId10"/>
    <p:sldId id="297" r:id="rId24"/>
    <p:sldId id="298" r:id="rId25"/>
    <p:sldId id="29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57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967"/>
    <p:restoredTop sz="94491"/>
  </p:normalViewPr>
  <p:slideViewPr>
    <p:cSldViewPr snapToGrid="0" snapToObjects="1">
      <p:cViewPr>
        <p:scale>
          <a:sx n="118" d="100"/>
          <a:sy n="118" d="100"/>
        </p:scale>
        <p:origin x="-56"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4" d="100"/>
          <a:sy n="94" d="100"/>
        </p:scale>
        <p:origin x="4040"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  <Relationship Id="rId17" Type="http://schemas.openxmlformats.org/officeDocument/2006/relationships/slide" Target="slides/slide10.xml"/>
  <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AD3ED4-A725-1124-7268-C714085C65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a:extLst>
              <a:ext uri="{FF2B5EF4-FFF2-40B4-BE49-F238E27FC236}">
                <a16:creationId xmlns:a16="http://schemas.microsoft.com/office/drawing/2014/main" id="{A4EC01CD-5443-69BE-3D14-B6D3605B22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AF1E98-5F94-224A-A21F-D0A6E573F1EA}" type="datetimeFigureOut">
              <a:rPr lang="en-SA" smtClean="0"/>
              <a:t>29/08/2026 R</a:t>
            </a:fld>
            <a:endParaRPr lang="en-SA"/>
          </a:p>
        </p:txBody>
      </p:sp>
      <p:sp>
        <p:nvSpPr>
          <p:cNvPr id="4" name="Footer Placeholder 3">
            <a:extLst>
              <a:ext uri="{FF2B5EF4-FFF2-40B4-BE49-F238E27FC236}">
                <a16:creationId xmlns:a16="http://schemas.microsoft.com/office/drawing/2014/main" id="{194BE99D-1939-059B-3CE5-F0B1570E6A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5" name="Slide Number Placeholder 4">
            <a:extLst>
              <a:ext uri="{FF2B5EF4-FFF2-40B4-BE49-F238E27FC236}">
                <a16:creationId xmlns:a16="http://schemas.microsoft.com/office/drawing/2014/main" id="{CB01E896-DE12-37E6-A645-B8103536BB5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7B7EF7-468D-8441-A410-28F9516067E8}" type="slidenum">
              <a:rPr lang="en-SA" smtClean="0"/>
              <a:t>‹#›</a:t>
            </a:fld>
            <a:endParaRPr lang="en-SA"/>
          </a:p>
        </p:txBody>
      </p:sp>
    </p:spTree>
    <p:extLst>
      <p:ext uri="{BB962C8B-B14F-4D97-AF65-F5344CB8AC3E}">
        <p14:creationId xmlns:p14="http://schemas.microsoft.com/office/powerpoint/2010/main" val="38676166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AD55F2-279C-D647-95BA-2741FBF6F3F1}" type="datetimeFigureOut">
              <a:rPr lang="en-US" smtClean="0"/>
              <a:t>8/29/26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352315-EC8F-7049-AB74-0E6986D6A890}" type="slidenum">
              <a:rPr lang="en-US" smtClean="0"/>
              <a:t>‹#›</a:t>
            </a:fld>
            <a:endParaRPr lang="en-US"/>
          </a:p>
        </p:txBody>
      </p:sp>
    </p:spTree>
    <p:extLst>
      <p:ext uri="{BB962C8B-B14F-4D97-AF65-F5344CB8AC3E}">
        <p14:creationId xmlns:p14="http://schemas.microsoft.com/office/powerpoint/2010/main" val="229389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95B1D-719A-CF4F-92FF-162875E9795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C30851-694D-F543-9CA3-5D3D9CC9D06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B75FB5-0BB6-2843-9EFC-989F05E8D9A9}"/>
              </a:ext>
            </a:extLst>
          </p:cNvPr>
          <p:cNvSpPr>
            <a:spLocks noGrp="1"/>
          </p:cNvSpPr>
          <p:nvPr>
            <p:ph type="dt" sz="half" idx="10"/>
          </p:nvPr>
        </p:nvSpPr>
        <p:spPr>
          <a:xfrm>
            <a:off x="838200" y="6356350"/>
            <a:ext cx="2743200" cy="365125"/>
          </a:xfrm>
          <a:prstGeom prst="rect">
            <a:avLst/>
          </a:prstGeom>
        </p:spPr>
        <p:txBody>
          <a:bodyPr/>
          <a:lstStyle/>
          <a:p>
            <a:fld id="{8BA932CB-382F-4B55-8C01-EB744FF02002}" type="datetime1">
              <a:rPr lang="en-US" smtClean="0"/>
              <a:t>8/29/26</a:t>
            </a:fld>
            <a:endParaRPr lang="en-US"/>
          </a:p>
        </p:txBody>
      </p:sp>
      <p:sp>
        <p:nvSpPr>
          <p:cNvPr id="5" name="Footer Placeholder 4">
            <a:extLst>
              <a:ext uri="{FF2B5EF4-FFF2-40B4-BE49-F238E27FC236}">
                <a16:creationId xmlns:a16="http://schemas.microsoft.com/office/drawing/2014/main" id="{E5C1ECF2-D22D-8947-9222-E1B3916639C8}"/>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8D4D2911-EE2E-D84D-9A62-8FEEF522D599}"/>
              </a:ext>
            </a:extLst>
          </p:cNvPr>
          <p:cNvSpPr>
            <a:spLocks noGrp="1"/>
          </p:cNvSpPr>
          <p:nvPr>
            <p:ph type="sldNum" sz="quarter" idx="12"/>
          </p:nvPr>
        </p:nvSpPr>
        <p:spPr>
          <a:xfrm>
            <a:off x="8610600" y="6356350"/>
            <a:ext cx="2743200" cy="365125"/>
          </a:xfrm>
          <a:prstGeom prst="rect">
            <a:avLst/>
          </a:prstGeom>
        </p:spPr>
        <p:txBody>
          <a:bodyPr/>
          <a:lstStyle>
            <a:lvl1pPr marL="228600" indent="-228600" algn="l" rtl="1">
              <a:buFont typeface="+mj-lt"/>
              <a:buAutoNum type="arabicPeriod"/>
              <a:defRPr/>
            </a:lvl1pPr>
          </a:lstStyle>
          <a:p>
            <a:pPr algn="r"/>
            <a:endParaRPr lang="en-US" dirty="0"/>
          </a:p>
        </p:txBody>
      </p:sp>
    </p:spTree>
    <p:extLst>
      <p:ext uri="{BB962C8B-B14F-4D97-AF65-F5344CB8AC3E}">
        <p14:creationId xmlns:p14="http://schemas.microsoft.com/office/powerpoint/2010/main" val="3635066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C063-0CF1-EC48-81D1-35B818B1D6B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CFB4FE0-2CE3-F14A-A915-58BB58A3ADB4}"/>
              </a:ext>
            </a:extLst>
          </p:cNvPr>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A1504-DA7E-384B-976C-D6302E486157}"/>
              </a:ext>
            </a:extLst>
          </p:cNvPr>
          <p:cNvSpPr>
            <a:spLocks noGrp="1"/>
          </p:cNvSpPr>
          <p:nvPr>
            <p:ph type="dt" sz="half" idx="10"/>
          </p:nvPr>
        </p:nvSpPr>
        <p:spPr>
          <a:xfrm>
            <a:off x="838200" y="6356350"/>
            <a:ext cx="2743200" cy="365125"/>
          </a:xfrm>
          <a:prstGeom prst="rect">
            <a:avLst/>
          </a:prstGeom>
        </p:spPr>
        <p:txBody>
          <a:bodyPr/>
          <a:lstStyle/>
          <a:p>
            <a:fld id="{6DEADBA5-6346-4B36-B068-0CCAF43B940A}" type="datetime1">
              <a:rPr lang="en-US" smtClean="0"/>
              <a:t>8/29/26</a:t>
            </a:fld>
            <a:endParaRPr lang="en-US"/>
          </a:p>
        </p:txBody>
      </p:sp>
      <p:sp>
        <p:nvSpPr>
          <p:cNvPr id="5" name="Footer Placeholder 4">
            <a:extLst>
              <a:ext uri="{FF2B5EF4-FFF2-40B4-BE49-F238E27FC236}">
                <a16:creationId xmlns:a16="http://schemas.microsoft.com/office/drawing/2014/main" id="{0B77A406-9FA9-3E4A-BBEF-A2B1113E1127}"/>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C7D281EC-403D-314E-A6D2-6343BAF449A7}"/>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981651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2D03C-7784-F045-A002-1F918E04A1C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CBDC39-B769-3243-9924-9522E096923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EA62A36-1213-FF4B-BF7F-4645AD71D1A8}"/>
              </a:ext>
            </a:extLst>
          </p:cNvPr>
          <p:cNvSpPr>
            <a:spLocks noGrp="1"/>
          </p:cNvSpPr>
          <p:nvPr>
            <p:ph type="dt" sz="half" idx="10"/>
          </p:nvPr>
        </p:nvSpPr>
        <p:spPr>
          <a:xfrm>
            <a:off x="838200" y="6356350"/>
            <a:ext cx="2743200" cy="365125"/>
          </a:xfrm>
          <a:prstGeom prst="rect">
            <a:avLst/>
          </a:prstGeom>
        </p:spPr>
        <p:txBody>
          <a:bodyPr/>
          <a:lstStyle/>
          <a:p>
            <a:fld id="{FB0297A9-FD26-487D-BF7C-39F0BFEDAE3A}" type="datetime1">
              <a:rPr lang="en-US" smtClean="0"/>
              <a:t>8/29/26</a:t>
            </a:fld>
            <a:endParaRPr lang="en-US"/>
          </a:p>
        </p:txBody>
      </p:sp>
      <p:sp>
        <p:nvSpPr>
          <p:cNvPr id="5" name="Footer Placeholder 4">
            <a:extLst>
              <a:ext uri="{FF2B5EF4-FFF2-40B4-BE49-F238E27FC236}">
                <a16:creationId xmlns:a16="http://schemas.microsoft.com/office/drawing/2014/main" id="{263E88B2-7F8B-714B-B041-612AE5DF16B5}"/>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9CC4B896-2ECF-694E-A27F-F43BC08ACBE8}"/>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944968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96D4E-C006-8D45-9771-C77F3362EC3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5DE6859-C198-CE4A-9141-C652BA7066FD}"/>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61CD53-E384-244B-BE3B-FFBBE38E08C6}"/>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9622CB-E528-5947-A85B-F3F5E2C5F547}"/>
              </a:ext>
            </a:extLst>
          </p:cNvPr>
          <p:cNvSpPr>
            <a:spLocks noGrp="1"/>
          </p:cNvSpPr>
          <p:nvPr>
            <p:ph type="dt" sz="half" idx="10"/>
          </p:nvPr>
        </p:nvSpPr>
        <p:spPr>
          <a:xfrm>
            <a:off x="838200" y="6356350"/>
            <a:ext cx="2743200" cy="365125"/>
          </a:xfrm>
          <a:prstGeom prst="rect">
            <a:avLst/>
          </a:prstGeom>
        </p:spPr>
        <p:txBody>
          <a:bodyPr/>
          <a:lstStyle/>
          <a:p>
            <a:fld id="{6BE6DAA6-6496-4381-A216-D2E192C84EDB}" type="datetime1">
              <a:rPr lang="en-US" smtClean="0"/>
              <a:t>8/29/26</a:t>
            </a:fld>
            <a:endParaRPr lang="en-US"/>
          </a:p>
        </p:txBody>
      </p:sp>
      <p:sp>
        <p:nvSpPr>
          <p:cNvPr id="6" name="Footer Placeholder 5">
            <a:extLst>
              <a:ext uri="{FF2B5EF4-FFF2-40B4-BE49-F238E27FC236}">
                <a16:creationId xmlns:a16="http://schemas.microsoft.com/office/drawing/2014/main" id="{3C9DD693-0C22-3C4D-BF84-1CDC54FF1F6A}"/>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7" name="Slide Number Placeholder 6">
            <a:extLst>
              <a:ext uri="{FF2B5EF4-FFF2-40B4-BE49-F238E27FC236}">
                <a16:creationId xmlns:a16="http://schemas.microsoft.com/office/drawing/2014/main" id="{D560C669-0EE1-3549-AA32-0CF2A935F366}"/>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7504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F22C6-D053-D143-809F-54C40B7E1AF7}"/>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3CC6D9-EA3C-4C4D-8E87-E77AF3223D0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BD73C27-06DF-9F43-92C1-1B9E85122D3C}"/>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60B757-C458-9E45-9662-D43535C4FE4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C3000C6-E367-9048-9ECC-CC9D94459762}"/>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FF696B-0A9F-6943-BDDB-F15E36B79809}"/>
              </a:ext>
            </a:extLst>
          </p:cNvPr>
          <p:cNvSpPr>
            <a:spLocks noGrp="1"/>
          </p:cNvSpPr>
          <p:nvPr>
            <p:ph type="dt" sz="half" idx="10"/>
          </p:nvPr>
        </p:nvSpPr>
        <p:spPr>
          <a:xfrm>
            <a:off x="838200" y="6356350"/>
            <a:ext cx="2743200" cy="365125"/>
          </a:xfrm>
          <a:prstGeom prst="rect">
            <a:avLst/>
          </a:prstGeom>
        </p:spPr>
        <p:txBody>
          <a:bodyPr/>
          <a:lstStyle/>
          <a:p>
            <a:fld id="{1A84317A-23C7-43CF-84C0-E7949A0EEEC1}" type="datetime1">
              <a:rPr lang="en-US" smtClean="0"/>
              <a:t>8/29/26</a:t>
            </a:fld>
            <a:endParaRPr lang="en-US"/>
          </a:p>
        </p:txBody>
      </p:sp>
      <p:sp>
        <p:nvSpPr>
          <p:cNvPr id="8" name="Footer Placeholder 7">
            <a:extLst>
              <a:ext uri="{FF2B5EF4-FFF2-40B4-BE49-F238E27FC236}">
                <a16:creationId xmlns:a16="http://schemas.microsoft.com/office/drawing/2014/main" id="{81C31820-BF02-4248-BC1F-4295A75AA6BE}"/>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9" name="Slide Number Placeholder 8">
            <a:extLst>
              <a:ext uri="{FF2B5EF4-FFF2-40B4-BE49-F238E27FC236}">
                <a16:creationId xmlns:a16="http://schemas.microsoft.com/office/drawing/2014/main" id="{4EB86F3B-68E8-5C4B-90C1-FAC02EB2A12E}"/>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55921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14EBE-511D-A14D-A485-F2D099AB484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9F9DAD5-D1DB-EE45-A2CF-C16477BC6224}"/>
              </a:ext>
            </a:extLst>
          </p:cNvPr>
          <p:cNvSpPr>
            <a:spLocks noGrp="1"/>
          </p:cNvSpPr>
          <p:nvPr>
            <p:ph type="dt" sz="half" idx="10"/>
          </p:nvPr>
        </p:nvSpPr>
        <p:spPr>
          <a:xfrm>
            <a:off x="838200" y="6356350"/>
            <a:ext cx="2743200" cy="365125"/>
          </a:xfrm>
          <a:prstGeom prst="rect">
            <a:avLst/>
          </a:prstGeom>
        </p:spPr>
        <p:txBody>
          <a:bodyPr/>
          <a:lstStyle/>
          <a:p>
            <a:fld id="{E61B70F4-2ADC-4968-894A-168A515CD00F}" type="datetime1">
              <a:rPr lang="en-US" smtClean="0"/>
              <a:t>8/29/26</a:t>
            </a:fld>
            <a:endParaRPr lang="en-US"/>
          </a:p>
        </p:txBody>
      </p:sp>
      <p:sp>
        <p:nvSpPr>
          <p:cNvPr id="4" name="Footer Placeholder 3">
            <a:extLst>
              <a:ext uri="{FF2B5EF4-FFF2-40B4-BE49-F238E27FC236}">
                <a16:creationId xmlns:a16="http://schemas.microsoft.com/office/drawing/2014/main" id="{1A9B2BBE-A804-6A4F-9EA0-9AFD447876EE}"/>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5" name="Slide Number Placeholder 4">
            <a:extLst>
              <a:ext uri="{FF2B5EF4-FFF2-40B4-BE49-F238E27FC236}">
                <a16:creationId xmlns:a16="http://schemas.microsoft.com/office/drawing/2014/main" id="{B1EE21E9-C4E6-4F44-AE67-862133FBE8D6}"/>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260004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8EA237-DB10-6343-9513-6F6F466CECDC}"/>
              </a:ext>
            </a:extLst>
          </p:cNvPr>
          <p:cNvSpPr>
            <a:spLocks noGrp="1"/>
          </p:cNvSpPr>
          <p:nvPr>
            <p:ph type="dt" sz="half" idx="10"/>
          </p:nvPr>
        </p:nvSpPr>
        <p:spPr>
          <a:xfrm>
            <a:off x="838200" y="6356350"/>
            <a:ext cx="2743200" cy="365125"/>
          </a:xfrm>
          <a:prstGeom prst="rect">
            <a:avLst/>
          </a:prstGeom>
        </p:spPr>
        <p:txBody>
          <a:bodyPr/>
          <a:lstStyle/>
          <a:p>
            <a:fld id="{80527E97-0D0F-4F25-94B2-511CFB784A61}" type="datetime1">
              <a:rPr lang="en-US" smtClean="0"/>
              <a:t>8/29/26</a:t>
            </a:fld>
            <a:endParaRPr lang="en-US"/>
          </a:p>
        </p:txBody>
      </p:sp>
      <p:sp>
        <p:nvSpPr>
          <p:cNvPr id="3" name="Footer Placeholder 2">
            <a:extLst>
              <a:ext uri="{FF2B5EF4-FFF2-40B4-BE49-F238E27FC236}">
                <a16:creationId xmlns:a16="http://schemas.microsoft.com/office/drawing/2014/main" id="{3BC2839F-65CA-EA47-91F3-FA59AF2F327B}"/>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4" name="Slide Number Placeholder 3">
            <a:extLst>
              <a:ext uri="{FF2B5EF4-FFF2-40B4-BE49-F238E27FC236}">
                <a16:creationId xmlns:a16="http://schemas.microsoft.com/office/drawing/2014/main" id="{711568A4-56E2-6746-B167-BC75B74B1F15}"/>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15522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CBE66-AAC5-D249-B7D9-2C06C9249F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94C034-F466-BC44-8CB8-F94D2C1CC40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1AE357-EE97-C745-821A-899A56D338F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90B094-318C-5C4D-9217-21257B60E346}"/>
              </a:ext>
            </a:extLst>
          </p:cNvPr>
          <p:cNvSpPr>
            <a:spLocks noGrp="1"/>
          </p:cNvSpPr>
          <p:nvPr>
            <p:ph type="dt" sz="half" idx="10"/>
          </p:nvPr>
        </p:nvSpPr>
        <p:spPr>
          <a:xfrm>
            <a:off x="838200" y="6356350"/>
            <a:ext cx="2743200" cy="365125"/>
          </a:xfrm>
          <a:prstGeom prst="rect">
            <a:avLst/>
          </a:prstGeom>
        </p:spPr>
        <p:txBody>
          <a:bodyPr/>
          <a:lstStyle/>
          <a:p>
            <a:fld id="{CE1A1EED-5468-4662-9116-EA324E72E27D}" type="datetime1">
              <a:rPr lang="en-US" smtClean="0"/>
              <a:t>8/29/26</a:t>
            </a:fld>
            <a:endParaRPr lang="en-US"/>
          </a:p>
        </p:txBody>
      </p:sp>
      <p:sp>
        <p:nvSpPr>
          <p:cNvPr id="6" name="Footer Placeholder 5">
            <a:extLst>
              <a:ext uri="{FF2B5EF4-FFF2-40B4-BE49-F238E27FC236}">
                <a16:creationId xmlns:a16="http://schemas.microsoft.com/office/drawing/2014/main" id="{53659FD8-B6EE-4846-A5E7-E6113CD88110}"/>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7" name="Slide Number Placeholder 6">
            <a:extLst>
              <a:ext uri="{FF2B5EF4-FFF2-40B4-BE49-F238E27FC236}">
                <a16:creationId xmlns:a16="http://schemas.microsoft.com/office/drawing/2014/main" id="{6F246591-DE00-4D4A-9B41-813AEA448918}"/>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45513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B65E9-0D75-2845-89B4-31BEEF76F61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C22A3C-F646-514E-83DC-4E923202CFC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63BC2D-5DAE-6640-9824-650C4BE7739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BA8E1E5-B4EE-C24A-9234-35BBFF0BCCB6}"/>
              </a:ext>
            </a:extLst>
          </p:cNvPr>
          <p:cNvSpPr>
            <a:spLocks noGrp="1"/>
          </p:cNvSpPr>
          <p:nvPr>
            <p:ph type="dt" sz="half" idx="10"/>
          </p:nvPr>
        </p:nvSpPr>
        <p:spPr>
          <a:xfrm>
            <a:off x="838200" y="6356350"/>
            <a:ext cx="2743200" cy="365125"/>
          </a:xfrm>
          <a:prstGeom prst="rect">
            <a:avLst/>
          </a:prstGeom>
        </p:spPr>
        <p:txBody>
          <a:bodyPr/>
          <a:lstStyle/>
          <a:p>
            <a:fld id="{87D82976-136B-45A3-BE74-AF47A0873794}" type="datetime1">
              <a:rPr lang="en-US" smtClean="0"/>
              <a:t>8/29/26</a:t>
            </a:fld>
            <a:endParaRPr lang="en-US"/>
          </a:p>
        </p:txBody>
      </p:sp>
      <p:sp>
        <p:nvSpPr>
          <p:cNvPr id="6" name="Footer Placeholder 5">
            <a:extLst>
              <a:ext uri="{FF2B5EF4-FFF2-40B4-BE49-F238E27FC236}">
                <a16:creationId xmlns:a16="http://schemas.microsoft.com/office/drawing/2014/main" id="{B843CD61-1855-064B-8C88-185ECE7B1C59}"/>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7" name="Slide Number Placeholder 6">
            <a:extLst>
              <a:ext uri="{FF2B5EF4-FFF2-40B4-BE49-F238E27FC236}">
                <a16:creationId xmlns:a16="http://schemas.microsoft.com/office/drawing/2014/main" id="{3246B2A3-DACB-994E-A6F9-896A62735539}"/>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202549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FF93-C82F-3441-A9FD-C3DAF66513F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A9E963-5C99-9440-A23E-5DF26D5F5C90}"/>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37B26-4382-A648-9F91-4C61986B009F}"/>
              </a:ext>
            </a:extLst>
          </p:cNvPr>
          <p:cNvSpPr>
            <a:spLocks noGrp="1"/>
          </p:cNvSpPr>
          <p:nvPr>
            <p:ph type="dt" sz="half" idx="10"/>
          </p:nvPr>
        </p:nvSpPr>
        <p:spPr>
          <a:xfrm>
            <a:off x="838200" y="6356350"/>
            <a:ext cx="2743200" cy="365125"/>
          </a:xfrm>
          <a:prstGeom prst="rect">
            <a:avLst/>
          </a:prstGeom>
        </p:spPr>
        <p:txBody>
          <a:bodyPr/>
          <a:lstStyle/>
          <a:p>
            <a:fld id="{25B967AB-6CBB-4FFA-80BE-668735DAF57C}" type="datetime1">
              <a:rPr lang="en-US" smtClean="0"/>
              <a:t>8/29/26</a:t>
            </a:fld>
            <a:endParaRPr lang="en-US"/>
          </a:p>
        </p:txBody>
      </p:sp>
      <p:sp>
        <p:nvSpPr>
          <p:cNvPr id="5" name="Footer Placeholder 4">
            <a:extLst>
              <a:ext uri="{FF2B5EF4-FFF2-40B4-BE49-F238E27FC236}">
                <a16:creationId xmlns:a16="http://schemas.microsoft.com/office/drawing/2014/main" id="{F34F3DC5-9E54-7C4C-85B5-4E83289C8125}"/>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8B2E6178-F519-1E48-92C6-D0E47439138B}"/>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2160154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12978B-FCD2-2045-85F0-1A14DE5CB5E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FB10E8-067B-2C48-B702-967E01DD84B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5F7474-7BF7-8848-8A5E-943CAEF7B509}"/>
              </a:ext>
            </a:extLst>
          </p:cNvPr>
          <p:cNvSpPr>
            <a:spLocks noGrp="1"/>
          </p:cNvSpPr>
          <p:nvPr>
            <p:ph type="dt" sz="half" idx="10"/>
          </p:nvPr>
        </p:nvSpPr>
        <p:spPr>
          <a:xfrm>
            <a:off x="838200" y="6356350"/>
            <a:ext cx="2743200" cy="365125"/>
          </a:xfrm>
          <a:prstGeom prst="rect">
            <a:avLst/>
          </a:prstGeom>
        </p:spPr>
        <p:txBody>
          <a:bodyPr/>
          <a:lstStyle/>
          <a:p>
            <a:fld id="{B7B49DCA-0B0C-490D-9170-2EBC047E1017}" type="datetime1">
              <a:rPr lang="en-US" smtClean="0"/>
              <a:t>8/29/26</a:t>
            </a:fld>
            <a:endParaRPr lang="en-US"/>
          </a:p>
        </p:txBody>
      </p:sp>
      <p:sp>
        <p:nvSpPr>
          <p:cNvPr id="5" name="Footer Placeholder 4">
            <a:extLst>
              <a:ext uri="{FF2B5EF4-FFF2-40B4-BE49-F238E27FC236}">
                <a16:creationId xmlns:a16="http://schemas.microsoft.com/office/drawing/2014/main" id="{BAFEE781-F8D4-3A47-B4CF-BE796E445F0C}"/>
              </a:ext>
            </a:extLst>
          </p:cNvPr>
          <p:cNvSpPr>
            <a:spLocks noGrp="1"/>
          </p:cNvSpPr>
          <p:nvPr>
            <p:ph type="ftr" sz="quarter" idx="11"/>
          </p:nvPr>
        </p:nvSpPr>
        <p:spPr>
          <a:xfrm>
            <a:off x="4038600" y="6356350"/>
            <a:ext cx="4114800" cy="365125"/>
          </a:xfrm>
          <a:prstGeom prst="rect">
            <a:avLst/>
          </a:prstGeom>
        </p:spPr>
        <p:txBody>
          <a:bodyPr/>
          <a:lstStyle/>
          <a:p>
            <a:r>
              <a:rPr lang="ar-SA"/>
              <a:t>برنامج التصميم الجرافيكي - المستوى الخامس</a:t>
            </a:r>
            <a:endParaRPr lang="en-US"/>
          </a:p>
        </p:txBody>
      </p:sp>
      <p:sp>
        <p:nvSpPr>
          <p:cNvPr id="6" name="Slide Number Placeholder 5">
            <a:extLst>
              <a:ext uri="{FF2B5EF4-FFF2-40B4-BE49-F238E27FC236}">
                <a16:creationId xmlns:a16="http://schemas.microsoft.com/office/drawing/2014/main" id="{AF7C0E21-9A27-AB48-A677-0FCAD06A0459}"/>
              </a:ext>
            </a:extLst>
          </p:cNvPr>
          <p:cNvSpPr>
            <a:spLocks noGrp="1"/>
          </p:cNvSpPr>
          <p:nvPr>
            <p:ph type="sldNum" sz="quarter" idx="12"/>
          </p:nvPr>
        </p:nvSpPr>
        <p:spPr>
          <a:xfrm>
            <a:off x="8610600" y="6356350"/>
            <a:ext cx="2743200" cy="365125"/>
          </a:xfrm>
          <a:prstGeom prst="rect">
            <a:avLst/>
          </a:prstGeom>
        </p:spPr>
        <p:txBody>
          <a:bodyPr/>
          <a:lstStyle/>
          <a:p>
            <a:fld id="{581E6A32-401E-CF4D-886B-1F343C82E98B}" type="slidenum">
              <a:rPr lang="en-US" smtClean="0"/>
              <a:t>‹#›</a:t>
            </a:fld>
            <a:endParaRPr lang="en-US"/>
          </a:p>
        </p:txBody>
      </p:sp>
    </p:spTree>
    <p:extLst>
      <p:ext uri="{BB962C8B-B14F-4D97-AF65-F5344CB8AC3E}">
        <p14:creationId xmlns:p14="http://schemas.microsoft.com/office/powerpoint/2010/main" val="1461807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0CBAF2A-1BA4-EDEB-C3AE-3FCA48001454}"/>
              </a:ext>
            </a:extLst>
          </p:cNvPr>
          <p:cNvSpPr>
            <a:spLocks noGrp="1"/>
          </p:cNvSpPr>
          <p:nvPr>
            <p:ph type="title"/>
          </p:nvPr>
        </p:nvSpPr>
        <p:spPr>
          <a:xfrm>
            <a:off x="838200" y="1504950"/>
            <a:ext cx="10515600" cy="976312"/>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a16="http://schemas.microsoft.com/office/drawing/2014/main" id="{D9BAD7FB-C18B-8746-EE3B-F73AC891F639}"/>
              </a:ext>
            </a:extLst>
          </p:cNvPr>
          <p:cNvSpPr>
            <a:spLocks noGrp="1"/>
          </p:cNvSpPr>
          <p:nvPr>
            <p:ph type="body" idx="1"/>
          </p:nvPr>
        </p:nvSpPr>
        <p:spPr>
          <a:xfrm>
            <a:off x="838200" y="2711449"/>
            <a:ext cx="10515600" cy="32369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DF8C289F-6F88-6C1A-E408-749908346D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7403A2-7C00-4E7B-9B12-0162AA911228}" type="datetime1">
              <a:rPr lang="en-US" smtClean="0"/>
              <a:t>8/29/26</a:t>
            </a:fld>
            <a:endParaRPr lang="en-US"/>
          </a:p>
        </p:txBody>
      </p:sp>
      <p:sp>
        <p:nvSpPr>
          <p:cNvPr id="10" name="Footer Placeholder 4">
            <a:extLst>
              <a:ext uri="{FF2B5EF4-FFF2-40B4-BE49-F238E27FC236}">
                <a16:creationId xmlns:a16="http://schemas.microsoft.com/office/drawing/2014/main" id="{0C2AA6E4-D910-BEBC-BBF3-DF05934FC0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GE Dinar One" panose="020A0503020102020204" pitchFamily="18" charset="-78"/>
                <a:ea typeface="GE Dinar One" panose="020A0503020102020204" pitchFamily="18" charset="-78"/>
                <a:cs typeface="GE Dinar One" panose="020A0503020102020204" pitchFamily="18" charset="-78"/>
              </a:defRPr>
            </a:lvl1pPr>
          </a:lstStyle>
          <a:p>
            <a:r>
              <a:rPr lang="ar-SA" dirty="0"/>
              <a:t>برنامج التصميم الجرافيكي - المستوى السابع</a:t>
            </a:r>
            <a:endParaRPr lang="en-US" dirty="0"/>
          </a:p>
        </p:txBody>
      </p:sp>
      <p:sp>
        <p:nvSpPr>
          <p:cNvPr id="11" name="Slide Number Placeholder 5">
            <a:extLst>
              <a:ext uri="{FF2B5EF4-FFF2-40B4-BE49-F238E27FC236}">
                <a16:creationId xmlns:a16="http://schemas.microsoft.com/office/drawing/2014/main" id="{8F3F3AF2-D3E0-15A1-2C5A-A79ECC8B5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334 GPC –Advertising Design</a:t>
            </a:r>
          </a:p>
        </p:txBody>
      </p:sp>
      <p:pic>
        <p:nvPicPr>
          <p:cNvPr id="12" name="Picture 11" descr="A black background with a black square&#10;&#10;Description automatically generated with medium confidence">
            <a:extLst>
              <a:ext uri="{FF2B5EF4-FFF2-40B4-BE49-F238E27FC236}">
                <a16:creationId xmlns:a16="http://schemas.microsoft.com/office/drawing/2014/main" id="{CCF9A999-8AEC-9C77-D955-F69D61AD288B}"/>
              </a:ext>
            </a:extLst>
          </p:cNvPr>
          <p:cNvPicPr>
            <a:picLocks noChangeAspect="1"/>
          </p:cNvPicPr>
          <p:nvPr userDrawn="1"/>
        </p:nvPicPr>
        <p:blipFill>
          <a:blip r:embed="rId13"/>
          <a:stretch>
            <a:fillRect/>
          </a:stretch>
        </p:blipFill>
        <p:spPr>
          <a:xfrm>
            <a:off x="11123785" y="402363"/>
            <a:ext cx="460030" cy="720000"/>
          </a:xfrm>
          <a:prstGeom prst="rect">
            <a:avLst/>
          </a:prstGeom>
        </p:spPr>
      </p:pic>
      <p:cxnSp>
        <p:nvCxnSpPr>
          <p:cNvPr id="13" name="Straight Connector 12">
            <a:extLst>
              <a:ext uri="{FF2B5EF4-FFF2-40B4-BE49-F238E27FC236}">
                <a16:creationId xmlns:a16="http://schemas.microsoft.com/office/drawing/2014/main" id="{5E392E98-9E2E-F723-EDD1-6E661E95F3B0}"/>
              </a:ext>
            </a:extLst>
          </p:cNvPr>
          <p:cNvCxnSpPr>
            <a:cxnSpLocks/>
          </p:cNvCxnSpPr>
          <p:nvPr userDrawn="1"/>
        </p:nvCxnSpPr>
        <p:spPr>
          <a:xfrm flipH="1">
            <a:off x="419100" y="6296025"/>
            <a:ext cx="11353800"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BA59E9B4-2072-7E36-C73D-F228C5C765F9}"/>
              </a:ext>
            </a:extLst>
          </p:cNvPr>
          <p:cNvSpPr txBox="1"/>
          <p:nvPr userDrawn="1"/>
        </p:nvSpPr>
        <p:spPr>
          <a:xfrm>
            <a:off x="10001828" y="536723"/>
            <a:ext cx="1074332" cy="461665"/>
          </a:xfrm>
          <a:prstGeom prst="rect">
            <a:avLst/>
          </a:prstGeom>
          <a:noFill/>
        </p:spPr>
        <p:txBody>
          <a:bodyPr wrap="none" rtlCol="0">
            <a:spAutoFit/>
          </a:bodyPr>
          <a:lstStyle/>
          <a:p>
            <a:pPr algn="r" rtl="1"/>
            <a:r>
              <a:rPr lang="ar-SA" sz="1200" dirty="0">
                <a:latin typeface="GE Dinar One" panose="020A0503020102020204" pitchFamily="18" charset="-78"/>
                <a:ea typeface="GE Dinar One" panose="020A0503020102020204" pitchFamily="18" charset="-78"/>
                <a:cs typeface="GE Dinar One" panose="020A0503020102020204" pitchFamily="18" charset="-78"/>
              </a:rPr>
              <a:t>كلية الفنون</a:t>
            </a:r>
          </a:p>
          <a:p>
            <a:pPr algn="r" rtl="1"/>
            <a:r>
              <a:rPr lang="ar-SA" sz="1200" dirty="0">
                <a:latin typeface="GE Dinar One" panose="020A0503020102020204" pitchFamily="18" charset="-78"/>
                <a:ea typeface="GE Dinar One" panose="020A0503020102020204" pitchFamily="18" charset="-78"/>
                <a:cs typeface="GE Dinar One" panose="020A0503020102020204" pitchFamily="18" charset="-78"/>
              </a:rPr>
              <a:t>قسم التصميم</a:t>
            </a:r>
            <a:endParaRPr lang="en-GB" sz="1200" dirty="0">
              <a:latin typeface="GE Dinar One" panose="020A0503020102020204" pitchFamily="18" charset="-78"/>
              <a:ea typeface="GE Dinar One" panose="020A0503020102020204" pitchFamily="18" charset="-78"/>
              <a:cs typeface="GE Dinar One" panose="020A0503020102020204" pitchFamily="18" charset="-78"/>
            </a:endParaRPr>
          </a:p>
        </p:txBody>
      </p:sp>
      <p:sp>
        <p:nvSpPr>
          <p:cNvPr id="2" name="TextBox 1">
            <a:extLst>
              <a:ext uri="{FF2B5EF4-FFF2-40B4-BE49-F238E27FC236}">
                <a16:creationId xmlns:a16="http://schemas.microsoft.com/office/drawing/2014/main" id="{927FB34A-3019-4A0D-6648-F86EAC55AD6C}"/>
              </a:ext>
            </a:extLst>
          </p:cNvPr>
          <p:cNvSpPr txBox="1"/>
          <p:nvPr userDrawn="1"/>
        </p:nvSpPr>
        <p:spPr>
          <a:xfrm>
            <a:off x="696285" y="493278"/>
            <a:ext cx="1456365" cy="338554"/>
          </a:xfrm>
          <a:prstGeom prst="rect">
            <a:avLst/>
          </a:prstGeom>
          <a:noFill/>
        </p:spPr>
        <p:txBody>
          <a:bodyPr wrap="square">
            <a:spAutoFit/>
          </a:bodyPr>
          <a:lstStyle/>
          <a:p>
            <a:pPr algn="ctr" rtl="1"/>
            <a:r>
              <a:rPr lang="ar-SA" sz="800" dirty="0">
                <a:solidFill>
                  <a:schemeClr val="tx1">
                    <a:lumMod val="50000"/>
                    <a:lumOff val="50000"/>
                  </a:schemeClr>
                </a:solidFill>
                <a:latin typeface="GE Dinar One" panose="020A0503020102020204" pitchFamily="18" charset="-78"/>
                <a:ea typeface="GE Dinar One" panose="020A0503020102020204" pitchFamily="18" charset="-78"/>
                <a:cs typeface="GE Dinar One" panose="020A0503020102020204" pitchFamily="18" charset="-78"/>
              </a:rPr>
              <a:t>٣٣٠ جفك تصميم المغلفات</a:t>
            </a:r>
          </a:p>
          <a:p>
            <a:pPr marL="0" marR="0" lvl="0" indent="0" algn="ctr" defTabSz="914400" rtl="1" eaLnBrk="1" fontAlgn="auto" latinLnBrk="0" hangingPunct="1">
              <a:lnSpc>
                <a:spcPct val="100000"/>
              </a:lnSpc>
              <a:spcBef>
                <a:spcPts val="0"/>
              </a:spcBef>
              <a:spcAft>
                <a:spcPts val="0"/>
              </a:spcAft>
              <a:buClrTx/>
              <a:buSzTx/>
              <a:buFontTx/>
              <a:buNone/>
              <a:tabLst/>
              <a:defRPr/>
            </a:pPr>
            <a:r>
              <a:rPr lang="en-US" sz="800" dirty="0">
                <a:solidFill>
                  <a:schemeClr val="tx1">
                    <a:lumMod val="50000"/>
                    <a:lumOff val="50000"/>
                  </a:schemeClr>
                </a:solidFill>
                <a:latin typeface="+mn-lt"/>
                <a:ea typeface="GE Dinar One" panose="020A0503020102020204" pitchFamily="18" charset="-78"/>
                <a:cs typeface="GE Dinar One" panose="020A0503020102020204" pitchFamily="18" charset="-78"/>
              </a:rPr>
              <a:t>330 GPC Packaging Design</a:t>
            </a:r>
            <a:endParaRPr lang="ar-SA" sz="800" dirty="0">
              <a:solidFill>
                <a:schemeClr val="tx1">
                  <a:lumMod val="50000"/>
                  <a:lumOff val="50000"/>
                </a:schemeClr>
              </a:solidFill>
              <a:latin typeface="+mn-lt"/>
              <a:ea typeface="GE Dinar One" panose="020A0503020102020204" pitchFamily="18" charset="-78"/>
              <a:cs typeface="GE Dinar One" panose="020A0503020102020204" pitchFamily="18" charset="-78"/>
            </a:endParaRPr>
          </a:p>
        </p:txBody>
      </p:sp>
      <p:sp>
        <p:nvSpPr>
          <p:cNvPr id="3" name="TextBox 2">
            <a:extLst>
              <a:ext uri="{FF2B5EF4-FFF2-40B4-BE49-F238E27FC236}">
                <a16:creationId xmlns:a16="http://schemas.microsoft.com/office/drawing/2014/main" id="{A4DEF6D6-B38C-E645-34D6-5A26D793929E}"/>
              </a:ext>
            </a:extLst>
          </p:cNvPr>
          <p:cNvSpPr txBox="1"/>
          <p:nvPr userDrawn="1"/>
        </p:nvSpPr>
        <p:spPr>
          <a:xfrm>
            <a:off x="456139" y="400945"/>
            <a:ext cx="385042" cy="523220"/>
          </a:xfrm>
          <a:prstGeom prst="rect">
            <a:avLst/>
          </a:prstGeom>
          <a:noFill/>
        </p:spPr>
        <p:txBody>
          <a:bodyPr wrap="none" rtlCol="0">
            <a:spAutoFit/>
          </a:bodyPr>
          <a:lstStyle/>
          <a:p>
            <a:pPr marL="0" algn="l" defTabSz="914400" rtl="0" eaLnBrk="1" latinLnBrk="0" hangingPunct="1"/>
            <a:r>
              <a:rPr lang="en-US" sz="2800" b="0" i="0" dirty="0">
                <a:solidFill>
                  <a:schemeClr val="tx1">
                    <a:lumMod val="50000"/>
                    <a:lumOff val="50000"/>
                  </a:schemeClr>
                </a:solidFill>
                <a:latin typeface="Avenir Medium" panose="02000503020000020003" pitchFamily="2" charset="0"/>
                <a:cs typeface="+mj-cs"/>
              </a:rPr>
              <a:t>6</a:t>
            </a:r>
            <a:endParaRPr lang="en-SA" sz="2800" b="0" i="0" dirty="0">
              <a:solidFill>
                <a:schemeClr val="tx1">
                  <a:lumMod val="50000"/>
                  <a:lumOff val="50000"/>
                </a:schemeClr>
              </a:solidFill>
              <a:latin typeface="Avenir Medium" panose="02000503020000020003" pitchFamily="2" charset="0"/>
              <a:cs typeface="+mj-cs"/>
            </a:endParaRPr>
          </a:p>
        </p:txBody>
      </p:sp>
    </p:spTree>
    <p:extLst>
      <p:ext uri="{BB962C8B-B14F-4D97-AF65-F5344CB8AC3E}">
        <p14:creationId xmlns:p14="http://schemas.microsoft.com/office/powerpoint/2010/main" val="2075409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r" defTabSz="914400" rtl="1" eaLnBrk="1" latinLnBrk="0" hangingPunct="1">
        <a:lnSpc>
          <a:spcPct val="90000"/>
        </a:lnSpc>
        <a:spcBef>
          <a:spcPct val="0"/>
        </a:spcBef>
        <a:buNone/>
        <a:defRPr sz="4400" kern="1200">
          <a:solidFill>
            <a:schemeClr val="tx1"/>
          </a:solidFill>
          <a:latin typeface="Sakkal Majalla" panose="02000000000000000000" pitchFamily="2" charset="-78"/>
          <a:ea typeface="+mj-ea"/>
          <a:cs typeface="Sakkal Majalla" panose="02000000000000000000" pitchFamily="2" charset="-78"/>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art_dims.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art_env.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art_econ.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art_social.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art_culture.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art_inst.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art_road.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95A86-478A-71C3-B781-91B8C540C0E2}"/>
              </a:ext>
            </a:extLst>
          </p:cNvPr>
          <p:cNvSpPr>
            <a:spLocks noGrp="1"/>
          </p:cNvSpPr>
          <p:nvPr>
            <p:ph type="ctrTitle"/>
          </p:nvPr>
        </p:nvSpPr>
        <p:spPr>
          <a:xfrm>
            <a:off x="925553" y="1290637"/>
            <a:ext cx="7622920" cy="2387600"/>
          </a:xfrm>
        </p:spPr>
        <p:txBody>
          <a:bodyPr>
            <a:normAutofit/>
          </a:bodyPr>
          <a:lstStyle/>
          <a:p>
            <a:r>
              <a:rPr lang="ar-SA" sz="4000" b="1" dirty="0"/>
              <a:t>التصميم المستدام (الجزء الثاني)</a:t>
            </a:r>
            <a:endParaRPr lang="en-GB" sz="4000" b="1" dirty="0"/>
          </a:p>
        </p:txBody>
      </p:sp>
      <p:sp>
        <p:nvSpPr>
          <p:cNvPr id="3" name="Subtitle 2">
            <a:extLst>
              <a:ext uri="{FF2B5EF4-FFF2-40B4-BE49-F238E27FC236}">
                <a16:creationId xmlns:a16="http://schemas.microsoft.com/office/drawing/2014/main" id="{3976FDC2-234A-44A1-C967-179A0C8EFCC8}"/>
              </a:ext>
            </a:extLst>
          </p:cNvPr>
          <p:cNvSpPr>
            <a:spLocks noGrp="1"/>
          </p:cNvSpPr>
          <p:nvPr>
            <p:ph type="subTitle" idx="1"/>
          </p:nvPr>
        </p:nvSpPr>
        <p:spPr>
          <a:xfrm>
            <a:off x="165013" y="3678237"/>
            <a:ext cx="9144000" cy="1655762"/>
          </a:xfrm>
        </p:spPr>
        <p:txBody>
          <a:bodyPr anchor="t">
            <a:normAutofit/>
          </a:bodyPr>
          <a:lstStyle/>
          <a:p>
            <a:pPr marL="0" indent="0" algn="ctr" defTabSz="914400" rtl="1" eaLnBrk="1" latinLnBrk="0" hangingPunct="1">
              <a:lnSpc>
                <a:spcPct val="90000"/>
              </a:lnSpc>
              <a:spcBef>
                <a:spcPts val="1000"/>
              </a:spcBef>
              <a:buFont typeface="Arial" panose="020B0604020202020204" pitchFamily="34" charset="0"/>
              <a:buNone/>
            </a:pPr>
            <a:r>
              <a:rPr lang="ar-SA" sz="2000" b="1" dirty="0">
                <a:solidFill>
                  <a:schemeClr val="bg1">
                    <a:lumMod val="50000"/>
                  </a:schemeClr>
                </a:solidFill>
              </a:rPr>
              <a:t>أعداد: أنوره السعدون</a:t>
            </a:r>
          </a:p>
        </p:txBody>
      </p:sp>
      <p:sp>
        <p:nvSpPr>
          <p:cNvPr id="4" name="Footer Placeholder 3">
            <a:extLst>
              <a:ext uri="{FF2B5EF4-FFF2-40B4-BE49-F238E27FC236}">
                <a16:creationId xmlns:a16="http://schemas.microsoft.com/office/drawing/2014/main" id="{714C6116-B646-777F-65B1-F0C3109564C4}"/>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pic>
        <p:nvPicPr>
          <p:cNvPr id="1026" name="Picture 2" descr="This may contain: the planters are made out of cardboard and have tags attached to them">
            <a:extLst>
              <a:ext uri="{FF2B5EF4-FFF2-40B4-BE49-F238E27FC236}">
                <a16:creationId xmlns:a16="http://schemas.microsoft.com/office/drawing/2014/main" id="{C8206F07-41FE-7B18-A114-BEAA99FB2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6822" y="1524001"/>
            <a:ext cx="2623843" cy="448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519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5C85B-1FE3-EB4E-BB0D-284564032382}"/>
              </a:ext>
            </a:extLst>
          </p:cNvPr>
          <p:cNvSpPr>
            <a:spLocks noGrp="1"/>
          </p:cNvSpPr>
          <p:nvPr>
            <p:ph idx="1"/>
          </p:nvPr>
        </p:nvSpPr>
        <p:spPr>
          <a:xfrm>
            <a:off x="1040344" y="2594563"/>
            <a:ext cx="9873205" cy="1030380"/>
          </a:xfrm>
        </p:spPr>
        <p:txBody>
          <a:bodyPr>
            <a:noAutofit/>
          </a:bodyPr>
          <a:lstStyle/>
          <a:p>
            <a:pPr marL="0" indent="0">
              <a:buNone/>
            </a:pPr>
            <a:r>
              <a:rPr lang="ar-SA" b="1" dirty="0"/>
              <a:t>مقدمة: </a:t>
            </a:r>
            <a:br>
              <a:rPr lang="ar-SA" sz="2000" dirty="0"/>
            </a:br>
            <a:endParaRPr lang="ar-SA" sz="2000" dirty="0"/>
          </a:p>
          <a:p>
            <a:pPr marL="0" indent="0" algn="just">
              <a:buNone/>
            </a:pPr>
            <a:r>
              <a:rPr lang="ar-SA" sz="2000" dirty="0"/>
              <a:t>في السابق، كان يُنظر إلى "المغلف" أو "العبوة" على أنها مجرد غلاف لحماية المنتج من التلف أو أداة بصرية لجذب انتباه المستهلك على أرفف المتاجر. أما اليوم، وفي ظل التحديات البيئية المناخية، تحول التغليف إلى </a:t>
            </a:r>
            <a:r>
              <a:rPr lang="ar-SA" sz="2000" b="1" dirty="0"/>
              <a:t>"بيان أخلاقي وبيئي"</a:t>
            </a:r>
            <a:r>
              <a:rPr lang="ar-SA" sz="2000" dirty="0"/>
              <a:t> تعبر من خلاله العلامات التجارية عن مدى مسئوليتها كوكب الأرض. تصميم العبوة اليوم يقف بدقة في منتصف الطريق بين تلبية رغبات الاستهلاك وحماية الموارد الطبيعية.</a:t>
            </a:r>
          </a:p>
          <a:p>
            <a:pPr marL="0" indent="0" algn="just">
              <a:buNone/>
            </a:pPr>
            <a:r>
              <a:rPr lang="ar-SA" sz="2000" dirty="0"/>
              <a:t xml:space="preserve">ولم تعد الاستدامة في التغليف بيئية فقط؛ بل أصبحت تشمل ستة أبعاد مترابطة: </a:t>
            </a:r>
            <a:r>
              <a:rPr lang="ar-SA" sz="2000" b="1" dirty="0"/>
              <a:t>البيئية</a:t>
            </a:r>
            <a:r>
              <a:rPr lang="ar-SA" sz="2000" dirty="0"/>
              <a:t xml:space="preserve"> و</a:t>
            </a:r>
            <a:r>
              <a:rPr lang="ar-SA" sz="2000" b="1" dirty="0"/>
              <a:t>الاقتصادية</a:t>
            </a:r>
            <a:r>
              <a:rPr lang="ar-SA" sz="2000" dirty="0"/>
              <a:t xml:space="preserve"> و</a:t>
            </a:r>
            <a:r>
              <a:rPr lang="ar-SA" sz="2000" b="1" dirty="0"/>
              <a:t>الاجتماعية</a:t>
            </a:r>
            <a:r>
              <a:rPr lang="ar-SA" sz="2000" dirty="0"/>
              <a:t xml:space="preserve"> و</a:t>
            </a:r>
            <a:r>
              <a:rPr lang="ar-SA" sz="2000" b="1" dirty="0"/>
              <a:t>الثقافية</a:t>
            </a:r>
            <a:r>
              <a:rPr lang="ar-SA" sz="2000" dirty="0"/>
              <a:t xml:space="preserve"> و</a:t>
            </a:r>
            <a:r>
              <a:rPr lang="ar-SA" sz="2000" b="1" dirty="0"/>
              <a:t>البشرية</a:t>
            </a:r>
            <a:r>
              <a:rPr lang="ar-SA" sz="2000" dirty="0"/>
              <a:t xml:space="preserve"> و</a:t>
            </a:r>
            <a:r>
              <a:rPr lang="ar-SA" sz="2000" b="1" dirty="0"/>
              <a:t>المؤسسية</a:t>
            </a:r>
            <a:r>
              <a:rPr lang="ar-SA" sz="2000" dirty="0"/>
              <a:t>. وفي هذه المحاضرة نتعرف على كل بُعد، ثم نرى كيف يطبّقه المصمم عملياً في تصميم المغلفات.</a:t>
            </a:r>
            <a:endParaRPr lang="ar-SA" sz="2000" dirty="0"/>
          </a:p>
          <a:p>
            <a:pPr marL="0" indent="0">
              <a:buNone/>
            </a:pPr>
            <a:endParaRPr lang="ar-SA" dirty="0"/>
          </a:p>
        </p:txBody>
      </p:sp>
      <p:sp>
        <p:nvSpPr>
          <p:cNvPr id="15" name="Footer Placeholder 3">
            <a:extLst>
              <a:ext uri="{FF2B5EF4-FFF2-40B4-BE49-F238E27FC236}">
                <a16:creationId xmlns:a16="http://schemas.microsoft.com/office/drawing/2014/main" id="{CFE48E32-A7F6-E621-F2A2-8E8D30A65EAF}"/>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Tree>
    <p:extLst>
      <p:ext uri="{BB962C8B-B14F-4D97-AF65-F5344CB8AC3E}">
        <p14:creationId xmlns:p14="http://schemas.microsoft.com/office/powerpoint/2010/main" val="300858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677A8-EEB6-36CE-7CFF-C72F215AEDF2}"/>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AF3948F8-49B3-3056-F5E4-69408865C663}"/>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D1420214-8D4C-ACCE-CE8E-672E678A986C}"/>
              </a:ext>
            </a:extLst>
          </p:cNvPr>
          <p:cNvSpPr txBox="1">
            <a:spLocks/>
          </p:cNvSpPr>
          <p:nvPr/>
        </p:nvSpPr>
        <p:spPr>
          <a:xfrm>
            <a:off x="4038600" y="1664197"/>
            <a:ext cx="7272953"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أولاً: هرم إدارة النفايات ومبادئ الـ 3</a:t>
            </a:r>
            <a:r>
              <a:rPr lang="en-US" sz="2000" b="1" dirty="0"/>
              <a:t>Rs</a:t>
            </a:r>
            <a:endParaRPr lang="en-US" sz="2000" dirty="0"/>
          </a:p>
          <a:p>
            <a:pPr marL="0" indent="0">
              <a:buNone/>
            </a:pPr>
            <a:r>
              <a:rPr lang="ar-SA" sz="2000" dirty="0"/>
              <a:t>لتصميم عبوة مستدامة، يجب أن يستند المصمم إلى </a:t>
            </a:r>
            <a:r>
              <a:rPr lang="ar-SA" sz="2000" b="1" dirty="0"/>
              <a:t>التسلسل الهرمي للنفايات </a:t>
            </a:r>
            <a:endParaRPr lang="en-US" sz="2000" b="1" dirty="0"/>
          </a:p>
          <a:p>
            <a:pPr marL="0" indent="0">
              <a:buNone/>
            </a:pPr>
            <a:r>
              <a:rPr lang="en-US" sz="2000" b="1" dirty="0"/>
              <a:t> (Waste Hierarchy)</a:t>
            </a:r>
            <a:r>
              <a:rPr lang="en-US" sz="2000" dirty="0"/>
              <a:t> </a:t>
            </a:r>
            <a:r>
              <a:rPr lang="ar-SA" sz="2000" dirty="0"/>
              <a:t>المتمثل في المبادئ الثلاثة:</a:t>
            </a:r>
          </a:p>
          <a:p>
            <a:pPr marL="0" indent="0">
              <a:buNone/>
            </a:pPr>
            <a:r>
              <a:rPr lang="ar-SA" sz="2000" dirty="0"/>
              <a:t>1. </a:t>
            </a:r>
            <a:r>
              <a:rPr lang="ar-SA" sz="2000" b="1" dirty="0"/>
              <a:t>الحد من الاستهلاك </a:t>
            </a:r>
            <a:r>
              <a:rPr lang="en-US" sz="2000" b="1" dirty="0"/>
              <a:t>: (Reduce) </a:t>
            </a:r>
            <a:r>
              <a:rPr lang="ar-SA" sz="2000" dirty="0"/>
              <a:t>وتقليل سُمك العبوة وحجمها إلى الحد الأدنى الضروري دون المساس بحماية المنتج.</a:t>
            </a:r>
          </a:p>
          <a:p>
            <a:pPr marL="0" indent="0">
              <a:buNone/>
            </a:pPr>
            <a:r>
              <a:rPr lang="ar-SA" sz="2000" dirty="0"/>
              <a:t>2. </a:t>
            </a:r>
            <a:r>
              <a:rPr lang="ar-SA" sz="2000" b="1" dirty="0"/>
              <a:t>إعادة الاستخدام (</a:t>
            </a:r>
            <a:r>
              <a:rPr lang="en-US" sz="2000" b="1" dirty="0"/>
              <a:t>: (Reuse</a:t>
            </a:r>
            <a:r>
              <a:rPr lang="ar-SA" sz="2000" dirty="0"/>
              <a:t>تصميم عبوة تمتلك "حياة ثانية" ووظيفة ممتدة بعد استهلاك محتواها الداخلي.</a:t>
            </a:r>
          </a:p>
          <a:p>
            <a:pPr marL="0" indent="0">
              <a:buNone/>
            </a:pPr>
            <a:r>
              <a:rPr lang="ar-SA" sz="2000" dirty="0"/>
              <a:t>3. </a:t>
            </a:r>
            <a:r>
              <a:rPr lang="ar-SA" sz="2000" b="1" dirty="0"/>
              <a:t>إعادة التدوير (</a:t>
            </a:r>
            <a:r>
              <a:rPr lang="en-US" sz="2000" b="1" dirty="0"/>
              <a:t>:(Recycle</a:t>
            </a:r>
            <a:r>
              <a:rPr lang="en-US" sz="2000" dirty="0"/>
              <a:t> </a:t>
            </a:r>
            <a:r>
              <a:rPr lang="ar-SA" sz="2000" dirty="0"/>
              <a:t>استخدام مواد قابلة للتدوير وسهلة الفصل والتفكيك في محطات التدوير.</a:t>
            </a:r>
            <a:br>
              <a:rPr lang="ar-SA" sz="2000" dirty="0"/>
            </a:br>
            <a:endParaRPr lang="ar-SA" sz="2000" dirty="0"/>
          </a:p>
          <a:p>
            <a:pPr marL="0" indent="0">
              <a:buNone/>
            </a:pPr>
            <a:r>
              <a:rPr lang="ar-SA" sz="1600" b="1" dirty="0"/>
              <a:t>واقع وإحصائيات:</a:t>
            </a:r>
            <a:r>
              <a:rPr lang="ar-SA" sz="1600" dirty="0"/>
              <a:t> تُظهر الاستطلاعات الأكاديمية أن أكثر من </a:t>
            </a:r>
            <a:r>
              <a:rPr lang="ar-SA" sz="1600" b="1" dirty="0"/>
              <a:t>ثلثي المستهلكين (أكثر من 66%)</a:t>
            </a:r>
            <a:r>
              <a:rPr lang="ar-SA" sz="1600" dirty="0"/>
              <a:t> يفضلون العبوات المصنوعة من مواد مُعاد تدويرها، بل ولديهم استعداد فعلي لدفع قيمة مالية أعلى مقابل الحصول على تغليف صديق للبيئة ومسؤول.</a:t>
            </a:r>
          </a:p>
          <a:p>
            <a:pPr marL="0" indent="0">
              <a:buNone/>
            </a:pPr>
            <a:endParaRPr lang="ar-SA" sz="2000" dirty="0"/>
          </a:p>
          <a:p>
            <a:pPr marL="0" indent="0">
              <a:buNone/>
            </a:pPr>
            <a:endParaRPr lang="en-US" sz="2000" dirty="0"/>
          </a:p>
        </p:txBody>
      </p:sp>
      <p:pic>
        <p:nvPicPr>
          <p:cNvPr id="2050" name="Picture 2" descr="This contains: eco friendly molded pulp packaging for soap made from recycled cardboard">
            <a:extLst>
              <a:ext uri="{FF2B5EF4-FFF2-40B4-BE49-F238E27FC236}">
                <a16:creationId xmlns:a16="http://schemas.microsoft.com/office/drawing/2014/main" id="{DE02732A-CEF4-358B-594D-898A8C3F6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447" y="1460997"/>
            <a:ext cx="2841976" cy="4262964"/>
          </a:xfrm>
          <a:prstGeom prst="rect">
            <a:avLst/>
          </a:prstGeom>
          <a:noFill/>
          <a:extLst>
            <a:ext uri="{909E8E84-426E-40DD-AFC4-6F175D3DCCD1}">
              <a14:hiddenFill xmlns:a14="http://schemas.microsoft.com/office/drawing/2010/main">
                <a:solidFill>
                  <a:srgbClr val="FFFFFF"/>
                </a:solidFill>
              </a14:hiddenFill>
            </a:ext>
          </a:extLst>
        </p:spPr>
      </p:pic>
      <p:sp>
        <p:nvSpPr>
          <p:cNvPr id="906" name="Dimension Badge" descr="تطبيق لأبعاد الاستدامة: البيئي، الاقتصادي"/>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تطبيق لأبعاد الاستدامة: </a:t>
            </a:r>
            <a:r>
              <a:rPr lang="ar-SA" sz="1600" b="1" dirty="0">
                <a:solidFill>
                  <a:srgbClr val="5E9C4B"/>
                </a:solidFill>
                <a:latin typeface="Sakkal Majalla"/>
                <a:cs typeface="Sakkal Majalla"/>
              </a:rPr>
              <a:t>البيئي</a:t>
            </a:r>
            <a:r>
              <a:rPr lang="ar-SA" sz="1600" dirty="0">
                <a:solidFill>
                  <a:srgbClr val="4A3B2A"/>
                </a:solidFill>
                <a:latin typeface="Sakkal Majalla"/>
                <a:cs typeface="Sakkal Majalla"/>
              </a:rPr>
              <a:t xml:space="preserve"> • </a:t>
            </a:r>
            <a:r>
              <a:rPr lang="ar-SA" sz="1600" b="1" dirty="0">
                <a:solidFill>
                  <a:srgbClr val="D9A441"/>
                </a:solidFill>
                <a:latin typeface="Sakkal Majalla"/>
                <a:cs typeface="Sakkal Majalla"/>
              </a:rPr>
              <a:t>الاقتصادي</a:t>
            </a:r>
          </a:p>
        </p:txBody>
      </p:sp>
    </p:spTree>
    <p:extLst>
      <p:ext uri="{BB962C8B-B14F-4D97-AF65-F5344CB8AC3E}">
        <p14:creationId xmlns:p14="http://schemas.microsoft.com/office/powerpoint/2010/main" val="3845251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DB49-E0CB-E0AD-4519-280914AEE6EF}"/>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865F76D3-3DE5-BC69-C45C-C71EBFDFD10E}"/>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5EE6ED02-8F43-54FC-FB77-1E467CA54456}"/>
              </a:ext>
            </a:extLst>
          </p:cNvPr>
          <p:cNvSpPr txBox="1">
            <a:spLocks/>
          </p:cNvSpPr>
          <p:nvPr/>
        </p:nvSpPr>
        <p:spPr>
          <a:xfrm>
            <a:off x="874845" y="1731930"/>
            <a:ext cx="10442309"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ثانياً: التحليل المادي والتقني للخيارات المتاحة</a:t>
            </a:r>
            <a:endParaRPr lang="ar-SA" sz="2000" dirty="0"/>
          </a:p>
          <a:p>
            <a:pPr marL="0" indent="0">
              <a:buNone/>
            </a:pPr>
            <a:r>
              <a:rPr lang="ar-SA" sz="2000" b="1" dirty="0"/>
              <a:t>1. خيارات البلاستيك </a:t>
            </a:r>
            <a:r>
              <a:rPr lang="en-US" sz="2000" b="1" dirty="0"/>
              <a:t>Plastic Options </a:t>
            </a:r>
            <a:r>
              <a:rPr lang="ar-SA" sz="2000" b="1" dirty="0"/>
              <a:t>وأكواد التدوير</a:t>
            </a:r>
            <a:r>
              <a:rPr lang="en-US" sz="2000" b="1" dirty="0"/>
              <a:t>:</a:t>
            </a:r>
            <a:endParaRPr lang="ar-SA" sz="2000" dirty="0"/>
          </a:p>
          <a:p>
            <a:pPr marL="0" indent="0">
              <a:buNone/>
            </a:pPr>
            <a:r>
              <a:rPr lang="ar-SA" sz="2000" dirty="0"/>
              <a:t>على الرغم من السمعة البيئية للبلاستيك، إلا أن معرفة خفايا وأنواع الراتنجات البلاستيكية تمكن المصمم من اتخاذ قرار واعي:</a:t>
            </a:r>
            <a:endParaRPr lang="en-US" sz="2000" dirty="0"/>
          </a:p>
          <a:p>
            <a:pPr marL="0" indent="0">
              <a:buNone/>
            </a:pPr>
            <a:endParaRPr lang="ar-SA" sz="2000" dirty="0"/>
          </a:p>
          <a:p>
            <a:pPr marL="0" indent="0">
              <a:buNone/>
            </a:pPr>
            <a:r>
              <a:rPr lang="ar-SA" sz="2000" b="1" dirty="0"/>
              <a:t>بولي إيثيلين منخفض الكثافة</a:t>
            </a:r>
            <a:r>
              <a:rPr lang="en-US" sz="2000" b="1" dirty="0"/>
              <a:t>#4LDPE </a:t>
            </a:r>
            <a:r>
              <a:rPr lang="ar-SA" sz="2000" b="1" dirty="0"/>
              <a:t>:</a:t>
            </a:r>
            <a:r>
              <a:rPr lang="ar-SA" sz="2000" dirty="0"/>
              <a:t> </a:t>
            </a:r>
          </a:p>
          <a:p>
            <a:pPr marL="0" indent="0">
              <a:buNone/>
            </a:pPr>
            <a:r>
              <a:rPr lang="ar-SA" sz="2000" dirty="0"/>
              <a:t>يتميز بالمرونة العالية والمتانة. يُستخدم في أكياس البقالة، والخبز، والتنظيف الجاف، وأكياس القمامة. وتتم إعادة تدويره لتصنيع مغلفات الشحن البلاستيكية، بلاط الأرضيات، وأخشاب البلاستيك.</a:t>
            </a:r>
          </a:p>
          <a:p>
            <a:pPr marL="0" indent="0">
              <a:buNone/>
            </a:pPr>
            <a:r>
              <a:rPr lang="ar-SA" sz="2000" b="1" dirty="0"/>
              <a:t>بولي </a:t>
            </a:r>
            <a:r>
              <a:rPr lang="ar-SA" sz="2000" b="1" dirty="0" err="1"/>
              <a:t>بروبيلين</a:t>
            </a:r>
            <a:r>
              <a:rPr lang="en-US" sz="2000" b="1" dirty="0"/>
              <a:t>#5PP</a:t>
            </a:r>
            <a:r>
              <a:rPr lang="ar-SA" sz="2000" b="1" dirty="0"/>
              <a:t>:</a:t>
            </a:r>
            <a:r>
              <a:rPr lang="ar-SA" sz="2000" dirty="0"/>
              <a:t> يتسم بدرجة انصهار مرتفعة تحميه من الحرارة؛ لذا يُستخدم في عبوات الزبادي، الكاتشب، </a:t>
            </a:r>
            <a:r>
              <a:rPr lang="ar-SA" sz="2000" dirty="0" err="1"/>
              <a:t>المزازات</a:t>
            </a:r>
            <a:r>
              <a:rPr lang="ar-SA" sz="2000" dirty="0"/>
              <a:t>، وأغطية الزجاجات. ويُعاد تدويره لصناعة إشارات المرور، حوامل الدراجات، حافظات البطاريات، والمجارف.</a:t>
            </a:r>
          </a:p>
          <a:p>
            <a:pPr marL="0" indent="0">
              <a:buNone/>
            </a:pPr>
            <a:r>
              <a:rPr lang="ar-SA" sz="2000" b="1" dirty="0" err="1"/>
              <a:t>بوليسترين</a:t>
            </a:r>
            <a:r>
              <a:rPr lang="en-US" sz="2000" b="1" dirty="0"/>
              <a:t>#PS</a:t>
            </a:r>
            <a:r>
              <a:rPr lang="ar-SA" sz="2000" b="1" dirty="0"/>
              <a:t>:</a:t>
            </a:r>
            <a:r>
              <a:rPr lang="ar-SA" sz="2000" dirty="0"/>
              <a:t> يُستخدم في الأطباق والأكواب ذات الاستخدام الواحد، كرتون البيض، ومواد التغليف العازلة (الفوم). ويُعاد تدويره واستخدامه في العزل الحراري لمواد البناء، ومفاتيح الإضاءة الكهربائية، وأجسام الكاميرات.</a:t>
            </a:r>
          </a:p>
          <a:p>
            <a:pPr marL="0" indent="0">
              <a:buNone/>
            </a:pPr>
            <a:endParaRPr lang="ar-SA" sz="2000" dirty="0"/>
          </a:p>
          <a:p>
            <a:pPr marL="0" indent="0">
              <a:buNone/>
            </a:pPr>
            <a:endParaRPr lang="en-US" sz="2000" dirty="0"/>
          </a:p>
        </p:txBody>
      </p:sp>
      <p:sp>
        <p:nvSpPr>
          <p:cNvPr id="907" name="Dimension Badge" descr="تطبيق لأبعاد الاستدامة: البيئي، البشري، المؤسسي"/>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تطبيق لأبعاد الاستدامة: </a:t>
            </a:r>
            <a:r>
              <a:rPr lang="ar-SA" sz="1600" b="1" dirty="0">
                <a:solidFill>
                  <a:srgbClr val="5E9C4B"/>
                </a:solidFill>
                <a:latin typeface="Sakkal Majalla"/>
                <a:cs typeface="Sakkal Majalla"/>
              </a:rPr>
              <a:t>البيئي</a:t>
            </a:r>
            <a:r>
              <a:rPr lang="ar-SA" sz="1600" dirty="0">
                <a:solidFill>
                  <a:srgbClr val="4A3B2A"/>
                </a:solidFill>
                <a:latin typeface="Sakkal Majalla"/>
                <a:cs typeface="Sakkal Majalla"/>
              </a:rPr>
              <a:t xml:space="preserve"> • </a:t>
            </a:r>
            <a:r>
              <a:rPr lang="ar-SA" sz="1600" b="1" dirty="0">
                <a:solidFill>
                  <a:srgbClr val="8A5BA8"/>
                </a:solidFill>
                <a:latin typeface="Sakkal Majalla"/>
                <a:cs typeface="Sakkal Majalla"/>
              </a:rPr>
              <a:t>البشري</a:t>
            </a:r>
            <a:r>
              <a:rPr lang="ar-SA" sz="1600" dirty="0">
                <a:solidFill>
                  <a:srgbClr val="4A3B2A"/>
                </a:solidFill>
                <a:latin typeface="Sakkal Majalla"/>
                <a:cs typeface="Sakkal Majalla"/>
              </a:rPr>
              <a:t xml:space="preserve"> • </a:t>
            </a:r>
            <a:r>
              <a:rPr lang="ar-SA" sz="1600" b="1" dirty="0">
                <a:solidFill>
                  <a:srgbClr val="3F8F8A"/>
                </a:solidFill>
                <a:latin typeface="Sakkal Majalla"/>
                <a:cs typeface="Sakkal Majalla"/>
              </a:rPr>
              <a:t>المؤسسي</a:t>
            </a:r>
          </a:p>
        </p:txBody>
      </p:sp>
    </p:spTree>
    <p:extLst>
      <p:ext uri="{BB962C8B-B14F-4D97-AF65-F5344CB8AC3E}">
        <p14:creationId xmlns:p14="http://schemas.microsoft.com/office/powerpoint/2010/main" val="58794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1DBA6-7A1C-C867-15CA-F5697F311720}"/>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D8E7DF1D-CD06-25A8-DCAF-909A607ED696}"/>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0B01E582-CECE-B13F-5A9A-75C4EB65EC24}"/>
              </a:ext>
            </a:extLst>
          </p:cNvPr>
          <p:cNvSpPr txBox="1">
            <a:spLocks/>
          </p:cNvSpPr>
          <p:nvPr/>
        </p:nvSpPr>
        <p:spPr>
          <a:xfrm>
            <a:off x="2018575" y="1915146"/>
            <a:ext cx="9268221"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a:p>
            <a:pPr marL="0" indent="0">
              <a:buNone/>
            </a:pPr>
            <a:r>
              <a:rPr lang="ar-SA" sz="2000" b="1" dirty="0"/>
              <a:t>بولي إيثيلين </a:t>
            </a:r>
            <a:r>
              <a:rPr lang="ar-SA" sz="2000" b="1" dirty="0" err="1"/>
              <a:t>تيريفثاليت</a:t>
            </a:r>
            <a:r>
              <a:rPr lang="en-US" sz="2000" b="1" dirty="0"/>
              <a:t> #1 PET / PETE  </a:t>
            </a:r>
            <a:r>
              <a:rPr lang="ar-SA" sz="2000" b="1" dirty="0"/>
              <a:t>:</a:t>
            </a:r>
            <a:endParaRPr lang="ar-SA" sz="2000" dirty="0"/>
          </a:p>
          <a:p>
            <a:pPr marL="0" indent="0">
              <a:buNone/>
            </a:pPr>
            <a:r>
              <a:rPr lang="ar-SA" sz="2000" b="1" dirty="0"/>
              <a:t>الاستخدامات الشائعة:</a:t>
            </a:r>
            <a:r>
              <a:rPr lang="ar-SA" sz="2000" dirty="0"/>
              <a:t> زجاجات المشروبات الغازية، زجاجات المياه، زجاجات العصير، وعبوات الفول السوداني.  </a:t>
            </a:r>
          </a:p>
          <a:p>
            <a:pPr marL="0" indent="0">
              <a:buNone/>
            </a:pPr>
            <a:r>
              <a:rPr lang="ar-SA" sz="2000" b="1" dirty="0"/>
              <a:t>إعادة التدوير:</a:t>
            </a:r>
            <a:r>
              <a:rPr lang="ar-SA" sz="2000" dirty="0"/>
              <a:t> يُعاد تدويره لصناعة ألياف البوليستر، الملابس القطنية العازلة، الألياف الدقيقة للمفارش، والسجاد.  </a:t>
            </a:r>
            <a:endParaRPr lang="en-US" sz="2000" dirty="0"/>
          </a:p>
          <a:p>
            <a:pPr marL="0" indent="0">
              <a:buNone/>
            </a:pPr>
            <a:endParaRPr lang="ar-SA" sz="2000" dirty="0"/>
          </a:p>
          <a:p>
            <a:pPr marL="0" indent="0">
              <a:buNone/>
            </a:pPr>
            <a:r>
              <a:rPr lang="ar-SA" sz="2000" b="1" dirty="0"/>
              <a:t>بولي إيثيلين عالي الكثافة </a:t>
            </a:r>
            <a:r>
              <a:rPr lang="en-US" sz="2000" b="1" dirty="0"/>
              <a:t>#2 HDPE </a:t>
            </a:r>
            <a:r>
              <a:rPr lang="ar-SA" sz="2000" b="1" dirty="0"/>
              <a:t>:</a:t>
            </a:r>
            <a:endParaRPr lang="ar-SA" sz="2000" dirty="0"/>
          </a:p>
          <a:p>
            <a:pPr marL="0" indent="0">
              <a:buNone/>
            </a:pPr>
            <a:r>
              <a:rPr lang="ar-SA" sz="2000" b="1" dirty="0"/>
              <a:t>الاستخدامات الشائعة:</a:t>
            </a:r>
            <a:r>
              <a:rPr lang="ar-SA" sz="2000" dirty="0"/>
              <a:t> عبوات الحليب، عبوات المنظفات والمبيضات، زجاجات الشامبو، وأكياس البقالة السميكة.  </a:t>
            </a:r>
          </a:p>
          <a:p>
            <a:pPr marL="0" indent="0">
              <a:buNone/>
            </a:pPr>
            <a:r>
              <a:rPr lang="ar-SA" sz="2000" b="1" dirty="0"/>
              <a:t>التدوير:</a:t>
            </a:r>
            <a:r>
              <a:rPr lang="ar-SA" sz="2000" dirty="0"/>
              <a:t> يُعاد تدويره لصناعة عبوات المنظفات الجديدة، أنابيب الصرف، والأخشاب البلاستيكية للحدائق.  </a:t>
            </a:r>
            <a:endParaRPr lang="en-US" sz="2000" dirty="0"/>
          </a:p>
          <a:p>
            <a:pPr marL="0" indent="0">
              <a:buNone/>
            </a:pPr>
            <a:endParaRPr lang="ar-SA" sz="2000" dirty="0"/>
          </a:p>
          <a:p>
            <a:pPr marL="0" indent="0">
              <a:buNone/>
            </a:pPr>
            <a:endParaRPr lang="ar-SA" sz="2000" dirty="0"/>
          </a:p>
          <a:p>
            <a:pPr marL="0" indent="0">
              <a:buNone/>
            </a:pPr>
            <a:endParaRPr lang="en-US" sz="2000" dirty="0"/>
          </a:p>
        </p:txBody>
      </p:sp>
      <p:sp>
        <p:nvSpPr>
          <p:cNvPr id="908" name="Dimension Badge" descr="تطبيق لأبعاد الاستدامة: البيئي، البشري، المؤسسي"/>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تطبيق لأبعاد الاستدامة: </a:t>
            </a:r>
            <a:r>
              <a:rPr lang="ar-SA" sz="1600" b="1" dirty="0">
                <a:solidFill>
                  <a:srgbClr val="5E9C4B"/>
                </a:solidFill>
                <a:latin typeface="Sakkal Majalla"/>
                <a:cs typeface="Sakkal Majalla"/>
              </a:rPr>
              <a:t>البيئي</a:t>
            </a:r>
            <a:r>
              <a:rPr lang="ar-SA" sz="1600" dirty="0">
                <a:solidFill>
                  <a:srgbClr val="4A3B2A"/>
                </a:solidFill>
                <a:latin typeface="Sakkal Majalla"/>
                <a:cs typeface="Sakkal Majalla"/>
              </a:rPr>
              <a:t xml:space="preserve"> • </a:t>
            </a:r>
            <a:r>
              <a:rPr lang="ar-SA" sz="1600" b="1" dirty="0">
                <a:solidFill>
                  <a:srgbClr val="8A5BA8"/>
                </a:solidFill>
                <a:latin typeface="Sakkal Majalla"/>
                <a:cs typeface="Sakkal Majalla"/>
              </a:rPr>
              <a:t>البشري</a:t>
            </a:r>
            <a:r>
              <a:rPr lang="ar-SA" sz="1600" dirty="0">
                <a:solidFill>
                  <a:srgbClr val="4A3B2A"/>
                </a:solidFill>
                <a:latin typeface="Sakkal Majalla"/>
                <a:cs typeface="Sakkal Majalla"/>
              </a:rPr>
              <a:t xml:space="preserve"> • </a:t>
            </a:r>
            <a:r>
              <a:rPr lang="ar-SA" sz="1600" b="1" dirty="0">
                <a:solidFill>
                  <a:srgbClr val="3F8F8A"/>
                </a:solidFill>
                <a:latin typeface="Sakkal Majalla"/>
                <a:cs typeface="Sakkal Majalla"/>
              </a:rPr>
              <a:t>المؤسسي</a:t>
            </a:r>
          </a:p>
        </p:txBody>
      </p:sp>
    </p:spTree>
    <p:extLst>
      <p:ext uri="{BB962C8B-B14F-4D97-AF65-F5344CB8AC3E}">
        <p14:creationId xmlns:p14="http://schemas.microsoft.com/office/powerpoint/2010/main" val="795613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B0D5E-96BA-C308-0A0C-498BC30F8165}"/>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90DDFBB7-70FF-C3F1-40C5-B2BAFB6164BC}"/>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6C8C6627-42ED-367B-6341-CADB4D5D80C8}"/>
              </a:ext>
            </a:extLst>
          </p:cNvPr>
          <p:cNvSpPr txBox="1">
            <a:spLocks/>
          </p:cNvSpPr>
          <p:nvPr/>
        </p:nvSpPr>
        <p:spPr>
          <a:xfrm>
            <a:off x="910314" y="2000440"/>
            <a:ext cx="10371372"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ar-SA" sz="2000" dirty="0"/>
          </a:p>
          <a:p>
            <a:pPr marL="0" indent="0">
              <a:buNone/>
            </a:pPr>
            <a:r>
              <a:rPr lang="ar-SA" sz="2000" b="1" dirty="0"/>
              <a:t>بولي فينيل </a:t>
            </a:r>
            <a:r>
              <a:rPr lang="ar-SA" sz="2000" b="1" dirty="0" err="1"/>
              <a:t>كلورايد</a:t>
            </a:r>
            <a:r>
              <a:rPr lang="ar-SA" sz="2000" b="1" dirty="0"/>
              <a:t> </a:t>
            </a:r>
            <a:r>
              <a:rPr lang="en-US" sz="2000" b="1" dirty="0"/>
              <a:t>PVC </a:t>
            </a:r>
            <a:r>
              <a:rPr lang="ar-SA" sz="2000" b="1" dirty="0"/>
              <a:t>#3 :</a:t>
            </a:r>
            <a:endParaRPr lang="ar-SA" sz="2000" dirty="0"/>
          </a:p>
          <a:p>
            <a:pPr marL="0" indent="0">
              <a:buNone/>
            </a:pPr>
            <a:r>
              <a:rPr lang="ar-SA" sz="2000" b="1" dirty="0"/>
              <a:t>الاستخدامات الشائعة:</a:t>
            </a:r>
            <a:r>
              <a:rPr lang="ar-SA" sz="2000" dirty="0"/>
              <a:t> أنابيب السباكة، </a:t>
            </a:r>
            <a:r>
              <a:rPr lang="en-US" sz="2000" dirty="0"/>
              <a:t>Shrink wrap </a:t>
            </a:r>
            <a:r>
              <a:rPr lang="ar-SA" sz="2000" dirty="0"/>
              <a:t>عبوات الزيوت، ومواد البناء.  </a:t>
            </a:r>
          </a:p>
          <a:p>
            <a:pPr marL="0" indent="0">
              <a:buNone/>
            </a:pPr>
            <a:r>
              <a:rPr lang="ar-SA" sz="2000" b="1" dirty="0"/>
              <a:t>إعادة التدوير:</a:t>
            </a:r>
            <a:r>
              <a:rPr lang="ar-SA" sz="2000" dirty="0"/>
              <a:t> نادر التدوير في العبوات الاستهلاكية، لكنه يُستخدم في المواد الصناعية.  </a:t>
            </a:r>
            <a:endParaRPr lang="en-US" sz="2000" dirty="0"/>
          </a:p>
          <a:p>
            <a:pPr marL="0" indent="0">
              <a:buNone/>
            </a:pPr>
            <a:endParaRPr lang="ar-SA" sz="2000" dirty="0"/>
          </a:p>
          <a:p>
            <a:pPr marL="0" indent="0">
              <a:buNone/>
            </a:pPr>
            <a:r>
              <a:rPr lang="ar-SA" sz="2000" b="1" dirty="0"/>
              <a:t>أنواع بلاستيك أخرى </a:t>
            </a:r>
            <a:r>
              <a:rPr lang="en-US" sz="2000" b="1" dirty="0"/>
              <a:t>OTHER</a:t>
            </a:r>
            <a:r>
              <a:rPr lang="ar-SA" sz="2000" b="1" dirty="0"/>
              <a:t> #7</a:t>
            </a:r>
            <a:r>
              <a:rPr lang="en-US" sz="2000" b="1" dirty="0"/>
              <a:t> </a:t>
            </a:r>
            <a:r>
              <a:rPr lang="ar-SA" sz="2000" b="1" dirty="0"/>
              <a:t>:</a:t>
            </a:r>
            <a:endParaRPr lang="ar-SA" sz="2000" dirty="0"/>
          </a:p>
          <a:p>
            <a:pPr marL="0" indent="0">
              <a:buNone/>
            </a:pPr>
            <a:r>
              <a:rPr lang="ar-SA" sz="2000" b="1" dirty="0"/>
              <a:t>الاستخدامات الشائعة:</a:t>
            </a:r>
            <a:r>
              <a:rPr lang="ar-SA" sz="2000" dirty="0"/>
              <a:t> العبوات المعقدة، زجاجات الرضع، البوليمرات الحيوية مثل </a:t>
            </a:r>
            <a:r>
              <a:rPr lang="en-US" sz="2000" dirty="0"/>
              <a:t>PLA </a:t>
            </a:r>
            <a:r>
              <a:rPr lang="ar-SA" sz="2000" dirty="0"/>
              <a:t>والعبوات ذات الطبقات المتعددة.</a:t>
            </a:r>
          </a:p>
          <a:p>
            <a:pPr marL="0" indent="0">
              <a:buNone/>
            </a:pPr>
            <a:endParaRPr lang="ar-SA" sz="2000" dirty="0"/>
          </a:p>
          <a:p>
            <a:pPr marL="0" indent="0">
              <a:buNone/>
            </a:pPr>
            <a:endParaRPr lang="en-US" sz="2000" dirty="0"/>
          </a:p>
        </p:txBody>
      </p:sp>
      <p:sp>
        <p:nvSpPr>
          <p:cNvPr id="909" name="Dimension Badge" descr="تطبيق لأبعاد الاستدامة: البيئي، البشري، المؤسسي"/>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تطبيق لأبعاد الاستدامة: </a:t>
            </a:r>
            <a:r>
              <a:rPr lang="ar-SA" sz="1600" b="1" dirty="0">
                <a:solidFill>
                  <a:srgbClr val="5E9C4B"/>
                </a:solidFill>
                <a:latin typeface="Sakkal Majalla"/>
                <a:cs typeface="Sakkal Majalla"/>
              </a:rPr>
              <a:t>البيئي</a:t>
            </a:r>
            <a:r>
              <a:rPr lang="ar-SA" sz="1600" dirty="0">
                <a:solidFill>
                  <a:srgbClr val="4A3B2A"/>
                </a:solidFill>
                <a:latin typeface="Sakkal Majalla"/>
                <a:cs typeface="Sakkal Majalla"/>
              </a:rPr>
              <a:t xml:space="preserve"> • </a:t>
            </a:r>
            <a:r>
              <a:rPr lang="ar-SA" sz="1600" b="1" dirty="0">
                <a:solidFill>
                  <a:srgbClr val="8A5BA8"/>
                </a:solidFill>
                <a:latin typeface="Sakkal Majalla"/>
                <a:cs typeface="Sakkal Majalla"/>
              </a:rPr>
              <a:t>البشري</a:t>
            </a:r>
            <a:r>
              <a:rPr lang="ar-SA" sz="1600" dirty="0">
                <a:solidFill>
                  <a:srgbClr val="4A3B2A"/>
                </a:solidFill>
                <a:latin typeface="Sakkal Majalla"/>
                <a:cs typeface="Sakkal Majalla"/>
              </a:rPr>
              <a:t xml:space="preserve"> • </a:t>
            </a:r>
            <a:r>
              <a:rPr lang="ar-SA" sz="1600" b="1" dirty="0">
                <a:solidFill>
                  <a:srgbClr val="3F8F8A"/>
                </a:solidFill>
                <a:latin typeface="Sakkal Majalla"/>
                <a:cs typeface="Sakkal Majalla"/>
              </a:rPr>
              <a:t>المؤسسي</a:t>
            </a:r>
          </a:p>
        </p:txBody>
      </p:sp>
    </p:spTree>
    <p:extLst>
      <p:ext uri="{BB962C8B-B14F-4D97-AF65-F5344CB8AC3E}">
        <p14:creationId xmlns:p14="http://schemas.microsoft.com/office/powerpoint/2010/main" val="2038979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ar-SA" sz="2000" dirty="0"/>
          </a:p>
          <a:p>
            <a:pPr marL="0" indent="0">
              <a:buNone/>
            </a:pPr>
            <a:r>
              <a:rPr lang="ar-SA" sz="2000" b="1" dirty="0"/>
              <a:t>2. خيارات الورق والمردود البيئي</a:t>
            </a:r>
            <a:endParaRPr lang="ar-SA" sz="2000" dirty="0"/>
          </a:p>
          <a:p>
            <a:pPr marL="0" indent="0">
              <a:buNone/>
            </a:pPr>
            <a:r>
              <a:rPr lang="ar-SA" sz="2000" dirty="0"/>
              <a:t>إنتاج الورق من ألياف خشبية يستهلك غابات بالكامل ويتسبب في انبعاثات كيميائية ضارة. لكن الاعتماد على </a:t>
            </a:r>
            <a:r>
              <a:rPr lang="ar-SA" sz="2000" b="1" dirty="0"/>
              <a:t>الورق المُعاد تدويره من </a:t>
            </a:r>
            <a:r>
              <a:rPr lang="ar-SA" sz="2000" b="1" dirty="0" err="1"/>
              <a:t>نفايا</a:t>
            </a:r>
            <a:r>
              <a:rPr lang="ar-SA" sz="2000" b="1" dirty="0"/>
              <a:t> المستهلكين </a:t>
            </a:r>
            <a:r>
              <a:rPr lang="en-US" sz="2000" b="1" dirty="0"/>
              <a:t>Postconsumer waste</a:t>
            </a:r>
            <a:r>
              <a:rPr lang="en-US" sz="2000" dirty="0"/>
              <a:t> </a:t>
            </a:r>
            <a:r>
              <a:rPr lang="ar-SA" sz="2000" dirty="0"/>
              <a:t>يحدث فارقاً بيئياً مذهلاً؛ إذ إن تدوير طن واحد من الورق يحقق:</a:t>
            </a:r>
          </a:p>
          <a:p>
            <a:pPr marL="0" indent="0">
              <a:buNone/>
            </a:pPr>
            <a:r>
              <a:rPr lang="ar-SA" sz="2000" dirty="0"/>
              <a:t>• </a:t>
            </a:r>
            <a:r>
              <a:rPr lang="ar-SA" sz="2000" b="1" dirty="0"/>
              <a:t>توفير 64% من الطاقة.</a:t>
            </a:r>
            <a:endParaRPr lang="ar-SA" sz="2000" dirty="0"/>
          </a:p>
          <a:p>
            <a:pPr marL="0" indent="0">
              <a:buNone/>
            </a:pPr>
            <a:r>
              <a:rPr lang="ar-SA" sz="2000" dirty="0"/>
              <a:t>• </a:t>
            </a:r>
            <a:r>
              <a:rPr lang="ar-SA" sz="2000" b="1" dirty="0"/>
              <a:t>توفير 50% من المياه.</a:t>
            </a:r>
            <a:endParaRPr lang="ar-SA" sz="2000" dirty="0"/>
          </a:p>
          <a:p>
            <a:pPr marL="0" indent="0">
              <a:buNone/>
            </a:pPr>
            <a:r>
              <a:rPr lang="ar-SA" sz="2000" dirty="0"/>
              <a:t>• </a:t>
            </a:r>
            <a:r>
              <a:rPr lang="ar-SA" sz="2000" b="1" dirty="0"/>
              <a:t>تقليل تلوث الهواء بنسبة 74%.</a:t>
            </a:r>
            <a:endParaRPr lang="ar-SA" sz="2000" dirty="0"/>
          </a:p>
          <a:p>
            <a:pPr marL="0" indent="0">
              <a:buNone/>
            </a:pPr>
            <a:r>
              <a:rPr lang="ar-SA" sz="2000" dirty="0"/>
              <a:t>• </a:t>
            </a:r>
            <a:r>
              <a:rPr lang="ar-SA" sz="2000" b="1" dirty="0"/>
              <a:t>إنقاذ 17 شجرة بالغابات.</a:t>
            </a:r>
            <a:endParaRPr lang="ar-SA" sz="2000" dirty="0"/>
          </a:p>
          <a:p>
            <a:pPr marL="0" indent="0">
              <a:buNone/>
            </a:pPr>
            <a:r>
              <a:rPr lang="ar-SA" sz="2000" dirty="0"/>
              <a:t>(ملاحظة تصميمية: في حال عدم وفرة الورق المُعاد تدويره، يلزم اختيار أوراق حاصلة على شهادة </a:t>
            </a:r>
            <a:r>
              <a:rPr lang="en-US" sz="2000" b="1" dirty="0"/>
              <a:t>FSC - </a:t>
            </a:r>
            <a:r>
              <a:rPr lang="ar-SA" sz="2000" dirty="0"/>
              <a:t>لضمان إدارتها بشكل مستدام).</a:t>
            </a:r>
          </a:p>
          <a:p>
            <a:pPr marL="0" indent="0">
              <a:buNone/>
            </a:pPr>
            <a:endParaRPr lang="ar-SA" sz="2000" dirty="0"/>
          </a:p>
          <a:p>
            <a:pPr marL="0" indent="0">
              <a:buNone/>
            </a:pPr>
            <a:endParaRPr lang="en-US" sz="2000" dirty="0"/>
          </a:p>
        </p:txBody>
      </p:sp>
      <p:pic>
        <p:nvPicPr>
          <p:cNvPr id="4" name="Picture 3" descr="Several cartons of eggs&#10;&#10;AI-generated content may be incorrect.">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486888" y="2033972"/>
            <a:ext cx="3822661" cy="2931567"/>
          </a:xfrm>
          <a:prstGeom prst="rect">
            <a:avLst/>
          </a:prstGeom>
        </p:spPr>
      </p:pic>
      <p:sp>
        <p:nvSpPr>
          <p:cNvPr id="910" name="Dimension Badge" descr="تطبيق لأبعاد الاستدامة: البيئي، المؤسسي"/>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تطبيق لأبعاد الاستدامة: </a:t>
            </a:r>
            <a:r>
              <a:rPr lang="ar-SA" sz="1600" b="1" dirty="0">
                <a:solidFill>
                  <a:srgbClr val="5E9C4B"/>
                </a:solidFill>
                <a:latin typeface="Sakkal Majalla"/>
                <a:cs typeface="Sakkal Majalla"/>
              </a:rPr>
              <a:t>البيئي</a:t>
            </a:r>
            <a:r>
              <a:rPr lang="ar-SA" sz="1600" dirty="0">
                <a:solidFill>
                  <a:srgbClr val="4A3B2A"/>
                </a:solidFill>
                <a:latin typeface="Sakkal Majalla"/>
                <a:cs typeface="Sakkal Majalla"/>
              </a:rPr>
              <a:t xml:space="preserve"> • </a:t>
            </a:r>
            <a:r>
              <a:rPr lang="ar-SA" sz="1600" b="1" dirty="0">
                <a:solidFill>
                  <a:srgbClr val="3F8F8A"/>
                </a:solidFill>
                <a:latin typeface="Sakkal Majalla"/>
                <a:cs typeface="Sakkal Majalla"/>
              </a:rPr>
              <a:t>المؤسسي</a:t>
            </a:r>
          </a:p>
        </p:txBody>
      </p:sp>
    </p:spTree>
    <p:extLst>
      <p:ext uri="{BB962C8B-B14F-4D97-AF65-F5344CB8AC3E}">
        <p14:creationId xmlns:p14="http://schemas.microsoft.com/office/powerpoint/2010/main" val="3458178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EA8AE-4B1E-EFF8-D0ED-6B5F73619DCA}"/>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41E27E21-1D8C-F24F-3784-F695B9B8BABB}"/>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044E7CA-D743-A612-7088-0654A2C723F6}"/>
              </a:ext>
            </a:extLst>
          </p:cNvPr>
          <p:cNvSpPr txBox="1">
            <a:spLocks/>
          </p:cNvSpPr>
          <p:nvPr/>
        </p:nvSpPr>
        <p:spPr>
          <a:xfrm>
            <a:off x="4402666" y="1885008"/>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ثالثاً: الابتكارات الناشئة </a:t>
            </a:r>
            <a:r>
              <a:rPr lang="en-US" sz="2000" b="1" dirty="0"/>
              <a:t>,</a:t>
            </a:r>
            <a:r>
              <a:rPr lang="ar-SA" sz="2000" b="1" dirty="0"/>
              <a:t> (</a:t>
            </a:r>
            <a:r>
              <a:rPr lang="ar-SA" sz="2000" b="1" dirty="0" err="1"/>
              <a:t>المزازات</a:t>
            </a:r>
            <a:r>
              <a:rPr lang="ar-SA" sz="2000" b="1" dirty="0"/>
              <a:t>) القابلة للأكل</a:t>
            </a:r>
            <a:endParaRPr lang="ar-SA" sz="2000" dirty="0"/>
          </a:p>
          <a:p>
            <a:pPr marL="0" indent="0">
              <a:buNone/>
            </a:pPr>
            <a:r>
              <a:rPr lang="ar-SA" sz="2000" dirty="0"/>
              <a:t>ضمن مساعي الانتقال من فكرة "إعادة التدوير" إلى فكرة </a:t>
            </a:r>
            <a:r>
              <a:rPr lang="ar-SA" sz="2000" b="1" dirty="0"/>
              <a:t>"انعدام النفايات</a:t>
            </a:r>
            <a:r>
              <a:rPr lang="en-US" sz="2000" b="1" dirty="0"/>
              <a:t>Zero Waste </a:t>
            </a:r>
            <a:r>
              <a:rPr lang="ar-SA" sz="2000" dirty="0"/>
              <a:t>برزت تقنيات العبوات الحيوية القابلة للأكل، وكان من أبرز تطبيقاتها </a:t>
            </a:r>
            <a:r>
              <a:rPr lang="ar-SA" sz="2000" b="1" dirty="0" err="1"/>
              <a:t>المزازات</a:t>
            </a:r>
            <a:r>
              <a:rPr lang="ar-SA" sz="2000" b="1" dirty="0"/>
              <a:t> القابلة للأكل </a:t>
            </a:r>
            <a:r>
              <a:rPr lang="en-US" sz="2000" b="1" dirty="0"/>
              <a:t>Edible Straws</a:t>
            </a:r>
            <a:endParaRPr lang="en-US" sz="2000" dirty="0"/>
          </a:p>
          <a:p>
            <a:pPr marL="0" indent="0">
              <a:buNone/>
            </a:pPr>
            <a:r>
              <a:rPr lang="en-US" sz="2000" dirty="0"/>
              <a:t>• </a:t>
            </a:r>
            <a:r>
              <a:rPr lang="ar-SA" sz="2000" b="1" dirty="0"/>
              <a:t>المكونات والتركيب:</a:t>
            </a:r>
            <a:r>
              <a:rPr lang="ar-SA" sz="2000" dirty="0"/>
              <a:t> تُصنع من مواد طبيعية وبوليمرات حيوية مثل الطحالب والأعشاب البحرية أو ألياف التفاح والفواكه، أو نشا الذرة والأرز.</a:t>
            </a:r>
          </a:p>
          <a:p>
            <a:pPr marL="0" indent="0">
              <a:buNone/>
            </a:pPr>
            <a:r>
              <a:rPr lang="ar-SA" sz="2000" dirty="0"/>
              <a:t>• </a:t>
            </a:r>
            <a:r>
              <a:rPr lang="ar-SA" sz="2000" b="1" dirty="0"/>
              <a:t>الأداء الاستهلاكي:</a:t>
            </a:r>
            <a:r>
              <a:rPr lang="ar-SA" sz="2000" dirty="0"/>
              <a:t> تمتاز بقدرتها على الحفاظ على قوامها الصلب داخل المشروبات الباردة والساخنة لمدة تتراوح بين </a:t>
            </a:r>
            <a:r>
              <a:rPr lang="ar-SA" sz="2000" b="1" dirty="0"/>
              <a:t>45 إلى 120 دقيقة</a:t>
            </a:r>
            <a:r>
              <a:rPr lang="ar-SA" sz="2000" dirty="0"/>
              <a:t> دون أن تذوب أو تتسبب في تغيير طعم المشروب.</a:t>
            </a:r>
          </a:p>
          <a:p>
            <a:pPr marL="0" indent="0">
              <a:buNone/>
            </a:pPr>
            <a:r>
              <a:rPr lang="ar-SA" sz="2000" dirty="0"/>
              <a:t>• </a:t>
            </a:r>
            <a:r>
              <a:rPr lang="ar-SA" sz="2000" b="1" dirty="0"/>
              <a:t>الأثر البيئي:</a:t>
            </a:r>
            <a:r>
              <a:rPr lang="ar-SA" sz="2000" dirty="0"/>
              <a:t> إذا لم يرغب المستهلك في تناولها بعد إنهاء المشروب، فإنها </a:t>
            </a:r>
            <a:r>
              <a:rPr lang="ar-SA" sz="2000" b="1" dirty="0"/>
              <a:t>تتحلل حيوياً بالكامل في التربة أو الماء خلال 30 إلى 60 يوماً</a:t>
            </a:r>
            <a:r>
              <a:rPr lang="ar-SA" sz="2000" dirty="0"/>
              <a:t> دون أن تترك أي أثر من البلاستيك الدقيق </a:t>
            </a:r>
            <a:r>
              <a:rPr lang="en-US" sz="2000" dirty="0"/>
              <a:t>Microplastics</a:t>
            </a:r>
            <a:r>
              <a:rPr lang="ar-SA" sz="2000" dirty="0"/>
              <a:t>مقارنة </a:t>
            </a:r>
            <a:r>
              <a:rPr lang="ar-SA" sz="2000" dirty="0" err="1"/>
              <a:t>بالمزازات</a:t>
            </a:r>
            <a:r>
              <a:rPr lang="ar-SA" sz="2000" dirty="0"/>
              <a:t> التقليدية المصنوعة من </a:t>
            </a:r>
            <a:r>
              <a:rPr lang="en-US" sz="2000" dirty="0"/>
              <a:t>PP </a:t>
            </a:r>
            <a:r>
              <a:rPr lang="ar-SA" sz="2000" dirty="0"/>
              <a:t>#5 التي تحتاج لمئات السنين لكي تتفكك.</a:t>
            </a:r>
          </a:p>
          <a:p>
            <a:pPr marL="0" indent="0">
              <a:buNone/>
            </a:pPr>
            <a:endParaRPr lang="ar-SA" sz="2000" dirty="0"/>
          </a:p>
          <a:p>
            <a:pPr marL="0" indent="0">
              <a:buNone/>
            </a:pPr>
            <a:endParaRPr lang="en-US" sz="2000" dirty="0"/>
          </a:p>
        </p:txBody>
      </p:sp>
      <p:pic>
        <p:nvPicPr>
          <p:cNvPr id="3074" name="Picture 2" descr="This may contain: the box is next to three straws and two sticks">
            <a:extLst>
              <a:ext uri="{FF2B5EF4-FFF2-40B4-BE49-F238E27FC236}">
                <a16:creationId xmlns:a16="http://schemas.microsoft.com/office/drawing/2014/main" id="{E2B16627-1F6A-989E-B04D-AAA882AFB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840" y="1971306"/>
            <a:ext cx="3713744" cy="2915387"/>
          </a:xfrm>
          <a:prstGeom prst="rect">
            <a:avLst/>
          </a:prstGeom>
          <a:noFill/>
          <a:extLst>
            <a:ext uri="{909E8E84-426E-40DD-AFC4-6F175D3DCCD1}">
              <a14:hiddenFill xmlns:a14="http://schemas.microsoft.com/office/drawing/2010/main">
                <a:solidFill>
                  <a:srgbClr val="FFFFFF"/>
                </a:solidFill>
              </a14:hiddenFill>
            </a:ext>
          </a:extLst>
        </p:spPr>
      </p:pic>
      <p:sp>
        <p:nvSpPr>
          <p:cNvPr id="911" name="Dimension Badge" descr="تطبيق لأبعاد الاستدامة: البيئي، الاجتماعي"/>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تطبيق لأبعاد الاستدامة: </a:t>
            </a:r>
            <a:r>
              <a:rPr lang="ar-SA" sz="1600" b="1" dirty="0">
                <a:solidFill>
                  <a:srgbClr val="5E9C4B"/>
                </a:solidFill>
                <a:latin typeface="Sakkal Majalla"/>
                <a:cs typeface="Sakkal Majalla"/>
              </a:rPr>
              <a:t>البيئي</a:t>
            </a:r>
            <a:r>
              <a:rPr lang="ar-SA" sz="1600" dirty="0">
                <a:solidFill>
                  <a:srgbClr val="4A3B2A"/>
                </a:solidFill>
                <a:latin typeface="Sakkal Majalla"/>
                <a:cs typeface="Sakkal Majalla"/>
              </a:rPr>
              <a:t xml:space="preserve"> • </a:t>
            </a:r>
            <a:r>
              <a:rPr lang="ar-SA" sz="1600" b="1" dirty="0">
                <a:solidFill>
                  <a:srgbClr val="4B7FA8"/>
                </a:solidFill>
                <a:latin typeface="Sakkal Majalla"/>
                <a:cs typeface="Sakkal Majalla"/>
              </a:rPr>
              <a:t>الاجتماعي</a:t>
            </a:r>
          </a:p>
        </p:txBody>
      </p:sp>
    </p:spTree>
    <p:extLst>
      <p:ext uri="{BB962C8B-B14F-4D97-AF65-F5344CB8AC3E}">
        <p14:creationId xmlns:p14="http://schemas.microsoft.com/office/powerpoint/2010/main" val="3342752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7EB00-E1DB-C213-0AC2-0E106D0978B8}"/>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4C91E690-1768-EAB4-AF1F-7EFDFF8B705D}"/>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2523AF9A-78E7-0A46-F8DD-6D5AC874AA90}"/>
              </a:ext>
            </a:extLst>
          </p:cNvPr>
          <p:cNvSpPr txBox="1">
            <a:spLocks/>
          </p:cNvSpPr>
          <p:nvPr/>
        </p:nvSpPr>
        <p:spPr>
          <a:xfrm>
            <a:off x="4391377" y="1630330"/>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رابعاً: التغليف متعدد الاستخدامات (</a:t>
            </a:r>
            <a:r>
              <a:rPr lang="en-US" sz="2000" b="1" dirty="0"/>
              <a:t>Multiuse Packaging</a:t>
            </a:r>
            <a:r>
              <a:rPr lang="ar-SA" sz="2000" b="1" dirty="0"/>
              <a:t>):</a:t>
            </a:r>
            <a:endParaRPr lang="en-US" sz="2000" dirty="0"/>
          </a:p>
          <a:p>
            <a:pPr marL="0" indent="0">
              <a:buNone/>
            </a:pPr>
            <a:r>
              <a:rPr lang="ar-SA" sz="2000" dirty="0"/>
              <a:t>تحويل العبوة من مجرد غطاء يتخلص منه المستهلك إلى قطعة لها استخدام دائم في الحياة اليومية يُعد قمة النجاح للمصمم المستدام. فهذا الخيار يمنع العبوة من الوصول للمدافن، ويجعل اسم العلامة التجارية حاضراً في منزل العميل باستمرار.</a:t>
            </a:r>
          </a:p>
          <a:p>
            <a:pPr marL="0" indent="0">
              <a:buNone/>
            </a:pPr>
            <a:endParaRPr lang="ar-SA" sz="2000" dirty="0"/>
          </a:p>
          <a:p>
            <a:pPr marL="0" indent="0">
              <a:buNone/>
            </a:pPr>
            <a:r>
              <a:rPr lang="ar-SA" sz="2000" b="1" dirty="0"/>
              <a:t>الخاتمة: خريطة طريق المصمم المستدام</a:t>
            </a:r>
            <a:endParaRPr lang="ar-SA" sz="2000" dirty="0"/>
          </a:p>
          <a:p>
            <a:pPr marL="0" indent="0">
              <a:buNone/>
            </a:pPr>
            <a:r>
              <a:rPr lang="ar-SA" sz="2000" dirty="0"/>
              <a:t>ختاماً، يتضح لنا أن </a:t>
            </a:r>
            <a:r>
              <a:rPr lang="ar-SA" sz="2000" b="1" dirty="0"/>
              <a:t>التصميم المستدام</a:t>
            </a:r>
            <a:r>
              <a:rPr lang="ar-SA" sz="2000" dirty="0"/>
              <a:t> ليس قيداً على إبداع المصمم، بل هو منصة خصبة للابتكار. يجب على مصمم التغليف الحديث أن يتنبأ بالدورة الحياة الكاملة لمنتجه</a:t>
            </a:r>
            <a:r>
              <a:rPr lang="en-US" sz="2000" b="1" dirty="0"/>
              <a:t>Life Cycle Assessment - LCA</a:t>
            </a:r>
            <a:r>
              <a:rPr lang="en-US" sz="2000" dirty="0"/>
              <a:t> </a:t>
            </a:r>
            <a:r>
              <a:rPr lang="ar-SA" sz="2000" dirty="0"/>
              <a:t>من لحظة استخراج المواد الخام، مروراً بالتصنيع والشحن، وحتى لحظة التخلص منها أو استغلالها من جديد.</a:t>
            </a:r>
          </a:p>
          <a:p>
            <a:pPr marL="0" indent="0">
              <a:buNone/>
            </a:pPr>
            <a:r>
              <a:rPr lang="ar-SA" sz="2000" dirty="0"/>
              <a:t>إن التزامنا بالورق </a:t>
            </a:r>
            <a:r>
              <a:rPr lang="ar-SA" sz="2000" dirty="0" err="1"/>
              <a:t>التدويري</a:t>
            </a:r>
            <a:r>
              <a:rPr lang="ar-SA" sz="2000" dirty="0"/>
              <a:t>، والفهم الدقيق للبلاستيك، والابتكار في مواد قابلة للأكل وسريعة التحلل </a:t>
            </a:r>
            <a:r>
              <a:rPr lang="ar-SA" sz="2000" dirty="0" err="1"/>
              <a:t>كالمزازات</a:t>
            </a:r>
            <a:r>
              <a:rPr lang="ar-SA" sz="2000" dirty="0"/>
              <a:t> القابلة للأكل ، هو الخطوة الأولى نحو مستقبل تكون فيه المغلفات جزءاً من الحل البيئي وليس جزءاً من المشكلة.</a:t>
            </a:r>
          </a:p>
          <a:p>
            <a:pPr marL="0" indent="0">
              <a:buNone/>
            </a:pPr>
            <a:endParaRPr lang="ar-SA" sz="2000" dirty="0"/>
          </a:p>
          <a:p>
            <a:pPr marL="0" indent="0">
              <a:buNone/>
            </a:pPr>
            <a:endParaRPr lang="en-US" sz="2000" dirty="0"/>
          </a:p>
        </p:txBody>
      </p:sp>
      <p:pic>
        <p:nvPicPr>
          <p:cNvPr id="4" name="Picture 3" descr="A white lamp with a white shade&#10;&#10;AI-generated content may be incorrect.">
            <a:extLst>
              <a:ext uri="{FF2B5EF4-FFF2-40B4-BE49-F238E27FC236}">
                <a16:creationId xmlns:a16="http://schemas.microsoft.com/office/drawing/2014/main" id="{03B5BA6C-5D60-354C-C82A-C376B28EB821}"/>
              </a:ext>
            </a:extLst>
          </p:cNvPr>
          <p:cNvPicPr>
            <a:picLocks noChangeAspect="1"/>
          </p:cNvPicPr>
          <p:nvPr/>
        </p:nvPicPr>
        <p:blipFill>
          <a:blip r:embed="rId2"/>
          <a:stretch>
            <a:fillRect/>
          </a:stretch>
        </p:blipFill>
        <p:spPr>
          <a:xfrm>
            <a:off x="648930" y="1330355"/>
            <a:ext cx="2818119" cy="4197290"/>
          </a:xfrm>
          <a:prstGeom prst="rect">
            <a:avLst/>
          </a:prstGeom>
        </p:spPr>
      </p:pic>
      <p:sp>
        <p:nvSpPr>
          <p:cNvPr id="912" name="Dimension Badge" descr="تطبيق لأبعاد الاستدامة: الاقتصادي، الاجتماعي، الثقافي"/>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تطبيق لأبعاد الاستدامة: </a:t>
            </a:r>
            <a:r>
              <a:rPr lang="ar-SA" sz="1600" b="1" dirty="0">
                <a:solidFill>
                  <a:srgbClr val="D9A441"/>
                </a:solidFill>
                <a:latin typeface="Sakkal Majalla"/>
                <a:cs typeface="Sakkal Majalla"/>
              </a:rPr>
              <a:t>الاقتصادي</a:t>
            </a:r>
            <a:r>
              <a:rPr lang="ar-SA" sz="1600" dirty="0">
                <a:solidFill>
                  <a:srgbClr val="4A3B2A"/>
                </a:solidFill>
                <a:latin typeface="Sakkal Majalla"/>
                <a:cs typeface="Sakkal Majalla"/>
              </a:rPr>
              <a:t xml:space="preserve"> • </a:t>
            </a:r>
            <a:r>
              <a:rPr lang="ar-SA" sz="1600" b="1" dirty="0">
                <a:solidFill>
                  <a:srgbClr val="4B7FA8"/>
                </a:solidFill>
                <a:latin typeface="Sakkal Majalla"/>
                <a:cs typeface="Sakkal Majalla"/>
              </a:rPr>
              <a:t>الاجتماعي</a:t>
            </a:r>
            <a:r>
              <a:rPr lang="ar-SA" sz="1600" dirty="0">
                <a:solidFill>
                  <a:srgbClr val="4A3B2A"/>
                </a:solidFill>
                <a:latin typeface="Sakkal Majalla"/>
                <a:cs typeface="Sakkal Majalla"/>
              </a:rPr>
              <a:t xml:space="preserve"> • </a:t>
            </a:r>
            <a:r>
              <a:rPr lang="ar-SA" sz="1600" b="1" dirty="0">
                <a:solidFill>
                  <a:srgbClr val="B5473A"/>
                </a:solidFill>
                <a:latin typeface="Sakkal Majalla"/>
                <a:cs typeface="Sakkal Majalla"/>
              </a:rPr>
              <a:t>الثقافي</a:t>
            </a:r>
          </a:p>
        </p:txBody>
      </p:sp>
    </p:spTree>
    <p:extLst>
      <p:ext uri="{BB962C8B-B14F-4D97-AF65-F5344CB8AC3E}">
        <p14:creationId xmlns:p14="http://schemas.microsoft.com/office/powerpoint/2010/main" val="189901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تمهيد: مفهوم الاستدامة وأبعادها</a:t>
            </a:r>
            <a:endParaRPr lang="ar-SA" sz="2000" dirty="0"/>
          </a:p>
          <a:p>
            <a:pPr marL="0" indent="0">
              <a:buNone/>
            </a:pPr>
            <a:r>
              <a:rPr lang="ar-SA" sz="2000" dirty="0"/>
              <a:t xml:space="preserve">قبل أن نصمم عبوة مستدامة، علينا أن نفهم معنى الاستدامة نفسها؛ فقد عرّفت اللجنة العالمية للبيئة والتنمية (تقرير برونتلاند، 1987) التنمية المستدامة بأنها: </a:t>
            </a:r>
            <a:r>
              <a:rPr lang="ar-SA" sz="2000" b="1" dirty="0"/>
              <a:t>«التنمية التي تلبي احتياجات الحاضر دون المساس بقدرة الأجيال القادمة على تلبية احتياجاتها»</a:t>
            </a:r>
            <a:r>
              <a:rPr lang="ar-SA" sz="2000" dirty="0"/>
              <a:t>.</a:t>
            </a:r>
            <a:endParaRPr lang="ar-SA" sz="2000" dirty="0"/>
          </a:p>
          <a:p>
            <a:pPr marL="0" indent="0">
              <a:buNone/>
            </a:pPr>
            <a:r>
              <a:rPr lang="ar-SA" sz="2000" dirty="0"/>
              <a:t>وتطور المفهوم من الركائز الثلاث (</a:t>
            </a:r>
            <a:r>
              <a:rPr lang="ar-SA" sz="2000" b="1" dirty="0"/>
              <a:t>Triple Bottom Line</a:t>
            </a:r>
            <a:r>
              <a:rPr lang="ar-SA" sz="2000" dirty="0"/>
              <a:t>) إلى ستة أبعاد:</a:t>
            </a:r>
            <a:endParaRPr lang="ar-SA" sz="2000" dirty="0"/>
          </a:p>
          <a:p>
            <a:pPr marL="0" indent="0">
              <a:buNone/>
            </a:pPr>
            <a:r>
              <a:rPr lang="ar-SA" sz="2000" dirty="0"/>
              <a:t xml:space="preserve">• </a:t>
            </a:r>
            <a:r>
              <a:rPr lang="ar-SA" sz="2000" b="1" dirty="0"/>
              <a:t>البيئية</a:t>
            </a:r>
            <a:r>
              <a:rPr lang="ar-SA" sz="2000" dirty="0"/>
              <a:t xml:space="preserve"> و</a:t>
            </a:r>
            <a:r>
              <a:rPr lang="ar-SA" sz="2000" b="1" dirty="0"/>
              <a:t>الاقتصادية</a:t>
            </a:r>
            <a:r>
              <a:rPr lang="ar-SA" sz="2000" dirty="0"/>
              <a:t xml:space="preserve"> و</a:t>
            </a:r>
            <a:r>
              <a:rPr lang="ar-SA" sz="2000" b="1" dirty="0"/>
              <a:t>الاجتماعية</a:t>
            </a:r>
            <a:r>
              <a:rPr lang="ar-SA" sz="2000" dirty="0"/>
              <a:t xml:space="preserve"> (إلكنغتون 1997).</a:t>
            </a:r>
            <a:endParaRPr lang="ar-SA" sz="2000" dirty="0"/>
          </a:p>
          <a:p>
            <a:pPr marL="0" indent="0">
              <a:buNone/>
            </a:pPr>
            <a:r>
              <a:rPr lang="ar-SA" sz="2000" dirty="0"/>
              <a:t xml:space="preserve">• </a:t>
            </a:r>
            <a:r>
              <a:rPr lang="ar-SA" sz="2000" b="1" dirty="0"/>
              <a:t>الثقافية</a:t>
            </a:r>
            <a:r>
              <a:rPr lang="ar-SA" sz="2000" dirty="0"/>
              <a:t xml:space="preserve"> (هوكس 2001)، </a:t>
            </a:r>
            <a:r>
              <a:rPr lang="ar-SA" sz="2000" b="1" dirty="0"/>
              <a:t>البشرية</a:t>
            </a:r>
            <a:r>
              <a:rPr lang="ar-SA" sz="2000" dirty="0"/>
              <a:t xml:space="preserve"> (غودلاند 2002)، </a:t>
            </a:r>
            <a:r>
              <a:rPr lang="ar-SA" sz="2000" b="1" dirty="0"/>
              <a:t>المؤسسية</a:t>
            </a:r>
            <a:r>
              <a:rPr lang="ar-SA" sz="2000" dirty="0"/>
              <a:t xml:space="preserve"> (الأمم المتحدة 2001).</a:t>
            </a:r>
            <a:endParaRPr lang="ar-SA" sz="2000" dirty="0"/>
          </a:p>
          <a:p>
            <a:pPr marL="0" indent="0">
              <a:buNone/>
            </a:pPr>
            <a:r>
              <a:rPr lang="ar-SA" sz="2000" dirty="0"/>
              <a:t>ويرتبط التغليف بـ</a:t>
            </a:r>
            <a:r>
              <a:rPr lang="ar-SA" sz="2000" b="1" dirty="0"/>
              <a:t>الهدف 12</a:t>
            </a:r>
            <a:r>
              <a:rPr lang="ar-SA" sz="2000" dirty="0"/>
              <a:t xml:space="preserve"> من أهداف التنمية المستدامة: الاستهلاك والإنتاج المسؤولان.</a:t>
            </a:r>
            <a:endParaRPr lang="ar-SA" sz="2000" dirty="0"/>
          </a:p>
        </p:txBody>
      </p:sp>
      <p:pic>
        <p:nvPicPr>
          <p:cNvPr id="4" name="Picture 3" descr="رسم توضيحي: عبوة كرتونية في المركز تحيط بها ستة أبعاد للاستدامة">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680000" y="1500000"/>
            <a:ext cx="3200400" cy="4267200"/>
          </a:xfrm>
          <a:prstGeom prst="rect">
            <a:avLst/>
          </a:prstGeom>
        </p:spPr>
      </p:pic>
    </p:spTree>
    <p:extLst>
      <p:ext uri="{BB962C8B-B14F-4D97-AF65-F5344CB8AC3E}">
        <p14:creationId xmlns:p14="http://schemas.microsoft.com/office/powerpoint/2010/main" val="3458178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1. الاستدامة البيئية (Environmental Sustainability)</a:t>
            </a:r>
            <a:endParaRPr lang="ar-SA" sz="2000" dirty="0"/>
          </a:p>
          <a:p>
            <a:pPr marL="0" indent="0">
              <a:buNone/>
            </a:pPr>
            <a:r>
              <a:rPr lang="ar-SA" sz="2000" dirty="0"/>
              <a:t>حماية الموارد الطبيعية والنظم البيئية، وتقليل التلوث والانبعاثات عبر دورة حياة العبوة كاملة.</a:t>
            </a:r>
            <a:endParaRPr lang="ar-SA" sz="2000" dirty="0"/>
          </a:p>
          <a:p>
            <a:pPr marL="0" indent="0">
              <a:buNone/>
            </a:pPr>
            <a:r>
              <a:rPr lang="ar-SA" sz="2000" b="1" dirty="0"/>
              <a:t>التطبيق في تصميم المغلفات:</a:t>
            </a:r>
            <a:endParaRPr lang="ar-SA" sz="2000" dirty="0"/>
          </a:p>
          <a:p>
            <a:pPr marL="0" indent="0">
              <a:buNone/>
            </a:pPr>
            <a:r>
              <a:rPr lang="ar-SA" sz="2000" dirty="0"/>
              <a:t xml:space="preserve">• </a:t>
            </a:r>
            <a:r>
              <a:rPr lang="ar-SA" sz="2000" b="1" dirty="0"/>
              <a:t>التصميم أحادي المادة (Mono-material)</a:t>
            </a:r>
            <a:r>
              <a:rPr lang="ar-SA" sz="2000" dirty="0"/>
              <a:t xml:space="preserve"> لتسهيل الفرز والتدوير، وتجنب دمج مواد يصعب فصلها.</a:t>
            </a:r>
            <a:endParaRPr lang="ar-SA" sz="2000" dirty="0"/>
          </a:p>
          <a:p>
            <a:pPr marL="0" indent="0">
              <a:buNone/>
            </a:pPr>
            <a:r>
              <a:rPr lang="ar-SA" sz="2000" dirty="0"/>
              <a:t xml:space="preserve">• </a:t>
            </a:r>
            <a:r>
              <a:rPr lang="ar-SA" sz="2000" b="1" dirty="0"/>
              <a:t>تحجيم العبوة (Right-sizing)</a:t>
            </a:r>
            <a:r>
              <a:rPr lang="ar-SA" sz="2000" dirty="0"/>
              <a:t xml:space="preserve"> وتقليل الفراغات والطبقات الزائدة.</a:t>
            </a:r>
            <a:endParaRPr lang="ar-SA" sz="2000" dirty="0"/>
          </a:p>
          <a:p>
            <a:pPr marL="0" indent="0">
              <a:buNone/>
            </a:pPr>
            <a:r>
              <a:rPr lang="ar-SA" sz="2000" dirty="0"/>
              <a:t xml:space="preserve">• </a:t>
            </a:r>
            <a:r>
              <a:rPr lang="ar-SA" sz="2000" dirty="0"/>
              <a:t xml:space="preserve">استخدام </a:t>
            </a:r>
            <a:r>
              <a:rPr lang="ar-SA" sz="2000" b="1" dirty="0"/>
              <a:t>محتوى مُعاد تدويره</a:t>
            </a:r>
            <a:r>
              <a:rPr lang="ar-SA" sz="2000" dirty="0"/>
              <a:t xml:space="preserve"> وأحبار مائية أو نباتية، وتقليل الطباعة الكثيفة.</a:t>
            </a:r>
            <a:endParaRPr lang="ar-SA" sz="2000" dirty="0"/>
          </a:p>
          <a:p>
            <a:pPr marL="0" indent="0">
              <a:buNone/>
            </a:pPr>
            <a:r>
              <a:rPr lang="ar-SA" sz="2000" dirty="0"/>
              <a:t xml:space="preserve">• </a:t>
            </a:r>
            <a:r>
              <a:rPr lang="ar-SA" sz="2000" dirty="0"/>
              <a:t xml:space="preserve">طباعة </a:t>
            </a:r>
            <a:r>
              <a:rPr lang="ar-SA" sz="2000" b="1" dirty="0"/>
              <a:t>تعليمات التخلص والفرز</a:t>
            </a:r>
            <a:r>
              <a:rPr lang="ar-SA" sz="2000" dirty="0"/>
              <a:t xml:space="preserve"> بوضوح على العبوة.</a:t>
            </a:r>
            <a:endParaRPr lang="ar-SA" sz="2000" dirty="0"/>
          </a:p>
          <a:p>
            <a:pPr marL="0" indent="0">
              <a:buNone/>
            </a:pPr>
            <a:r>
              <a:rPr lang="ar-SA" sz="2000" dirty="0"/>
              <a:t xml:space="preserve">• </a:t>
            </a:r>
            <a:r>
              <a:rPr lang="ar-SA" sz="2000" dirty="0"/>
              <a:t xml:space="preserve">تقييم الأثر عبر </a:t>
            </a:r>
            <a:r>
              <a:rPr lang="ar-SA" sz="2000" b="1" dirty="0"/>
              <a:t>تحليل دورة الحياة (LCA)</a:t>
            </a:r>
            <a:r>
              <a:rPr lang="ar-SA" sz="2000" dirty="0"/>
              <a:t xml:space="preserve"> قبل اعتماد المادة.</a:t>
            </a:r>
            <a:endParaRPr lang="ar-SA" sz="2000" dirty="0"/>
          </a:p>
        </p:txBody>
      </p:sp>
      <p:pic>
        <p:nvPicPr>
          <p:cNvPr id="4" name="Picture 3" descr="رسم توضيحي: عبوة كرتونية تنبت منها نبتة داخل أسهم إعادة التدوير">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680000" y="1500000"/>
            <a:ext cx="3200400" cy="4267200"/>
          </a:xfrm>
          <a:prstGeom prst="rect">
            <a:avLst/>
          </a:prstGeom>
        </p:spPr>
      </p:pic>
      <p:sp>
        <p:nvSpPr>
          <p:cNvPr id="901" name="Dimension Badge" descr="نطبّقه في المحاضرة: أولاً، ثانياً، ثالثاً"/>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نطبّقه في المحاضرة: </a:t>
            </a:r>
            <a:r>
              <a:rPr lang="ar-SA" sz="1600" b="1" dirty="0">
                <a:solidFill>
                  <a:srgbClr val="4A3B2A"/>
                </a:solidFill>
                <a:latin typeface="Sakkal Majalla"/>
                <a:cs typeface="Sakkal Majalla"/>
              </a:rPr>
              <a:t>أولاً</a:t>
            </a:r>
            <a:r>
              <a:rPr lang="ar-SA" sz="1600" dirty="0">
                <a:solidFill>
                  <a:srgbClr val="4A3B2A"/>
                </a:solidFill>
                <a:latin typeface="Sakkal Majalla"/>
                <a:cs typeface="Sakkal Majalla"/>
              </a:rPr>
              <a:t xml:space="preserve"> • </a:t>
            </a:r>
            <a:r>
              <a:rPr lang="ar-SA" sz="1600" b="1" dirty="0">
                <a:solidFill>
                  <a:srgbClr val="4A3B2A"/>
                </a:solidFill>
                <a:latin typeface="Sakkal Majalla"/>
                <a:cs typeface="Sakkal Majalla"/>
              </a:rPr>
              <a:t>ثانياً</a:t>
            </a:r>
            <a:r>
              <a:rPr lang="ar-SA" sz="1600" dirty="0">
                <a:solidFill>
                  <a:srgbClr val="4A3B2A"/>
                </a:solidFill>
                <a:latin typeface="Sakkal Majalla"/>
                <a:cs typeface="Sakkal Majalla"/>
              </a:rPr>
              <a:t xml:space="preserve"> • </a:t>
            </a:r>
            <a:r>
              <a:rPr lang="ar-SA" sz="1600" b="1" dirty="0">
                <a:solidFill>
                  <a:srgbClr val="4A3B2A"/>
                </a:solidFill>
                <a:latin typeface="Sakkal Majalla"/>
                <a:cs typeface="Sakkal Majalla"/>
              </a:rPr>
              <a:t>ثالثاً</a:t>
            </a:r>
          </a:p>
        </p:txBody>
      </p:sp>
    </p:spTree>
    <p:extLst>
      <p:ext uri="{BB962C8B-B14F-4D97-AF65-F5344CB8AC3E}">
        <p14:creationId xmlns:p14="http://schemas.microsoft.com/office/powerpoint/2010/main" val="3458178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2. الاستدامة الاقتصادية (Economic Sustainability)</a:t>
            </a:r>
            <a:endParaRPr lang="ar-SA" sz="2000" dirty="0"/>
          </a:p>
          <a:p>
            <a:pPr marL="0" indent="0">
              <a:buNone/>
            </a:pPr>
            <a:r>
              <a:rPr lang="ar-SA" sz="2000" dirty="0"/>
              <a:t xml:space="preserve">تحقيق قيمة طويلة المدى دون استنزاف الموارد؛ إذ تُفقد </a:t>
            </a:r>
            <a:r>
              <a:rPr lang="ar-SA" sz="2000" b="1" dirty="0"/>
              <a:t>95%</a:t>
            </a:r>
            <a:r>
              <a:rPr lang="ar-SA" sz="2000" dirty="0"/>
              <a:t xml:space="preserve"> من قيمة مواد التغليف البلاستيكية (</a:t>
            </a:r>
            <a:r>
              <a:rPr lang="ar-SA" sz="2000" b="1" dirty="0"/>
              <a:t>80–120 مليار دولار سنوياً</a:t>
            </a:r>
            <a:r>
              <a:rPr lang="ar-SA" sz="2000" dirty="0"/>
              <a:t>) بعد استخدام أول قصير (مؤسسة إلين ماك آرثر، 2016).</a:t>
            </a:r>
            <a:endParaRPr lang="ar-SA" sz="2000" dirty="0"/>
          </a:p>
          <a:p>
            <a:pPr marL="0" indent="0">
              <a:buNone/>
            </a:pPr>
            <a:r>
              <a:rPr lang="ar-SA" sz="2000" b="1" dirty="0"/>
              <a:t>التطبيق في تصميم المغلفات:</a:t>
            </a:r>
            <a:endParaRPr lang="ar-SA" sz="2000" dirty="0"/>
          </a:p>
          <a:p>
            <a:pPr marL="0" indent="0">
              <a:buNone/>
            </a:pPr>
            <a:r>
              <a:rPr lang="ar-SA" sz="2000" dirty="0"/>
              <a:t xml:space="preserve">• </a:t>
            </a:r>
            <a:r>
              <a:rPr lang="ar-SA" sz="2000" b="1" dirty="0"/>
              <a:t>تخفيف الوزن (Lightweighting)</a:t>
            </a:r>
            <a:r>
              <a:rPr lang="ar-SA" sz="2000" dirty="0"/>
              <a:t xml:space="preserve"> لخفض تكلفة المادة دون الإضرار بالحماية.</a:t>
            </a:r>
            <a:endParaRPr lang="ar-SA" sz="2000" dirty="0"/>
          </a:p>
          <a:p>
            <a:pPr marL="0" indent="0">
              <a:buNone/>
            </a:pPr>
            <a:r>
              <a:rPr lang="ar-SA" sz="2000" dirty="0"/>
              <a:t xml:space="preserve">• </a:t>
            </a:r>
            <a:r>
              <a:rPr lang="ar-SA" sz="2000" dirty="0"/>
              <a:t xml:space="preserve">تصميم </a:t>
            </a:r>
            <a:r>
              <a:rPr lang="ar-SA" sz="2000" b="1" dirty="0"/>
              <a:t>قابل للشحن المسطح (Flat-pack)</a:t>
            </a:r>
            <a:r>
              <a:rPr lang="ar-SA" sz="2000" dirty="0"/>
              <a:t xml:space="preserve"> والتكديس لخفض تكاليف النقل والتخزين.</a:t>
            </a:r>
            <a:endParaRPr lang="ar-SA" sz="2000" dirty="0"/>
          </a:p>
          <a:p>
            <a:pPr marL="0" indent="0">
              <a:buNone/>
            </a:pPr>
            <a:r>
              <a:rPr lang="ar-SA" sz="2000" dirty="0"/>
              <a:t xml:space="preserve">• </a:t>
            </a:r>
            <a:r>
              <a:rPr lang="ar-SA" sz="2000" b="1" dirty="0"/>
              <a:t>إعادة التعبئة (Refill)</a:t>
            </a:r>
            <a:r>
              <a:rPr lang="ar-SA" sz="2000" dirty="0"/>
              <a:t xml:space="preserve"> وتوحيد القوالب وتقليل ألوان الطباعة.</a:t>
            </a:r>
            <a:endParaRPr lang="ar-SA" sz="2000" dirty="0"/>
          </a:p>
          <a:p>
            <a:pPr marL="0" indent="0">
              <a:buNone/>
            </a:pPr>
            <a:r>
              <a:rPr lang="ar-SA" sz="2000" dirty="0"/>
              <a:t xml:space="preserve">• </a:t>
            </a:r>
            <a:r>
              <a:rPr lang="ar-SA" sz="2000" dirty="0"/>
              <a:t xml:space="preserve">الاستعداد لأنظمة </a:t>
            </a:r>
            <a:r>
              <a:rPr lang="ar-SA" sz="2000" b="1" dirty="0"/>
              <a:t>مسؤولية المنتِج الممتدة (EPR)</a:t>
            </a:r>
            <a:r>
              <a:rPr lang="ar-SA" sz="2000" dirty="0"/>
              <a:t xml:space="preserve"> (OECD 2016).</a:t>
            </a:r>
            <a:endParaRPr lang="ar-SA" sz="2000" dirty="0"/>
          </a:p>
        </p:txBody>
      </p:sp>
      <p:pic>
        <p:nvPicPr>
          <p:cNvPr id="4" name="Picture 3" descr="رسم توضيحي: عبوات مسطحة مكدسة ومخطط بياني صاعد وعملة">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680000" y="1500000"/>
            <a:ext cx="3200400" cy="4267200"/>
          </a:xfrm>
          <a:prstGeom prst="rect">
            <a:avLst/>
          </a:prstGeom>
        </p:spPr>
      </p:pic>
      <p:sp>
        <p:nvSpPr>
          <p:cNvPr id="902" name="Dimension Badge" descr="نطبّقه في المحاضرة: أولاً، رابعاً"/>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نطبّقه في المحاضرة: </a:t>
            </a:r>
            <a:r>
              <a:rPr lang="ar-SA" sz="1600" b="1" dirty="0">
                <a:solidFill>
                  <a:srgbClr val="4A3B2A"/>
                </a:solidFill>
                <a:latin typeface="Sakkal Majalla"/>
                <a:cs typeface="Sakkal Majalla"/>
              </a:rPr>
              <a:t>أولاً</a:t>
            </a:r>
            <a:r>
              <a:rPr lang="ar-SA" sz="1600" dirty="0">
                <a:solidFill>
                  <a:srgbClr val="4A3B2A"/>
                </a:solidFill>
                <a:latin typeface="Sakkal Majalla"/>
                <a:cs typeface="Sakkal Majalla"/>
              </a:rPr>
              <a:t xml:space="preserve"> • </a:t>
            </a:r>
            <a:r>
              <a:rPr lang="ar-SA" sz="1600" b="1" dirty="0">
                <a:solidFill>
                  <a:srgbClr val="4A3B2A"/>
                </a:solidFill>
                <a:latin typeface="Sakkal Majalla"/>
                <a:cs typeface="Sakkal Majalla"/>
              </a:rPr>
              <a:t>رابعاً</a:t>
            </a:r>
          </a:p>
        </p:txBody>
      </p:sp>
    </p:spTree>
    <p:extLst>
      <p:ext uri="{BB962C8B-B14F-4D97-AF65-F5344CB8AC3E}">
        <p14:creationId xmlns:p14="http://schemas.microsoft.com/office/powerpoint/2010/main" val="3458178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3. الاستدامة الاجتماعية (Social Sustainability)</a:t>
            </a:r>
            <a:endParaRPr lang="ar-SA" sz="2000" dirty="0"/>
          </a:p>
          <a:p>
            <a:pPr marL="0" indent="0">
              <a:buNone/>
            </a:pPr>
            <a:r>
              <a:rPr lang="ar-SA" sz="2000" dirty="0"/>
              <a:t xml:space="preserve">تحقيق العدالة والرفاه وسلامة الأفراد والمجتمعات؛ ويعرّف تحالف التغليف المستدام (SPC) العبوة المستدامة بأنها </a:t>
            </a:r>
            <a:r>
              <a:rPr lang="ar-SA" sz="2000" b="1" dirty="0"/>
              <a:t>«مفيدة وآمنة وصحية للأفراد والمجتمعات طوال دورة حياتها»</a:t>
            </a:r>
            <a:r>
              <a:rPr lang="ar-SA" sz="2000" dirty="0"/>
              <a:t>.</a:t>
            </a:r>
            <a:endParaRPr lang="ar-SA" sz="2000" dirty="0"/>
          </a:p>
          <a:p>
            <a:pPr marL="0" indent="0">
              <a:buNone/>
            </a:pPr>
            <a:r>
              <a:rPr lang="ar-SA" sz="2000" b="1" dirty="0"/>
              <a:t>التطبيق في تصميم المغلفات:</a:t>
            </a:r>
            <a:endParaRPr lang="ar-SA" sz="2000" dirty="0"/>
          </a:p>
          <a:p>
            <a:pPr marL="0" indent="0">
              <a:buNone/>
            </a:pPr>
            <a:r>
              <a:rPr lang="ar-SA" sz="2000" dirty="0"/>
              <a:t xml:space="preserve">• </a:t>
            </a:r>
            <a:r>
              <a:rPr lang="ar-SA" sz="2000" b="1" dirty="0"/>
              <a:t>التصميم الشامل (Inclusive Design)</a:t>
            </a:r>
            <a:r>
              <a:rPr lang="ar-SA" sz="2000" dirty="0"/>
              <a:t>: سهولة الفتح لكبار السن وذوي الإعاقة، وخطوط واضحة بتباين لوني كافٍ.</a:t>
            </a:r>
            <a:endParaRPr lang="ar-SA" sz="2000" dirty="0"/>
          </a:p>
          <a:p>
            <a:pPr marL="0" indent="0">
              <a:buNone/>
            </a:pPr>
            <a:r>
              <a:rPr lang="ar-SA" sz="2000" dirty="0"/>
              <a:t xml:space="preserve">• </a:t>
            </a:r>
            <a:r>
              <a:rPr lang="ar-SA" sz="2000" dirty="0"/>
              <a:t xml:space="preserve">إضافة </a:t>
            </a:r>
            <a:r>
              <a:rPr lang="ar-SA" sz="2000" b="1" dirty="0"/>
              <a:t>طريقة برايل</a:t>
            </a:r>
            <a:r>
              <a:rPr lang="ar-SA" sz="2000" dirty="0"/>
              <a:t>، كما يُلزم بها التوجيه الأوروبي 2004/27/EC على عبوات الأدوية.</a:t>
            </a:r>
            <a:endParaRPr lang="ar-SA" sz="2000" dirty="0"/>
          </a:p>
          <a:p>
            <a:pPr marL="0" indent="0">
              <a:buNone/>
            </a:pPr>
            <a:r>
              <a:rPr lang="ar-SA" sz="2000" dirty="0"/>
              <a:t xml:space="preserve">• </a:t>
            </a:r>
            <a:r>
              <a:rPr lang="ar-SA" sz="2000" dirty="0"/>
              <a:t xml:space="preserve">معلومات صادقة وتجنب </a:t>
            </a:r>
            <a:r>
              <a:rPr lang="ar-SA" sz="2000" b="1" dirty="0"/>
              <a:t>الغسل الأخضر (Greenwashing)</a:t>
            </a:r>
            <a:r>
              <a:rPr lang="ar-SA" sz="2000" dirty="0"/>
              <a:t xml:space="preserve"> وفق ISO 14021.</a:t>
            </a:r>
            <a:endParaRPr lang="ar-SA" sz="2000" dirty="0"/>
          </a:p>
          <a:p>
            <a:pPr marL="0" indent="0">
              <a:buNone/>
            </a:pPr>
            <a:r>
              <a:rPr lang="ar-SA" sz="2000" dirty="0"/>
              <a:t xml:space="preserve">• </a:t>
            </a:r>
            <a:r>
              <a:rPr lang="ar-SA" sz="2000" dirty="0"/>
              <a:t xml:space="preserve">دعم </a:t>
            </a:r>
            <a:r>
              <a:rPr lang="ar-SA" sz="2000" b="1" dirty="0"/>
              <a:t>المورّدين المحليين</a:t>
            </a:r>
            <a:r>
              <a:rPr lang="ar-SA" sz="2000" dirty="0"/>
              <a:t xml:space="preserve"> وسلاسل التوريد العادلة.</a:t>
            </a:r>
            <a:endParaRPr lang="ar-SA" sz="2000" dirty="0"/>
          </a:p>
        </p:txBody>
      </p:sp>
      <p:pic>
        <p:nvPicPr>
          <p:cNvPr id="4" name="Picture 3" descr="رسم توضيحي: يدان تحملان عبوة عليها نقاط برايل ومجموعة من الأشخاص">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680000" y="1500000"/>
            <a:ext cx="3200400" cy="4267200"/>
          </a:xfrm>
          <a:prstGeom prst="rect">
            <a:avLst/>
          </a:prstGeom>
        </p:spPr>
      </p:pic>
      <p:sp>
        <p:nvSpPr>
          <p:cNvPr id="903" name="Dimension Badge" descr="نطبّقه في المحاضرة: ثالثاً، رابعاً"/>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نطبّقه في المحاضرة: </a:t>
            </a:r>
            <a:r>
              <a:rPr lang="ar-SA" sz="1600" b="1" dirty="0">
                <a:solidFill>
                  <a:srgbClr val="4A3B2A"/>
                </a:solidFill>
                <a:latin typeface="Sakkal Majalla"/>
                <a:cs typeface="Sakkal Majalla"/>
              </a:rPr>
              <a:t>ثالثاً</a:t>
            </a:r>
            <a:r>
              <a:rPr lang="ar-SA" sz="1600" dirty="0">
                <a:solidFill>
                  <a:srgbClr val="4A3B2A"/>
                </a:solidFill>
                <a:latin typeface="Sakkal Majalla"/>
                <a:cs typeface="Sakkal Majalla"/>
              </a:rPr>
              <a:t xml:space="preserve"> • </a:t>
            </a:r>
            <a:r>
              <a:rPr lang="ar-SA" sz="1600" b="1" dirty="0">
                <a:solidFill>
                  <a:srgbClr val="4A3B2A"/>
                </a:solidFill>
                <a:latin typeface="Sakkal Majalla"/>
                <a:cs typeface="Sakkal Majalla"/>
              </a:rPr>
              <a:t>رابعاً</a:t>
            </a:r>
          </a:p>
        </p:txBody>
      </p:sp>
    </p:spTree>
    <p:extLst>
      <p:ext uri="{BB962C8B-B14F-4D97-AF65-F5344CB8AC3E}">
        <p14:creationId xmlns:p14="http://schemas.microsoft.com/office/powerpoint/2010/main" val="3458178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4. الاستدامة الثقافية (Cultural Sustainability)</a:t>
            </a:r>
            <a:endParaRPr lang="ar-SA" sz="2000" dirty="0"/>
          </a:p>
          <a:p>
            <a:pPr marL="0" indent="0">
              <a:buNone/>
            </a:pPr>
            <a:r>
              <a:rPr lang="ar-SA" sz="2000" dirty="0"/>
              <a:t xml:space="preserve">تُعد الثقافة </a:t>
            </a:r>
            <a:r>
              <a:rPr lang="ar-SA" sz="2000" b="1" dirty="0"/>
              <a:t>«الركيزة الرابعة»</a:t>
            </a:r>
            <a:r>
              <a:rPr lang="ar-SA" sz="2000" dirty="0"/>
              <a:t xml:space="preserve"> للاستدامة (هوكس 2001، UCLG 2010)، وتعني صون الهوية والتراث والتنوع الثقافي ونقله للأجيال القادمة.</a:t>
            </a:r>
            <a:endParaRPr lang="ar-SA" sz="2000" dirty="0"/>
          </a:p>
          <a:p>
            <a:pPr marL="0" indent="0">
              <a:buNone/>
            </a:pPr>
            <a:r>
              <a:rPr lang="ar-SA" sz="2000" b="1" dirty="0"/>
              <a:t>التطبيق في تصميم المغلفات:</a:t>
            </a:r>
            <a:endParaRPr lang="ar-SA" sz="2000" dirty="0"/>
          </a:p>
          <a:p>
            <a:pPr marL="0" indent="0">
              <a:buNone/>
            </a:pPr>
            <a:r>
              <a:rPr lang="ar-SA" sz="2000" dirty="0"/>
              <a:t xml:space="preserve">• </a:t>
            </a:r>
            <a:r>
              <a:rPr lang="ar-SA" sz="2000" dirty="0"/>
              <a:t xml:space="preserve">توظيف </a:t>
            </a:r>
            <a:r>
              <a:rPr lang="ar-SA" sz="2000" b="1" dirty="0"/>
              <a:t>الخط العربي</a:t>
            </a:r>
            <a:r>
              <a:rPr lang="ar-SA" sz="2000" dirty="0"/>
              <a:t xml:space="preserve"> كعنصر هوية؛ وقد أُدرج في قائمة اليونسكو للتراث غير المادي عام 2021.</a:t>
            </a:r>
            <a:endParaRPr lang="ar-SA" sz="2000" dirty="0"/>
          </a:p>
          <a:p>
            <a:pPr marL="0" indent="0">
              <a:buNone/>
            </a:pPr>
            <a:r>
              <a:rPr lang="ar-SA" sz="2000" dirty="0"/>
              <a:t xml:space="preserve">• </a:t>
            </a:r>
            <a:r>
              <a:rPr lang="ar-SA" sz="2000" dirty="0"/>
              <a:t xml:space="preserve">استلهام </a:t>
            </a:r>
            <a:r>
              <a:rPr lang="ar-SA" sz="2000" b="1" dirty="0"/>
              <a:t>نقوش السدو</a:t>
            </a:r>
            <a:r>
              <a:rPr lang="ar-SA" sz="2000" dirty="0"/>
              <a:t xml:space="preserve"> (اليونسكو، 2020) والأنماط الهندسية الإسلامية.</a:t>
            </a:r>
            <a:endParaRPr lang="ar-SA" sz="2000" dirty="0"/>
          </a:p>
          <a:p>
            <a:pPr marL="0" indent="0">
              <a:buNone/>
            </a:pPr>
            <a:r>
              <a:rPr lang="ar-SA" sz="2000" dirty="0"/>
              <a:t xml:space="preserve">• </a:t>
            </a:r>
            <a:r>
              <a:rPr lang="ar-SA" sz="2000" dirty="0"/>
              <a:t>استخدام مواد وحِرف محلية كـ</a:t>
            </a:r>
            <a:r>
              <a:rPr lang="ar-SA" sz="2000" b="1" dirty="0"/>
              <a:t>الخوص وسعف النخيل</a:t>
            </a:r>
            <a:r>
              <a:rPr lang="ar-SA" sz="2000" dirty="0"/>
              <a:t xml:space="preserve"> (النخلة في اليونسكو، 2019).</a:t>
            </a:r>
            <a:endParaRPr lang="ar-SA" sz="2000" dirty="0"/>
          </a:p>
          <a:p>
            <a:pPr marL="0" indent="0">
              <a:buNone/>
            </a:pPr>
            <a:r>
              <a:rPr lang="ar-SA" sz="2000" dirty="0"/>
              <a:t xml:space="preserve">• </a:t>
            </a:r>
            <a:r>
              <a:rPr lang="ar-SA" sz="2000" dirty="0"/>
              <a:t xml:space="preserve">مراعاة </a:t>
            </a:r>
            <a:r>
              <a:rPr lang="ar-SA" sz="2000" b="1" dirty="0"/>
              <a:t>دلالات الألوان والرموز</a:t>
            </a:r>
            <a:r>
              <a:rPr lang="ar-SA" sz="2000" dirty="0"/>
              <a:t xml:space="preserve"> لدى الجمهور، ومحتوى ثنائي اللغة يحترم العربية.</a:t>
            </a:r>
            <a:endParaRPr lang="ar-SA" sz="2000" dirty="0"/>
          </a:p>
        </p:txBody>
      </p:sp>
      <p:pic>
        <p:nvPicPr>
          <p:cNvPr id="4" name="Picture 3" descr="رسم توضيحي: عبوة يلفها شريط بنقوش السدو مع سعف نخيل ونجمة ثمانية">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680000" y="1500000"/>
            <a:ext cx="3200400" cy="4267200"/>
          </a:xfrm>
          <a:prstGeom prst="rect">
            <a:avLst/>
          </a:prstGeom>
        </p:spPr>
      </p:pic>
      <p:sp>
        <p:nvSpPr>
          <p:cNvPr id="904" name="Dimension Badge" descr="نطبّقه في المحاضرة: رابعاً"/>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نطبّقه في المحاضرة: </a:t>
            </a:r>
            <a:r>
              <a:rPr lang="ar-SA" sz="1600" b="1" dirty="0">
                <a:solidFill>
                  <a:srgbClr val="4A3B2A"/>
                </a:solidFill>
                <a:latin typeface="Sakkal Majalla"/>
                <a:cs typeface="Sakkal Majalla"/>
              </a:rPr>
              <a:t>رابعاً</a:t>
            </a:r>
          </a:p>
        </p:txBody>
      </p:sp>
    </p:spTree>
    <p:extLst>
      <p:ext uri="{BB962C8B-B14F-4D97-AF65-F5344CB8AC3E}">
        <p14:creationId xmlns:p14="http://schemas.microsoft.com/office/powerpoint/2010/main" val="3458178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5. الاستدامة البشرية و6. الاستدامة المؤسسية</a:t>
            </a:r>
            <a:endParaRPr lang="ar-SA" sz="2000" dirty="0"/>
          </a:p>
          <a:p>
            <a:pPr marL="0" indent="0">
              <a:buNone/>
            </a:pPr>
            <a:r>
              <a:rPr lang="ar-SA" sz="2000" b="1" dirty="0"/>
              <a:t>البشرية (Human):</a:t>
            </a:r>
            <a:r>
              <a:rPr lang="ar-SA" sz="2000" dirty="0"/>
              <a:t xml:space="preserve"> الحفاظ على صحة الإنسان ومعارفه ومهاراته (غودلاند 2002).</a:t>
            </a:r>
            <a:endParaRPr lang="ar-SA" sz="2000" dirty="0"/>
          </a:p>
          <a:p>
            <a:pPr marL="0" indent="0">
              <a:buNone/>
            </a:pPr>
            <a:r>
              <a:rPr lang="ar-SA" sz="2000" dirty="0"/>
              <a:t xml:space="preserve">• </a:t>
            </a:r>
            <a:r>
              <a:rPr lang="ar-SA" sz="2000" dirty="0"/>
              <a:t xml:space="preserve">اختيار </a:t>
            </a:r>
            <a:r>
              <a:rPr lang="ar-SA" sz="2000" b="1" dirty="0"/>
              <a:t>مواد آمنة لملامسة الغذاء</a:t>
            </a:r>
            <a:r>
              <a:rPr lang="ar-SA" sz="2000" dirty="0"/>
              <a:t>، وتجنب الأحبار والمواد الضارة.</a:t>
            </a:r>
            <a:endParaRPr lang="ar-SA" sz="2000" dirty="0"/>
          </a:p>
          <a:p>
            <a:pPr marL="0" indent="0">
              <a:buNone/>
            </a:pPr>
            <a:r>
              <a:rPr lang="ar-SA" sz="2000" dirty="0"/>
              <a:t xml:space="preserve">• </a:t>
            </a:r>
            <a:r>
              <a:rPr lang="ar-SA" sz="2000" b="1" dirty="0"/>
              <a:t>عبوات تثقيفية</a:t>
            </a:r>
            <a:r>
              <a:rPr lang="ar-SA" sz="2000" dirty="0"/>
              <a:t xml:space="preserve"> توعّي المستهلك بالفرز عبر رموز وأيقونات واضحة.</a:t>
            </a:r>
            <a:endParaRPr lang="ar-SA" sz="2000" dirty="0"/>
          </a:p>
          <a:p>
            <a:pPr marL="0" indent="0">
              <a:buNone/>
            </a:pPr>
            <a:r>
              <a:rPr lang="ar-SA" sz="2000" b="1" dirty="0"/>
              <a:t>المؤسسية (Institutional):</a:t>
            </a:r>
            <a:r>
              <a:rPr lang="ar-SA" sz="2000" dirty="0"/>
              <a:t xml:space="preserve"> سياسات ومعايير وأنظمة تضمن الالتزام بالاستدامة.</a:t>
            </a:r>
            <a:endParaRPr lang="ar-SA" sz="2000" dirty="0"/>
          </a:p>
          <a:p>
            <a:pPr marL="0" indent="0">
              <a:buNone/>
            </a:pPr>
            <a:r>
              <a:rPr lang="ar-SA" sz="2000" dirty="0"/>
              <a:t xml:space="preserve">• </a:t>
            </a:r>
            <a:r>
              <a:rPr lang="ar-SA" sz="2000" dirty="0"/>
              <a:t xml:space="preserve">الالتزام بسلسلة </a:t>
            </a:r>
            <a:r>
              <a:rPr lang="ar-SA" sz="2000" b="1" dirty="0"/>
              <a:t>ISO 18601–18606</a:t>
            </a:r>
            <a:r>
              <a:rPr lang="ar-SA" sz="2000" dirty="0"/>
              <a:t xml:space="preserve"> للتغليف والبيئة، و</a:t>
            </a:r>
            <a:r>
              <a:rPr lang="ar-SA" sz="2000" b="1" dirty="0"/>
              <a:t>ISO 14001</a:t>
            </a:r>
            <a:r>
              <a:rPr lang="ar-SA" sz="2000" dirty="0"/>
              <a:t xml:space="preserve"> للإدارة البيئية.</a:t>
            </a:r>
            <a:endParaRPr lang="ar-SA" sz="2000" dirty="0"/>
          </a:p>
          <a:p>
            <a:pPr marL="0" indent="0">
              <a:buNone/>
            </a:pPr>
            <a:r>
              <a:rPr lang="ar-SA" sz="2000" dirty="0"/>
              <a:t xml:space="preserve">• </a:t>
            </a:r>
            <a:r>
              <a:rPr lang="ar-SA" sz="2000" dirty="0"/>
              <a:t>شهادات موثوقة (</a:t>
            </a:r>
            <a:r>
              <a:rPr lang="ar-SA" sz="2000" b="1" dirty="0"/>
              <a:t>FSC</a:t>
            </a:r>
            <a:r>
              <a:rPr lang="ar-SA" sz="2000" dirty="0"/>
              <a:t xml:space="preserve">، </a:t>
            </a:r>
            <a:r>
              <a:rPr lang="ar-SA" sz="2000" b="1" dirty="0"/>
              <a:t>Cradle to Cradle</a:t>
            </a:r>
            <a:r>
              <a:rPr lang="ar-SA" sz="2000" dirty="0"/>
              <a:t xml:space="preserve">)، ومواءمة التصميم مع </a:t>
            </a:r>
            <a:r>
              <a:rPr lang="ar-SA" sz="2000" b="1" dirty="0"/>
              <a:t>مبادرة السعودية الخضراء</a:t>
            </a:r>
            <a:r>
              <a:rPr lang="ar-SA" sz="2000" dirty="0"/>
              <a:t xml:space="preserve"> (2021).</a:t>
            </a:r>
            <a:endParaRPr lang="ar-SA" sz="2000" dirty="0"/>
          </a:p>
        </p:txBody>
      </p:sp>
      <p:pic>
        <p:nvPicPr>
          <p:cNvPr id="4" name="Picture 3" descr="رسم توضيحي: شهادة اعتماد وشارة جودة ودرع يحمل قلباً">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680000" y="1500000"/>
            <a:ext cx="3200400" cy="4267200"/>
          </a:xfrm>
          <a:prstGeom prst="rect">
            <a:avLst/>
          </a:prstGeom>
        </p:spPr>
      </p:pic>
      <p:sp>
        <p:nvSpPr>
          <p:cNvPr id="905" name="Dimension Badge" descr="نطبّقه في المحاضرة: ثانياً"/>
          <p:cNvSpPr/>
          <p:nvPr/>
        </p:nvSpPr>
        <p:spPr>
          <a:xfrm>
            <a:off x="4150000" y="520000"/>
            <a:ext cx="5600000" cy="400000"/>
          </a:xfrm>
          <a:prstGeom prst="roundRect">
            <a:avLst>
              <a:gd name="adj" fmla="val 50000"/>
            </a:avLst>
          </a:prstGeom>
          <a:solidFill>
            <a:srgbClr val="F6F1E7"/>
          </a:solidFill>
          <a:ln>
            <a:noFill/>
          </a:ln>
        </p:spPr>
        <p:txBody>
          <a:bodyPr wrap="none" lIns="182880" rIns="182880" tIns="0" bIns="0" anchor="ctr" rtlCol="1">
            <a:noAutofit/>
          </a:bodyPr>
          <a:lstStyle/>
          <a:p>
            <a:pPr algn="r" rtl="1"/>
            <a:r>
              <a:rPr lang="ar-SA" sz="1600" dirty="0">
                <a:solidFill>
                  <a:srgbClr val="4A3B2A"/>
                </a:solidFill>
                <a:latin typeface="Sakkal Majalla"/>
                <a:cs typeface="Sakkal Majalla"/>
              </a:rPr>
              <a:t xml:space="preserve">نطبّقه في المحاضرة: </a:t>
            </a:r>
            <a:r>
              <a:rPr lang="ar-SA" sz="1600" b="1" dirty="0">
                <a:solidFill>
                  <a:srgbClr val="4A3B2A"/>
                </a:solidFill>
                <a:latin typeface="Sakkal Majalla"/>
                <a:cs typeface="Sakkal Majalla"/>
              </a:rPr>
              <a:t>ثانياً</a:t>
            </a:r>
          </a:p>
        </p:txBody>
      </p:sp>
    </p:spTree>
    <p:extLst>
      <p:ext uri="{BB962C8B-B14F-4D97-AF65-F5344CB8AC3E}">
        <p14:creationId xmlns:p14="http://schemas.microsoft.com/office/powerpoint/2010/main" val="3458178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0AF2-3BCD-A585-3237-E7D711FAE6AC}"/>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CB9AC83B-DA0D-C284-A37F-CC85BC432DA7}"/>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A460509A-394E-062D-DA54-BD283A37F314}"/>
              </a:ext>
            </a:extLst>
          </p:cNvPr>
          <p:cNvSpPr txBox="1">
            <a:spLocks/>
          </p:cNvSpPr>
          <p:nvPr/>
        </p:nvSpPr>
        <p:spPr>
          <a:xfrm>
            <a:off x="4402666" y="1416963"/>
            <a:ext cx="6920176"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من الأبعاد إلى التطبيق: خريطة المحاضرة</a:t>
            </a:r>
            <a:endParaRPr lang="ar-SA" sz="2000" dirty="0"/>
          </a:p>
          <a:p>
            <a:pPr marL="0" indent="0">
              <a:buNone/>
            </a:pPr>
            <a:r>
              <a:rPr lang="ar-SA" sz="2000" dirty="0"/>
              <a:t xml:space="preserve">بعد أن تعرفنا على أبعاد الاستدامة، ننتقل إلى </a:t>
            </a:r>
            <a:r>
              <a:rPr lang="ar-SA" sz="2000" b="1" dirty="0"/>
              <a:t>أدوات المصمم العملية</a:t>
            </a:r>
            <a:r>
              <a:rPr lang="ar-SA" sz="2000" dirty="0"/>
              <a:t>؛ فكل محور قادم يطبّق بعداً أو أكثر من هذه الأبعاد:</a:t>
            </a:r>
            <a:endParaRPr lang="ar-SA" sz="2000" dirty="0"/>
          </a:p>
          <a:p>
            <a:pPr marL="0" indent="0">
              <a:buNone/>
            </a:pPr>
            <a:r>
              <a:rPr lang="ar-SA" sz="2000" dirty="0"/>
              <a:t xml:space="preserve">• </a:t>
            </a:r>
            <a:r>
              <a:rPr lang="ar-SA" sz="2000" b="1" dirty="0"/>
              <a:t>أولاً: هرم النفايات (3Rs)</a:t>
            </a:r>
            <a:r>
              <a:rPr lang="ar-SA" sz="2000" dirty="0"/>
              <a:t xml:space="preserve"> ← البعد البيئي والاقتصادي (مواد أقل = تكلفة أقل).</a:t>
            </a:r>
            <a:endParaRPr lang="ar-SA" sz="2000" dirty="0"/>
          </a:p>
          <a:p>
            <a:pPr marL="0" indent="0">
              <a:buNone/>
            </a:pPr>
            <a:r>
              <a:rPr lang="ar-SA" sz="2000" dirty="0"/>
              <a:t xml:space="preserve">• </a:t>
            </a:r>
            <a:r>
              <a:rPr lang="ar-SA" sz="2000" b="1" dirty="0"/>
              <a:t>ثانياً: التحليل المادي للبلاستيك والورق</a:t>
            </a:r>
            <a:r>
              <a:rPr lang="ar-SA" sz="2000" dirty="0"/>
              <a:t xml:space="preserve"> ← البعد البيئي والبشري (سلامة المواد) والمؤسسي (أكواد التدوير و FSC).</a:t>
            </a:r>
            <a:endParaRPr lang="ar-SA" sz="2000" dirty="0"/>
          </a:p>
          <a:p>
            <a:pPr marL="0" indent="0">
              <a:buNone/>
            </a:pPr>
            <a:r>
              <a:rPr lang="ar-SA" sz="2000" dirty="0"/>
              <a:t xml:space="preserve">• </a:t>
            </a:r>
            <a:r>
              <a:rPr lang="ar-SA" sz="2000" b="1" dirty="0"/>
              <a:t>ثالثاً: الابتكارات الناشئة</a:t>
            </a:r>
            <a:r>
              <a:rPr lang="ar-SA" sz="2000" dirty="0"/>
              <a:t xml:space="preserve"> ← البعد البيئي والاجتماعي (تغيير سلوك المستهلك).</a:t>
            </a:r>
            <a:endParaRPr lang="ar-SA" sz="2000" dirty="0"/>
          </a:p>
          <a:p>
            <a:pPr marL="0" indent="0">
              <a:buNone/>
            </a:pPr>
            <a:r>
              <a:rPr lang="ar-SA" sz="2000" dirty="0"/>
              <a:t xml:space="preserve">• </a:t>
            </a:r>
            <a:r>
              <a:rPr lang="ar-SA" sz="2000" b="1" dirty="0"/>
              <a:t>رابعاً: التغليف متعدد الاستخدامات</a:t>
            </a:r>
            <a:r>
              <a:rPr lang="ar-SA" sz="2000" dirty="0"/>
              <a:t xml:space="preserve"> ← البعد الاقتصادي والاجتماعي والثقافي.</a:t>
            </a:r>
            <a:endParaRPr lang="ar-SA" sz="2000" dirty="0"/>
          </a:p>
          <a:p>
            <a:pPr marL="0" indent="0">
              <a:buNone/>
            </a:pPr>
            <a:r>
              <a:rPr lang="ar-SA" sz="2000" dirty="0"/>
              <a:t xml:space="preserve">ونبدأ بأول وأهم قاعدة يعتمد عليها مصمم العبوات: </a:t>
            </a:r>
            <a:r>
              <a:rPr lang="ar-SA" sz="2000" b="1" dirty="0"/>
              <a:t>هرم إدارة النفايات</a:t>
            </a:r>
            <a:r>
              <a:rPr lang="ar-SA" sz="2000" dirty="0"/>
              <a:t>.</a:t>
            </a:r>
            <a:endParaRPr lang="ar-SA" sz="2000" dirty="0"/>
          </a:p>
        </p:txBody>
      </p:sp>
      <p:pic>
        <p:nvPicPr>
          <p:cNvPr id="4" name="Picture 3" descr="رسم توضيحي: طريق متعرج بأربع محطات مرقمة ينتهي بعبوة تنبت منها نبتة">
            <a:extLst>
              <a:ext uri="{FF2B5EF4-FFF2-40B4-BE49-F238E27FC236}">
                <a16:creationId xmlns:a16="http://schemas.microsoft.com/office/drawing/2014/main" id="{056553AD-C0DE-E827-1CFB-B6851E4E9DCC}"/>
              </a:ext>
            </a:extLst>
          </p:cNvPr>
          <p:cNvPicPr>
            <a:picLocks noChangeAspect="1"/>
          </p:cNvPicPr>
          <p:nvPr/>
        </p:nvPicPr>
        <p:blipFill>
          <a:blip r:embed="rId2"/>
          <a:stretch>
            <a:fillRect/>
          </a:stretch>
        </p:blipFill>
        <p:spPr>
          <a:xfrm>
            <a:off x="680000" y="1500000"/>
            <a:ext cx="3200400" cy="4267200"/>
          </a:xfrm>
          <a:prstGeom prst="rect">
            <a:avLst/>
          </a:prstGeom>
        </p:spPr>
      </p:pic>
    </p:spTree>
    <p:extLst>
      <p:ext uri="{BB962C8B-B14F-4D97-AF65-F5344CB8AC3E}">
        <p14:creationId xmlns:p14="http://schemas.microsoft.com/office/powerpoint/2010/main" val="3458178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DB49-E0CB-E0AD-4519-280914AEE6EF}"/>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865F76D3-3DE5-BC69-C45C-C71EBFDFD10E}"/>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5EE6ED02-8F43-54FC-FB77-1E467CA54456}"/>
              </a:ext>
            </a:extLst>
          </p:cNvPr>
          <p:cNvSpPr txBox="1">
            <a:spLocks/>
          </p:cNvSpPr>
          <p:nvPr/>
        </p:nvSpPr>
        <p:spPr>
          <a:xfrm>
            <a:off x="874845" y="1300000"/>
            <a:ext cx="10442309" cy="80000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الخلاصة: كيف تتكامل أبعاد الاستدامة في تصميم المغلفات؟</a:t>
            </a:r>
            <a:endParaRPr lang="ar-SA" sz="2000" dirty="0"/>
          </a:p>
          <a:p>
            <a:pPr marL="0" indent="0">
              <a:buNone/>
            </a:pPr>
            <a:r>
              <a:rPr lang="ar-SA" sz="2000" dirty="0"/>
              <a:t>كل قرار في العبوة يخدم أكثر من بُعد؛ وهذا الجدول يربط الأبعاد بما درسناه:</a:t>
            </a:r>
            <a:endParaRPr lang="ar-SA" sz="2000" dirty="0"/>
          </a:p>
        </p:txBody>
      </p:sp>
      <p:graphicFrame>
        <p:nvGraphicFramePr>
          <p:cNvPr id="913" name="Synthesis Table"/>
          <p:cNvGraphicFramePr>
            <a:graphicFrameLocks noGrp="1"/>
          </p:cNvGraphicFramePr>
          <p:nvPr/>
        </p:nvGraphicFramePr>
        <p:xfrm>
          <a:off x="874845" y="2250000"/>
          <a:ext cx="10442309" cy="3500000"/>
        </p:xfrm>
        <a:graphic>
          <a:graphicData uri="http://schemas.openxmlformats.org/drawingml/2006/table">
            <a:tbl>
              <a:tblPr rtl="1" firstRow="1"/>
              <a:tblGrid>
                <a:gridCol w="2000000"/>
                <a:gridCol w="2800000"/>
                <a:gridCol w="5642309"/>
              </a:tblGrid>
              <a:tr h="500000">
                <a:tc>
                  <a:txBody>
                    <a:bodyPr/>
                    <a:lstStyle/>
                    <a:p>
                      <a:pPr algn="r" rtl="1"/>
                      <a:r>
                        <a:rPr lang="ar-SA" sz="1600" b="1" dirty="0">
                          <a:solidFill>
                            <a:srgbClr val="FFFFFF"/>
                          </a:solidFill>
                          <a:latin typeface="Sakkal Majalla"/>
                          <a:cs typeface="Sakkal Majalla"/>
                        </a:rPr>
                        <a:t>البُعد</a:t>
                      </a:r>
                    </a:p>
                  </a:txBody>
                  <a:tcPr marL="91440" marR="91440" marT="45720" marB="45720" anchor="ctr">
                    <a:lnB w="6350">
                      <a:solidFill>
                        <a:srgbClr val="D9CBB0"/>
                      </a:solidFill>
                    </a:lnB>
                    <a:solidFill>
                      <a:srgbClr val="6B5235"/>
                    </a:solidFill>
                  </a:tcPr>
                </a:tc>
                <a:tc>
                  <a:txBody>
                    <a:bodyPr/>
                    <a:lstStyle/>
                    <a:p>
                      <a:pPr algn="r" rtl="1"/>
                      <a:r>
                        <a:rPr lang="ar-SA" sz="1600" b="1" dirty="0">
                          <a:solidFill>
                            <a:srgbClr val="FFFFFF"/>
                          </a:solidFill>
                          <a:latin typeface="Sakkal Majalla"/>
                          <a:cs typeface="Sakkal Majalla"/>
                        </a:rPr>
                        <a:t>أين طبّقناه في المحاضرة؟</a:t>
                      </a:r>
                    </a:p>
                  </a:txBody>
                  <a:tcPr marL="91440" marR="91440" marT="45720" marB="45720" anchor="ctr">
                    <a:lnB w="6350">
                      <a:solidFill>
                        <a:srgbClr val="D9CBB0"/>
                      </a:solidFill>
                    </a:lnB>
                    <a:solidFill>
                      <a:srgbClr val="6B5235"/>
                    </a:solidFill>
                  </a:tcPr>
                </a:tc>
                <a:tc>
                  <a:txBody>
                    <a:bodyPr/>
                    <a:lstStyle/>
                    <a:p>
                      <a:pPr algn="r" rtl="1"/>
                      <a:r>
                        <a:rPr lang="ar-SA" sz="1600" b="1" dirty="0">
                          <a:solidFill>
                            <a:srgbClr val="FFFFFF"/>
                          </a:solidFill>
                          <a:latin typeface="Sakkal Majalla"/>
                          <a:cs typeface="Sakkal Majalla"/>
                        </a:rPr>
                        <a:t>أهم قرار تصميمي</a:t>
                      </a:r>
                    </a:p>
                  </a:txBody>
                  <a:tcPr marL="91440" marR="91440" marT="45720" marB="45720" anchor="ctr">
                    <a:lnB w="6350">
                      <a:solidFill>
                        <a:srgbClr val="D9CBB0"/>
                      </a:solidFill>
                    </a:lnB>
                    <a:solidFill>
                      <a:srgbClr val="6B5235"/>
                    </a:solidFill>
                  </a:tcPr>
                </a:tc>
              </a:tr>
              <a:tr h="500000">
                <a:tc>
                  <a:txBody>
                    <a:bodyPr/>
                    <a:lstStyle/>
                    <a:p>
                      <a:pPr algn="r" rtl="1"/>
                      <a:r>
                        <a:rPr lang="ar-SA" sz="1600" b="1" dirty="0">
                          <a:solidFill>
                            <a:srgbClr val="5E9C4B"/>
                          </a:solidFill>
                          <a:latin typeface="Sakkal Majalla"/>
                          <a:cs typeface="Sakkal Majalla"/>
                        </a:rPr>
                        <a:t>البيئي</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أولاً، ثانياً، ثالثاً</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مواد أقل، أحادية، قابلة للتدوير أو التحلل الحيوي</a:t>
                      </a:r>
                    </a:p>
                  </a:txBody>
                  <a:tcPr marL="91440" marR="91440" marT="45720" marB="45720" anchor="ctr">
                    <a:lnB w="6350">
                      <a:solidFill>
                        <a:srgbClr val="D9CBB0"/>
                      </a:solidFill>
                    </a:lnB>
                    <a:noFill/>
                  </a:tcPr>
                </a:tc>
              </a:tr>
              <a:tr h="500000">
                <a:tc>
                  <a:txBody>
                    <a:bodyPr/>
                    <a:lstStyle/>
                    <a:p>
                      <a:pPr algn="r" rtl="1"/>
                      <a:r>
                        <a:rPr lang="ar-SA" sz="1600" b="1" dirty="0">
                          <a:solidFill>
                            <a:srgbClr val="D9A441"/>
                          </a:solidFill>
                          <a:latin typeface="Sakkal Majalla"/>
                          <a:cs typeface="Sakkal Majalla"/>
                        </a:rPr>
                        <a:t>الاقتصادي</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أولاً، رابعاً</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تخفيف الوزن، الشحن المسطح، عبوة لها حياة ثانية</a:t>
                      </a:r>
                    </a:p>
                  </a:txBody>
                  <a:tcPr marL="91440" marR="91440" marT="45720" marB="45720" anchor="ctr">
                    <a:lnB w="6350">
                      <a:solidFill>
                        <a:srgbClr val="D9CBB0"/>
                      </a:solidFill>
                    </a:lnB>
                    <a:noFill/>
                  </a:tcPr>
                </a:tc>
              </a:tr>
              <a:tr h="500000">
                <a:tc>
                  <a:txBody>
                    <a:bodyPr/>
                    <a:lstStyle/>
                    <a:p>
                      <a:pPr algn="r" rtl="1"/>
                      <a:r>
                        <a:rPr lang="ar-SA" sz="1600" b="1" dirty="0">
                          <a:solidFill>
                            <a:srgbClr val="4B7FA8"/>
                          </a:solidFill>
                          <a:latin typeface="Sakkal Majalla"/>
                          <a:cs typeface="Sakkal Majalla"/>
                        </a:rPr>
                        <a:t>الاجتماعي</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ثالثاً، رابعاً</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عبوة آمنة وشاملة للجميع وصادقة في ادعاءاتها</a:t>
                      </a:r>
                    </a:p>
                  </a:txBody>
                  <a:tcPr marL="91440" marR="91440" marT="45720" marB="45720" anchor="ctr">
                    <a:lnB w="6350">
                      <a:solidFill>
                        <a:srgbClr val="D9CBB0"/>
                      </a:solidFill>
                    </a:lnB>
                    <a:noFill/>
                  </a:tcPr>
                </a:tc>
              </a:tr>
              <a:tr h="500000">
                <a:tc>
                  <a:txBody>
                    <a:bodyPr/>
                    <a:lstStyle/>
                    <a:p>
                      <a:pPr algn="r" rtl="1"/>
                      <a:r>
                        <a:rPr lang="ar-SA" sz="1600" b="1" dirty="0">
                          <a:solidFill>
                            <a:srgbClr val="B5473A"/>
                          </a:solidFill>
                          <a:latin typeface="Sakkal Majalla"/>
                          <a:cs typeface="Sakkal Majalla"/>
                        </a:rPr>
                        <a:t>الثقافي</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رابعاً</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هوية محلية: الخط العربي، السدو، الخوص وسعف النخيل</a:t>
                      </a:r>
                    </a:p>
                  </a:txBody>
                  <a:tcPr marL="91440" marR="91440" marT="45720" marB="45720" anchor="ctr">
                    <a:lnB w="6350">
                      <a:solidFill>
                        <a:srgbClr val="D9CBB0"/>
                      </a:solidFill>
                    </a:lnB>
                    <a:noFill/>
                  </a:tcPr>
                </a:tc>
              </a:tr>
              <a:tr h="500000">
                <a:tc>
                  <a:txBody>
                    <a:bodyPr/>
                    <a:lstStyle/>
                    <a:p>
                      <a:pPr algn="r" rtl="1"/>
                      <a:r>
                        <a:rPr lang="ar-SA" sz="1600" b="1" dirty="0">
                          <a:solidFill>
                            <a:srgbClr val="8A5BA8"/>
                          </a:solidFill>
                          <a:latin typeface="Sakkal Majalla"/>
                          <a:cs typeface="Sakkal Majalla"/>
                        </a:rPr>
                        <a:t>البشري</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ثانياً</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مواد آمنة لملامسة الغذاء وتوعية المستهلك بالفرز</a:t>
                      </a:r>
                    </a:p>
                  </a:txBody>
                  <a:tcPr marL="91440" marR="91440" marT="45720" marB="45720" anchor="ctr">
                    <a:lnB w="6350">
                      <a:solidFill>
                        <a:srgbClr val="D9CBB0"/>
                      </a:solidFill>
                    </a:lnB>
                    <a:noFill/>
                  </a:tcPr>
                </a:tc>
              </a:tr>
              <a:tr h="500000">
                <a:tc>
                  <a:txBody>
                    <a:bodyPr/>
                    <a:lstStyle/>
                    <a:p>
                      <a:pPr algn="r" rtl="1"/>
                      <a:r>
                        <a:rPr lang="ar-SA" sz="1600" b="1" dirty="0">
                          <a:solidFill>
                            <a:srgbClr val="3F8F8A"/>
                          </a:solidFill>
                          <a:latin typeface="Sakkal Majalla"/>
                          <a:cs typeface="Sakkal Majalla"/>
                        </a:rPr>
                        <a:t>المؤسسي</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ثانياً</a:t>
                      </a:r>
                    </a:p>
                  </a:txBody>
                  <a:tcPr marL="91440" marR="91440" marT="45720" marB="45720" anchor="ctr">
                    <a:lnB w="6350">
                      <a:solidFill>
                        <a:srgbClr val="D9CBB0"/>
                      </a:solidFill>
                    </a:lnB>
                    <a:noFill/>
                  </a:tcPr>
                </a:tc>
                <a:tc>
                  <a:txBody>
                    <a:bodyPr/>
                    <a:lstStyle/>
                    <a:p>
                      <a:pPr algn="r" rtl="1"/>
                      <a:r>
                        <a:rPr lang="ar-SA" sz="1600" dirty="0">
                          <a:solidFill>
                            <a:srgbClr val="262626"/>
                          </a:solidFill>
                          <a:latin typeface="Sakkal Majalla"/>
                          <a:cs typeface="Sakkal Majalla"/>
                        </a:rPr>
                        <a:t>أكواد التدوير، شهادة FSC، ومعايير ISO</a:t>
                      </a:r>
                    </a:p>
                  </a:txBody>
                  <a:tcPr marL="91440" marR="91440" marT="45720" marB="45720" anchor="ctr">
                    <a:lnB w="6350">
                      <a:solidFill>
                        <a:srgbClr val="D9CBB0"/>
                      </a:solidFill>
                    </a:lnB>
                    <a:noFill/>
                  </a:tcPr>
                </a:tc>
              </a:tr>
            </a:tbl>
          </a:graphicData>
        </a:graphic>
      </p:graphicFrame>
    </p:spTree>
    <p:extLst>
      <p:ext uri="{BB962C8B-B14F-4D97-AF65-F5344CB8AC3E}">
        <p14:creationId xmlns:p14="http://schemas.microsoft.com/office/powerpoint/2010/main" val="587942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DB49-E0CB-E0AD-4519-280914AEE6EF}"/>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865F76D3-3DE5-BC69-C45C-C71EBFDFD10E}"/>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5EE6ED02-8F43-54FC-FB77-1E467CA54456}"/>
              </a:ext>
            </a:extLst>
          </p:cNvPr>
          <p:cNvSpPr txBox="1">
            <a:spLocks/>
          </p:cNvSpPr>
          <p:nvPr/>
        </p:nvSpPr>
        <p:spPr>
          <a:xfrm>
            <a:off x="874845" y="1416963"/>
            <a:ext cx="10442309"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المصادر والمراجع</a:t>
            </a:r>
            <a:endParaRPr lang="ar-SA" sz="2000" dirty="0"/>
          </a:p>
          <a:p>
            <a:pPr marL="0" indent="0" algn="l" rtl="0">
              <a:buNone/>
            </a:pPr>
            <a:r>
              <a:rPr lang="en-US" sz="1600" dirty="0"/>
              <a:t>Boylston, S. (2009). Designing sustainable packaging. Laurence King Publishing.</a:t>
            </a:r>
            <a:endParaRPr lang="en-US" sz="1600" dirty="0"/>
          </a:p>
          <a:p>
            <a:pPr marL="0" indent="0" algn="l" rtl="0">
              <a:buNone/>
            </a:pPr>
            <a:r>
              <a:rPr lang="en-US" sz="1600" dirty="0"/>
              <a:t>Jedlička, W. (2009). Packaging sustainability: Tools, systems and strategies for innovative package design. John Wiley &amp; Sons.</a:t>
            </a:r>
            <a:endParaRPr lang="en-US" sz="1600" dirty="0"/>
          </a:p>
          <a:p>
            <a:pPr marL="0" indent="0" algn="l" rtl="0">
              <a:buNone/>
            </a:pPr>
            <a:r>
              <a:rPr lang="en-US" sz="1600" dirty="0"/>
              <a:t>World Commission on Environment and Development. (1987). Our common future. Oxford University Press.</a:t>
            </a:r>
            <a:endParaRPr lang="en-US" sz="1600" dirty="0"/>
          </a:p>
          <a:p>
            <a:pPr marL="0" indent="0" algn="l" rtl="0">
              <a:buNone/>
            </a:pPr>
            <a:r>
              <a:rPr lang="en-US" sz="1600" dirty="0"/>
              <a:t>Elkington, J. (1997). Cannibals with forks: The triple bottom line of 21st century business. Capstone.</a:t>
            </a:r>
            <a:endParaRPr lang="en-US" sz="1600" dirty="0"/>
          </a:p>
          <a:p>
            <a:pPr marL="0" indent="0" algn="l" rtl="0">
              <a:buNone/>
            </a:pPr>
            <a:r>
              <a:rPr lang="en-US" sz="1600" dirty="0"/>
              <a:t>Hawkes, J. (2001). The fourth pillar of sustainability: Culture's essential role in public planning. Common Ground / Cultural Development Network.</a:t>
            </a:r>
            <a:endParaRPr lang="en-US" sz="1600" dirty="0"/>
          </a:p>
          <a:p>
            <a:pPr marL="0" indent="0" algn="l" rtl="0">
              <a:buNone/>
            </a:pPr>
            <a:r>
              <a:rPr lang="en-US" sz="1600" dirty="0"/>
              <a:t>United Cities and Local Governments (UCLG). (2010). Culture: Fourth pillar of sustainable development. UCLG.</a:t>
            </a:r>
            <a:endParaRPr lang="en-US" sz="1600" dirty="0"/>
          </a:p>
          <a:p>
            <a:pPr marL="0" indent="0" algn="l" rtl="0">
              <a:buNone/>
            </a:pPr>
            <a:r>
              <a:rPr lang="en-US" sz="1600" dirty="0"/>
              <a:t>Goodland, R. (2002). Sustainability: Human, social, economic and environmental. In Encyclopedia of global environmental change. John Wiley &amp; Sons.</a:t>
            </a:r>
            <a:endParaRPr lang="en-US" sz="1600" dirty="0"/>
          </a:p>
          <a:p>
            <a:pPr marL="0" indent="0" algn="l" rtl="0">
              <a:buNone/>
            </a:pPr>
            <a:r>
              <a:rPr lang="en-US" sz="1600" dirty="0"/>
              <a:t>United Nations. (2001). Indicators of sustainable development: Guidelines and methodologies (2nd ed.). UN DESA.</a:t>
            </a:r>
            <a:endParaRPr lang="en-US" sz="1600" dirty="0"/>
          </a:p>
          <a:p>
            <a:pPr marL="0" indent="0" algn="l" rtl="0">
              <a:buNone/>
            </a:pPr>
            <a:r>
              <a:rPr lang="en-US" sz="1600" dirty="0"/>
              <a:t>United Nations. (2015). Transforming our world: The 2030 Agenda for Sustainable Development (A/RES/70/1).</a:t>
            </a:r>
            <a:endParaRPr lang="en-US" sz="1600" dirty="0"/>
          </a:p>
        </p:txBody>
      </p:sp>
    </p:spTree>
    <p:extLst>
      <p:ext uri="{BB962C8B-B14F-4D97-AF65-F5344CB8AC3E}">
        <p14:creationId xmlns:p14="http://schemas.microsoft.com/office/powerpoint/2010/main" val="587942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DB49-E0CB-E0AD-4519-280914AEE6EF}"/>
            </a:ext>
          </a:extLst>
        </p:cNvPr>
        <p:cNvGrpSpPr/>
        <p:nvPr/>
      </p:nvGrpSpPr>
      <p:grpSpPr>
        <a:xfrm>
          <a:off x="0" y="0"/>
          <a:ext cx="0" cy="0"/>
          <a:chOff x="0" y="0"/>
          <a:chExt cx="0" cy="0"/>
        </a:xfrm>
      </p:grpSpPr>
      <p:sp>
        <p:nvSpPr>
          <p:cNvPr id="15" name="Footer Placeholder 3">
            <a:extLst>
              <a:ext uri="{FF2B5EF4-FFF2-40B4-BE49-F238E27FC236}">
                <a16:creationId xmlns:a16="http://schemas.microsoft.com/office/drawing/2014/main" id="{865F76D3-3DE5-BC69-C45C-C71EBFDFD10E}"/>
              </a:ext>
            </a:extLst>
          </p:cNvPr>
          <p:cNvSpPr>
            <a:spLocks noGrp="1"/>
          </p:cNvSpPr>
          <p:nvPr>
            <p:ph type="ftr" sz="quarter" idx="11"/>
          </p:nvPr>
        </p:nvSpPr>
        <p:spPr>
          <a:xfrm>
            <a:off x="4038600" y="6356350"/>
            <a:ext cx="4114800" cy="365125"/>
          </a:xfrm>
        </p:spPr>
        <p:txBody>
          <a:bodyPr/>
          <a:lstStyle/>
          <a:p>
            <a:r>
              <a:rPr lang="ar-SA" dirty="0"/>
              <a:t>برنامج التصميم الجرافيكي - المستوى السادس</a:t>
            </a:r>
            <a:endParaRPr lang="en-US" dirty="0"/>
          </a:p>
        </p:txBody>
      </p:sp>
      <p:sp>
        <p:nvSpPr>
          <p:cNvPr id="3" name="Content Placeholder 2">
            <a:extLst>
              <a:ext uri="{FF2B5EF4-FFF2-40B4-BE49-F238E27FC236}">
                <a16:creationId xmlns:a16="http://schemas.microsoft.com/office/drawing/2014/main" id="{5EE6ED02-8F43-54FC-FB77-1E467CA54456}"/>
              </a:ext>
            </a:extLst>
          </p:cNvPr>
          <p:cNvSpPr txBox="1">
            <a:spLocks/>
          </p:cNvSpPr>
          <p:nvPr/>
        </p:nvSpPr>
        <p:spPr>
          <a:xfrm>
            <a:off x="874845" y="1416963"/>
            <a:ext cx="10442309" cy="1030380"/>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kkal Majalla" panose="02000000000000000000" pitchFamily="2" charset="-78"/>
                <a:ea typeface="+mn-ea"/>
                <a:cs typeface="Sakkal Majalla" panose="02000000000000000000" pitchFamily="2" charset="-78"/>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kkal Majalla" panose="02000000000000000000" pitchFamily="2" charset="-78"/>
                <a:ea typeface="+mn-ea"/>
                <a:cs typeface="Sakkal Majalla" panose="02000000000000000000" pitchFamily="2" charset="-78"/>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kkal Majalla" panose="02000000000000000000" pitchFamily="2" charset="-78"/>
                <a:ea typeface="+mn-ea"/>
                <a:cs typeface="Sakkal Majalla" panose="02000000000000000000" pitchFamily="2" charset="-78"/>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kkal Majalla" panose="02000000000000000000" pitchFamily="2" charset="-78"/>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ar-SA" sz="2000" b="1" dirty="0"/>
              <a:t>المصادر والمراجع (تابع)</a:t>
            </a:r>
            <a:endParaRPr lang="ar-SA" sz="2000" dirty="0"/>
          </a:p>
          <a:p>
            <a:pPr marL="0" indent="0" algn="l" rtl="0">
              <a:buNone/>
            </a:pPr>
            <a:r>
              <a:rPr lang="en-US" sz="1600" dirty="0"/>
              <a:t>Sustainable Packaging Coalition. (2011). Definition of sustainable packaging (Version 2.0). GreenBlue.</a:t>
            </a:r>
            <a:endParaRPr lang="en-US" sz="1600" dirty="0"/>
          </a:p>
          <a:p>
            <a:pPr marL="0" indent="0" algn="l" rtl="0">
              <a:buNone/>
            </a:pPr>
            <a:r>
              <a:rPr lang="en-US" sz="1600" dirty="0"/>
              <a:t>Ellen MacArthur Foundation. (2016). The new plastics economy: Rethinking the future of plastics.</a:t>
            </a:r>
            <a:endParaRPr lang="en-US" sz="1600" dirty="0"/>
          </a:p>
          <a:p>
            <a:pPr marL="0" indent="0" algn="l" rtl="0">
              <a:buNone/>
            </a:pPr>
            <a:r>
              <a:rPr lang="en-US" sz="1600" dirty="0"/>
              <a:t>OECD. (2016). Extended producer responsibility: Updated guidance for efficient waste management. OECD Publishing.</a:t>
            </a:r>
            <a:endParaRPr lang="en-US" sz="1600" dirty="0"/>
          </a:p>
          <a:p>
            <a:pPr marL="0" indent="0" algn="l" rtl="0">
              <a:buNone/>
            </a:pPr>
            <a:r>
              <a:rPr lang="en-US" sz="1600" dirty="0"/>
              <a:t>ISO. (2013). ISO 18601: Packaging and the environment — General requirements for the use of ISO standards in the field of packaging and the environment.</a:t>
            </a:r>
            <a:endParaRPr lang="en-US" sz="1600" dirty="0"/>
          </a:p>
          <a:p>
            <a:pPr marL="0" indent="0" algn="l" rtl="0">
              <a:buNone/>
            </a:pPr>
            <a:r>
              <a:rPr lang="en-US" sz="1600" dirty="0"/>
              <a:t>ISO. (2015). ISO 14001: Environmental management systems — Requirements with guidance for use.</a:t>
            </a:r>
            <a:endParaRPr lang="en-US" sz="1600" dirty="0"/>
          </a:p>
          <a:p>
            <a:pPr marL="0" indent="0" algn="l" rtl="0">
              <a:buNone/>
            </a:pPr>
            <a:r>
              <a:rPr lang="en-US" sz="1600" dirty="0"/>
              <a:t>ISO. (2016). ISO 14021: Environmental labels and declarations — Self-declared environmental claims (Type II environmental labelling).</a:t>
            </a:r>
            <a:endParaRPr lang="en-US" sz="1600" dirty="0"/>
          </a:p>
          <a:p>
            <a:pPr marL="0" indent="0" algn="l" rtl="0">
              <a:buNone/>
            </a:pPr>
            <a:r>
              <a:rPr lang="en-US" sz="1600" dirty="0"/>
              <a:t>European Parliament &amp; Council. (2004). Directive 2004/27/EC amending Directive 2001/83/EC on medicinal products for human use. Official Journal of the EU, L 136.</a:t>
            </a:r>
            <a:endParaRPr lang="en-US" sz="1600" dirty="0"/>
          </a:p>
          <a:p>
            <a:pPr marL="0" indent="0" algn="l" rtl="0">
              <a:buNone/>
            </a:pPr>
            <a:r>
              <a:rPr lang="en-US" sz="1600" dirty="0"/>
              <a:t>UNESCO. Representative List of the Intangible Cultural Heritage of Humanity: Date palm (2019); Traditional weaving of Al Sadu (2020); Arabic calligraphy (2021). https://ich.unesco.org</a:t>
            </a:r>
            <a:endParaRPr lang="en-US" sz="1600" dirty="0"/>
          </a:p>
          <a:p>
            <a:pPr marL="0" indent="0" algn="l" rtl="0">
              <a:buNone/>
            </a:pPr>
            <a:r>
              <a:rPr lang="en-US" sz="1600" dirty="0"/>
              <a:t>Saudi Green Initiative. (2021). Kingdom of Saudi Arabia. https://www.greeninitiatives.gov.sa</a:t>
            </a:r>
            <a:endParaRPr lang="en-US" sz="1600" dirty="0"/>
          </a:p>
          <a:p>
            <a:pPr marL="0" indent="0" algn="l" rtl="0">
              <a:buNone/>
            </a:pPr>
            <a:r>
              <a:rPr lang="en-US" sz="1600" dirty="0"/>
              <a:t>FSC: https://fsc.org  |  Cradle to Cradle Certified: https://c2ccertified.org</a:t>
            </a:r>
            <a:endParaRPr lang="en-US" sz="1600" dirty="0"/>
          </a:p>
        </p:txBody>
      </p:sp>
    </p:spTree>
    <p:extLst>
      <p:ext uri="{BB962C8B-B14F-4D97-AF65-F5344CB8AC3E}">
        <p14:creationId xmlns:p14="http://schemas.microsoft.com/office/powerpoint/2010/main" val="587942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8948</TotalTime>
  <Words>968</Words>
  <Application>Microsoft Macintosh PowerPoint</Application>
  <PresentationFormat>Widescreen</PresentationFormat>
  <Paragraphs>63</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Avenir Medium</vt:lpstr>
      <vt:lpstr>Calibri</vt:lpstr>
      <vt:lpstr>GE Dinar One</vt:lpstr>
      <vt:lpstr>Sakkal Majalla</vt:lpstr>
      <vt:lpstr>Office Theme</vt:lpstr>
      <vt:lpstr>التصميم المستدام (الجزء الثاني)</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InDesign</dc:title>
  <dc:creator>haifa badran alomar</dc:creator>
  <cp:lastModifiedBy>Nourah Alsadoun</cp:lastModifiedBy>
  <cp:revision>171</cp:revision>
  <dcterms:created xsi:type="dcterms:W3CDTF">2024-04-17T13:12:11Z</dcterms:created>
  <dcterms:modified xsi:type="dcterms:W3CDTF">2026-08-29T12:21:24Z</dcterms:modified>
</cp:coreProperties>
</file>