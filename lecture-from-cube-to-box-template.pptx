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9"/>
    <p:sldId id="259" r:id="rId8"/>
    <p:sldId id="260" r:id="rId7"/>
    <p:sldId id="261" r:id="rId6"/>
    <p:sldId id="262" r:id="rId5"/>
    <p:sldId id="263" r:id="rId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57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44"/>
    <p:restoredTop sz="94491"/>
  </p:normalViewPr>
  <p:slideViewPr>
    <p:cSldViewPr snapToGrid="0" snapToObjects="1">
      <p:cViewPr varScale="1">
        <p:scale>
          <a:sx n="117" d="100"/>
          <a:sy n="117" d="100"/>
        </p:scale>
        <p:origin x="208"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4" d="100"/>
          <a:sy n="94" d="100"/>
        </p:scale>
        <p:origin x="4040"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D3ED4-A725-1124-7268-C714085C65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A4EC01CD-5443-69BE-3D14-B6D3605B22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AF1E98-5F94-224A-A21F-D0A6E573F1EA}" type="datetimeFigureOut">
              <a:rPr lang="en-SA" smtClean="0"/>
              <a:t>29/08/2026 R</a:t>
            </a:fld>
            <a:endParaRPr lang="en-SA"/>
          </a:p>
        </p:txBody>
      </p:sp>
      <p:sp>
        <p:nvSpPr>
          <p:cNvPr id="4" name="Footer Placeholder 3">
            <a:extLst>
              <a:ext uri="{FF2B5EF4-FFF2-40B4-BE49-F238E27FC236}">
                <a16:creationId xmlns:a16="http://schemas.microsoft.com/office/drawing/2014/main" id="{194BE99D-1939-059B-3CE5-F0B1570E6A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5" name="Slide Number Placeholder 4">
            <a:extLst>
              <a:ext uri="{FF2B5EF4-FFF2-40B4-BE49-F238E27FC236}">
                <a16:creationId xmlns:a16="http://schemas.microsoft.com/office/drawing/2014/main" id="{CB01E896-DE12-37E6-A645-B8103536BB5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7B7EF7-468D-8441-A410-28F9516067E8}" type="slidenum">
              <a:rPr lang="en-SA" smtClean="0"/>
              <a:t>‹#›</a:t>
            </a:fld>
            <a:endParaRPr lang="en-SA"/>
          </a:p>
        </p:txBody>
      </p:sp>
    </p:spTree>
    <p:extLst>
      <p:ext uri="{BB962C8B-B14F-4D97-AF65-F5344CB8AC3E}">
        <p14:creationId xmlns:p14="http://schemas.microsoft.com/office/powerpoint/2010/main" val="38676166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AD55F2-279C-D647-95BA-2741FBF6F3F1}" type="datetimeFigureOut">
              <a:rPr lang="en-US" smtClean="0"/>
              <a:t>8/29/26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352315-EC8F-7049-AB74-0E6986D6A890}" type="slidenum">
              <a:rPr lang="en-US" smtClean="0"/>
              <a:t>‹#›</a:t>
            </a:fld>
            <a:endParaRPr lang="en-US"/>
          </a:p>
        </p:txBody>
      </p:sp>
    </p:spTree>
    <p:extLst>
      <p:ext uri="{BB962C8B-B14F-4D97-AF65-F5344CB8AC3E}">
        <p14:creationId xmlns:p14="http://schemas.microsoft.com/office/powerpoint/2010/main" val="22938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الصورة: الوضعية الصحيحة لمسك المشرط، السبابة فوق المقبض قريبة من الشفرة.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يُستخدم الحد القاطع للشفرة في الطي لأنه يقطع ألياف الورق فيضعف الخط أو ينفصل الورق عند الطي. ويُفضَّل استخدام شفرة قديمة لظهر الشفرة.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الشكل المائل لأطراف اللسان ضروري؛ لو كان اللسان مستطيلًا لاصطدم بلسان الوجه المجاور عند الطي.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اختبار الاتجاه: تُثنى قطعة صغيرة في الاتجاهين، فالأسهل انثناءً هو اتجاه الألياف. أو تُمزَّق: التمزق مع الألياف يكون مستقيمًا ومع عكسها متعرجًا.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قاعدة عملية: كلما زادت سماكة الورق زادت الحاجة إلى هذا التعديل، ويُجرَّب الدايلاين دائمًا بنموذج قبل اعتماده.</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في تقنية الضغط يُطوى الخط الأفقي في منتصف الجدار عكس اتجاه الخطوط العمودية، وهذا ما يجعل الجدار ينثني للداخل.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إمالة السطح العلوي (Shaving a Face): نقطع الجزء العلوي من المكعّب بخط مائل، فيصبح السطح العلوي منحدرًا بدل أن يكون مستويًا. ويمكن أن يكون الميل خفيفًا أو حادًا، أو مائلًا للأمام أو للخلف.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شطف حافة (Shaving an Edge): نقطع إحدى الحواف الحادة بقطع مائل، فيظهر مكانها سطح جديد صغير، كما يُشطف طرف قطعة الخشب.</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شطف زاوية (Shaving a Corner): نقطع إحدى زوايا المكعّب، فيظهر مكانها سطح جديد على شكل مثلث. وإذا قطعنا المسافة نفسها على الحواف الثلاث كان المثلث متساوي الأضلاع.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الشدّ من حافة إلى حافة (Stretching Edge-to-edge): نتخيل المكعّب مطاطًا، ونمسك حافتين متقابلتين ونشدّهما بعيدًا عن بعض، فيصبح صندوقًا مائلًا (Leaning Box).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الشدّ من زاوية إلى زاوية (Stretching Corner-to-corner): نمسك زاويتين متقابلتين (أبعد نقطتين في المكعّب) ونشدّهما، فيصبح الشكل كالمعيّن الممدود.</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لفّ الغطاء والقاعدة (Twisting Opposite Faces): الوجهان المقصودان هما الغطاء (الوجه العلوي) والقاعدة (الوجه السفلي). نثبّت القاعدة ونلفّ الغطاء لفّة خفيفة، كما نفتح غطاء البرطمان، فتميل الجدران الأربعة.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اللفّ: النسخة المُضلَّعة (Twisting: Faceted Version): نكمل لفّ الغطاء أكثر حتى تصبح كل زاوية في الغطاء فوق منتصف حافة القاعدة، ثم نصل الزوايا بخطوط طي.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الضغط من الأعلى إلى الأسفل (Compressing Face-to-face): نضغط الغطاء نحو القاعدة كأننا نضغط علبة مطاطية، فتنثني الجدران عند منتصفها. والشكل المعروض تبسيط لهذه الفكرة بخطوط طي مستقيمة.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٥٪؟ الفرجار المفتوح كثيرًا يرسم قوسًا خفيف الانحناء يسهل طيّه، والمفتوح قليلًا يرسم قوسًا حادًا يصعب طيّه. في الصورة: الخط السميك هو الحافة، والدائرة المنقطة مرسومة بالفرجار ومركزها على الخط المساعد.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يمكن عرض العبوات الحقيقية في القاعة إن توفرت، وسؤال الطلاب: أي تقنية من تقنيات المحاضرة تفسّر هذا الشكل؟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الإجابات: ١) بالضغط عليه بظهر الشفرة أو أداة غير حادة؛ لأن الحد القاطع يقطع الورق فيضعف. ٢) فوق التصميم، كي تتجه الشفرة إن انزلقت نحو الورق الزائد. ٣) سبعة أوجه. ٤) ٨٠°، ولا يُنصح بأقل من ٧٠°. ٥) ١٢ × ١٫٠٥ = ١٢٫٦ سم. ٦) لأن الأقواس تعمل أزواجًا متعاكسة.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95B1D-719A-CF4F-92FF-162875E9795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C30851-694D-F543-9CA3-5D3D9CC9D06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B75FB5-0BB6-2843-9EFC-989F05E8D9A9}"/>
              </a:ext>
            </a:extLst>
          </p:cNvPr>
          <p:cNvSpPr>
            <a:spLocks noGrp="1"/>
          </p:cNvSpPr>
          <p:nvPr>
            <p:ph type="dt" sz="half" idx="10"/>
          </p:nvPr>
        </p:nvSpPr>
        <p:spPr>
          <a:xfrm>
            <a:off x="838200" y="6356350"/>
            <a:ext cx="2743200" cy="365125"/>
          </a:xfrm>
          <a:prstGeom prst="rect">
            <a:avLst/>
          </a:prstGeom>
        </p:spPr>
        <p:txBody>
          <a:bodyPr/>
          <a:lstStyle/>
          <a:p>
            <a:fld id="{8BA932CB-382F-4B55-8C01-EB744FF02002}" type="datetime1">
              <a:rPr lang="en-US" smtClean="0"/>
              <a:t>8/29/26</a:t>
            </a:fld>
            <a:endParaRPr lang="en-US"/>
          </a:p>
        </p:txBody>
      </p:sp>
      <p:sp>
        <p:nvSpPr>
          <p:cNvPr id="5" name="Footer Placeholder 4">
            <a:extLst>
              <a:ext uri="{FF2B5EF4-FFF2-40B4-BE49-F238E27FC236}">
                <a16:creationId xmlns:a16="http://schemas.microsoft.com/office/drawing/2014/main" id="{E5C1ECF2-D22D-8947-9222-E1B3916639C8}"/>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D4D2911-EE2E-D84D-9A62-8FEEF522D599}"/>
              </a:ext>
            </a:extLst>
          </p:cNvPr>
          <p:cNvSpPr>
            <a:spLocks noGrp="1"/>
          </p:cNvSpPr>
          <p:nvPr>
            <p:ph type="sldNum" sz="quarter" idx="12"/>
          </p:nvPr>
        </p:nvSpPr>
        <p:spPr>
          <a:xfrm>
            <a:off x="8610600" y="6356350"/>
            <a:ext cx="2743200" cy="365125"/>
          </a:xfrm>
          <a:prstGeom prst="rect">
            <a:avLst/>
          </a:prstGeom>
        </p:spPr>
        <p:txBody>
          <a:bodyPr/>
          <a:lstStyle>
            <a:lvl1pPr marL="228600" indent="-228600" algn="l" rtl="1">
              <a:buFont typeface="+mj-lt"/>
              <a:buAutoNum type="arabicPeriod"/>
              <a:defRPr/>
            </a:lvl1pPr>
          </a:lstStyle>
          <a:p>
            <a:pPr algn="r"/>
            <a:endParaRPr lang="en-US" dirty="0"/>
          </a:p>
        </p:txBody>
      </p:sp>
    </p:spTree>
    <p:extLst>
      <p:ext uri="{BB962C8B-B14F-4D97-AF65-F5344CB8AC3E}">
        <p14:creationId xmlns:p14="http://schemas.microsoft.com/office/powerpoint/2010/main" val="3635066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CC063-0CF1-EC48-81D1-35B818B1D6B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CFB4FE0-2CE3-F14A-A915-58BB58A3ADB4}"/>
              </a:ext>
            </a:extLst>
          </p:cNvPr>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A1504-DA7E-384B-976C-D6302E486157}"/>
              </a:ext>
            </a:extLst>
          </p:cNvPr>
          <p:cNvSpPr>
            <a:spLocks noGrp="1"/>
          </p:cNvSpPr>
          <p:nvPr>
            <p:ph type="dt" sz="half" idx="10"/>
          </p:nvPr>
        </p:nvSpPr>
        <p:spPr>
          <a:xfrm>
            <a:off x="838200" y="6356350"/>
            <a:ext cx="2743200" cy="365125"/>
          </a:xfrm>
          <a:prstGeom prst="rect">
            <a:avLst/>
          </a:prstGeom>
        </p:spPr>
        <p:txBody>
          <a:bodyPr/>
          <a:lstStyle/>
          <a:p>
            <a:fld id="{6DEADBA5-6346-4B36-B068-0CCAF43B940A}" type="datetime1">
              <a:rPr lang="en-US" smtClean="0"/>
              <a:t>8/29/26</a:t>
            </a:fld>
            <a:endParaRPr lang="en-US"/>
          </a:p>
        </p:txBody>
      </p:sp>
      <p:sp>
        <p:nvSpPr>
          <p:cNvPr id="5" name="Footer Placeholder 4">
            <a:extLst>
              <a:ext uri="{FF2B5EF4-FFF2-40B4-BE49-F238E27FC236}">
                <a16:creationId xmlns:a16="http://schemas.microsoft.com/office/drawing/2014/main" id="{0B77A406-9FA9-3E4A-BBEF-A2B1113E1127}"/>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C7D281EC-403D-314E-A6D2-6343BAF449A7}"/>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981651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2D03C-7784-F045-A002-1F918E04A1C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CBDC39-B769-3243-9924-9522E0969232}"/>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A62A36-1213-FF4B-BF7F-4645AD71D1A8}"/>
              </a:ext>
            </a:extLst>
          </p:cNvPr>
          <p:cNvSpPr>
            <a:spLocks noGrp="1"/>
          </p:cNvSpPr>
          <p:nvPr>
            <p:ph type="dt" sz="half" idx="10"/>
          </p:nvPr>
        </p:nvSpPr>
        <p:spPr>
          <a:xfrm>
            <a:off x="838200" y="6356350"/>
            <a:ext cx="2743200" cy="365125"/>
          </a:xfrm>
          <a:prstGeom prst="rect">
            <a:avLst/>
          </a:prstGeom>
        </p:spPr>
        <p:txBody>
          <a:bodyPr/>
          <a:lstStyle/>
          <a:p>
            <a:fld id="{FB0297A9-FD26-487D-BF7C-39F0BFEDAE3A}" type="datetime1">
              <a:rPr lang="en-US" smtClean="0"/>
              <a:t>8/29/26</a:t>
            </a:fld>
            <a:endParaRPr lang="en-US"/>
          </a:p>
        </p:txBody>
      </p:sp>
      <p:sp>
        <p:nvSpPr>
          <p:cNvPr id="5" name="Footer Placeholder 4">
            <a:extLst>
              <a:ext uri="{FF2B5EF4-FFF2-40B4-BE49-F238E27FC236}">
                <a16:creationId xmlns:a16="http://schemas.microsoft.com/office/drawing/2014/main" id="{263E88B2-7F8B-714B-B041-612AE5DF16B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9CC4B896-2ECF-694E-A27F-F43BC08ACBE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9449689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96D4E-C006-8D45-9771-C77F3362EC3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5DE6859-C198-CE4A-9141-C652BA7066FD}"/>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61CD53-E384-244B-BE3B-FFBBE38E08C6}"/>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9622CB-E528-5947-A85B-F3F5E2C5F547}"/>
              </a:ext>
            </a:extLst>
          </p:cNvPr>
          <p:cNvSpPr>
            <a:spLocks noGrp="1"/>
          </p:cNvSpPr>
          <p:nvPr>
            <p:ph type="dt" sz="half" idx="10"/>
          </p:nvPr>
        </p:nvSpPr>
        <p:spPr>
          <a:xfrm>
            <a:off x="838200" y="6356350"/>
            <a:ext cx="2743200" cy="365125"/>
          </a:xfrm>
          <a:prstGeom prst="rect">
            <a:avLst/>
          </a:prstGeom>
        </p:spPr>
        <p:txBody>
          <a:bodyPr/>
          <a:lstStyle/>
          <a:p>
            <a:fld id="{6BE6DAA6-6496-4381-A216-D2E192C84EDB}" type="datetime1">
              <a:rPr lang="en-US" smtClean="0"/>
              <a:t>8/29/26</a:t>
            </a:fld>
            <a:endParaRPr lang="en-US"/>
          </a:p>
        </p:txBody>
      </p:sp>
      <p:sp>
        <p:nvSpPr>
          <p:cNvPr id="6" name="Footer Placeholder 5">
            <a:extLst>
              <a:ext uri="{FF2B5EF4-FFF2-40B4-BE49-F238E27FC236}">
                <a16:creationId xmlns:a16="http://schemas.microsoft.com/office/drawing/2014/main" id="{3C9DD693-0C22-3C4D-BF84-1CDC54FF1F6A}"/>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D560C669-0EE1-3549-AA32-0CF2A935F36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75046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F22C6-D053-D143-809F-54C40B7E1AF7}"/>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03CC6D9-EA3C-4C4D-8E87-E77AF3223D0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D73C27-06DF-9F43-92C1-1B9E85122D3C}"/>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60B757-C458-9E45-9662-D43535C4FE44}"/>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C3000C6-E367-9048-9ECC-CC9D94459762}"/>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FF696B-0A9F-6943-BDDB-F15E36B79809}"/>
              </a:ext>
            </a:extLst>
          </p:cNvPr>
          <p:cNvSpPr>
            <a:spLocks noGrp="1"/>
          </p:cNvSpPr>
          <p:nvPr>
            <p:ph type="dt" sz="half" idx="10"/>
          </p:nvPr>
        </p:nvSpPr>
        <p:spPr>
          <a:xfrm>
            <a:off x="838200" y="6356350"/>
            <a:ext cx="2743200" cy="365125"/>
          </a:xfrm>
          <a:prstGeom prst="rect">
            <a:avLst/>
          </a:prstGeom>
        </p:spPr>
        <p:txBody>
          <a:bodyPr/>
          <a:lstStyle/>
          <a:p>
            <a:fld id="{1A84317A-23C7-43CF-84C0-E7949A0EEEC1}" type="datetime1">
              <a:rPr lang="en-US" smtClean="0"/>
              <a:t>8/29/26</a:t>
            </a:fld>
            <a:endParaRPr lang="en-US"/>
          </a:p>
        </p:txBody>
      </p:sp>
      <p:sp>
        <p:nvSpPr>
          <p:cNvPr id="8" name="Footer Placeholder 7">
            <a:extLst>
              <a:ext uri="{FF2B5EF4-FFF2-40B4-BE49-F238E27FC236}">
                <a16:creationId xmlns:a16="http://schemas.microsoft.com/office/drawing/2014/main" id="{81C31820-BF02-4248-BC1F-4295A75AA6B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9" name="Slide Number Placeholder 8">
            <a:extLst>
              <a:ext uri="{FF2B5EF4-FFF2-40B4-BE49-F238E27FC236}">
                <a16:creationId xmlns:a16="http://schemas.microsoft.com/office/drawing/2014/main" id="{4EB86F3B-68E8-5C4B-90C1-FAC02EB2A12E}"/>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55921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14EBE-511D-A14D-A485-F2D099AB484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9F9DAD5-D1DB-EE45-A2CF-C16477BC6224}"/>
              </a:ext>
            </a:extLst>
          </p:cNvPr>
          <p:cNvSpPr>
            <a:spLocks noGrp="1"/>
          </p:cNvSpPr>
          <p:nvPr>
            <p:ph type="dt" sz="half" idx="10"/>
          </p:nvPr>
        </p:nvSpPr>
        <p:spPr>
          <a:xfrm>
            <a:off x="838200" y="6356350"/>
            <a:ext cx="2743200" cy="365125"/>
          </a:xfrm>
          <a:prstGeom prst="rect">
            <a:avLst/>
          </a:prstGeom>
        </p:spPr>
        <p:txBody>
          <a:bodyPr/>
          <a:lstStyle/>
          <a:p>
            <a:fld id="{E61B70F4-2ADC-4968-894A-168A515CD00F}" type="datetime1">
              <a:rPr lang="en-US" smtClean="0"/>
              <a:t>8/29/26</a:t>
            </a:fld>
            <a:endParaRPr lang="en-US"/>
          </a:p>
        </p:txBody>
      </p:sp>
      <p:sp>
        <p:nvSpPr>
          <p:cNvPr id="4" name="Footer Placeholder 3">
            <a:extLst>
              <a:ext uri="{FF2B5EF4-FFF2-40B4-BE49-F238E27FC236}">
                <a16:creationId xmlns:a16="http://schemas.microsoft.com/office/drawing/2014/main" id="{1A9B2BBE-A804-6A4F-9EA0-9AFD447876E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5" name="Slide Number Placeholder 4">
            <a:extLst>
              <a:ext uri="{FF2B5EF4-FFF2-40B4-BE49-F238E27FC236}">
                <a16:creationId xmlns:a16="http://schemas.microsoft.com/office/drawing/2014/main" id="{B1EE21E9-C4E6-4F44-AE67-862133FBE8D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60004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8EA237-DB10-6343-9513-6F6F466CECDC}"/>
              </a:ext>
            </a:extLst>
          </p:cNvPr>
          <p:cNvSpPr>
            <a:spLocks noGrp="1"/>
          </p:cNvSpPr>
          <p:nvPr>
            <p:ph type="dt" sz="half" idx="10"/>
          </p:nvPr>
        </p:nvSpPr>
        <p:spPr>
          <a:xfrm>
            <a:off x="838200" y="6356350"/>
            <a:ext cx="2743200" cy="365125"/>
          </a:xfrm>
          <a:prstGeom prst="rect">
            <a:avLst/>
          </a:prstGeom>
        </p:spPr>
        <p:txBody>
          <a:bodyPr/>
          <a:lstStyle/>
          <a:p>
            <a:fld id="{80527E97-0D0F-4F25-94B2-511CFB784A61}" type="datetime1">
              <a:rPr lang="en-US" smtClean="0"/>
              <a:t>8/29/26</a:t>
            </a:fld>
            <a:endParaRPr lang="en-US"/>
          </a:p>
        </p:txBody>
      </p:sp>
      <p:sp>
        <p:nvSpPr>
          <p:cNvPr id="3" name="Footer Placeholder 2">
            <a:extLst>
              <a:ext uri="{FF2B5EF4-FFF2-40B4-BE49-F238E27FC236}">
                <a16:creationId xmlns:a16="http://schemas.microsoft.com/office/drawing/2014/main" id="{3BC2839F-65CA-EA47-91F3-FA59AF2F327B}"/>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4" name="Slide Number Placeholder 3">
            <a:extLst>
              <a:ext uri="{FF2B5EF4-FFF2-40B4-BE49-F238E27FC236}">
                <a16:creationId xmlns:a16="http://schemas.microsoft.com/office/drawing/2014/main" id="{711568A4-56E2-6746-B167-BC75B74B1F15}"/>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15522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BE66-AAC5-D249-B7D9-2C06C9249FA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F94C034-F466-BC44-8CB8-F94D2C1CC40B}"/>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A1AE357-EE97-C745-821A-899A56D338F4}"/>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90B094-318C-5C4D-9217-21257B60E346}"/>
              </a:ext>
            </a:extLst>
          </p:cNvPr>
          <p:cNvSpPr>
            <a:spLocks noGrp="1"/>
          </p:cNvSpPr>
          <p:nvPr>
            <p:ph type="dt" sz="half" idx="10"/>
          </p:nvPr>
        </p:nvSpPr>
        <p:spPr>
          <a:xfrm>
            <a:off x="838200" y="6356350"/>
            <a:ext cx="2743200" cy="365125"/>
          </a:xfrm>
          <a:prstGeom prst="rect">
            <a:avLst/>
          </a:prstGeom>
        </p:spPr>
        <p:txBody>
          <a:bodyPr/>
          <a:lstStyle/>
          <a:p>
            <a:fld id="{CE1A1EED-5468-4662-9116-EA324E72E27D}" type="datetime1">
              <a:rPr lang="en-US" smtClean="0"/>
              <a:t>8/29/26</a:t>
            </a:fld>
            <a:endParaRPr lang="en-US"/>
          </a:p>
        </p:txBody>
      </p:sp>
      <p:sp>
        <p:nvSpPr>
          <p:cNvPr id="6" name="Footer Placeholder 5">
            <a:extLst>
              <a:ext uri="{FF2B5EF4-FFF2-40B4-BE49-F238E27FC236}">
                <a16:creationId xmlns:a16="http://schemas.microsoft.com/office/drawing/2014/main" id="{53659FD8-B6EE-4846-A5E7-E6113CD88110}"/>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6F246591-DE00-4D4A-9B41-813AEA44891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5513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B65E9-0D75-2845-89B4-31BEEF76F61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C22A3C-F646-514E-83DC-4E923202CFC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63BC2D-5DAE-6640-9824-650C4BE7739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BA8E1E5-B4EE-C24A-9234-35BBFF0BCCB6}"/>
              </a:ext>
            </a:extLst>
          </p:cNvPr>
          <p:cNvSpPr>
            <a:spLocks noGrp="1"/>
          </p:cNvSpPr>
          <p:nvPr>
            <p:ph type="dt" sz="half" idx="10"/>
          </p:nvPr>
        </p:nvSpPr>
        <p:spPr>
          <a:xfrm>
            <a:off x="838200" y="6356350"/>
            <a:ext cx="2743200" cy="365125"/>
          </a:xfrm>
          <a:prstGeom prst="rect">
            <a:avLst/>
          </a:prstGeom>
        </p:spPr>
        <p:txBody>
          <a:bodyPr/>
          <a:lstStyle/>
          <a:p>
            <a:fld id="{87D82976-136B-45A3-BE74-AF47A0873794}" type="datetime1">
              <a:rPr lang="en-US" smtClean="0"/>
              <a:t>8/29/26</a:t>
            </a:fld>
            <a:endParaRPr lang="en-US"/>
          </a:p>
        </p:txBody>
      </p:sp>
      <p:sp>
        <p:nvSpPr>
          <p:cNvPr id="6" name="Footer Placeholder 5">
            <a:extLst>
              <a:ext uri="{FF2B5EF4-FFF2-40B4-BE49-F238E27FC236}">
                <a16:creationId xmlns:a16="http://schemas.microsoft.com/office/drawing/2014/main" id="{B843CD61-1855-064B-8C88-185ECE7B1C59}"/>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3246B2A3-DACB-994E-A6F9-896A6273553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0254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93-C82F-3441-A9FD-C3DAF66513F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9E963-5C99-9440-A23E-5DF26D5F5C90}"/>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7B26-4382-A648-9F91-4C61986B009F}"/>
              </a:ext>
            </a:extLst>
          </p:cNvPr>
          <p:cNvSpPr>
            <a:spLocks noGrp="1"/>
          </p:cNvSpPr>
          <p:nvPr>
            <p:ph type="dt" sz="half" idx="10"/>
          </p:nvPr>
        </p:nvSpPr>
        <p:spPr>
          <a:xfrm>
            <a:off x="838200" y="6356350"/>
            <a:ext cx="2743200" cy="365125"/>
          </a:xfrm>
          <a:prstGeom prst="rect">
            <a:avLst/>
          </a:prstGeom>
        </p:spPr>
        <p:txBody>
          <a:bodyPr/>
          <a:lstStyle/>
          <a:p>
            <a:fld id="{25B967AB-6CBB-4FFA-80BE-668735DAF57C}" type="datetime1">
              <a:rPr lang="en-US" smtClean="0"/>
              <a:t>8/29/26</a:t>
            </a:fld>
            <a:endParaRPr lang="en-US"/>
          </a:p>
        </p:txBody>
      </p:sp>
      <p:sp>
        <p:nvSpPr>
          <p:cNvPr id="5" name="Footer Placeholder 4">
            <a:extLst>
              <a:ext uri="{FF2B5EF4-FFF2-40B4-BE49-F238E27FC236}">
                <a16:creationId xmlns:a16="http://schemas.microsoft.com/office/drawing/2014/main" id="{F34F3DC5-9E54-7C4C-85B5-4E83289C812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B2E6178-F519-1E48-92C6-D0E47439138B}"/>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160154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12978B-FCD2-2045-85F0-1A14DE5CB5E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FB10E8-067B-2C48-B702-967E01DD84B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5F7474-7BF7-8848-8A5E-943CAEF7B509}"/>
              </a:ext>
            </a:extLst>
          </p:cNvPr>
          <p:cNvSpPr>
            <a:spLocks noGrp="1"/>
          </p:cNvSpPr>
          <p:nvPr>
            <p:ph type="dt" sz="half" idx="10"/>
          </p:nvPr>
        </p:nvSpPr>
        <p:spPr>
          <a:xfrm>
            <a:off x="838200" y="6356350"/>
            <a:ext cx="2743200" cy="365125"/>
          </a:xfrm>
          <a:prstGeom prst="rect">
            <a:avLst/>
          </a:prstGeom>
        </p:spPr>
        <p:txBody>
          <a:bodyPr/>
          <a:lstStyle/>
          <a:p>
            <a:fld id="{B7B49DCA-0B0C-490D-9170-2EBC047E1017}" type="datetime1">
              <a:rPr lang="en-US" smtClean="0"/>
              <a:t>8/29/26</a:t>
            </a:fld>
            <a:endParaRPr lang="en-US"/>
          </a:p>
        </p:txBody>
      </p:sp>
      <p:sp>
        <p:nvSpPr>
          <p:cNvPr id="5" name="Footer Placeholder 4">
            <a:extLst>
              <a:ext uri="{FF2B5EF4-FFF2-40B4-BE49-F238E27FC236}">
                <a16:creationId xmlns:a16="http://schemas.microsoft.com/office/drawing/2014/main" id="{BAFEE781-F8D4-3A47-B4CF-BE796E445F0C}"/>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AF7C0E21-9A27-AB48-A677-0FCAD06A045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618073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50CBAF2A-1BA4-EDEB-C3AE-3FCA48001454}"/>
              </a:ext>
            </a:extLst>
          </p:cNvPr>
          <p:cNvSpPr>
            <a:spLocks noGrp="1"/>
          </p:cNvSpPr>
          <p:nvPr>
            <p:ph type="title"/>
          </p:nvPr>
        </p:nvSpPr>
        <p:spPr>
          <a:xfrm>
            <a:off x="838200" y="1504950"/>
            <a:ext cx="10515600" cy="976312"/>
          </a:xfrm>
          <a:prstGeom prst="rect">
            <a:avLst/>
          </a:prstGeom>
        </p:spPr>
        <p:txBody>
          <a:bodyPr vert="horz" lIns="91440" tIns="45720" rIns="91440" bIns="45720" rtlCol="0" anchor="ctr">
            <a:normAutofit/>
          </a:bodyPr>
          <a:lstStyle/>
          <a:p>
            <a:r>
              <a:rPr lang="en-US" dirty="0"/>
              <a:t>Click to edit Master title style</a:t>
            </a:r>
          </a:p>
        </p:txBody>
      </p:sp>
      <p:sp>
        <p:nvSpPr>
          <p:cNvPr id="8" name="Text Placeholder 2">
            <a:extLst>
              <a:ext uri="{FF2B5EF4-FFF2-40B4-BE49-F238E27FC236}">
                <a16:creationId xmlns:a16="http://schemas.microsoft.com/office/drawing/2014/main" id="{D9BAD7FB-C18B-8746-EE3B-F73AC891F639}"/>
              </a:ext>
            </a:extLst>
          </p:cNvPr>
          <p:cNvSpPr>
            <a:spLocks noGrp="1"/>
          </p:cNvSpPr>
          <p:nvPr>
            <p:ph type="body" idx="1"/>
          </p:nvPr>
        </p:nvSpPr>
        <p:spPr>
          <a:xfrm>
            <a:off x="838200" y="2711449"/>
            <a:ext cx="10515600" cy="32369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3">
            <a:extLst>
              <a:ext uri="{FF2B5EF4-FFF2-40B4-BE49-F238E27FC236}">
                <a16:creationId xmlns:a16="http://schemas.microsoft.com/office/drawing/2014/main" id="{DF8C289F-6F88-6C1A-E408-749908346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7403A2-7C00-4E7B-9B12-0162AA911228}" type="datetime1">
              <a:rPr lang="en-US" smtClean="0"/>
              <a:t>8/29/26</a:t>
            </a:fld>
            <a:endParaRPr lang="en-US"/>
          </a:p>
        </p:txBody>
      </p:sp>
      <p:sp>
        <p:nvSpPr>
          <p:cNvPr id="10" name="Footer Placeholder 4">
            <a:extLst>
              <a:ext uri="{FF2B5EF4-FFF2-40B4-BE49-F238E27FC236}">
                <a16:creationId xmlns:a16="http://schemas.microsoft.com/office/drawing/2014/main" id="{0C2AA6E4-D910-BEBC-BBF3-DF05934FC0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latin typeface="GE Dinar One" panose="020A0503020102020204" pitchFamily="18" charset="-78"/>
                <a:ea typeface="GE Dinar One" panose="020A0503020102020204" pitchFamily="18" charset="-78"/>
                <a:cs typeface="GE Dinar One" panose="020A0503020102020204" pitchFamily="18" charset="-78"/>
              </a:defRPr>
            </a:lvl1pPr>
          </a:lstStyle>
          <a:p>
            <a:r>
              <a:rPr lang="ar-SA" dirty="0"/>
              <a:t>برنامج التصميم الجرافيكي - المستوى السابع</a:t>
            </a:r>
            <a:endParaRPr lang="en-US" dirty="0"/>
          </a:p>
        </p:txBody>
      </p:sp>
      <p:sp>
        <p:nvSpPr>
          <p:cNvPr id="11" name="Slide Number Placeholder 5">
            <a:extLst>
              <a:ext uri="{FF2B5EF4-FFF2-40B4-BE49-F238E27FC236}">
                <a16:creationId xmlns:a16="http://schemas.microsoft.com/office/drawing/2014/main" id="{8F3F3AF2-D3E0-15A1-2C5A-A79ECC8B5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334 GPC –Advertising Design</a:t>
            </a:r>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CCF9A999-8AEC-9C77-D955-F69D61AD288B}"/>
              </a:ext>
            </a:extLst>
          </p:cNvPr>
          <p:cNvPicPr>
            <a:picLocks noChangeAspect="1"/>
          </p:cNvPicPr>
          <p:nvPr userDrawn="1"/>
        </p:nvPicPr>
        <p:blipFill>
          <a:blip r:embed="rId13"/>
          <a:stretch>
            <a:fillRect/>
          </a:stretch>
        </p:blipFill>
        <p:spPr>
          <a:xfrm>
            <a:off x="11123785" y="402363"/>
            <a:ext cx="460030" cy="720000"/>
          </a:xfrm>
          <a:prstGeom prst="rect">
            <a:avLst/>
          </a:prstGeom>
        </p:spPr>
      </p:pic>
      <p:cxnSp>
        <p:nvCxnSpPr>
          <p:cNvPr id="13" name="Straight Connector 12">
            <a:extLst>
              <a:ext uri="{FF2B5EF4-FFF2-40B4-BE49-F238E27FC236}">
                <a16:creationId xmlns:a16="http://schemas.microsoft.com/office/drawing/2014/main" id="{5E392E98-9E2E-F723-EDD1-6E661E95F3B0}"/>
              </a:ext>
            </a:extLst>
          </p:cNvPr>
          <p:cNvCxnSpPr>
            <a:cxnSpLocks/>
          </p:cNvCxnSpPr>
          <p:nvPr userDrawn="1"/>
        </p:nvCxnSpPr>
        <p:spPr>
          <a:xfrm flipH="1">
            <a:off x="419100" y="6296025"/>
            <a:ext cx="11353800"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BA59E9B4-2072-7E36-C73D-F228C5C765F9}"/>
              </a:ext>
            </a:extLst>
          </p:cNvPr>
          <p:cNvSpPr txBox="1"/>
          <p:nvPr userDrawn="1"/>
        </p:nvSpPr>
        <p:spPr>
          <a:xfrm>
            <a:off x="10001828" y="536723"/>
            <a:ext cx="1074332" cy="461665"/>
          </a:xfrm>
          <a:prstGeom prst="rect">
            <a:avLst/>
          </a:prstGeom>
          <a:noFill/>
        </p:spPr>
        <p:txBody>
          <a:bodyPr wrap="none" rtlCol="0">
            <a:spAutoFit/>
          </a:bodyPr>
          <a:lstStyle/>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كلية الفنون</a:t>
            </a:r>
          </a:p>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قسم التصميم</a:t>
            </a:r>
            <a:endParaRPr lang="en-GB" sz="1200" dirty="0">
              <a:latin typeface="GE Dinar One" panose="020A0503020102020204" pitchFamily="18" charset="-78"/>
              <a:ea typeface="GE Dinar One" panose="020A0503020102020204" pitchFamily="18" charset="-78"/>
              <a:cs typeface="GE Dinar One" panose="020A0503020102020204" pitchFamily="18" charset="-78"/>
            </a:endParaRPr>
          </a:p>
        </p:txBody>
      </p:sp>
      <p:sp>
        <p:nvSpPr>
          <p:cNvPr id="2" name="TextBox 1">
            <a:extLst>
              <a:ext uri="{FF2B5EF4-FFF2-40B4-BE49-F238E27FC236}">
                <a16:creationId xmlns:a16="http://schemas.microsoft.com/office/drawing/2014/main" id="{927FB34A-3019-4A0D-6648-F86EAC55AD6C}"/>
              </a:ext>
            </a:extLst>
          </p:cNvPr>
          <p:cNvSpPr txBox="1"/>
          <p:nvPr userDrawn="1"/>
        </p:nvSpPr>
        <p:spPr>
          <a:xfrm>
            <a:off x="696285" y="493278"/>
            <a:ext cx="1456365" cy="338554"/>
          </a:xfrm>
          <a:prstGeom prst="rect">
            <a:avLst/>
          </a:prstGeom>
          <a:noFill/>
        </p:spPr>
        <p:txBody>
          <a:bodyPr wrap="square">
            <a:spAutoFit/>
          </a:bodyPr>
          <a:lstStyle/>
          <a:p>
            <a:pPr algn="ctr" rtl="1"/>
            <a:r>
              <a:rPr lang="ar-SA" sz="800" dirty="0">
                <a:solidFill>
                  <a:schemeClr val="tx1">
                    <a:lumMod val="50000"/>
                    <a:lumOff val="50000"/>
                  </a:schemeClr>
                </a:solidFill>
                <a:latin typeface="GE Dinar One" panose="020A0503020102020204" pitchFamily="18" charset="-78"/>
                <a:ea typeface="GE Dinar One" panose="020A0503020102020204" pitchFamily="18" charset="-78"/>
                <a:cs typeface="GE Dinar One" panose="020A0503020102020204" pitchFamily="18" charset="-78"/>
              </a:rPr>
              <a:t>٣٣٠ جفك تصميم المغلفات</a:t>
            </a:r>
          </a:p>
          <a:p>
            <a:pPr marL="0" marR="0" lvl="0" indent="0" algn="ctr" defTabSz="914400" rtl="1" eaLnBrk="1" fontAlgn="auto" latinLnBrk="0" hangingPunct="1">
              <a:lnSpc>
                <a:spcPct val="100000"/>
              </a:lnSpc>
              <a:spcBef>
                <a:spcPts val="0"/>
              </a:spcBef>
              <a:spcAft>
                <a:spcPts val="0"/>
              </a:spcAft>
              <a:buClrTx/>
              <a:buSzTx/>
              <a:buFontTx/>
              <a:buNone/>
              <a:tabLst/>
              <a:defRPr/>
            </a:pPr>
            <a:r>
              <a:rPr lang="en-US" sz="800" dirty="0">
                <a:solidFill>
                  <a:schemeClr val="tx1">
                    <a:lumMod val="50000"/>
                    <a:lumOff val="50000"/>
                  </a:schemeClr>
                </a:solidFill>
                <a:latin typeface="+mn-lt"/>
                <a:ea typeface="GE Dinar One" panose="020A0503020102020204" pitchFamily="18" charset="-78"/>
                <a:cs typeface="GE Dinar One" panose="020A0503020102020204" pitchFamily="18" charset="-78"/>
              </a:rPr>
              <a:t>330 GPC Packaging Design</a:t>
            </a:r>
            <a:endParaRPr lang="ar-SA" sz="800" dirty="0">
              <a:solidFill>
                <a:schemeClr val="tx1">
                  <a:lumMod val="50000"/>
                  <a:lumOff val="50000"/>
                </a:schemeClr>
              </a:solidFill>
              <a:latin typeface="+mn-lt"/>
              <a:ea typeface="GE Dinar One" panose="020A0503020102020204" pitchFamily="18" charset="-78"/>
              <a:cs typeface="GE Dinar One" panose="020A0503020102020204" pitchFamily="18" charset="-78"/>
            </a:endParaRPr>
          </a:p>
        </p:txBody>
      </p:sp>
      <p:sp>
        <p:nvSpPr>
          <p:cNvPr id="3" name="TextBox 2">
            <a:extLst>
              <a:ext uri="{FF2B5EF4-FFF2-40B4-BE49-F238E27FC236}">
                <a16:creationId xmlns:a16="http://schemas.microsoft.com/office/drawing/2014/main" id="{A4DEF6D6-B38C-E645-34D6-5A26D793929E}"/>
              </a:ext>
            </a:extLst>
          </p:cNvPr>
          <p:cNvSpPr txBox="1"/>
          <p:nvPr userDrawn="1"/>
        </p:nvSpPr>
        <p:spPr>
          <a:xfrm>
            <a:off x="456139" y="400945"/>
            <a:ext cx="385042" cy="523220"/>
          </a:xfrm>
          <a:prstGeom prst="rect">
            <a:avLst/>
          </a:prstGeom>
          <a:noFill/>
        </p:spPr>
        <p:txBody>
          <a:bodyPr wrap="none" rtlCol="0">
            <a:spAutoFit/>
          </a:bodyPr>
          <a:lstStyle/>
          <a:p>
            <a:pPr marL="0" algn="l" defTabSz="914400" rtl="0" eaLnBrk="1" latinLnBrk="0" hangingPunct="1"/>
            <a:r>
              <a:rPr lang="en-US" sz="2800" b="0" i="0" dirty="0">
                <a:solidFill>
                  <a:schemeClr val="tx1">
                    <a:lumMod val="50000"/>
                    <a:lumOff val="50000"/>
                  </a:schemeClr>
                </a:solidFill>
                <a:latin typeface="Avenir Medium" panose="02000503020000020003" pitchFamily="2" charset="0"/>
                <a:cs typeface="+mj-cs"/>
              </a:rPr>
              <a:t>6</a:t>
            </a:r>
            <a:endParaRPr lang="en-SA" sz="2800" b="0" i="0" dirty="0">
              <a:solidFill>
                <a:schemeClr val="tx1">
                  <a:lumMod val="50000"/>
                  <a:lumOff val="50000"/>
                </a:schemeClr>
              </a:solidFill>
              <a:latin typeface="Avenir Medium" panose="02000503020000020003" pitchFamily="2" charset="0"/>
              <a:cs typeface="+mj-cs"/>
            </a:endParaRPr>
          </a:p>
        </p:txBody>
      </p:sp>
    </p:spTree>
    <p:extLst>
      <p:ext uri="{BB962C8B-B14F-4D97-AF65-F5344CB8AC3E}">
        <p14:creationId xmlns:p14="http://schemas.microsoft.com/office/powerpoint/2010/main" val="20754095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r" defTabSz="914400" rtl="1" eaLnBrk="1" latinLnBrk="0" hangingPunct="1">
        <a:lnSpc>
          <a:spcPct val="90000"/>
        </a:lnSpc>
        <a:spcBef>
          <a:spcPct val="0"/>
        </a:spcBef>
        <a:buNone/>
        <a:defRPr sz="4400" kern="1200">
          <a:solidFill>
            <a:schemeClr val="tx1"/>
          </a:solidFill>
          <a:latin typeface="Sakkal Majalla" panose="02000000000000000000" pitchFamily="2" charset="-78"/>
          <a:ea typeface="+mj-ea"/>
          <a:cs typeface="Sakkal Majalla" panose="02000000000000000000" pitchFamily="2" charset="-78"/>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95A86-478A-71C3-B781-91B8C540C0E2}"/>
              </a:ext>
            </a:extLst>
          </p:cNvPr>
          <p:cNvSpPr>
            <a:spLocks noGrp="1"/>
          </p:cNvSpPr>
          <p:nvPr>
            <p:ph type="ctrTitle"/>
          </p:nvPr>
        </p:nvSpPr>
        <p:spPr>
          <a:xfrm>
            <a:off x="5181600" y="1302658"/>
            <a:ext cx="4604657" cy="2387600"/>
          </a:xfrm>
        </p:spPr>
        <p:txBody>
          <a:bodyPr>
            <a:normAutofit/>
          </a:bodyPr>
          <a:lstStyle/>
          <a:p>
            <a:r>
              <a:rPr lang="ar-SA" sz="4000" b="1" dirty="0"/>
              <a:t>من المكعّب إلى العبوة</a:t>
            </a:r>
            <a:r>
              <a:rPr lang="en-US" sz="4000" b="1" dirty="0"/>
              <a:t/>
            </a:r>
            <a:r>
              <a:rPr lang="ar-SA" sz="4000" b="1" dirty="0"/>
              <a:t/>
            </a:r>
            <a:endParaRPr lang="en-GB" sz="4000" dirty="0"/>
          </a:p>
        </p:txBody>
      </p:sp>
      <p:sp>
        <p:nvSpPr>
          <p:cNvPr id="3" name="Subtitle 2">
            <a:extLst>
              <a:ext uri="{FF2B5EF4-FFF2-40B4-BE49-F238E27FC236}">
                <a16:creationId xmlns:a16="http://schemas.microsoft.com/office/drawing/2014/main" id="{3976FDC2-234A-44A1-C967-179A0C8EFCC8}"/>
              </a:ext>
            </a:extLst>
          </p:cNvPr>
          <p:cNvSpPr>
            <a:spLocks noGrp="1"/>
          </p:cNvSpPr>
          <p:nvPr>
            <p:ph type="subTitle" idx="1"/>
          </p:nvPr>
        </p:nvSpPr>
        <p:spPr>
          <a:xfrm>
            <a:off x="3135085" y="3678237"/>
            <a:ext cx="9144000" cy="1655762"/>
          </a:xfrm>
        </p:spPr>
        <p:txBody>
          <a:bodyPr anchor="t">
            <a:normAutofit/>
          </a:bodyPr>
          <a:lstStyle/>
          <a:p>
            <a:pPr marL="0" indent="0" algn="ctr" defTabSz="914400" rtl="1" eaLnBrk="1" latinLnBrk="0" hangingPunct="1">
              <a:lnSpc>
                <a:spcPct val="90000"/>
              </a:lnSpc>
              <a:spcBef>
                <a:spcPts val="1000"/>
              </a:spcBef>
              <a:buFont typeface="Arial" panose="020B0604020202020204" pitchFamily="34" charset="0"/>
              <a:buNone/>
            </a:pPr>
            <a:r>
              <a:rPr lang="ar-SA" sz="2000" b="1" dirty="0">
                <a:solidFill>
                  <a:schemeClr val="bg1">
                    <a:lumMod val="50000"/>
                  </a:schemeClr>
                </a:solidFill>
              </a:rPr>
              <a:t>أعداد: أنوره السعدون</a:t>
            </a:r>
          </a:p>
        </p:txBody>
      </p:sp>
      <p:sp>
        <p:nvSpPr>
          <p:cNvPr id="4" name="Footer Placeholder 3">
            <a:extLst>
              <a:ext uri="{FF2B5EF4-FFF2-40B4-BE49-F238E27FC236}">
                <a16:creationId xmlns:a16="http://schemas.microsoft.com/office/drawing/2014/main" id="{714C6116-B646-777F-65B1-F0C3109564C4}"/>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5" name="Picture 4" descr="cover_portrait.png"/>
          <p:cNvPicPr>
            <a:picLocks noChangeAspect="1"/>
          </p:cNvPicPr>
          <p:nvPr/>
        </p:nvPicPr>
        <p:blipFill>
          <a:blip r:embed="rId3"/>
          <a:stretch>
            <a:fillRect/>
          </a:stretch>
        </p:blipFill>
        <p:spPr>
          <a:xfrm>
            <a:off x="2608970" y="1524001"/>
            <a:ext cx="2859259" cy="4332514"/>
          </a:xfrm>
          <a:prstGeom prst="rect">
            <a:avLst/>
          </a:prstGeom>
        </p:spPr>
      </p:pic>
    </p:spTree>
    <p:extLst>
      <p:ext uri="{BB962C8B-B14F-4D97-AF65-F5344CB8AC3E}">
        <p14:creationId xmlns:p14="http://schemas.microsoft.com/office/powerpoint/2010/main" val="3164519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35C85B-1FE3-EB4E-BB0D-284564032382}"/>
              </a:ext>
            </a:extLst>
          </p:cNvPr>
          <p:cNvSpPr>
            <a:spLocks noGrp="1"/>
          </p:cNvSpPr>
          <p:nvPr>
            <p:ph idx="1"/>
          </p:nvPr>
        </p:nvSpPr>
        <p:spPr>
          <a:xfrm>
            <a:off x="1040344" y="1600200"/>
            <a:ext cx="9873205" cy="4389120"/>
          </a:xfrm>
        </p:spPr>
        <p:txBody>
          <a:bodyPr anchor="ctr">
            <a:normAutofit/>
          </a:bodyPr>
          <a:lstStyle/>
          <a:p>
            <a:pPr marL="0" indent="0">
              <a:buNone/>
            </a:pPr>
            <a:r>
              <a:rPr lang="ar-SA" sz="2000" b="1"/>
              <a:t>مقدمة:</a:t>
            </a:r>
          </a:p>
          <a:p>
            <a:pPr marL="0" indent="0">
              <a:buNone/>
            </a:pPr>
            <a:r>
              <a:rPr lang="ar-SA" sz="2000"/>
              <a:t>يُعدّ المكعّب الشكل الأساسي الذي تنطلق منه معظم العبوات المتداولة في الأسواق. وتتناول هذه المحاضرة منهجية تحويل المكعّب، عبر عمليات القص والطي والتشكيل، إلى أشكال تغليف مبتكرة تحقق التميّز البصري على رفوف العرض، دون الحاجة إلى معرفة متقدمة بالهندسة الفراغية.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extLst>
      <p:ext uri="{BB962C8B-B14F-4D97-AF65-F5344CB8AC3E}">
        <p14:creationId xmlns:p14="http://schemas.microsoft.com/office/powerpoint/2010/main" val="3008581654"/>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أهداف المحاضرة:</a:t>
            </a:r>
          </a:p>
          <a:p>
            <a:pPr marL="0" indent="0">
              <a:buNone/>
            </a:pPr>
            <a:r>
              <a:rPr lang="ar-SA" sz="2000"/>
              <a:t>يُتوقع من الطالب في نهاية المحاضرة أن يكون قادرًا على:</a:t>
            </a:r>
          </a:p>
          <a:p>
            <a:pPr/>
            <a:r>
              <a:rPr lang="ar-SA" sz="2000"/>
              <a:t>استخدام أدوات القص والطي استخدامًا دقيقًا وآمنًا.</a:t>
            </a:r>
          </a:p>
          <a:p>
            <a:pPr/>
            <a:r>
              <a:rPr lang="ar-SA" sz="2000"/>
              <a:t>قراءة الدايلاين (Die-line) وفهم أجزائه.</a:t>
            </a:r>
          </a:p>
          <a:p>
            <a:pPr/>
            <a:r>
              <a:rPr lang="ar-SA" sz="2000"/>
              <a:t>تعديل شكل المكعّب بثلاث طرق للحصول على عبوات جديدة.</a:t>
            </a:r>
          </a:p>
          <a:p>
            <a:pPr/>
            <a:r>
              <a:rPr lang="ar-SA" sz="2000"/>
              <a:t>رسم الطيات المنحنية وتنفيذها بدقة.</a:t>
            </a:r>
          </a:p>
          <a:p>
            <a:pPr/>
            <a:r>
              <a:rPr lang="ar-SA" sz="2000"/>
              <a:t>المواءمة بين الجانبين الجمالي والوظيفي للعبوة.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أولًا: أدوات القص (Cutting):</a:t>
            </a:r>
          </a:p>
          <a:p>
            <a:pPr/>
            <a:r>
              <a:rPr lang="ar-SA" sz="2000" b="1"/>
              <a:t>المشرط (Scalpel): </a:t>
            </a:r>
            <a:r>
              <a:rPr lang="ar-SA" sz="2000"/>
              <a:t>أداة قص بمقبض معدني نحيف وشفرة صغيرة قابلة للتبديل، وهو الأدق والأسهل تحكمًا في المنحنيات والتفاصيل.</a:t>
            </a:r>
          </a:p>
          <a:p>
            <a:pPr/>
            <a:r>
              <a:rPr lang="ar-SA" sz="2000" b="1"/>
              <a:t>الكتر (Cutter): </a:t>
            </a:r>
            <a:r>
              <a:rPr lang="ar-SA" sz="2000"/>
              <a:t>سكين بشفرة طويلة تُكسر أطرافها عند تلفها. الرخيص منه يهتز ويصعب التحكم به، والأفضل النوع القوي ذو المقبض السميك.</a:t>
            </a:r>
          </a:p>
          <a:p>
            <a:pPr/>
            <a:r>
              <a:rPr lang="ar-SA" sz="2000" b="1"/>
              <a:t>المسطرة المعدنية: </a:t>
            </a:r>
            <a:r>
              <a:rPr lang="ar-SA" sz="2000"/>
              <a:t>هي المسطرة الوحيدة المناسبة للقص؛ أما البلاستيكية فتجرحها الشفرة وتخرج عن الخط، فتُستخدم للقياس فقط.</a:t>
            </a:r>
          </a:p>
          <a:p>
            <a:pPr/>
            <a:r>
              <a:rPr lang="ar-SA" sz="2000" b="1"/>
              <a:t>لوح القص (Cutting Mat): </a:t>
            </a:r>
            <a:r>
              <a:rPr lang="ar-SA" sz="2000"/>
              <a:t>لوح مطاطي يوضع تحت الورق أثناء القص، يحمي الطاولة ويحافظ على حدة الشفرة. ويُسمّى «ذاتي الالتئام» لأن أثر الشفرة يُغلق من نفسه فيبقى السطح أملس، وكلما كان أكبر كان أفضل.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ut.png"/>
          <p:cNvPicPr>
            <a:picLocks noChangeAspect="1"/>
          </p:cNvPicPr>
          <p:nvPr/>
        </p:nvPicPr>
        <p:blipFill>
          <a:blip r:embed="rId3"/>
          <a:stretch>
            <a:fillRect/>
          </a:stretch>
        </p:blipFill>
        <p:spPr>
          <a:xfrm>
            <a:off x="728833" y="1600200"/>
            <a:ext cx="4394492"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قواعد السلامة أثناء القص:</a:t>
            </a:r>
          </a:p>
          <a:p>
            <a:pPr marL="0" indent="0">
              <a:buNone/>
            </a:pPr>
            <a:r>
              <a:rPr lang="ar-SA" sz="2000" b="1"/>
              <a:t>١. موضع المسطرة: </a:t>
            </a:r>
            <a:r>
              <a:rPr lang="ar-SA" sz="2000"/>
              <a:t>توضع المسطرة فوق الجزء الذي نريد الاحتفاظ به (التصميم)، وتكون الشفرة من جهة الورق الزائد؛ فإن انزلقت الشفرة قطعت الورق الزائد ولم تُتلف التصميم.</a:t>
            </a:r>
          </a:p>
          <a:p>
            <a:pPr marL="0" indent="0">
              <a:buNone/>
            </a:pPr>
            <a:r>
              <a:rPr lang="ar-SA" sz="2000" b="1"/>
              <a:t>٢. موضع اليد: </a:t>
            </a:r>
            <a:r>
              <a:rPr lang="ar-SA" sz="2000"/>
              <a:t>تُثبَّت المسطرة باليد الأخرى والأصابع فوقها بعيدًا عن حافتها، فلا تكون أي إصبع في مسار الشفرة.</a:t>
            </a:r>
          </a:p>
          <a:p>
            <a:pPr marL="0" indent="0">
              <a:buNone/>
            </a:pPr>
            <a:r>
              <a:rPr lang="ar-SA" sz="2000" b="1"/>
              <a:t>٣. اتجاه القص: </a:t>
            </a:r>
            <a:r>
              <a:rPr lang="ar-SA" sz="2000"/>
              <a:t>تُسحب الشفرة على طول المسطرة بضغط خفيف، ويُكرَّر القص مرتين أو ثلاثًا بدل الضغط القوي مرة واحدة.</a:t>
            </a:r>
          </a:p>
          <a:p>
            <a:pPr marL="0" indent="0">
              <a:buNone/>
            </a:pPr>
            <a:r>
              <a:rPr lang="ar-SA" sz="2000" b="1"/>
              <a:t>٤. تغيير الشفرة: </a:t>
            </a:r>
            <a:r>
              <a:rPr lang="ar-SA" sz="2000"/>
              <a:t>تُغيَّر الشفرة متى بدأت تسحب الورق أو تمزّقه بدل أن تقطعه، لأن الشفرة غير الحادة تحتاج ضغطًا أكبر فيزيد احتمال انزلاقها.</a:t>
            </a:r>
          </a:p>
          <a:p>
            <a:pPr marL="0" indent="0">
              <a:buNone/>
            </a:pPr>
            <a:r>
              <a:rPr lang="ar-SA" sz="2000" b="1"/>
              <a:t>٥. بعد الاستخدام: </a:t>
            </a:r>
            <a:r>
              <a:rPr lang="ar-SA" sz="2000"/>
              <a:t>تُغطّى الشفرة أو تُعاد داخل المقبض، وتُرمى الشفرات القديمة في علبة مغلقة.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ثانيًا: الطي (Folding):</a:t>
            </a:r>
          </a:p>
          <a:p>
            <a:pPr marL="0" indent="0">
              <a:buNone/>
            </a:pPr>
            <a:r>
              <a:rPr lang="ar-SA" sz="2000" b="1"/>
              <a:t>القاعدة الأساسية: </a:t>
            </a:r>
            <a:r>
              <a:rPr lang="ar-SA" sz="2000"/>
              <a:t>لا نقطع خط الطي، بل نضغطه بأداة غير حادة على طول المسطرة، فيتكوّن على الورق مجرى خفيف ينثني عليه الورق بسهولة واستقامة.</a:t>
            </a:r>
          </a:p>
          <a:p>
            <a:pPr marL="0" indent="0">
              <a:buNone/>
            </a:pPr>
            <a:r>
              <a:rPr lang="ar-SA" sz="2000" b="1"/>
              <a:t>أدوات الضغط على خط الطي:</a:t>
            </a:r>
          </a:p>
          <a:p>
            <a:pPr/>
            <a:r>
              <a:rPr lang="ar-SA" sz="2000" b="1"/>
              <a:t>عظمة الطي (Bone Folder): </a:t>
            </a:r>
            <a:r>
              <a:rPr lang="ar-SA" sz="2000"/>
              <a:t>أداة مسطحة يُمرَّر طرفها على الخط. تضغط جيدًا، لكن الخط يبعد ١–٢ مم عن المسطرة.</a:t>
            </a:r>
          </a:p>
          <a:p>
            <a:pPr/>
            <a:r>
              <a:rPr lang="ar-SA" sz="2000" b="1"/>
              <a:t>قلم جاف انتهى حبره: </a:t>
            </a:r>
            <a:r>
              <a:rPr lang="ar-SA" sz="2000"/>
              <a:t>الكرة في رأسه تضغط الخط، وفيه العيب نفسه.</a:t>
            </a:r>
          </a:p>
          <a:p>
            <a:pPr/>
            <a:r>
              <a:rPr lang="ar-SA" sz="2000" b="1"/>
              <a:t>ظهر شفرة المشرط أو الكتر: </a:t>
            </a:r>
            <a:r>
              <a:rPr lang="ar-SA" sz="2000"/>
              <a:t>نقلب الشفرة فيضغط ظهرها غير الحاد الخط لاصقًا بالمسطرة تمامًا، وهي الطريقة الأدق.</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rease.png"/>
          <p:cNvPicPr>
            <a:picLocks noChangeAspect="1"/>
          </p:cNvPicPr>
          <p:nvPr/>
        </p:nvPicPr>
        <p:blipFill>
          <a:blip r:embed="rId3"/>
          <a:stretch>
            <a:fillRect/>
          </a:stretch>
        </p:blipFill>
        <p:spPr>
          <a:xfrm>
            <a:off x="734199" y="1600200"/>
            <a:ext cx="4383760"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الصلة بالإنتاج الصناعي:</a:t>
            </a:r>
          </a:p>
          <a:p>
            <a:pPr marL="0" indent="0">
              <a:buNone/>
            </a:pPr>
            <a:r>
              <a:rPr lang="ar-SA" sz="2000" b="1"/>
              <a:t>قالب القص والتخديد (Die-cut): </a:t>
            </a:r>
            <a:r>
              <a:rPr lang="ar-SA" sz="2000"/>
              <a:t>في المصانع لا تُقص العبوات يدويًا، بل بقالب: لوح خشبي مثبّت عليه شفرات حادة في أماكن القص، ومساطر معدنية غير حادة في أماكن الطي. يُكبس القالب على الورق مرة واحدة فيقص ويجهّز خطوط الطي في اللحظة نفسها.</a:t>
            </a:r>
          </a:p>
          <a:p>
            <a:pPr marL="0" indent="0">
              <a:buNone/>
            </a:pPr>
            <a:r>
              <a:rPr lang="ar-SA" sz="2000" b="1"/>
              <a:t>الدايلاين (Die-line): </a:t>
            </a:r>
            <a:r>
              <a:rPr lang="ar-SA" sz="2000"/>
              <a:t>هو الرسم المسطّح للعبوة الذي يُصنع القالب على أساسه، ويُرسم فيه نوعان من الخطوط:</a:t>
            </a:r>
          </a:p>
          <a:p>
            <a:pPr/>
            <a:r>
              <a:rPr lang="ar-SA" sz="2000" b="1"/>
              <a:t>خط القص: </a:t>
            </a:r>
            <a:r>
              <a:rPr lang="ar-SA" sz="2000"/>
              <a:t>خط متصل، يُقص عنده الورق.</a:t>
            </a:r>
          </a:p>
          <a:p>
            <a:pPr/>
            <a:r>
              <a:rPr lang="ar-SA" sz="2000" b="1"/>
              <a:t>خط الطي: </a:t>
            </a:r>
            <a:r>
              <a:rPr lang="ar-SA" sz="2000"/>
              <a:t>خط متقطع، يُضغط ويُطوى ولا يُقص.</a:t>
            </a:r>
          </a:p>
          <a:p>
            <a:pPr marL="0" indent="0">
              <a:buNone/>
            </a:pPr>
            <a:r>
              <a:rPr lang="ar-SA" sz="2000"/>
              <a:t>وما نفعله يدويًا بالمشرط وظهر الشفرة هو تقليد لعمل هذا القالب.</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2"/>
          <a:stretch>
            <a:fillRect/>
          </a:stretch>
        </p:blipFill>
        <p:spPr>
          <a:xfrm>
            <a:off x="457200" y="1726320"/>
            <a:ext cx="4937760" cy="41368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عناصر المكعّب الثلاثة:</a:t>
            </a:r>
          </a:p>
          <a:p>
            <a:pPr marL="0" indent="0">
              <a:buNone/>
            </a:pPr>
            <a:r>
              <a:rPr lang="ar-SA" sz="2000"/>
              <a:t>أي صندوق يتكوّن من ثلاثة عناصر، وأي تعديل على شكله هو تعديل على واحد منها أو أكثر:</a:t>
            </a:r>
          </a:p>
          <a:p>
            <a:pPr/>
            <a:r>
              <a:rPr lang="ar-SA" sz="2000" b="1"/>
              <a:t>الأوجه (Faces): </a:t>
            </a:r>
            <a:r>
              <a:rPr lang="ar-SA" sz="2000"/>
              <a:t>الأسطح المستوية، وللمكعّب ٦ أوجه. وهي مساحات الطباعة والشعار.</a:t>
            </a:r>
          </a:p>
          <a:p>
            <a:pPr/>
            <a:r>
              <a:rPr lang="ar-SA" sz="2000" b="1"/>
              <a:t>الحواف (Edges): </a:t>
            </a:r>
            <a:r>
              <a:rPr lang="ar-SA" sz="2000"/>
              <a:t>الخطوط التي يلتقي عندها وجهان، وللمكعّب ١٢ حافة. وهي خطوط الطي.</a:t>
            </a:r>
          </a:p>
          <a:p>
            <a:pPr/>
            <a:r>
              <a:rPr lang="ar-SA" sz="2000" b="1"/>
              <a:t>الزوايا (Corners): </a:t>
            </a:r>
            <a:r>
              <a:rPr lang="ar-SA" sz="2000"/>
              <a:t>النقاط التي تلتقي عندها ثلاث حواف، مثل زاوية الطاولة، وللمكعّب ٨ زوايا. وتُسمّى هندسيًا «الرؤوس»، وهي أضعف أجزاء العبوة وأكثرها عرضة للتلف.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ver.png"/>
          <p:cNvPicPr>
            <a:picLocks noChangeAspect="1"/>
          </p:cNvPicPr>
          <p:nvPr/>
        </p:nvPicPr>
        <p:blipFill>
          <a:blip r:embed="rId2"/>
          <a:stretch>
            <a:fillRect/>
          </a:stretch>
        </p:blipFill>
        <p:spPr>
          <a:xfrm>
            <a:off x="457200" y="2220096"/>
            <a:ext cx="4937760" cy="314932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الدايلاين (Die-line):</a:t>
            </a:r>
          </a:p>
          <a:p>
            <a:pPr marL="0" indent="0">
              <a:buNone/>
            </a:pPr>
            <a:r>
              <a:rPr lang="ar-SA" sz="2000"/>
              <a:t>هو العبوة وهي مفرودة قبل طيّها؛ أي الشكل المسطّح الذي نقصّه ثم نطويه ليصبح صندوقًا. ويُسمّى في كتب الهندسة «المِفرَد» (Net). وعند تصميمه نحدد:</a:t>
            </a:r>
          </a:p>
          <a:p>
            <a:pPr/>
            <a:r>
              <a:rPr lang="ar-SA" sz="2000" b="1"/>
              <a:t>ترتيب الأوجه: </a:t>
            </a:r>
            <a:r>
              <a:rPr lang="ar-SA" sz="2000"/>
              <a:t>أي وجه يتصل بأي وجه، بحيث ينغلق الصندوق صحيحًا عند الطي.</a:t>
            </a:r>
          </a:p>
          <a:p>
            <a:pPr/>
            <a:r>
              <a:rPr lang="ar-SA" sz="2000" b="1"/>
              <a:t>الألسنة (Tabs): </a:t>
            </a:r>
            <a:r>
              <a:rPr lang="ar-SA" sz="2000"/>
              <a:t>الأجزاء الصغيرة البارزة من أطراف الأوجه، وهي المعلّمة بحرف T في الصورة.</a:t>
            </a:r>
          </a:p>
          <a:p>
            <a:pPr/>
            <a:r>
              <a:rPr lang="ar-SA" sz="2000" b="1"/>
              <a:t>طريقة الإغلاق: </a:t>
            </a:r>
            <a:r>
              <a:rPr lang="ar-SA" sz="2000"/>
              <a:t>كيف يُقفل الصندوق؛ باللصق أو بالإدخال.</a:t>
            </a:r>
          </a:p>
          <a:p>
            <a:pPr/>
            <a:r>
              <a:rPr lang="ar-SA" sz="2000" b="1"/>
              <a:t>موضع الغطاء: </a:t>
            </a:r>
            <a:r>
              <a:rPr lang="ar-SA" sz="2000"/>
              <a:t>يمكن أن يكون على أي وجه وبأي اتجاه، حسب طريقة عرض المنتج واستخدامه.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2"/>
          <a:stretch>
            <a:fillRect/>
          </a:stretch>
        </p:blipFill>
        <p:spPr>
          <a:xfrm>
            <a:off x="457200" y="1726320"/>
            <a:ext cx="4937760" cy="41368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الألسنة (Tabs): أشكالها ووظائفها</a:t>
            </a:r>
          </a:p>
          <a:p>
            <a:pPr marL="0" indent="0">
              <a:buNone/>
            </a:pPr>
            <a:r>
              <a:rPr lang="ar-SA" sz="2000"/>
              <a:t>اللسان جزء إضافي يبرز من طرف الوجه، يُطوى للداخل ليثبّت الأوجه ببعضها، ولا يظهر من الخارج بعد إغلاق العبوة.</a:t>
            </a:r>
          </a:p>
          <a:p>
            <a:pPr/>
            <a:r>
              <a:rPr lang="ar-SA" sz="2000" b="1"/>
              <a:t>شكله: </a:t>
            </a:r>
            <a:r>
              <a:rPr lang="ar-SA" sz="2000"/>
              <a:t>غالبًا شبه منحرف؛ قاعدته العريضة متصلة بالوجه، وطرفاه مائلان حتى لا يصطدم بالألسنة المجاورة عند الطي.</a:t>
            </a:r>
          </a:p>
          <a:p>
            <a:pPr/>
            <a:r>
              <a:rPr lang="ar-SA" sz="2000" b="1"/>
              <a:t>لسان اللصق (Glue Tab): </a:t>
            </a:r>
            <a:r>
              <a:rPr lang="ar-SA" sz="2000"/>
              <a:t>يُلصق على الوجه المقابل، فيكون الإغلاق دائمًا.</a:t>
            </a:r>
          </a:p>
          <a:p>
            <a:pPr/>
            <a:r>
              <a:rPr lang="ar-SA" sz="2000" b="1"/>
              <a:t>لسان الإدخال (Tuck Flap): </a:t>
            </a:r>
            <a:r>
              <a:rPr lang="ar-SA" sz="2000"/>
              <a:t>يُدخل داخل العبوة دون لصق، فتُفتح وتُغلق أكثر من مرة.</a:t>
            </a:r>
          </a:p>
          <a:p>
            <a:pPr/>
            <a:r>
              <a:rPr lang="ar-SA" sz="2000" b="1"/>
              <a:t>أقفال الطي (Click Lock و Tongue Lock): </a:t>
            </a:r>
            <a:r>
              <a:rPr lang="ar-SA" sz="2000"/>
              <a:t>ألسنة بقصّات خاصة تتشابك مع بعضها فتُقفل العبوة دون غراء.</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Rectangle 15"/>
          <p:cNvSpPr/>
          <p:nvPr/>
        </p:nvSpPr>
        <p:spPr>
          <a:xfrm>
            <a:off x="1737360" y="3154680"/>
            <a:ext cx="2194560" cy="2194560"/>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rapezoid 16"/>
          <p:cNvSpPr/>
          <p:nvPr/>
        </p:nvSpPr>
        <p:spPr>
          <a:xfrm>
            <a:off x="1737360" y="2423160"/>
            <a:ext cx="2194560" cy="731520"/>
          </a:xfrm>
          <a:prstGeom prst="trapezoid">
            <a:avLst/>
          </a:prstGeom>
          <a:solidFill>
            <a:srgbClr val="E7E6E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737360" y="3154680"/>
            <a:ext cx="2194560" cy="0"/>
          </a:xfrm>
          <a:prstGeom prst="line">
            <a:avLst/>
          </a:prstGeom>
          <a:ln w="31750">
            <a:solidFill>
              <a:srgbClr val="2E7D32"/>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37360" y="2423160"/>
            <a:ext cx="2194560" cy="731520"/>
          </a:xfrm>
          <a:prstGeom prst="rect">
            <a:avLst/>
          </a:prstGeom>
          <a:noFill/>
        </p:spPr>
        <p:txBody>
          <a:bodyPr wrap="square" anchor="ctr">
            <a:spAutoFit/>
          </a:bodyPr>
          <a:lstStyle/>
          <a:p>
            <a:pPr algn="ctr" rtl="1"/>
            <a:r>
              <a:rPr sz="1800" b="1" lang="ar-SA">
                <a:solidFill>
                  <a:srgbClr val="000000"/>
                </a:solidFill>
                <a:latin typeface="Sakkal Majalla"/>
                <a:cs typeface="Sakkal Majalla"/>
              </a:rPr>
              <a:t>لسان</a:t>
            </a:r>
          </a:p>
        </p:txBody>
      </p:sp>
      <p:sp>
        <p:nvSpPr>
          <p:cNvPr id="20" name="TextBox 19"/>
          <p:cNvSpPr txBox="1"/>
          <p:nvPr/>
        </p:nvSpPr>
        <p:spPr>
          <a:xfrm>
            <a:off x="1737360" y="3154680"/>
            <a:ext cx="2194560" cy="2194560"/>
          </a:xfrm>
          <a:prstGeom prst="rect">
            <a:avLst/>
          </a:prstGeom>
          <a:noFill/>
        </p:spPr>
        <p:txBody>
          <a:bodyPr wrap="square" anchor="ctr">
            <a:spAutoFit/>
          </a:bodyPr>
          <a:lstStyle/>
          <a:p>
            <a:pPr algn="ctr" rtl="1"/>
            <a:r>
              <a:rPr sz="2000" b="1" lang="ar-SA">
                <a:solidFill>
                  <a:srgbClr val="000000"/>
                </a:solidFill>
                <a:latin typeface="Sakkal Majalla"/>
                <a:cs typeface="Sakkal Majalla"/>
              </a:rPr>
              <a:t>وجه</a:t>
            </a:r>
          </a:p>
        </p:txBody>
      </p:sp>
      <p:sp>
        <p:nvSpPr>
          <p:cNvPr id="21" name="TextBox 20"/>
          <p:cNvSpPr txBox="1"/>
          <p:nvPr/>
        </p:nvSpPr>
        <p:spPr>
          <a:xfrm>
            <a:off x="457200" y="5486400"/>
            <a:ext cx="4937760" cy="365760"/>
          </a:xfrm>
          <a:prstGeom prst="rect">
            <a:avLst/>
          </a:prstGeom>
          <a:noFill/>
        </p:spPr>
        <p:txBody>
          <a:bodyPr wrap="square" anchor="ctr">
            <a:spAutoFit/>
          </a:bodyPr>
          <a:lstStyle/>
          <a:p>
            <a:pPr algn="ctr" rtl="1"/>
            <a:r>
              <a:rPr sz="1500" b="0" lang="ar-SA">
                <a:solidFill>
                  <a:srgbClr val="2E7D32"/>
                </a:solidFill>
                <a:latin typeface="Sakkal Majalla"/>
                <a:cs typeface="Sakkal Majalla"/>
              </a:rPr>
              <a:t>خط طي (متقطع) بين اللسان والوجه</a:t>
            </a:r>
          </a:p>
        </p:txBody>
      </p:sp>
      <p:sp>
        <p:nvSpPr>
          <p:cNvPr id="22" name="TextBox 21"/>
          <p:cNvSpPr txBox="1"/>
          <p:nvPr/>
        </p:nvSpPr>
        <p:spPr>
          <a:xfrm>
            <a:off x="457200" y="5852159"/>
            <a:ext cx="4937760" cy="365760"/>
          </a:xfrm>
          <a:prstGeom prst="rect">
            <a:avLst/>
          </a:prstGeom>
          <a:noFill/>
        </p:spPr>
        <p:txBody>
          <a:bodyPr wrap="square" anchor="ctr">
            <a:spAutoFit/>
          </a:bodyPr>
          <a:lstStyle/>
          <a:p>
            <a:pPr algn="ctr" rtl="1"/>
            <a:r>
              <a:rPr sz="1500" b="0" lang="ar-SA">
                <a:solidFill>
                  <a:srgbClr val="595959"/>
                </a:solidFill>
                <a:latin typeface="Sakkal Majalla"/>
                <a:cs typeface="Sakkal Majalla"/>
              </a:rPr>
              <a:t>حواف اللسان المائلة تمنع اصطدامه بالألسنة المجاورة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اتجاه ألياف الورق (Grain Direction):</a:t>
            </a:r>
          </a:p>
          <a:p>
            <a:pPr marL="0" indent="0">
              <a:buNone/>
            </a:pPr>
            <a:r>
              <a:rPr lang="ar-SA" sz="2000"/>
              <a:t>الورق مصنوع من ألياف دقيقة، وأثناء تصنيعه تصطف هذه الألياف في اتجاه واحد، تمامًا كخطوط الخشب أو خيوط القماش. ولذلك ينثني الورق في اتجاه أسهل من الآخر.</a:t>
            </a:r>
          </a:p>
          <a:p>
            <a:pPr/>
            <a:r>
              <a:rPr lang="ar-SA" sz="2000" b="1"/>
              <a:t>الطي مع اتجاه الألياف: </a:t>
            </a:r>
            <a:r>
              <a:rPr lang="ar-SA" sz="2000"/>
              <a:t>الخط يكون نظيفًا ومستقيمًا.</a:t>
            </a:r>
          </a:p>
          <a:p>
            <a:pPr/>
            <a:r>
              <a:rPr lang="ar-SA" sz="2000" b="1"/>
              <a:t>الطي عكس اتجاه الألياف: </a:t>
            </a:r>
            <a:r>
              <a:rPr lang="ar-SA" sz="2000"/>
              <a:t>الطي أصعب، وقد تتشقق طبقة الطباعة على الخط، خاصة في الورق السميك.</a:t>
            </a:r>
          </a:p>
          <a:p>
            <a:pPr marL="0" indent="0">
              <a:buNone/>
            </a:pPr>
            <a:r>
              <a:rPr lang="ar-SA" sz="2000" b="1"/>
              <a:t>كيف أعرف اتجاه الألياف؟ </a:t>
            </a:r>
            <a:r>
              <a:rPr lang="ar-SA" sz="2000"/>
              <a:t>نثني قطعة صغيرة طولًا ثم عرضًا: الاتجاه الأسهل انثناءً هو اتجاه الألياف. أو نمزّقها: التمزق مع الألياف مستقيم، وعكسها متعرج.</a:t>
            </a:r>
          </a:p>
          <a:p>
            <a:pPr marL="0" indent="0">
              <a:buNone/>
            </a:pPr>
            <a:r>
              <a:rPr lang="ar-SA" sz="2000" b="1"/>
              <a:t>في التصميم: </a:t>
            </a:r>
            <a:r>
              <a:rPr lang="ar-SA" sz="2000"/>
              <a:t>نضع الدايلاين على اللوح بحيث تكون أطول خطوط الطي وأهمها مع اتجاه الألياف.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Rectangle 15"/>
          <p:cNvSpPr/>
          <p:nvPr/>
        </p:nvSpPr>
        <p:spPr>
          <a:xfrm>
            <a:off x="731520" y="1965960"/>
            <a:ext cx="4389120" cy="2926080"/>
          </a:xfrm>
          <a:prstGeom prst="rect">
            <a:avLst/>
          </a:prstGeom>
          <a:solidFill>
            <a:srgbClr val="FAFAFA"/>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868680" y="22098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45364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269748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8680" y="294132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68680" y="318516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68680" y="34290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68680" y="367284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 y="391668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 y="416052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68680" y="440436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68680" y="46482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68680" y="3429000"/>
            <a:ext cx="4114800" cy="0"/>
          </a:xfrm>
          <a:prstGeom prst="line">
            <a:avLst/>
          </a:prstGeom>
          <a:ln w="38100">
            <a:solidFill>
              <a:srgbClr val="2E7D32"/>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103120"/>
            <a:ext cx="0" cy="2651759"/>
          </a:xfrm>
          <a:prstGeom prst="line">
            <a:avLst/>
          </a:prstGeom>
          <a:ln w="3810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31520" y="4983479"/>
            <a:ext cx="4389120" cy="365760"/>
          </a:xfrm>
          <a:prstGeom prst="rect">
            <a:avLst/>
          </a:prstGeom>
          <a:noFill/>
        </p:spPr>
        <p:txBody>
          <a:bodyPr wrap="square" anchor="ctr">
            <a:spAutoFit/>
          </a:bodyPr>
          <a:lstStyle/>
          <a:p>
            <a:pPr algn="ctr" rtl="1"/>
            <a:r>
              <a:rPr sz="1500" b="0" lang="ar-SA">
                <a:solidFill>
                  <a:srgbClr val="595959"/>
                </a:solidFill>
                <a:latin typeface="Sakkal Majalla"/>
                <a:cs typeface="Sakkal Majalla"/>
              </a:rPr>
              <a:t>الخطوط الرمادية: اتجاه الألياف</a:t>
            </a:r>
          </a:p>
        </p:txBody>
      </p:sp>
      <p:sp>
        <p:nvSpPr>
          <p:cNvPr id="31" name="TextBox 30"/>
          <p:cNvSpPr txBox="1"/>
          <p:nvPr/>
        </p:nvSpPr>
        <p:spPr>
          <a:xfrm>
            <a:off x="731520" y="5349240"/>
            <a:ext cx="4389120" cy="365760"/>
          </a:xfrm>
          <a:prstGeom prst="rect">
            <a:avLst/>
          </a:prstGeom>
          <a:noFill/>
        </p:spPr>
        <p:txBody>
          <a:bodyPr wrap="square" anchor="ctr">
            <a:spAutoFit/>
          </a:bodyPr>
          <a:lstStyle/>
          <a:p>
            <a:pPr algn="ctr" rtl="1"/>
            <a:r>
              <a:rPr sz="1600" b="1" lang="ar-SA">
                <a:solidFill>
                  <a:srgbClr val="2E7D32"/>
                </a:solidFill>
                <a:latin typeface="Sakkal Majalla"/>
                <a:cs typeface="Sakkal Majalla"/>
              </a:rPr>
              <a:t>الخط الأخضر: طيّ مع الألياف، نظيف ✓</a:t>
            </a:r>
          </a:p>
        </p:txBody>
      </p:sp>
      <p:sp>
        <p:nvSpPr>
          <p:cNvPr id="32" name="TextBox 31"/>
          <p:cNvSpPr txBox="1"/>
          <p:nvPr/>
        </p:nvSpPr>
        <p:spPr>
          <a:xfrm>
            <a:off x="731520" y="5715000"/>
            <a:ext cx="4389120" cy="365760"/>
          </a:xfrm>
          <a:prstGeom prst="rect">
            <a:avLst/>
          </a:prstGeom>
          <a:noFill/>
        </p:spPr>
        <p:txBody>
          <a:bodyPr wrap="square" anchor="ctr">
            <a:spAutoFit/>
          </a:bodyPr>
          <a:lstStyle/>
          <a:p>
            <a:pPr algn="ctr" rtl="1"/>
            <a:r>
              <a:rPr sz="1600" b="1" lang="ar-SA">
                <a:solidFill>
                  <a:srgbClr val="C0392B"/>
                </a:solidFill>
                <a:latin typeface="Sakkal Majalla"/>
                <a:cs typeface="Sakkal Majalla"/>
              </a:rPr>
              <a:t>الخط الأحمر: طيّ عكس الألياف، قد يتشقق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سماكة الورق في الدايلاين:</a:t>
            </a:r>
          </a:p>
          <a:p>
            <a:pPr marL="0" indent="0">
              <a:buNone/>
            </a:pPr>
            <a:r>
              <a:rPr lang="ar-SA" sz="2000"/>
              <a:t>الورق المقوّى له سماكة حقيقية، فإذا رسمنا الدايلاين بالمقاسات النظرية تمامًا لن تنطبق الأوجه عند الطي، وستظهر فتحات أو انتفاخ عند الحواف. لذلك:</a:t>
            </a:r>
          </a:p>
          <a:p>
            <a:pPr/>
            <a:r>
              <a:rPr lang="ar-SA" sz="2000" b="1"/>
              <a:t>الألسنة التي تدخل للداخل: </a:t>
            </a:r>
            <a:r>
              <a:rPr lang="ar-SA" sz="2000"/>
              <a:t>تُصغَّر قليلًا (بقدر سماكة الورق تقريبًا) حتى تدخل دون أن تنفخ العبوة.</a:t>
            </a:r>
          </a:p>
          <a:p>
            <a:pPr/>
            <a:r>
              <a:rPr lang="ar-SA" sz="2000" b="1"/>
              <a:t>الأوجه التي تلتف حول غيرها: </a:t>
            </a:r>
            <a:r>
              <a:rPr lang="ar-SA" sz="2000"/>
              <a:t>تُكبَّر قليلًا لأنها تحيط بسماكة الورق الذي تحتها.</a:t>
            </a:r>
          </a:p>
          <a:p>
            <a:pPr/>
            <a:r>
              <a:rPr lang="ar-SA" sz="2000" b="1"/>
              <a:t>زوايا الألسنة: </a:t>
            </a:r>
            <a:r>
              <a:rPr lang="ar-SA" sz="2000"/>
              <a:t>تُقص بميل حتى لا تحتك بخطوط الطي المجاورة.</a:t>
            </a:r>
          </a:p>
          <a:p>
            <a:pPr marL="0" indent="0">
              <a:buNone/>
            </a:pPr>
            <a:r>
              <a:rPr lang="ar-SA" sz="2000" b="1"/>
              <a:t>قاعدة عملية: </a:t>
            </a:r>
            <a:r>
              <a:rPr lang="ar-SA" sz="2000"/>
              <a:t>كلما زادت سماكة الورق زادت الحاجة إلى هذا التعديل، ويُجرَّب الدايلاين دائمًا بنموذج قبل اعتماده.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edge.png"/>
          <p:cNvPicPr>
            <a:picLocks noChangeAspect="1"/>
          </p:cNvPicPr>
          <p:nvPr/>
        </p:nvPicPr>
        <p:blipFill>
          <a:blip r:embed="rId3"/>
          <a:stretch>
            <a:fillRect/>
          </a:stretch>
        </p:blipFill>
        <p:spPr>
          <a:xfrm>
            <a:off x="894997" y="1600200"/>
            <a:ext cx="4062165" cy="43891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اتجاه الطي: للداخل أو للخارج</a:t>
            </a:r>
          </a:p>
          <a:p>
            <a:pPr marL="0" indent="0">
              <a:buNone/>
            </a:pPr>
            <a:r>
              <a:rPr lang="ar-SA" sz="2000"/>
              <a:t>خط الطي في الدايلاين يمكن أن يُطوى في اتجاهين، ولكل اتجاه اسم:</a:t>
            </a:r>
          </a:p>
          <a:p>
            <a:pPr/>
            <a:r>
              <a:rPr lang="ar-SA" sz="2000" b="1"/>
              <a:t>طيّة للداخل، وتُسمّى «الوادي» (Valley Fold): </a:t>
            </a:r>
            <a:r>
              <a:rPr lang="ar-SA" sz="2000"/>
              <a:t>يُطوى الورق نحونا فيتكوّن شكل حرف V، كالوادي بين جبلين.</a:t>
            </a:r>
          </a:p>
          <a:p>
            <a:pPr/>
            <a:r>
              <a:rPr lang="ar-SA" sz="2000" b="1"/>
              <a:t>طيّة للخارج، وتُسمّى «الجبل» (Mountain Fold): </a:t>
            </a:r>
            <a:r>
              <a:rPr lang="ar-SA" sz="2000"/>
              <a:t>يُطوى الورق بعيدًا عنا فيتكوّن شكل حرف V مقلوب، كقمة الجبل.</a:t>
            </a:r>
          </a:p>
          <a:p>
            <a:pPr marL="0" indent="0">
              <a:buNone/>
            </a:pPr>
            <a:r>
              <a:rPr lang="ar-SA" sz="2000"/>
              <a:t>ويُرسم كل نوع في الدايلاين برمز مختلف، ويُوضَّح الرمزان في مفتاح الرسم بجانب الدايلاين.</a:t>
            </a:r>
          </a:p>
          <a:p>
            <a:pPr marL="0" indent="0">
              <a:buNone/>
            </a:pPr>
            <a:r>
              <a:rPr lang="ar-SA" sz="2000" b="1"/>
              <a:t>متى يهمنا ذلك؟ </a:t>
            </a:r>
            <a:r>
              <a:rPr lang="ar-SA" sz="2000"/>
              <a:t>في الأشكال المركّبة، مثل تقنية الضغط، تُطوى بعض الخطوط للداخل وبعضها للخارج، والخطأ في الاتجاه يفسد الشكل.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cxnSp>
        <p:nvCxnSpPr>
          <p:cNvPr id="16" name="Connector 15"/>
          <p:cNvCxnSpPr/>
          <p:nvPr/>
        </p:nvCxnSpPr>
        <p:spPr>
          <a:xfrm>
            <a:off x="1005840" y="1874519"/>
            <a:ext cx="822960" cy="1005841"/>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828800" y="1874519"/>
            <a:ext cx="822960" cy="1005841"/>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1520" y="2971800"/>
            <a:ext cx="2194560" cy="411480"/>
          </a:xfrm>
          <a:prstGeom prst="rect">
            <a:avLst/>
          </a:prstGeom>
          <a:noFill/>
        </p:spPr>
        <p:txBody>
          <a:bodyPr wrap="square" anchor="ctr">
            <a:spAutoFit/>
          </a:bodyPr>
          <a:lstStyle/>
          <a:p>
            <a:pPr algn="ctr" rtl="1"/>
            <a:r>
              <a:rPr sz="1700" b="1" lang="ar-SA">
                <a:solidFill>
                  <a:srgbClr val="000000"/>
                </a:solidFill>
                <a:latin typeface="Sakkal Majalla"/>
                <a:cs typeface="Sakkal Majalla"/>
              </a:rPr>
              <a:t>وادٍ: للداخل</a:t>
            </a:r>
          </a:p>
        </p:txBody>
      </p:sp>
      <p:cxnSp>
        <p:nvCxnSpPr>
          <p:cNvPr id="19" name="Connector 18"/>
          <p:cNvCxnSpPr/>
          <p:nvPr/>
        </p:nvCxnSpPr>
        <p:spPr>
          <a:xfrm flipV="1">
            <a:off x="1005840" y="4069079"/>
            <a:ext cx="822960" cy="100584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828800" y="4069079"/>
            <a:ext cx="822960" cy="100584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5166359"/>
            <a:ext cx="2194560" cy="411480"/>
          </a:xfrm>
          <a:prstGeom prst="rect">
            <a:avLst/>
          </a:prstGeom>
          <a:noFill/>
        </p:spPr>
        <p:txBody>
          <a:bodyPr wrap="square" anchor="ctr">
            <a:spAutoFit/>
          </a:bodyPr>
          <a:lstStyle/>
          <a:p>
            <a:pPr algn="ctr" rtl="1"/>
            <a:r>
              <a:rPr sz="1700" b="1" lang="ar-SA">
                <a:solidFill>
                  <a:srgbClr val="000000"/>
                </a:solidFill>
                <a:latin typeface="Sakkal Majalla"/>
                <a:cs typeface="Sakkal Majalla"/>
              </a:rPr>
              <a:t>جبل: للخارج</a:t>
            </a:r>
          </a:p>
        </p:txBody>
      </p:sp>
      <p:cxnSp>
        <p:nvCxnSpPr>
          <p:cNvPr id="22" name="Connector 21"/>
          <p:cNvCxnSpPr/>
          <p:nvPr/>
        </p:nvCxnSpPr>
        <p:spPr>
          <a:xfrm>
            <a:off x="3200400" y="2377439"/>
            <a:ext cx="1463040" cy="0"/>
          </a:xfrm>
          <a:prstGeom prst="line">
            <a:avLst/>
          </a:prstGeom>
          <a:ln w="3810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17520" y="2514599"/>
            <a:ext cx="1828800" cy="365760"/>
          </a:xfrm>
          <a:prstGeom prst="rect">
            <a:avLst/>
          </a:prstGeom>
          <a:noFill/>
        </p:spPr>
        <p:txBody>
          <a:bodyPr wrap="square" anchor="ctr">
            <a:spAutoFit/>
          </a:bodyPr>
          <a:lstStyle/>
          <a:p>
            <a:pPr algn="ctr" rtl="1"/>
            <a:r>
              <a:rPr sz="1400" b="0" lang="ar-SA">
                <a:solidFill>
                  <a:srgbClr val="595959"/>
                </a:solidFill>
                <a:latin typeface="Sakkal Majalla"/>
                <a:cs typeface="Sakkal Majalla"/>
              </a:rPr>
              <a:t>رمزه: خط متقطع</a:t>
            </a:r>
          </a:p>
        </p:txBody>
      </p:sp>
      <p:cxnSp>
        <p:nvCxnSpPr>
          <p:cNvPr id="24" name="Connector 23"/>
          <p:cNvCxnSpPr/>
          <p:nvPr/>
        </p:nvCxnSpPr>
        <p:spPr>
          <a:xfrm>
            <a:off x="3200400" y="4571999"/>
            <a:ext cx="1463040" cy="0"/>
          </a:xfrm>
          <a:prstGeom prst="line">
            <a:avLst/>
          </a:prstGeom>
          <a:ln w="3810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017520" y="4709159"/>
            <a:ext cx="1828800" cy="365760"/>
          </a:xfrm>
          <a:prstGeom prst="rect">
            <a:avLst/>
          </a:prstGeom>
          <a:noFill/>
        </p:spPr>
        <p:txBody>
          <a:bodyPr wrap="square" anchor="ctr">
            <a:spAutoFit/>
          </a:bodyPr>
          <a:lstStyle/>
          <a:p>
            <a:pPr algn="ctr" rtl="1"/>
            <a:r>
              <a:rPr sz="1400" b="0" lang="ar-SA">
                <a:solidFill>
                  <a:srgbClr val="595959"/>
                </a:solidFill>
                <a:latin typeface="Sakkal Majalla"/>
                <a:cs typeface="Sakkal Majalla"/>
              </a:rPr>
              <a:t>رمزه: شرطة ونقطة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كيف نغيّر شكل المكعّب؟ (Deforming a Cube)</a:t>
            </a:r>
          </a:p>
          <a:p>
            <a:pPr marL="0" indent="0">
              <a:buNone/>
            </a:pPr>
            <a:r>
              <a:rPr lang="ar-SA" sz="2000"/>
              <a:t>الفكرة: نبدأ بصندوق مكعّب عادي، ثم نغيّر شكله بطريقة مدروسة فنحصل على عبوة جديدة ومميزة. وهناك ثلاث طرق للتفكير:</a:t>
            </a:r>
          </a:p>
          <a:p>
            <a:pPr marL="0" indent="0">
              <a:buNone/>
            </a:pPr>
            <a:r>
              <a:rPr lang="ar-SA" sz="2000" b="1"/>
              <a:t>١. القطع: </a:t>
            </a:r>
            <a:r>
              <a:rPr lang="ar-SA" sz="2000"/>
              <a:t>نتخيل المكعّب قطعة خشب صلبة، ونقطع منها جزءًا: من سطح أو حافة أو زاوية.</a:t>
            </a:r>
          </a:p>
          <a:p>
            <a:pPr marL="0" indent="0">
              <a:buNone/>
            </a:pPr>
            <a:r>
              <a:rPr lang="ar-SA" sz="2000" b="1"/>
              <a:t>٢. الشدّ والضغط واللفّ: </a:t>
            </a:r>
            <a:r>
              <a:rPr lang="ar-SA" sz="2000"/>
              <a:t>نتخيل المكعّب قطعة مطاط، فنشدّه أو نضغطه أو نلفّه، فيميل أو ينثني دون أن نقطع منه شيئًا.</a:t>
            </a:r>
          </a:p>
          <a:p>
            <a:pPr marL="0" indent="0">
              <a:buNone/>
            </a:pPr>
            <a:r>
              <a:rPr lang="ar-SA" sz="2000" b="1"/>
              <a:t>٣. تقويس الحواف: </a:t>
            </a:r>
            <a:r>
              <a:rPr lang="ar-SA" sz="2000"/>
              <a:t>نجعل خطوط الطي منحنية بدل المستقيمة، فتتقوّس الأوجه.</a:t>
            </a:r>
          </a:p>
          <a:p>
            <a:pPr marL="0" indent="0">
              <a:buNone/>
            </a:pPr>
            <a:r>
              <a:rPr lang="ar-SA" sz="2000"/>
              <a:t>وبهذه الطرق الثلاث يمكن ابتكار عبوات جديدة دون معرفة متقدمة بالهندسة.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2"/>
          <a:stretch>
            <a:fillRect/>
          </a:stretch>
        </p:blipFill>
        <p:spPr>
          <a:xfrm>
            <a:off x="1872699" y="1600200"/>
            <a:ext cx="2106761" cy="2322576"/>
          </a:xfrm>
          <a:prstGeom prst="rect">
            <a:avLst/>
          </a:prstGeom>
        </p:spPr>
      </p:pic>
      <p:pic>
        <p:nvPicPr>
          <p:cNvPr id="17" name="Picture 16" descr="stretch-edge.png"/>
          <p:cNvPicPr>
            <a:picLocks noChangeAspect="1"/>
          </p:cNvPicPr>
          <p:nvPr/>
        </p:nvPicPr>
        <p:blipFill>
          <a:blip r:embed="rId3"/>
          <a:stretch>
            <a:fillRect/>
          </a:stretch>
        </p:blipFill>
        <p:spPr>
          <a:xfrm>
            <a:off x="783975" y="4105656"/>
            <a:ext cx="1723888" cy="1883664"/>
          </a:xfrm>
          <a:prstGeom prst="rect">
            <a:avLst/>
          </a:prstGeom>
        </p:spPr>
      </p:pic>
      <p:pic>
        <p:nvPicPr>
          <p:cNvPr id="18" name="Picture 17" descr="single.png"/>
          <p:cNvPicPr>
            <a:picLocks noChangeAspect="1"/>
          </p:cNvPicPr>
          <p:nvPr/>
        </p:nvPicPr>
        <p:blipFill>
          <a:blip r:embed="rId4"/>
          <a:stretch>
            <a:fillRect/>
          </a:stretch>
        </p:blipFill>
        <p:spPr>
          <a:xfrm>
            <a:off x="3017520" y="4108109"/>
            <a:ext cx="2377440" cy="187875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إمالة السطح العلوي (Shaving a Face):</a:t>
            </a:r>
          </a:p>
          <a:p>
            <a:pPr marL="0" indent="0">
              <a:buNone/>
            </a:pPr>
            <a:r>
              <a:rPr lang="ar-SA" sz="2000" b="1"/>
              <a:t>الطريقة وعدد الأوجه: </a:t>
            </a:r>
            <a:r>
              <a:rPr lang="ar-SA" sz="2000"/>
              <a:t>القطع، ٦ أوجه</a:t>
            </a:r>
          </a:p>
          <a:p>
            <a:pPr marL="0" indent="0">
              <a:buNone/>
            </a:pPr>
            <a:r>
              <a:rPr lang="ar-SA" sz="2000" b="1"/>
              <a:t>الفكرة: </a:t>
            </a:r>
            <a:r>
              <a:rPr lang="ar-SA" sz="2000"/>
              <a:t>نقطع الجزء العلوي من المكعّب بخط مائل، فيصبح السطح العلوي منحدرًا بدل أن يكون مستويًا. ويمكن أن يكون الميل خفيفًا أو حادًا، أو مائلًا للأمام أو للخلف.</a:t>
            </a:r>
          </a:p>
          <a:p>
            <a:pPr marL="0" indent="0">
              <a:buNone/>
            </a:pPr>
            <a:r>
              <a:rPr lang="ar-SA" sz="2000" b="1"/>
              <a:t>ماذا يتغير في الشكل؟ </a:t>
            </a:r>
            <a:r>
              <a:rPr lang="ar-SA" sz="2000"/>
              <a:t>الجانبان يصبحان على شكل شبه منحرف (أحد طرفيهما أعلى من الآخر)، والسطح العلوي يصبح مستطيلًا مائلًا أطول من القاعدة.</a:t>
            </a:r>
          </a:p>
          <a:p>
            <a:pPr marL="0" indent="0">
              <a:buNone/>
            </a:pPr>
            <a:r>
              <a:rPr lang="ar-SA" sz="2000" b="1"/>
              <a:t>الاستخدام في التغليف: </a:t>
            </a:r>
            <a:r>
              <a:rPr lang="ar-SA" sz="2000"/>
              <a:t>السطح المائل يصبح واجهة لعرض الشعار أو المنتج، ويُقرأ بسهولة عندما ينظر المشتري إلى الرف.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3"/>
          <a:stretch>
            <a:fillRect/>
          </a:stretch>
        </p:blipFill>
        <p:spPr>
          <a:xfrm>
            <a:off x="935439" y="1600200"/>
            <a:ext cx="3981281" cy="43891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شطف حافة (Shaving an Edge):</a:t>
            </a:r>
          </a:p>
          <a:p>
            <a:pPr marL="0" indent="0">
              <a:buNone/>
            </a:pPr>
            <a:r>
              <a:rPr lang="ar-SA" sz="2000" b="1"/>
              <a:t>الطريقة وعدد الأوجه: </a:t>
            </a:r>
            <a:r>
              <a:rPr lang="ar-SA" sz="2000"/>
              <a:t>القطع، ٧ أوجه</a:t>
            </a:r>
          </a:p>
          <a:p>
            <a:pPr marL="0" indent="0">
              <a:buNone/>
            </a:pPr>
            <a:r>
              <a:rPr lang="ar-SA" sz="2000" b="1"/>
              <a:t>الفكرة: </a:t>
            </a:r>
            <a:r>
              <a:rPr lang="ar-SA" sz="2000"/>
              <a:t>نقطع إحدى الحواف الحادة بقطع مائل، فيظهر مكانها سطح جديد صغير، كما يُشطف طرف قطعة الخشب.</a:t>
            </a:r>
          </a:p>
          <a:p>
            <a:pPr marL="0" indent="0">
              <a:buNone/>
            </a:pPr>
            <a:r>
              <a:rPr lang="ar-SA" sz="2000" b="1"/>
              <a:t>ماذا يتغير في الشكل؟ </a:t>
            </a:r>
            <a:r>
              <a:rPr lang="ar-SA" sz="2000"/>
              <a:t>يزيد عدد الأوجه وجهًا واحدًا، ويصبح الجانبان خماسيين (مربع قُطع أحد أطرافه).</a:t>
            </a:r>
          </a:p>
          <a:p>
            <a:pPr marL="0" indent="0">
              <a:buNone/>
            </a:pPr>
            <a:r>
              <a:rPr lang="ar-SA" sz="2000" b="1"/>
              <a:t>الاستخدام في التغليف: </a:t>
            </a:r>
            <a:r>
              <a:rPr lang="ar-SA" sz="2000"/>
              <a:t>السطح الجديد مساحة إضافية لمعلومة أو عنصر بصري، ويجعل العبوة أنعم، فيناسب علب الهدايا والعطور.</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edge.png"/>
          <p:cNvPicPr>
            <a:picLocks noChangeAspect="1"/>
          </p:cNvPicPr>
          <p:nvPr/>
        </p:nvPicPr>
        <p:blipFill>
          <a:blip r:embed="rId3"/>
          <a:stretch>
            <a:fillRect/>
          </a:stretch>
        </p:blipFill>
        <p:spPr>
          <a:xfrm>
            <a:off x="894997" y="1600200"/>
            <a:ext cx="4062165" cy="43891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شطف زاوية (Shaving a Corner):</a:t>
            </a:r>
          </a:p>
          <a:p>
            <a:pPr marL="0" indent="0">
              <a:buNone/>
            </a:pPr>
            <a:r>
              <a:rPr lang="ar-SA" sz="2000" b="1"/>
              <a:t>الطريقة وعدد الأوجه: </a:t>
            </a:r>
            <a:r>
              <a:rPr lang="ar-SA" sz="2000"/>
              <a:t>القطع، ٧ أوجه</a:t>
            </a:r>
          </a:p>
          <a:p>
            <a:pPr marL="0" indent="0">
              <a:buNone/>
            </a:pPr>
            <a:r>
              <a:rPr lang="ar-SA" sz="2000" b="1"/>
              <a:t>الفكرة: </a:t>
            </a:r>
            <a:r>
              <a:rPr lang="ar-SA" sz="2000"/>
              <a:t>نقطع إحدى زوايا المكعّب، فيظهر مكانها سطح جديد على شكل مثلث. وإذا قطعنا المسافة نفسها على الحواف الثلاث كان المثلث متساوي الأضلاع.</a:t>
            </a:r>
          </a:p>
          <a:p>
            <a:pPr marL="0" indent="0">
              <a:buNone/>
            </a:pPr>
            <a:r>
              <a:rPr lang="ar-SA" sz="2000" b="1"/>
              <a:t>ماذا يتغير في الشكل؟ </a:t>
            </a:r>
            <a:r>
              <a:rPr lang="ar-SA" sz="2000"/>
              <a:t>الأوجه الثلاثة التي كانت تلتقي عند الزاوية تصبح خماسية.</a:t>
            </a:r>
          </a:p>
          <a:p>
            <a:pPr marL="0" indent="0">
              <a:buNone/>
            </a:pPr>
            <a:r>
              <a:rPr lang="ar-SA" sz="2000" b="1"/>
              <a:t>الاستخدام في التغليف: </a:t>
            </a:r>
            <a:r>
              <a:rPr lang="ar-SA" sz="2000"/>
              <a:t>المثلث مكان مميز للشعار، وإيقاف العبوة عليه يعطيها شكلًا نحتيًا يناسب الإصدارات الخاصة.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rner.png"/>
          <p:cNvPicPr>
            <a:picLocks noChangeAspect="1"/>
          </p:cNvPicPr>
          <p:nvPr/>
        </p:nvPicPr>
        <p:blipFill>
          <a:blip r:embed="rId3"/>
          <a:stretch>
            <a:fillRect/>
          </a:stretch>
        </p:blipFill>
        <p:spPr>
          <a:xfrm>
            <a:off x="457200" y="1834710"/>
            <a:ext cx="4937760" cy="392009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الشدّ من حافة إلى حافة (Stretching Edge-to-edge):</a:t>
            </a:r>
          </a:p>
          <a:p>
            <a:pPr marL="0" indent="0">
              <a:buNone/>
            </a:pPr>
            <a:r>
              <a:rPr lang="ar-SA" sz="2000" b="1"/>
              <a:t>الطريقة وعدد الأوجه: </a:t>
            </a:r>
            <a:r>
              <a:rPr lang="ar-SA" sz="2000"/>
              <a:t>الشدّ، ٦ أوجه</a:t>
            </a:r>
          </a:p>
          <a:p>
            <a:pPr marL="0" indent="0">
              <a:buNone/>
            </a:pPr>
            <a:r>
              <a:rPr lang="ar-SA" sz="2000" b="1"/>
              <a:t>الفكرة: </a:t>
            </a:r>
            <a:r>
              <a:rPr lang="ar-SA" sz="2000"/>
              <a:t>نتخيل المكعّب مطاطًا، ونمسك حافتين متقابلتين ونشدّهما بعيدًا عن بعض، فيصبح صندوقًا مائلًا (Leaning Box).</a:t>
            </a:r>
          </a:p>
          <a:p>
            <a:pPr marL="0" indent="0">
              <a:buNone/>
            </a:pPr>
            <a:r>
              <a:rPr lang="ar-SA" sz="2000" b="1"/>
              <a:t>ماذا يتغير في الشكل؟ </a:t>
            </a:r>
            <a:r>
              <a:rPr lang="ar-SA" sz="2000"/>
              <a:t>وجهان متقابلان يصبحان متوازيي أضلاع (مربع مائل)، والباقي مستطيلات.</a:t>
            </a:r>
          </a:p>
          <a:p>
            <a:pPr marL="0" indent="0">
              <a:buNone/>
            </a:pPr>
            <a:r>
              <a:rPr lang="ar-SA" sz="2000" b="1"/>
              <a:t>الاستخدام في التغليف: </a:t>
            </a:r>
            <a:r>
              <a:rPr lang="ar-SA" sz="2000"/>
              <a:t>يوحي بالحركة والنشاط، فيناسب المنتجات الشبابية والرياضية.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edge.png"/>
          <p:cNvPicPr>
            <a:picLocks noChangeAspect="1"/>
          </p:cNvPicPr>
          <p:nvPr/>
        </p:nvPicPr>
        <p:blipFill>
          <a:blip r:embed="rId3"/>
          <a:stretch>
            <a:fillRect/>
          </a:stretch>
        </p:blipFill>
        <p:spPr>
          <a:xfrm>
            <a:off x="917665" y="1600200"/>
            <a:ext cx="4016828" cy="43891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الشدّ من زاوية إلى زاوية (Stretching Corner-to-corner):</a:t>
            </a:r>
          </a:p>
          <a:p>
            <a:pPr marL="0" indent="0">
              <a:buNone/>
            </a:pPr>
            <a:r>
              <a:rPr lang="ar-SA" sz="2000" b="1"/>
              <a:t>الطريقة وعدد الأوجه: </a:t>
            </a:r>
            <a:r>
              <a:rPr lang="ar-SA" sz="2000"/>
              <a:t>الشدّ، ٦ أوجه</a:t>
            </a:r>
          </a:p>
          <a:p>
            <a:pPr marL="0" indent="0">
              <a:buNone/>
            </a:pPr>
            <a:r>
              <a:rPr lang="ar-SA" sz="2000" b="1"/>
              <a:t>الفكرة: </a:t>
            </a:r>
            <a:r>
              <a:rPr lang="ar-SA" sz="2000"/>
              <a:t>نمسك زاويتين متقابلتين (أبعد نقطتين في المكعّب) ونشدّهما، فيصبح الشكل كالمعيّن الممدود.</a:t>
            </a:r>
          </a:p>
          <a:p>
            <a:pPr marL="0" indent="0">
              <a:buNone/>
            </a:pPr>
            <a:r>
              <a:rPr lang="ar-SA" sz="2000" b="1"/>
              <a:t>ماذا يتغير في الشكل؟ </a:t>
            </a:r>
            <a:r>
              <a:rPr lang="ar-SA" sz="2000"/>
              <a:t>كل الأوجه الستة تصبح معيّنات، ولا تبقى أي زاوية قائمة.</a:t>
            </a:r>
          </a:p>
          <a:p>
            <a:pPr marL="0" indent="0">
              <a:buNone/>
            </a:pPr>
            <a:r>
              <a:rPr lang="ar-SA" sz="2000" b="1"/>
              <a:t>الاستخدام في التغليف: </a:t>
            </a:r>
            <a:r>
              <a:rPr lang="ar-SA" sz="2000"/>
              <a:t>شكل غريب يربك العين لأنها تبحث عن زوايا قائمة فلا تجدها، فيناسب المنتجات الفاخرة والفنية.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corner.png"/>
          <p:cNvPicPr>
            <a:picLocks noChangeAspect="1"/>
          </p:cNvPicPr>
          <p:nvPr/>
        </p:nvPicPr>
        <p:blipFill>
          <a:blip r:embed="rId3"/>
          <a:stretch>
            <a:fillRect/>
          </a:stretch>
        </p:blipFill>
        <p:spPr>
          <a:xfrm>
            <a:off x="457200" y="1605887"/>
            <a:ext cx="4937760" cy="437774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لفّ الغطاء والقاعدة (Twisting Opposite Faces):</a:t>
            </a:r>
          </a:p>
          <a:p>
            <a:pPr marL="0" indent="0">
              <a:buNone/>
            </a:pPr>
            <a:r>
              <a:rPr lang="ar-SA" sz="2000" b="1"/>
              <a:t>الطريقة وعدد الأوجه: </a:t>
            </a:r>
            <a:r>
              <a:rPr lang="ar-SA" sz="2000"/>
              <a:t>اللفّ، ٦ أوجه</a:t>
            </a:r>
          </a:p>
          <a:p>
            <a:pPr marL="0" indent="0">
              <a:buNone/>
            </a:pPr>
            <a:r>
              <a:rPr lang="ar-SA" sz="2000" b="1"/>
              <a:t>الفكرة: </a:t>
            </a:r>
            <a:r>
              <a:rPr lang="ar-SA" sz="2000"/>
              <a:t>الوجهان المقصودان هما الغطاء (الوجه العلوي) والقاعدة (الوجه السفلي). نثبّت القاعدة ونلفّ الغطاء لفّة خفيفة، كما نفتح غطاء البرطمان، فتميل الجدران الأربعة.</a:t>
            </a:r>
          </a:p>
          <a:p>
            <a:pPr marL="0" indent="0">
              <a:buNone/>
            </a:pPr>
            <a:r>
              <a:rPr lang="ar-SA" sz="2000" b="1"/>
              <a:t>ماذا يتغير في الشكل؟ </a:t>
            </a:r>
            <a:r>
              <a:rPr lang="ar-SA" sz="2000"/>
              <a:t>يبقى الغطاء والقاعدة مربعين، وتصبح الجدران الأربعة متوازيات أضلاع مائلة في الاتجاه نفسه. وأفضل ميل للجدار ٨٠° (أي أقل من القائمة بـ ١٠° فقط)، وإذا قلّ عن ٧٠° يصبح الشكل مبالغًا فيه.</a:t>
            </a:r>
          </a:p>
          <a:p>
            <a:pPr marL="0" indent="0">
              <a:buNone/>
            </a:pPr>
            <a:r>
              <a:rPr lang="ar-SA" sz="2000" b="1"/>
              <a:t>الاستخدام في التغليف: </a:t>
            </a:r>
            <a:r>
              <a:rPr lang="ar-SA" sz="2000"/>
              <a:t>تغيير خفيف لا يُلاحظ من أول نظرة ثم يكتشفه المشتري، فيناسب العلامات الراقية.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png"/>
          <p:cNvPicPr>
            <a:picLocks noChangeAspect="1"/>
          </p:cNvPicPr>
          <p:nvPr/>
        </p:nvPicPr>
        <p:blipFill>
          <a:blip r:embed="rId3"/>
          <a:stretch>
            <a:fillRect/>
          </a:stretch>
        </p:blipFill>
        <p:spPr>
          <a:xfrm>
            <a:off x="712624" y="1600200"/>
            <a:ext cx="4426910" cy="43891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اللفّ: النسخة المُضلَّعة (Twisting: Faceted Version):</a:t>
            </a:r>
          </a:p>
          <a:p>
            <a:pPr marL="0" indent="0">
              <a:buNone/>
            </a:pPr>
            <a:r>
              <a:rPr lang="ar-SA" sz="2000" b="1"/>
              <a:t>الطريقة وعدد الأوجه: </a:t>
            </a:r>
            <a:r>
              <a:rPr lang="ar-SA" sz="2000"/>
              <a:t>اللفّ، ١٠ أوجه</a:t>
            </a:r>
          </a:p>
          <a:p>
            <a:pPr marL="0" indent="0">
              <a:buNone/>
            </a:pPr>
            <a:r>
              <a:rPr lang="ar-SA" sz="2000" b="1"/>
              <a:t>الفكرة: </a:t>
            </a:r>
            <a:r>
              <a:rPr lang="ar-SA" sz="2000"/>
              <a:t>نكمل لفّ الغطاء أكثر حتى تصبح كل زاوية في الغطاء فوق منتصف حافة القاعدة، ثم نصل الزوايا بخطوط طي.</a:t>
            </a:r>
          </a:p>
          <a:p>
            <a:pPr marL="0" indent="0">
              <a:buNone/>
            </a:pPr>
            <a:r>
              <a:rPr lang="ar-SA" sz="2000" b="1"/>
              <a:t>ماذا يتغير في الشكل؟ </a:t>
            </a:r>
            <a:r>
              <a:rPr lang="ar-SA" sz="2000"/>
              <a:t>تتحول الجدران إلى ثمانية مثلثات، مع الغطاء والقاعدة المربعين. ويحتاج ألسنة ذات حافة مثنية (Flanged Tabs) لتثبيت الغطاء والقاعدة.</a:t>
            </a:r>
          </a:p>
          <a:p>
            <a:pPr marL="0" indent="0">
              <a:buNone/>
            </a:pPr>
            <a:r>
              <a:rPr lang="ar-SA" sz="2000" b="1"/>
              <a:t>الاستخدام في التغليف: </a:t>
            </a:r>
            <a:r>
              <a:rPr lang="ar-SA" sz="2000"/>
              <a:t>شكل يشبه الجوهرة، يناسب المجوهرات والشوكولاتة الفاخرة والشموع.</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facet.png"/>
          <p:cNvPicPr>
            <a:picLocks noChangeAspect="1"/>
          </p:cNvPicPr>
          <p:nvPr/>
        </p:nvPicPr>
        <p:blipFill>
          <a:blip r:embed="rId3"/>
          <a:stretch>
            <a:fillRect/>
          </a:stretch>
        </p:blipFill>
        <p:spPr>
          <a:xfrm>
            <a:off x="457200" y="1732341"/>
            <a:ext cx="4937760" cy="41248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الضغط من الأعلى إلى الأسفل (Compressing Face-to-face):</a:t>
            </a:r>
          </a:p>
          <a:p>
            <a:pPr marL="0" indent="0">
              <a:buNone/>
            </a:pPr>
            <a:r>
              <a:rPr lang="ar-SA" sz="2000" b="1"/>
              <a:t>الطريقة وعدد الأوجه: </a:t>
            </a:r>
            <a:r>
              <a:rPr lang="ar-SA" sz="2000"/>
              <a:t>الضغط، ٦ أوجه</a:t>
            </a:r>
          </a:p>
          <a:p>
            <a:pPr marL="0" indent="0">
              <a:buNone/>
            </a:pPr>
            <a:r>
              <a:rPr lang="ar-SA" sz="2000" b="1"/>
              <a:t>الفكرة: </a:t>
            </a:r>
            <a:r>
              <a:rPr lang="ar-SA" sz="2000"/>
              <a:t>نضغط الغطاء نحو القاعدة كأننا نضغط علبة مطاطية، فتنثني الجدران عند منتصفها. والشكل المعروض تبسيط لهذه الفكرة بخطوط طي مستقيمة.</a:t>
            </a:r>
          </a:p>
          <a:p>
            <a:pPr marL="0" indent="0">
              <a:buNone/>
            </a:pPr>
            <a:r>
              <a:rPr lang="ar-SA" sz="2000" b="1"/>
              <a:t>ماذا يتغير في الشكل؟ </a:t>
            </a:r>
            <a:r>
              <a:rPr lang="ar-SA" sz="2000"/>
              <a:t>كل جدار يُقسم بخط طي أفقي في منتصفه وينثني عنده. ورغم أن الشكل يبدو مضغوطًا، فإن كمية الورق نفسها كالمكعّب العادي.</a:t>
            </a:r>
          </a:p>
          <a:p>
            <a:pPr marL="0" indent="0">
              <a:buNone/>
            </a:pPr>
            <a:r>
              <a:rPr lang="ar-SA" sz="2000" b="1"/>
              <a:t>الاستخدام في التغليف: </a:t>
            </a:r>
            <a:r>
              <a:rPr lang="ar-SA" sz="2000"/>
              <a:t>شكل مرح يوحي بالليونة، فيناسب المنتجات الناعمة ومنتجات الأطفال.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mpress.png"/>
          <p:cNvPicPr>
            <a:picLocks noChangeAspect="1"/>
          </p:cNvPicPr>
          <p:nvPr/>
        </p:nvPicPr>
        <p:blipFill>
          <a:blip r:embed="rId3"/>
          <a:stretch>
            <a:fillRect/>
          </a:stretch>
        </p:blipFill>
        <p:spPr>
          <a:xfrm>
            <a:off x="720762" y="1600200"/>
            <a:ext cx="4410635" cy="43891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مقارنة بين التقنيات:</a:t>
            </a:r>
          </a:p>
          <a:p>
            <a:pPr/>
            <a:r>
              <a:rPr lang="ar-SA" sz="2000" b="1"/>
              <a:t>إمالة السطح العلوي (القطع، ٦ أوجه): </a:t>
            </a:r>
            <a:r>
              <a:rPr lang="ar-SA" sz="2000"/>
              <a:t>سطح علوي منحدر، وجانبان شبه منحرفين.</a:t>
            </a:r>
          </a:p>
          <a:p>
            <a:pPr/>
            <a:r>
              <a:rPr lang="ar-SA" sz="2000" b="1"/>
              <a:t>شطف حافة (القطع، ٧ أوجه): </a:t>
            </a:r>
            <a:r>
              <a:rPr lang="ar-SA" sz="2000"/>
              <a:t>سطح جديد مكان الحافة، وجانبان خماسيان.</a:t>
            </a:r>
          </a:p>
          <a:p>
            <a:pPr/>
            <a:r>
              <a:rPr lang="ar-SA" sz="2000" b="1"/>
              <a:t>شطف زاوية (القطع، ٧ أوجه): </a:t>
            </a:r>
            <a:r>
              <a:rPr lang="ar-SA" sz="2000"/>
              <a:t>سطح مثلث جديد، وثلاثة أوجه خماسية.</a:t>
            </a:r>
          </a:p>
          <a:p>
            <a:pPr/>
            <a:r>
              <a:rPr lang="ar-SA" sz="2000" b="1"/>
              <a:t>الشدّ من حافة لحافة (٦ أوجه): </a:t>
            </a:r>
            <a:r>
              <a:rPr lang="ar-SA" sz="2000"/>
              <a:t>صندوق مائل بوجهين متوازيي أضلاع.</a:t>
            </a:r>
          </a:p>
          <a:p>
            <a:pPr/>
            <a:r>
              <a:rPr lang="ar-SA" sz="2000" b="1"/>
              <a:t>الشدّ من زاوية لزاوية (٦ أوجه): </a:t>
            </a:r>
            <a:r>
              <a:rPr lang="ar-SA" sz="2000"/>
              <a:t>كل الأوجه معيّنات.</a:t>
            </a:r>
          </a:p>
          <a:p>
            <a:pPr/>
            <a:r>
              <a:rPr lang="ar-SA" sz="2000" b="1"/>
              <a:t>لفّ الغطاء والقاعدة (٦ أوجه): </a:t>
            </a:r>
            <a:r>
              <a:rPr lang="ar-SA" sz="2000"/>
              <a:t>جدران مائلة بزاوية ٨٠°.</a:t>
            </a:r>
          </a:p>
          <a:p>
            <a:pPr/>
            <a:r>
              <a:rPr lang="ar-SA" sz="2000" b="1"/>
              <a:t>اللفّ المُضلَّع (١٠ أوجه): </a:t>
            </a:r>
            <a:r>
              <a:rPr lang="ar-SA" sz="2000"/>
              <a:t>غطاء وقاعدة وثمانية مثلثات.</a:t>
            </a:r>
          </a:p>
          <a:p>
            <a:pPr/>
            <a:r>
              <a:rPr lang="ar-SA" sz="2000" b="1"/>
              <a:t>الضغط (٦ أوجه): </a:t>
            </a:r>
            <a:r>
              <a:rPr lang="ar-SA" sz="2000"/>
              <a:t>جدران منثنية عند منتصفها.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تقويس الحواف: المنحنى المزدوج (Double Curve):</a:t>
            </a:r>
          </a:p>
          <a:p>
            <a:pPr marL="0" indent="0">
              <a:buNone/>
            </a:pPr>
            <a:r>
              <a:rPr lang="ar-SA" sz="2000"/>
              <a:t>نستبدل خط الطي المستقيم بخطين منحنيين متقابلين، فتتحول العبوة الحادة إلى عبوة ناعمة. وطريقة رسمه:</a:t>
            </a:r>
          </a:p>
          <a:p>
            <a:pPr marL="0" indent="0">
              <a:buNone/>
            </a:pPr>
            <a:r>
              <a:rPr lang="ar-SA" sz="2000" b="1"/>
              <a:t>١. تجهيز الدايلاين: </a:t>
            </a:r>
            <a:r>
              <a:rPr lang="ar-SA" sz="2000"/>
              <a:t>نرسم دايلاين المكعّب بألسنته، ونضيف خطوطًا مساعدة (خطوط إنشاء) تمر بمنتصف المربعات؛ خطان طويلان وخطان قصيران. وهذه الخطوط للرسم فقط، لا تُقص ولا تُطوى.</a:t>
            </a:r>
          </a:p>
          <a:p>
            <a:pPr marL="0" indent="0">
              <a:buNone/>
            </a:pPr>
            <a:r>
              <a:rPr lang="ar-SA" sz="2000" b="1"/>
              <a:t>٢. القوس الأول: </a:t>
            </a:r>
            <a:r>
              <a:rPr lang="ar-SA" sz="2000"/>
              <a:t>نحسب نصف القطر (الشريحة التالية)، ثم نضع رأس الفرجار على الخط المساعد يمين الحافة ونرسم قوسًا يمر بطرفي الحافة تمامًا.</a:t>
            </a:r>
          </a:p>
          <a:p>
            <a:pPr marL="0" indent="0">
              <a:buNone/>
            </a:pPr>
            <a:r>
              <a:rPr lang="ar-SA" sz="2000" b="1"/>
              <a:t>٣. القوس الثاني: </a:t>
            </a:r>
            <a:r>
              <a:rPr lang="ar-SA" sz="2000"/>
              <a:t>نكرر الخطوة نفسها لكن من يسار الحافة.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2"/>
          <a:stretch>
            <a:fillRect/>
          </a:stretch>
        </p:blipFill>
        <p:spPr>
          <a:xfrm>
            <a:off x="1696009" y="1600200"/>
            <a:ext cx="2460140" cy="2103120"/>
          </a:xfrm>
          <a:prstGeom prst="rect">
            <a:avLst/>
          </a:prstGeom>
        </p:spPr>
      </p:pic>
      <p:pic>
        <p:nvPicPr>
          <p:cNvPr id="17" name="Picture 16" descr="dc3.png"/>
          <p:cNvPicPr>
            <a:picLocks noChangeAspect="1"/>
          </p:cNvPicPr>
          <p:nvPr/>
        </p:nvPicPr>
        <p:blipFill>
          <a:blip r:embed="rId3"/>
          <a:stretch>
            <a:fillRect/>
          </a:stretch>
        </p:blipFill>
        <p:spPr>
          <a:xfrm>
            <a:off x="1514821" y="3886200"/>
            <a:ext cx="2822517" cy="21031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حساب نصف قطر المنحنى:</a:t>
            </a:r>
          </a:p>
          <a:p>
            <a:pPr marL="0" indent="0">
              <a:buNone/>
            </a:pPr>
            <a:r>
              <a:rPr lang="ar-SA" sz="2000" b="1"/>
              <a:t>ما نصف القطر؟ </a:t>
            </a:r>
            <a:r>
              <a:rPr lang="ar-SA" sz="2000"/>
              <a:t>هو فتحة الفرجار؛ أي المسافة بين رأس الفرجار والقلم.</a:t>
            </a:r>
          </a:p>
          <a:p>
            <a:pPr marL="0" indent="0">
              <a:buNone/>
            </a:pPr>
            <a:r>
              <a:rPr lang="ar-SA" sz="2000" b="1"/>
              <a:t>القاعدة: </a:t>
            </a:r>
            <a:r>
              <a:rPr lang="ar-SA" sz="2000"/>
              <a:t>نصف القطر = طول الحافة + ٥٪ منها (أي طول الحافة × ١٫٠٥).</a:t>
            </a:r>
          </a:p>
          <a:p>
            <a:pPr marL="0" indent="0">
              <a:buNone/>
            </a:pPr>
            <a:r>
              <a:rPr lang="ar-SA" sz="2000" b="1"/>
              <a:t>مثال (حافة ١٠ سم): </a:t>
            </a:r>
            <a:r>
              <a:rPr lang="ar-SA" sz="2000"/>
              <a:t>٥٪ من ١٠ = ٠٫٥ سم، إذن ١٠ + ٠٫٥ = ١٠٫٥ سم.</a:t>
            </a:r>
          </a:p>
          <a:p>
            <a:pPr marL="0" indent="0">
              <a:buNone/>
            </a:pPr>
            <a:r>
              <a:rPr lang="ar-SA" sz="2000" b="1"/>
              <a:t>الرسم: </a:t>
            </a:r>
            <a:r>
              <a:rPr lang="ar-SA" sz="2000"/>
              <a:t>نفتح الفرجار ١٠٫٥ سم، ونرسم قوسًا يمر بطرفي الحافة تمامًا.</a:t>
            </a:r>
          </a:p>
          <a:p>
            <a:pPr marL="0" indent="0">
              <a:buNone/>
            </a:pPr>
            <a:r>
              <a:rPr lang="ar-SA" sz="2000" b="1"/>
              <a:t>أمثلة أخرى: </a:t>
            </a:r>
            <a:r>
              <a:rPr lang="ar-SA" sz="2000"/>
              <a:t>حافة ٨ سم ← ٨٫٤ سم، وحافة ١٢ سم ← ١٢٫٦ سم.</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3"/>
          <a:stretch>
            <a:fillRect/>
          </a:stretch>
        </p:blipFill>
        <p:spPr>
          <a:xfrm>
            <a:off x="457200" y="1684168"/>
            <a:ext cx="4937760" cy="422118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المنحنى المزدوج: إكمال الخطوات</a:t>
            </a:r>
          </a:p>
          <a:p>
            <a:pPr marL="0" indent="0">
              <a:buNone/>
            </a:pPr>
            <a:r>
              <a:rPr lang="ar-SA" sz="2000" b="1"/>
              <a:t>٤. اكتمال المنحنى: </a:t>
            </a:r>
            <a:r>
              <a:rPr lang="ar-SA" sz="2000"/>
              <a:t>يلتقي القوسان عند طرفي الحافة فيتكوّن شكل يشبه العدسة، وهو المنحنى المزدوج.</a:t>
            </a:r>
          </a:p>
          <a:p>
            <a:pPr marL="0" indent="0">
              <a:buNone/>
            </a:pPr>
            <a:r>
              <a:rPr lang="ar-SA" sz="2000" b="1"/>
              <a:t>٥. باقي الحواف: </a:t>
            </a:r>
            <a:r>
              <a:rPr lang="ar-SA" sz="2000"/>
              <a:t>نكرر العمل على الحواف الثلاث الأخرى للوجه بالخطوط المساعدة الطويلة، ونرسم بالخطوط القصيرة منحنيات صغيرة على الألسنة الأربعة حتى تتطابق معها.</a:t>
            </a:r>
          </a:p>
          <a:p>
            <a:pPr marL="0" indent="0">
              <a:buNone/>
            </a:pPr>
            <a:r>
              <a:rPr lang="ar-SA" sz="2000" b="1"/>
              <a:t>٦. الشكل النهائي: </a:t>
            </a:r>
            <a:r>
              <a:rPr lang="ar-SA" sz="2000"/>
              <a:t>مكعّب حواف سطحه العلوي ناعمة ومقعّرة.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4b.png"/>
          <p:cNvPicPr>
            <a:picLocks noChangeAspect="1"/>
          </p:cNvPicPr>
          <p:nvPr/>
        </p:nvPicPr>
        <p:blipFill>
          <a:blip r:embed="rId2"/>
          <a:stretch>
            <a:fillRect/>
          </a:stretch>
        </p:blipFill>
        <p:spPr>
          <a:xfrm>
            <a:off x="457200" y="1658186"/>
            <a:ext cx="4937760" cy="1987147"/>
          </a:xfrm>
          <a:prstGeom prst="rect">
            <a:avLst/>
          </a:prstGeom>
        </p:spPr>
      </p:pic>
      <p:pic>
        <p:nvPicPr>
          <p:cNvPr id="17" name="Picture 16" descr="dc5.png"/>
          <p:cNvPicPr>
            <a:picLocks noChangeAspect="1"/>
          </p:cNvPicPr>
          <p:nvPr/>
        </p:nvPicPr>
        <p:blipFill>
          <a:blip r:embed="rId3"/>
          <a:stretch>
            <a:fillRect/>
          </a:stretch>
        </p:blipFill>
        <p:spPr>
          <a:xfrm>
            <a:off x="1871639" y="3886200"/>
            <a:ext cx="2108881" cy="21031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كيف نطوي على خط منحنٍ؟</a:t>
            </a:r>
          </a:p>
          <a:p>
            <a:pPr marL="0" indent="0">
              <a:buNone/>
            </a:pPr>
            <a:r>
              <a:rPr lang="ar-SA" sz="2000"/>
              <a:t>لا يمكن طيّ خط منحنٍ بدقة باليد الحرة، لأن أداة الطي تحتاج دليلًا تسير عليه كالمسطرة. والحل قالب منحنٍ:</a:t>
            </a:r>
          </a:p>
          <a:p>
            <a:pPr marL="0" indent="0">
              <a:buNone/>
            </a:pPr>
            <a:r>
              <a:rPr lang="ar-SA" sz="2000" b="1"/>
              <a:t>١. </a:t>
            </a:r>
            <a:r>
              <a:rPr lang="ar-SA" sz="2000"/>
              <a:t>نرسم على ورق مقوّى زائد شكلًا يشبه قطعة الفطيرة، بفتحة الفرجار نفسها (نصف القطر نفسه).</a:t>
            </a:r>
          </a:p>
          <a:p>
            <a:pPr marL="0" indent="0">
              <a:buNone/>
            </a:pPr>
            <a:r>
              <a:rPr lang="ar-SA" sz="2000" b="1"/>
              <a:t>٢. </a:t>
            </a:r>
            <a:r>
              <a:rPr lang="ar-SA" sz="2000"/>
              <a:t>نقصّه بدقة عالية، لأن أي عيب في حافته ينتقل إلى خط الطي.</a:t>
            </a:r>
          </a:p>
          <a:p>
            <a:pPr marL="0" indent="0">
              <a:buNone/>
            </a:pPr>
            <a:r>
              <a:rPr lang="ar-SA" sz="2000" b="1"/>
              <a:t>٣. </a:t>
            </a:r>
            <a:r>
              <a:rPr lang="ar-SA" sz="2000"/>
              <a:t>نضعه على الدايلاين بحيث تنطبق حافته المنحنية على المنحنى المرسوم.</a:t>
            </a:r>
          </a:p>
          <a:p>
            <a:pPr marL="0" indent="0">
              <a:buNone/>
            </a:pPr>
            <a:r>
              <a:rPr lang="ar-SA" sz="2000" b="1"/>
              <a:t>٤. </a:t>
            </a:r>
            <a:r>
              <a:rPr lang="ar-SA" sz="2000"/>
              <a:t>نمرر ظهر الشفرة على حافة القالب كما نمررها على المسطرة.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wedge.png"/>
          <p:cNvPicPr>
            <a:picLocks noChangeAspect="1"/>
          </p:cNvPicPr>
          <p:nvPr/>
        </p:nvPicPr>
        <p:blipFill>
          <a:blip r:embed="rId2"/>
          <a:stretch>
            <a:fillRect/>
          </a:stretch>
        </p:blipFill>
        <p:spPr>
          <a:xfrm>
            <a:off x="575462" y="1600200"/>
            <a:ext cx="4701235" cy="43891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المنحنى المفرد (Single Curve):</a:t>
            </a:r>
          </a:p>
          <a:p>
            <a:pPr marL="0" indent="0">
              <a:buNone/>
            </a:pPr>
            <a:r>
              <a:rPr lang="ar-SA" sz="2000"/>
              <a:t>هنا نستبدل خط الطي بقوس واحد فقط فتتقوّس الجدران، لكن له شروط:</a:t>
            </a:r>
          </a:p>
          <a:p>
            <a:pPr/>
            <a:r>
              <a:rPr lang="ar-SA" sz="2000" b="1"/>
              <a:t>المكان: </a:t>
            </a:r>
            <a:r>
              <a:rPr lang="ar-SA" sz="2000"/>
              <a:t>على الخطوط الرأسية بين الجدران فقط.</a:t>
            </a:r>
          </a:p>
          <a:p>
            <a:pPr/>
            <a:r>
              <a:rPr lang="ar-SA" sz="2000" b="1"/>
              <a:t>الترتيب: </a:t>
            </a:r>
            <a:r>
              <a:rPr lang="ar-SA" sz="2000"/>
              <a:t>كل قوس عكس القوس الذي بجانبه، كصورته في المرآة.</a:t>
            </a:r>
          </a:p>
          <a:p>
            <a:pPr/>
            <a:r>
              <a:rPr lang="ar-SA" sz="2000" b="1"/>
              <a:t>العدد: </a:t>
            </a:r>
            <a:r>
              <a:rPr lang="ar-SA" sz="2000"/>
              <a:t>يجب أن يكون عدد الجدران زوجيًا (٤ أو ٦ أو ٨)، لأن الأقواس تعمل أزواجًا متعاكسة؛ ولو كان العدد فرديًا لبقي قوس بلا مقابل ولم ينغلق الشكل.</a:t>
            </a:r>
          </a:p>
          <a:p>
            <a:pPr/>
            <a:r>
              <a:rPr lang="ar-SA" sz="2000" b="1"/>
              <a:t>نصف القطر: </a:t>
            </a:r>
            <a:r>
              <a:rPr lang="ar-SA" sz="2000"/>
              <a:t>بالقاعدة نفسها: طول الحافة + ٥٪.</a:t>
            </a:r>
          </a:p>
          <a:p>
            <a:pPr marL="0" indent="0">
              <a:buNone/>
            </a:pPr>
            <a:r>
              <a:rPr lang="ar-SA" sz="2000" b="1"/>
              <a:t>الاستخدام في التغليف: </a:t>
            </a:r>
            <a:r>
              <a:rPr lang="ar-SA" sz="2000"/>
              <a:t>الجدران المقعّرة تجعل مسك العبوة أسهل، وتناسب مستحضرات التجميل والعطور والهدايا.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ingle.png"/>
          <p:cNvPicPr>
            <a:picLocks noChangeAspect="1"/>
          </p:cNvPicPr>
          <p:nvPr/>
        </p:nvPicPr>
        <p:blipFill>
          <a:blip r:embed="rId2"/>
          <a:stretch>
            <a:fillRect/>
          </a:stretch>
        </p:blipFill>
        <p:spPr>
          <a:xfrm>
            <a:off x="457200" y="1843742"/>
            <a:ext cx="4937760" cy="390203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من المكعّب إلى الشكل المميز</a:t>
            </a:r>
          </a:p>
          <a:p>
            <a:pPr marL="0" indent="0">
              <a:buNone/>
            </a:pPr>
            <a:r>
              <a:rPr lang="ar-SA" sz="2000" b="1"/>
              <a:t>توبليرون (Toblerone): </a:t>
            </a:r>
            <a:r>
              <a:rPr lang="ar-SA" sz="2000"/>
              <a:t>علبة على شكل منشور ثلاثي بدل الصندوق المستطيل، وأصبح شكلها جزءًا من هوية العلامة يُعرف حتى دون قراءة الاسم.</a:t>
            </a:r>
          </a:p>
          <a:p>
            <a:pPr marL="0" indent="0">
              <a:buNone/>
            </a:pPr>
            <a:r>
              <a:rPr lang="ar-SA" sz="2000" b="1"/>
              <a:t>تترا باك الهرمية (Tetra Classic): </a:t>
            </a:r>
            <a:r>
              <a:rPr lang="ar-SA" sz="2000"/>
              <a:t>عبوة حليب بأربعة أوجه مثلثة ظهرت في خمسينيات القرن العشرين، تُشكَّل من أنبوب ورقي يُغلق طرفاه في اتجاهين متعامدين، فتستهلك مادة أقل من الصندوق.</a:t>
            </a:r>
          </a:p>
          <a:p>
            <a:pPr marL="0" indent="0">
              <a:buNone/>
            </a:pPr>
            <a:r>
              <a:rPr lang="ar-SA" sz="2000" b="1"/>
              <a:t>الفكرة: </a:t>
            </a:r>
            <a:r>
              <a:rPr lang="ar-SA" sz="2000"/>
              <a:t>تغيير الشكل الأساسي قد يحقق التميّز البصري والتوفير في المادة معًا.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شوكولاتة توبليرون</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عبوة تترا باك هرمية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دايلاين أو مقطع للعبوة</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الأسطح المائلة والجدران المائلة</a:t>
            </a:r>
          </a:p>
          <a:p>
            <a:pPr marL="0" indent="0">
              <a:buNone/>
            </a:pPr>
            <a:r>
              <a:rPr lang="ar-SA" sz="2000" b="1"/>
              <a:t>علبة البطاطس المقلية في مطاعم الوجبات السريعة: </a:t>
            </a:r>
            <a:r>
              <a:rPr lang="ar-SA" sz="2000"/>
              <a:t>جدارها الأمامي أقصر من الخلفي وحافتها العلوية مائلة أو منحنية، فتُظهر المنتج وتسهّل تناوله؛ وهي قريبة من إمالة السطح والتقويس.</a:t>
            </a:r>
          </a:p>
          <a:p>
            <a:pPr marL="0" indent="0">
              <a:buNone/>
            </a:pPr>
            <a:r>
              <a:rPr lang="ar-SA" sz="2000" b="1"/>
              <a:t>علبة الطعام الصينية (Oyster Pail): </a:t>
            </a:r>
            <a:r>
              <a:rPr lang="ar-SA" sz="2000"/>
              <a:t>تُطوى من لوح واحد دون لصق، وجدرانها مائلة تتسع للأعلى، وتُقفل بألسنة متداخلة.</a:t>
            </a:r>
          </a:p>
          <a:p>
            <a:pPr marL="0" indent="0">
              <a:buNone/>
            </a:pPr>
            <a:r>
              <a:rPr lang="ar-SA" sz="2000" b="1"/>
              <a:t>علب العرض المائلة لمستحضرات التجميل: </a:t>
            </a:r>
            <a:r>
              <a:rPr lang="ar-SA" sz="2000"/>
              <a:t>سطحها العلوي المنحدر واجهة عرض على الرف.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بطاطس مقلية</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طعام صينية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عرض بسطح مائل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المنحنيات والأشكال البلورية</a:t>
            </a:r>
          </a:p>
          <a:p>
            <a:pPr marL="0" indent="0">
              <a:buNone/>
            </a:pPr>
            <a:r>
              <a:rPr lang="ar-SA" sz="2000" b="1"/>
              <a:t>علبة الوسادة (Pillow Box): </a:t>
            </a:r>
            <a:r>
              <a:rPr lang="ar-SA" sz="2000"/>
              <a:t>تُصنع من لوح واحد بطيّات منحنية على طرفيها، وتُقفل بالضغط على الأقواس دون لصق؛ وهي مثال مباشر على المنحنى المفرد، وتُستخدم للهدايا والمجوهرات.</a:t>
            </a:r>
          </a:p>
          <a:p>
            <a:pPr marL="0" indent="0">
              <a:buNone/>
            </a:pPr>
            <a:r>
              <a:rPr lang="ar-SA" sz="2000" b="1"/>
              <a:t>علب الهدايا والشوكولاتة المُضلَّعة: </a:t>
            </a:r>
            <a:r>
              <a:rPr lang="ar-SA" sz="2000"/>
              <a:t>أشكال سداسية أو بلورية بأوجه مثلثة تشبه الأحجار الكريمة، قريبة من اللفّ المُضلَّع.</a:t>
            </a:r>
          </a:p>
          <a:p>
            <a:pPr marL="0" indent="0">
              <a:buNone/>
            </a:pPr>
            <a:r>
              <a:rPr lang="ar-SA" sz="2000" b="1"/>
              <a:t>علب العطور ذات الحواف المشطوفة: </a:t>
            </a:r>
            <a:r>
              <a:rPr lang="ar-SA" sz="2000"/>
              <a:t>تطبيق لشطف الحافة يعطي العلبة طابعًا ناعمًا وفاخرًا.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وسادة (Pillow Box)</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هدايا مُضلَّعة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عطر بحواف مشطوفة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قبل اعتماد شكل العبوة نسأل:</a:t>
            </a:r>
          </a:p>
          <a:p>
            <a:pPr/>
            <a:r>
              <a:rPr lang="ar-SA" sz="2000" b="1"/>
              <a:t>هل يناسب المنتج؟ </a:t>
            </a:r>
            <a:r>
              <a:rPr lang="ar-SA" sz="2000"/>
              <a:t>هل يتسع له ويحميه؟ فالقطع واللفّ يقللان المساحة الداخلية.</a:t>
            </a:r>
          </a:p>
          <a:p>
            <a:pPr/>
            <a:r>
              <a:rPr lang="ar-SA" sz="2000" b="1"/>
              <a:t>هل يُرصّ ويُخزَّن؟ </a:t>
            </a:r>
            <a:r>
              <a:rPr lang="ar-SA" sz="2000"/>
              <a:t>الأشكال المائلة أصعب في الرصّ والشحن.</a:t>
            </a:r>
          </a:p>
          <a:p>
            <a:pPr/>
            <a:r>
              <a:rPr lang="ar-SA" sz="2000" b="1"/>
              <a:t>أين الواجهة؟ </a:t>
            </a:r>
            <a:r>
              <a:rPr lang="ar-SA" sz="2000"/>
              <a:t>أي وجه يراه المشتري؟ وأين الشعار؟</a:t>
            </a:r>
          </a:p>
          <a:p>
            <a:pPr/>
            <a:r>
              <a:rPr lang="ar-SA" sz="2000" b="1"/>
              <a:t>من أين يُفتح؟ </a:t>
            </a:r>
            <a:r>
              <a:rPr lang="ar-SA" sz="2000"/>
              <a:t>هل مكان الغطاء منطقي وسهل؟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b="1"/>
              <a:t>كيف يُقفل؟ </a:t>
            </a:r>
            <a:r>
              <a:rPr lang="ar-SA" sz="2000"/>
              <a:t>مرة واحدة (لصق) أم مرات متعددة (لسان إدخال)؟</a:t>
            </a:r>
          </a:p>
          <a:p>
            <a:pPr/>
            <a:r>
              <a:rPr lang="ar-SA" sz="2000" b="1"/>
              <a:t>كم يكلّف؟ </a:t>
            </a:r>
            <a:r>
              <a:rPr lang="ar-SA" sz="2000"/>
              <a:t>كمية الورق مقارنة بالمكعّب العادي.</a:t>
            </a:r>
          </a:p>
          <a:p>
            <a:pPr/>
            <a:r>
              <a:rPr lang="ar-SA" sz="2000" b="1"/>
              <a:t>هل يمكن تصنيعه؟ </a:t>
            </a:r>
            <a:r>
              <a:rPr lang="ar-SA" sz="2000"/>
              <a:t>هل يصلح الدايلاين لقالب القص والتخديد؟</a:t>
            </a:r>
          </a:p>
          <a:p>
            <a:pPr/>
            <a:r>
              <a:rPr lang="ar-SA" sz="2000" b="1"/>
              <a:t>هل يعبّر عن العلامة؟ </a:t>
            </a:r>
            <a:r>
              <a:rPr lang="ar-SA" sz="2000"/>
              <a:t>هندسي حاد، أم منحنٍ ناعم، أم مائل حيوي؟</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الخلاصة: أهم ما ينبغي للطالب معرفته</a:t>
            </a:r>
          </a:p>
          <a:p>
            <a:pPr/>
            <a:r>
              <a:rPr lang="ar-SA" sz="2000"/>
              <a:t>خط الطي يُضغط بظهر الشفرة ولا يُقطع.</a:t>
            </a:r>
          </a:p>
          <a:p>
            <a:pPr/>
            <a:r>
              <a:rPr lang="ar-SA" sz="2000"/>
              <a:t>المسطرة المعدنية فوق التصميم، والشفرة من جهة الورق الزائد.</a:t>
            </a:r>
          </a:p>
          <a:p>
            <a:pPr/>
            <a:r>
              <a:rPr lang="ar-SA" sz="2000"/>
              <a:t>الدايلاين هو العبوة مفرودة: خط متصل للقص، وخط متقطع للطي.</a:t>
            </a:r>
          </a:p>
          <a:p>
            <a:pPr/>
            <a:r>
              <a:rPr lang="ar-SA" sz="2000"/>
              <a:t>المكعّب: ٦ أوجه، ١٢ حافة، ٨ زوايا.</a:t>
            </a:r>
          </a:p>
          <a:p>
            <a:pPr/>
            <a:r>
              <a:rPr lang="ar-SA" sz="2000"/>
              <a:t>ثلاث طرق لتغيير شكل المكعّب: القطع، والشدّ والضغط واللفّ، وتقويس الحواف.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a:t>شطف الحافة أو الزاوية يضيف وجهًا جديدًا.</a:t>
            </a:r>
          </a:p>
          <a:p>
            <a:pPr/>
            <a:r>
              <a:rPr lang="ar-SA" sz="2000"/>
              <a:t>أفضل ميل في اللفّ ٨٠°، ولا يُنصح بأقل من ٧٠°.</a:t>
            </a:r>
          </a:p>
          <a:p>
            <a:pPr/>
            <a:r>
              <a:rPr lang="ar-SA" sz="2000"/>
              <a:t>نصف قطر المنحنى = طول الحافة × ١٫٠٥.</a:t>
            </a:r>
          </a:p>
          <a:p>
            <a:pPr/>
            <a:r>
              <a:rPr lang="ar-SA" sz="2000"/>
              <a:t>المنحنى المفرد: خطوط رأسية، عدد زوجي، أقواس متعاكسة.</a:t>
            </a:r>
          </a:p>
          <a:p>
            <a:pPr/>
            <a:r>
              <a:rPr lang="ar-SA" sz="2000"/>
              <a:t>الطي المنحني يُنفَّذ بقالب على شكل قطعة الفطيرة.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أسئلة تقويمية:</a:t>
            </a:r>
          </a:p>
          <a:p>
            <a:pPr marL="0" indent="0">
              <a:buNone/>
            </a:pPr>
            <a:r>
              <a:rPr lang="ar-SA" sz="2000" b="1"/>
              <a:t>١. </a:t>
            </a:r>
            <a:r>
              <a:rPr lang="ar-SA" sz="2000"/>
              <a:t>كيف يُجهَّز خط الطي؟ ولماذا لا يُستخدم طرف الشفرة الحاد؟</a:t>
            </a:r>
          </a:p>
          <a:p>
            <a:pPr marL="0" indent="0">
              <a:buNone/>
            </a:pPr>
            <a:r>
              <a:rPr lang="ar-SA" sz="2000" b="1"/>
              <a:t>٢. </a:t>
            </a:r>
            <a:r>
              <a:rPr lang="ar-SA" sz="2000"/>
              <a:t>أين توضع المسطرة أثناء القص؟ ولماذا؟</a:t>
            </a:r>
          </a:p>
          <a:p>
            <a:pPr marL="0" indent="0">
              <a:buNone/>
            </a:pPr>
            <a:r>
              <a:rPr lang="ar-SA" sz="2000" b="1"/>
              <a:t>٣. </a:t>
            </a:r>
            <a:r>
              <a:rPr lang="ar-SA" sz="2000"/>
              <a:t>كم يصبح عدد أوجه المكعّب بعد شطف إحدى زواياه؟</a:t>
            </a:r>
          </a:p>
          <a:p>
            <a:pPr marL="0" indent="0">
              <a:buNone/>
            </a:pPr>
            <a:r>
              <a:rPr lang="ar-SA" sz="2000" b="1"/>
              <a:t>٤. </a:t>
            </a:r>
            <a:r>
              <a:rPr lang="ar-SA" sz="2000"/>
              <a:t>ما أفضل ميل للجدران عند لفّ الغطاء؟ وما الحد الذي لا يُنصح بتجاوزه؟</a:t>
            </a:r>
          </a:p>
          <a:p>
            <a:pPr marL="0" indent="0">
              <a:buNone/>
            </a:pPr>
            <a:r>
              <a:rPr lang="ar-SA" sz="2000" b="1"/>
              <a:t>٥. </a:t>
            </a:r>
            <a:r>
              <a:rPr lang="ar-SA" sz="2000"/>
              <a:t>إذا كان طول الحافة ١٢ سم، فكم تكون فتحة الفرجار (نصف القطر)؟</a:t>
            </a:r>
          </a:p>
          <a:p>
            <a:pPr marL="0" indent="0">
              <a:buNone/>
            </a:pPr>
            <a:r>
              <a:rPr lang="ar-SA" sz="2000" b="1"/>
              <a:t>٦. </a:t>
            </a:r>
            <a:r>
              <a:rPr lang="ar-SA" sz="2000"/>
              <a:t>لماذا يجب أن يكون عدد الجدران زوجيًا في المنحنى المفرد؟</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المشروع التطبيقي: تصميم عبوة مبتكرة</a:t>
            </a:r>
          </a:p>
          <a:p>
            <a:pPr marL="0" indent="0">
              <a:buNone/>
            </a:pPr>
            <a:r>
              <a:rPr lang="ar-SA" sz="2000"/>
              <a:t>يختار الطالب منتجًا (عطرًا، أو شوكولاتة، أو شمعة، أو مستحضر تجميل) ويصمّم له عبوة وفق المتطلبات الآتية:</a:t>
            </a:r>
          </a:p>
          <a:p>
            <a:pPr/>
            <a:r>
              <a:rPr lang="ar-SA" sz="2000" b="1"/>
              <a:t>الدمج: </a:t>
            </a:r>
            <a:r>
              <a:rPr lang="ar-SA" sz="2000"/>
              <a:t>بين تقنيتين من تقنيات المحاضرة في تصميم واحد.</a:t>
            </a:r>
          </a:p>
          <a:p>
            <a:pPr/>
            <a:r>
              <a:rPr lang="ar-SA" sz="2000" b="1"/>
              <a:t>الدايلاين: </a:t>
            </a:r>
            <a:r>
              <a:rPr lang="ar-SA" sz="2000"/>
              <a:t>رسمه كاملًا بألسنته، بخط متصل للقص وخط متقطع للطي.</a:t>
            </a:r>
          </a:p>
          <a:p>
            <a:pPr/>
            <a:r>
              <a:rPr lang="ar-SA" sz="2000" b="1"/>
              <a:t>الغطاء والإغلاق: </a:t>
            </a:r>
            <a:r>
              <a:rPr lang="ar-SA" sz="2000"/>
              <a:t>تحديد مكان الغطاء وطريقة الإغلاق مع ذكر السبب.</a:t>
            </a:r>
          </a:p>
          <a:p>
            <a:pPr/>
            <a:r>
              <a:rPr lang="ar-SA" sz="2000" b="1"/>
              <a:t>النموذج: </a:t>
            </a:r>
            <a:r>
              <a:rPr lang="ar-SA" sz="2000"/>
              <a:t>تنفيذه بالورق المقوّى بالأدوات والطرق الصحيحة.</a:t>
            </a:r>
          </a:p>
          <a:p>
            <a:pPr/>
            <a:r>
              <a:rPr lang="ar-SA" sz="2000" b="1"/>
              <a:t>التقرير: </a:t>
            </a:r>
            <a:r>
              <a:rPr lang="ar-SA" sz="2000"/>
              <a:t>صفحة توضّح مناسبة الشكل للمنتج وهويته، وكيف عولجت الحماية والرصّ والعرض.</a:t>
            </a:r>
          </a:p>
          <a:p>
            <a:pPr marL="0" indent="0">
              <a:buNone/>
            </a:pPr>
            <a:r>
              <a:rPr lang="ar-SA" sz="2000" b="1"/>
              <a:t>أمثلة: </a:t>
            </a:r>
            <a:r>
              <a:rPr lang="ar-SA" sz="2000"/>
              <a:t>عبوة عطر بشطف زاوية يُطبع الشعار على مثلثها، أو علبة شوكولاتة باللفّ المُضلَّع غطاؤها بلسان إدخال.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المصدر:</a:t>
            </a:r>
          </a:p>
          <a:p>
            <a:pPr marL="0" indent="0">
              <a:buNone/>
            </a:pPr>
            <a:r>
              <a:rPr lang="ar-SA" sz="2000"/>
              <a:t>الفصل الرابع «Deforming a Cube» والقسم ١٫٢ «How to Cut and Fold» من الكتاب المرجعي للمقرر، والصور مأخوذة منه.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8406</TotalTime>
  <Words>530</Words>
  <Application>Microsoft Macintosh PowerPoint</Application>
  <PresentationFormat>Widescreen</PresentationFormat>
  <Paragraphs>43</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Avenir Medium</vt:lpstr>
      <vt:lpstr>Calibri</vt:lpstr>
      <vt:lpstr>GE Dinar One</vt:lpstr>
      <vt:lpstr>Sakkal Majalla</vt:lpstr>
      <vt:lpstr>Office Theme</vt:lpstr>
      <vt:lpstr>أنواع  وخامات التغليف</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InDesign</dc:title>
  <dc:creator>haifa badran alomar</dc:creator>
  <cp:lastModifiedBy>Nourah Alsadoun</cp:lastModifiedBy>
  <cp:revision>154</cp:revision>
  <dcterms:created xsi:type="dcterms:W3CDTF">2024-04-17T13:12:11Z</dcterms:created>
  <dcterms:modified xsi:type="dcterms:W3CDTF">2026-08-29T02:33:55Z</dcterms:modified>
</cp:coreProperties>
</file>