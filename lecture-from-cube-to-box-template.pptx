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10"/>
  </p:notesMasterIdLst>
  <p:handoutMasterIdLst>
    <p:handoutMasterId r:id="rId11"/>
  </p:handoutMasterIdLst>
  <p:sldIdLst>
    <p:sldId id="256" r:id="rId2"/>
    <p:sldId id="257" r:id="rId3"/>
    <p:sldId id="258" r:id="rId9"/>
    <p:sldId id="259" r:id="rId8"/>
    <p:sldId id="260" r:id="rId7"/>
    <p:sldId id="261" r:id="rId6"/>
    <p:sldId id="262" r:id="rId5"/>
    <p:sldId id="263" r:id="rId4"/>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0579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2244"/>
    <p:restoredTop sz="94491"/>
  </p:normalViewPr>
  <p:slideViewPr>
    <p:cSldViewPr snapToGrid="0" snapToObjects="1">
      <p:cViewPr varScale="1">
        <p:scale>
          <a:sx n="117" d="100"/>
          <a:sy n="117" d="100"/>
        </p:scale>
        <p:origin x="208" y="184"/>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94" d="100"/>
          <a:sy n="94" d="100"/>
        </p:scale>
        <p:origin x="4040" y="20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8.xml"/><Relationship Id="rId5" Type="http://schemas.openxmlformats.org/officeDocument/2006/relationships/slide" Target="slides/slide7.xml"/><Relationship Id="rId6" Type="http://schemas.openxmlformats.org/officeDocument/2006/relationships/slide" Target="slides/slide6.xml"/><Relationship Id="rId7" Type="http://schemas.openxmlformats.org/officeDocument/2006/relationships/slide" Target="slides/slide5.xml"/><Relationship Id="rId8" Type="http://schemas.openxmlformats.org/officeDocument/2006/relationships/slide" Target="slides/slide4.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handoutMaster" Target="handoutMasters/handout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DAD3ED4-A725-1124-7268-C714085C651F}"/>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A"/>
          </a:p>
        </p:txBody>
      </p:sp>
      <p:sp>
        <p:nvSpPr>
          <p:cNvPr id="3" name="Date Placeholder 2">
            <a:extLst>
              <a:ext uri="{FF2B5EF4-FFF2-40B4-BE49-F238E27FC236}">
                <a16:creationId xmlns:a16="http://schemas.microsoft.com/office/drawing/2014/main" id="{A4EC01CD-5443-69BE-3D14-B6D3605B22A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EAF1E98-5F94-224A-A21F-D0A6E573F1EA}" type="datetimeFigureOut">
              <a:rPr lang="en-SA" smtClean="0"/>
              <a:t>29/08/2026 R</a:t>
            </a:fld>
            <a:endParaRPr lang="en-SA"/>
          </a:p>
        </p:txBody>
      </p:sp>
      <p:sp>
        <p:nvSpPr>
          <p:cNvPr id="4" name="Footer Placeholder 3">
            <a:extLst>
              <a:ext uri="{FF2B5EF4-FFF2-40B4-BE49-F238E27FC236}">
                <a16:creationId xmlns:a16="http://schemas.microsoft.com/office/drawing/2014/main" id="{194BE99D-1939-059B-3CE5-F0B1570E6A8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SA"/>
          </a:p>
        </p:txBody>
      </p:sp>
      <p:sp>
        <p:nvSpPr>
          <p:cNvPr id="5" name="Slide Number Placeholder 4">
            <a:extLst>
              <a:ext uri="{FF2B5EF4-FFF2-40B4-BE49-F238E27FC236}">
                <a16:creationId xmlns:a16="http://schemas.microsoft.com/office/drawing/2014/main" id="{CB01E896-DE12-37E6-A645-B8103536BB5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87B7EF7-468D-8441-A410-28F9516067E8}" type="slidenum">
              <a:rPr lang="en-SA" smtClean="0"/>
              <a:t>‹#›</a:t>
            </a:fld>
            <a:endParaRPr lang="en-SA"/>
          </a:p>
        </p:txBody>
      </p:sp>
    </p:spTree>
    <p:extLst>
      <p:ext uri="{BB962C8B-B14F-4D97-AF65-F5344CB8AC3E}">
        <p14:creationId xmlns:p14="http://schemas.microsoft.com/office/powerpoint/2010/main" val="386761661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AD55F2-279C-D647-95BA-2741FBF6F3F1}" type="datetimeFigureOut">
              <a:rPr lang="en-US" smtClean="0"/>
              <a:t>8/29/26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E352315-EC8F-7049-AB74-0E6986D6A890}" type="slidenum">
              <a:rPr lang="en-US" smtClean="0"/>
              <a:t>‹#›</a:t>
            </a:fld>
            <a:endParaRPr lang="en-US"/>
          </a:p>
        </p:txBody>
      </p:sp>
    </p:spTree>
    <p:extLst>
      <p:ext uri="{BB962C8B-B14F-4D97-AF65-F5344CB8AC3E}">
        <p14:creationId xmlns:p14="http://schemas.microsoft.com/office/powerpoint/2010/main" val="2293898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الصورة: الوضعية الصحيحة لمسك المشرط، السبابة فوق المقبض قريبة من الشفرة.</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لا يُستخدم الحد القاطع للشفرة في الطي لأنه يقطع ألياف الورق فيضعف الخط أو ينفصل الورق عند الطي. ويُفضَّل استخدام شفرة قديمة لظهر الشفرة.</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في الصورة: دايلاين مكعّب؛ الخطوط المتصلة للقص، والمتقطعة للطي، وحرف T يدل على الألسنة.</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الشكل المائل لأطراف اللسان ضروري؛ لو كان اللسان مستطيلًا لاصطدم بلسان الوجه المجاور عند الطي.</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اختبار الاتجاه: تُثنى قطعة صغيرة في الاتجاهين، فالأسهل انثناءً هو اتجاه الألياف. أو تُمزَّق: التمزق مع الألياف يكون مستقيمًا ومع عكسها متعرجًا.</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قاعدة عملية: كلما زادت سماكة الورق زاد هذا الفرق، ويُجرَّب الدايلاين دائمًا بنموذج قبل اعتماده.</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في تقنية الضغط يُطوى الخط الأفقي في منتصف الجدار عكس اتجاه الخطوط العمودية، وهذا ما يجعل الجدار ينثني للداخل.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إمالة السطح العلوي (Shaving a Face): نتخيل مكعّب جبن ونقطع رأسه بالسكين قطعًا مائلًا، فيصبح السطح العلوي منحدرًا مثل السقف المائل.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شطف حافة (Shaving an Edge): نقطع إحدى الحواف الحادة قطعًا مائلًا صغيرًا، مثل حافة الطاولة المشطوفة، فيظهر مكانها سطح جديد ضيق.</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شطف زاوية (Shaving a Corner): نقطع رأس إحدى زوايا المكعّب بقطعة صغيرة، فيظهر مكانها سطح على شكل مثلث. وإذا قطعنا المسافة نفسها على الحواف الثلاث كان المثلث متساوي الأضلاع.</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الشدّ من حافة إلى حافة (Stretching Edge-to-edge): نتخيل المكعّب إسفنجة، نمسك الحافة العلوية من جهة والحافة السفلية من الجهة المقابلة ونشدّهما، فيميل الصندوق كله إلى جهة واحدة.</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الشدّ من زاوية إلى زاوية (Stretching Corner-to-corner): نمسك الزاوية العلوية من جهة والزاوية السفلية المقابلة لها تمامًا (أبعد نقطتين في المكعّب) ونشدّهما، فيتمدد المكعّب على طول هذا الخط.</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لفّ الغطاء والقاعدة (Twisting Opposite Faces): الوجهان المقصودان هما الغطاء والقاعدة. نثبّت القاعدة ونلفّ الغطاء قليلًا، كما نفتح غطاء البرطمان، فتميل الجدران الأربعة.</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اللفّ: النسخة المُضلَّعة (Twisting: Faceted Version): نكمل لفّ الغطاء أكثر حتى تقع كل زاوية من الغطاء فوق منتصف حافة من حواف القاعدة، ثم نصل كل زاوية بالزاويتين القريبتين منها بخطوط طي.</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الضغط من الأعلى إلى الأسفل (Compressing Face-to-face): نتخيل علبة إسفنجية نضغطها من فوق بكفّ اليد، فتنثني جدرانها من المنتصف. والشكل في الصورة تبسيط لهذه الفكرة بخطوط طي مستقيمة.</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لماذا ٥٪؟ الفرجار المفتوح كثيرًا يرسم قوسًا خفيف الانحناء يسهل طيّه، والمفتوح قليلًا يرسم قوسًا حادًا يصعب طيّه. في الصورة: الخط السميك هو الحافة، والدائرة المنقطة مرسومة بالفرجار ومركزها على الخط المساعد.</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يمكن عرض العبوات الحقيقية في القاعة إن توفرت، وسؤال الطلاب: أي تقنية من تقنيات المحاضرة تفسّر هذا الشكل؟</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الإجابات: ١) بالضغط عليه بظهر الشفرة أو أداة غير حادة؛ لأن الحد القاطع يقطع الورق فيضعف. ٢) فوق التصميم، كي تتجه الشفرة إن انزلقت نحو الورق الزائد. ٣) سبعة أوجه. ٤) ٨٠°، ولا يُنصح بأقل من ٧٠°. ٥) ١٢ × ١٫٠٥ = ١٢٫٦ سم. ٦) لأن الأقواس تعمل أزواجًا متعاكسة.</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395B1D-719A-CF4F-92FF-162875E97953}"/>
              </a:ext>
            </a:extLst>
          </p:cNvPr>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1C30851-694D-F543-9CA3-5D3D9CC9D062}"/>
              </a:ext>
            </a:extLst>
          </p:cNvPr>
          <p:cNvSpPr>
            <a:spLocks noGrp="1"/>
          </p:cNvSpPr>
          <p:nvPr>
            <p:ph type="subTitle" idx="1"/>
          </p:nvPr>
        </p:nvSpPr>
        <p:spPr>
          <a:xfrm>
            <a:off x="1524000" y="3602038"/>
            <a:ext cx="9144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EB75FB5-0BB6-2843-9EFC-989F05E8D9A9}"/>
              </a:ext>
            </a:extLst>
          </p:cNvPr>
          <p:cNvSpPr>
            <a:spLocks noGrp="1"/>
          </p:cNvSpPr>
          <p:nvPr>
            <p:ph type="dt" sz="half" idx="10"/>
          </p:nvPr>
        </p:nvSpPr>
        <p:spPr>
          <a:xfrm>
            <a:off x="838200" y="6356350"/>
            <a:ext cx="2743200" cy="365125"/>
          </a:xfrm>
          <a:prstGeom prst="rect">
            <a:avLst/>
          </a:prstGeom>
        </p:spPr>
        <p:txBody>
          <a:bodyPr/>
          <a:lstStyle/>
          <a:p>
            <a:fld id="{8BA932CB-382F-4B55-8C01-EB744FF02002}" type="datetime1">
              <a:rPr lang="en-US" smtClean="0"/>
              <a:t>8/29/26</a:t>
            </a:fld>
            <a:endParaRPr lang="en-US"/>
          </a:p>
        </p:txBody>
      </p:sp>
      <p:sp>
        <p:nvSpPr>
          <p:cNvPr id="5" name="Footer Placeholder 4">
            <a:extLst>
              <a:ext uri="{FF2B5EF4-FFF2-40B4-BE49-F238E27FC236}">
                <a16:creationId xmlns:a16="http://schemas.microsoft.com/office/drawing/2014/main" id="{E5C1ECF2-D22D-8947-9222-E1B3916639C8}"/>
              </a:ext>
            </a:extLst>
          </p:cNvPr>
          <p:cNvSpPr>
            <a:spLocks noGrp="1"/>
          </p:cNvSpPr>
          <p:nvPr>
            <p:ph type="ftr" sz="quarter" idx="11"/>
          </p:nvPr>
        </p:nvSpPr>
        <p:spPr>
          <a:xfrm>
            <a:off x="4038600" y="6356350"/>
            <a:ext cx="4114800" cy="365125"/>
          </a:xfrm>
          <a:prstGeom prst="rect">
            <a:avLst/>
          </a:prstGeom>
        </p:spPr>
        <p:txBody>
          <a:bodyPr/>
          <a:lstStyle/>
          <a:p>
            <a:r>
              <a:rPr lang="ar-SA"/>
              <a:t>برنامج التصميم الجرافيكي - المستوى الخامس</a:t>
            </a:r>
            <a:endParaRPr lang="en-US"/>
          </a:p>
        </p:txBody>
      </p:sp>
      <p:sp>
        <p:nvSpPr>
          <p:cNvPr id="6" name="Slide Number Placeholder 5">
            <a:extLst>
              <a:ext uri="{FF2B5EF4-FFF2-40B4-BE49-F238E27FC236}">
                <a16:creationId xmlns:a16="http://schemas.microsoft.com/office/drawing/2014/main" id="{8D4D2911-EE2E-D84D-9A62-8FEEF522D599}"/>
              </a:ext>
            </a:extLst>
          </p:cNvPr>
          <p:cNvSpPr>
            <a:spLocks noGrp="1"/>
          </p:cNvSpPr>
          <p:nvPr>
            <p:ph type="sldNum" sz="quarter" idx="12"/>
          </p:nvPr>
        </p:nvSpPr>
        <p:spPr>
          <a:xfrm>
            <a:off x="8610600" y="6356350"/>
            <a:ext cx="2743200" cy="365125"/>
          </a:xfrm>
          <a:prstGeom prst="rect">
            <a:avLst/>
          </a:prstGeom>
        </p:spPr>
        <p:txBody>
          <a:bodyPr/>
          <a:lstStyle>
            <a:lvl1pPr marL="228600" indent="-228600" algn="l" rtl="1">
              <a:buFont typeface="+mj-lt"/>
              <a:buAutoNum type="arabicPeriod"/>
              <a:defRPr/>
            </a:lvl1pPr>
          </a:lstStyle>
          <a:p>
            <a:pPr algn="r"/>
            <a:endParaRPr lang="en-US" dirty="0"/>
          </a:p>
        </p:txBody>
      </p:sp>
    </p:spTree>
    <p:extLst>
      <p:ext uri="{BB962C8B-B14F-4D97-AF65-F5344CB8AC3E}">
        <p14:creationId xmlns:p14="http://schemas.microsoft.com/office/powerpoint/2010/main" val="36350669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8CC063-0CF1-EC48-81D1-35B818B1D6BE}"/>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BCFB4FE0-2CE3-F14A-A915-58BB58A3ADB4}"/>
              </a:ext>
            </a:extLst>
          </p:cNvPr>
          <p:cNvSpPr>
            <a:spLocks noGrp="1"/>
          </p:cNvSpPr>
          <p:nvPr>
            <p:ph idx="1"/>
          </p:nvPr>
        </p:nvSpPr>
        <p:spPr>
          <a:xfrm>
            <a:off x="838200" y="1825625"/>
            <a:ext cx="10515600" cy="4351338"/>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5BA1504-DA7E-384B-976C-D6302E486157}"/>
              </a:ext>
            </a:extLst>
          </p:cNvPr>
          <p:cNvSpPr>
            <a:spLocks noGrp="1"/>
          </p:cNvSpPr>
          <p:nvPr>
            <p:ph type="dt" sz="half" idx="10"/>
          </p:nvPr>
        </p:nvSpPr>
        <p:spPr>
          <a:xfrm>
            <a:off x="838200" y="6356350"/>
            <a:ext cx="2743200" cy="365125"/>
          </a:xfrm>
          <a:prstGeom prst="rect">
            <a:avLst/>
          </a:prstGeom>
        </p:spPr>
        <p:txBody>
          <a:bodyPr/>
          <a:lstStyle/>
          <a:p>
            <a:fld id="{6DEADBA5-6346-4B36-B068-0CCAF43B940A}" type="datetime1">
              <a:rPr lang="en-US" smtClean="0"/>
              <a:t>8/29/26</a:t>
            </a:fld>
            <a:endParaRPr lang="en-US"/>
          </a:p>
        </p:txBody>
      </p:sp>
      <p:sp>
        <p:nvSpPr>
          <p:cNvPr id="5" name="Footer Placeholder 4">
            <a:extLst>
              <a:ext uri="{FF2B5EF4-FFF2-40B4-BE49-F238E27FC236}">
                <a16:creationId xmlns:a16="http://schemas.microsoft.com/office/drawing/2014/main" id="{0B77A406-9FA9-3E4A-BBEF-A2B1113E1127}"/>
              </a:ext>
            </a:extLst>
          </p:cNvPr>
          <p:cNvSpPr>
            <a:spLocks noGrp="1"/>
          </p:cNvSpPr>
          <p:nvPr>
            <p:ph type="ftr" sz="quarter" idx="11"/>
          </p:nvPr>
        </p:nvSpPr>
        <p:spPr>
          <a:xfrm>
            <a:off x="4038600" y="6356350"/>
            <a:ext cx="4114800" cy="365125"/>
          </a:xfrm>
          <a:prstGeom prst="rect">
            <a:avLst/>
          </a:prstGeom>
        </p:spPr>
        <p:txBody>
          <a:bodyPr/>
          <a:lstStyle/>
          <a:p>
            <a:r>
              <a:rPr lang="ar-SA"/>
              <a:t>برنامج التصميم الجرافيكي - المستوى الخامس</a:t>
            </a:r>
            <a:endParaRPr lang="en-US"/>
          </a:p>
        </p:txBody>
      </p:sp>
      <p:sp>
        <p:nvSpPr>
          <p:cNvPr id="6" name="Slide Number Placeholder 5">
            <a:extLst>
              <a:ext uri="{FF2B5EF4-FFF2-40B4-BE49-F238E27FC236}">
                <a16:creationId xmlns:a16="http://schemas.microsoft.com/office/drawing/2014/main" id="{C7D281EC-403D-314E-A6D2-6343BAF449A7}"/>
              </a:ext>
            </a:extLst>
          </p:cNvPr>
          <p:cNvSpPr>
            <a:spLocks noGrp="1"/>
          </p:cNvSpPr>
          <p:nvPr>
            <p:ph type="sldNum" sz="quarter" idx="12"/>
          </p:nvPr>
        </p:nvSpPr>
        <p:spPr>
          <a:xfrm>
            <a:off x="8610600" y="6356350"/>
            <a:ext cx="2743200" cy="365125"/>
          </a:xfrm>
          <a:prstGeom prst="rect">
            <a:avLst/>
          </a:prstGeom>
        </p:spPr>
        <p:txBody>
          <a:bodyPr/>
          <a:lstStyle/>
          <a:p>
            <a:fld id="{581E6A32-401E-CF4D-886B-1F343C82E98B}" type="slidenum">
              <a:rPr lang="en-US" smtClean="0"/>
              <a:t>‹#›</a:t>
            </a:fld>
            <a:endParaRPr lang="en-US"/>
          </a:p>
        </p:txBody>
      </p:sp>
    </p:spTree>
    <p:extLst>
      <p:ext uri="{BB962C8B-B14F-4D97-AF65-F5344CB8AC3E}">
        <p14:creationId xmlns:p14="http://schemas.microsoft.com/office/powerpoint/2010/main" val="19816519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2D03C-7784-F045-A002-1F918E04A1C4}"/>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ACBDC39-B769-3243-9924-9522E0969232}"/>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3EA62A36-1213-FF4B-BF7F-4645AD71D1A8}"/>
              </a:ext>
            </a:extLst>
          </p:cNvPr>
          <p:cNvSpPr>
            <a:spLocks noGrp="1"/>
          </p:cNvSpPr>
          <p:nvPr>
            <p:ph type="dt" sz="half" idx="10"/>
          </p:nvPr>
        </p:nvSpPr>
        <p:spPr>
          <a:xfrm>
            <a:off x="838200" y="6356350"/>
            <a:ext cx="2743200" cy="365125"/>
          </a:xfrm>
          <a:prstGeom prst="rect">
            <a:avLst/>
          </a:prstGeom>
        </p:spPr>
        <p:txBody>
          <a:bodyPr/>
          <a:lstStyle/>
          <a:p>
            <a:fld id="{FB0297A9-FD26-487D-BF7C-39F0BFEDAE3A}" type="datetime1">
              <a:rPr lang="en-US" smtClean="0"/>
              <a:t>8/29/26</a:t>
            </a:fld>
            <a:endParaRPr lang="en-US"/>
          </a:p>
        </p:txBody>
      </p:sp>
      <p:sp>
        <p:nvSpPr>
          <p:cNvPr id="5" name="Footer Placeholder 4">
            <a:extLst>
              <a:ext uri="{FF2B5EF4-FFF2-40B4-BE49-F238E27FC236}">
                <a16:creationId xmlns:a16="http://schemas.microsoft.com/office/drawing/2014/main" id="{263E88B2-7F8B-714B-B041-612AE5DF16B5}"/>
              </a:ext>
            </a:extLst>
          </p:cNvPr>
          <p:cNvSpPr>
            <a:spLocks noGrp="1"/>
          </p:cNvSpPr>
          <p:nvPr>
            <p:ph type="ftr" sz="quarter" idx="11"/>
          </p:nvPr>
        </p:nvSpPr>
        <p:spPr>
          <a:xfrm>
            <a:off x="4038600" y="6356350"/>
            <a:ext cx="4114800" cy="365125"/>
          </a:xfrm>
          <a:prstGeom prst="rect">
            <a:avLst/>
          </a:prstGeom>
        </p:spPr>
        <p:txBody>
          <a:bodyPr/>
          <a:lstStyle/>
          <a:p>
            <a:r>
              <a:rPr lang="ar-SA"/>
              <a:t>برنامج التصميم الجرافيكي - المستوى الخامس</a:t>
            </a:r>
            <a:endParaRPr lang="en-US"/>
          </a:p>
        </p:txBody>
      </p:sp>
      <p:sp>
        <p:nvSpPr>
          <p:cNvPr id="6" name="Slide Number Placeholder 5">
            <a:extLst>
              <a:ext uri="{FF2B5EF4-FFF2-40B4-BE49-F238E27FC236}">
                <a16:creationId xmlns:a16="http://schemas.microsoft.com/office/drawing/2014/main" id="{9CC4B896-2ECF-694E-A27F-F43BC08ACBE8}"/>
              </a:ext>
            </a:extLst>
          </p:cNvPr>
          <p:cNvSpPr>
            <a:spLocks noGrp="1"/>
          </p:cNvSpPr>
          <p:nvPr>
            <p:ph type="sldNum" sz="quarter" idx="12"/>
          </p:nvPr>
        </p:nvSpPr>
        <p:spPr>
          <a:xfrm>
            <a:off x="8610600" y="6356350"/>
            <a:ext cx="2743200" cy="365125"/>
          </a:xfrm>
          <a:prstGeom prst="rect">
            <a:avLst/>
          </a:prstGeom>
        </p:spPr>
        <p:txBody>
          <a:bodyPr/>
          <a:lstStyle/>
          <a:p>
            <a:fld id="{581E6A32-401E-CF4D-886B-1F343C82E98B}" type="slidenum">
              <a:rPr lang="en-US" smtClean="0"/>
              <a:t>‹#›</a:t>
            </a:fld>
            <a:endParaRPr lang="en-US"/>
          </a:p>
        </p:txBody>
      </p:sp>
    </p:spTree>
    <p:extLst>
      <p:ext uri="{BB962C8B-B14F-4D97-AF65-F5344CB8AC3E}">
        <p14:creationId xmlns:p14="http://schemas.microsoft.com/office/powerpoint/2010/main" val="9449689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F96D4E-C006-8D45-9771-C77F3362EC37}"/>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35DE6859-C198-CE4A-9141-C652BA7066FD}"/>
              </a:ext>
            </a:extLst>
          </p:cNvPr>
          <p:cNvSpPr>
            <a:spLocks noGrp="1"/>
          </p:cNvSpPr>
          <p:nvPr>
            <p:ph sz="half" idx="1"/>
          </p:nvPr>
        </p:nvSpPr>
        <p:spPr>
          <a:xfrm>
            <a:off x="838200" y="1825625"/>
            <a:ext cx="5181600" cy="4351338"/>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261CD53-E384-244B-BE3B-FFBBE38E08C6}"/>
              </a:ext>
            </a:extLst>
          </p:cNvPr>
          <p:cNvSpPr>
            <a:spLocks noGrp="1"/>
          </p:cNvSpPr>
          <p:nvPr>
            <p:ph sz="half" idx="2"/>
          </p:nvPr>
        </p:nvSpPr>
        <p:spPr>
          <a:xfrm>
            <a:off x="6172200" y="1825625"/>
            <a:ext cx="5181600" cy="4351338"/>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D9622CB-E528-5947-A85B-F3F5E2C5F547}"/>
              </a:ext>
            </a:extLst>
          </p:cNvPr>
          <p:cNvSpPr>
            <a:spLocks noGrp="1"/>
          </p:cNvSpPr>
          <p:nvPr>
            <p:ph type="dt" sz="half" idx="10"/>
          </p:nvPr>
        </p:nvSpPr>
        <p:spPr>
          <a:xfrm>
            <a:off x="838200" y="6356350"/>
            <a:ext cx="2743200" cy="365125"/>
          </a:xfrm>
          <a:prstGeom prst="rect">
            <a:avLst/>
          </a:prstGeom>
        </p:spPr>
        <p:txBody>
          <a:bodyPr/>
          <a:lstStyle/>
          <a:p>
            <a:fld id="{6BE6DAA6-6496-4381-A216-D2E192C84EDB}" type="datetime1">
              <a:rPr lang="en-US" smtClean="0"/>
              <a:t>8/29/26</a:t>
            </a:fld>
            <a:endParaRPr lang="en-US"/>
          </a:p>
        </p:txBody>
      </p:sp>
      <p:sp>
        <p:nvSpPr>
          <p:cNvPr id="6" name="Footer Placeholder 5">
            <a:extLst>
              <a:ext uri="{FF2B5EF4-FFF2-40B4-BE49-F238E27FC236}">
                <a16:creationId xmlns:a16="http://schemas.microsoft.com/office/drawing/2014/main" id="{3C9DD693-0C22-3C4D-BF84-1CDC54FF1F6A}"/>
              </a:ext>
            </a:extLst>
          </p:cNvPr>
          <p:cNvSpPr>
            <a:spLocks noGrp="1"/>
          </p:cNvSpPr>
          <p:nvPr>
            <p:ph type="ftr" sz="quarter" idx="11"/>
          </p:nvPr>
        </p:nvSpPr>
        <p:spPr>
          <a:xfrm>
            <a:off x="4038600" y="6356350"/>
            <a:ext cx="4114800" cy="365125"/>
          </a:xfrm>
          <a:prstGeom prst="rect">
            <a:avLst/>
          </a:prstGeom>
        </p:spPr>
        <p:txBody>
          <a:bodyPr/>
          <a:lstStyle/>
          <a:p>
            <a:r>
              <a:rPr lang="ar-SA"/>
              <a:t>برنامج التصميم الجرافيكي - المستوى الخامس</a:t>
            </a:r>
            <a:endParaRPr lang="en-US"/>
          </a:p>
        </p:txBody>
      </p:sp>
      <p:sp>
        <p:nvSpPr>
          <p:cNvPr id="7" name="Slide Number Placeholder 6">
            <a:extLst>
              <a:ext uri="{FF2B5EF4-FFF2-40B4-BE49-F238E27FC236}">
                <a16:creationId xmlns:a16="http://schemas.microsoft.com/office/drawing/2014/main" id="{D560C669-0EE1-3549-AA32-0CF2A935F366}"/>
              </a:ext>
            </a:extLst>
          </p:cNvPr>
          <p:cNvSpPr>
            <a:spLocks noGrp="1"/>
          </p:cNvSpPr>
          <p:nvPr>
            <p:ph type="sldNum" sz="quarter" idx="12"/>
          </p:nvPr>
        </p:nvSpPr>
        <p:spPr>
          <a:xfrm>
            <a:off x="8610600" y="6356350"/>
            <a:ext cx="2743200" cy="365125"/>
          </a:xfrm>
          <a:prstGeom prst="rect">
            <a:avLst/>
          </a:prstGeom>
        </p:spPr>
        <p:txBody>
          <a:bodyPr/>
          <a:lstStyle/>
          <a:p>
            <a:fld id="{581E6A32-401E-CF4D-886B-1F343C82E98B}" type="slidenum">
              <a:rPr lang="en-US" smtClean="0"/>
              <a:t>‹#›</a:t>
            </a:fld>
            <a:endParaRPr lang="en-US"/>
          </a:p>
        </p:txBody>
      </p:sp>
    </p:spTree>
    <p:extLst>
      <p:ext uri="{BB962C8B-B14F-4D97-AF65-F5344CB8AC3E}">
        <p14:creationId xmlns:p14="http://schemas.microsoft.com/office/powerpoint/2010/main" val="17504631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CF22C6-D053-D143-809F-54C40B7E1AF7}"/>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p>
        </p:txBody>
      </p:sp>
      <p:sp>
        <p:nvSpPr>
          <p:cNvPr id="3" name="Text Placeholder 2">
            <a:extLst>
              <a:ext uri="{FF2B5EF4-FFF2-40B4-BE49-F238E27FC236}">
                <a16:creationId xmlns:a16="http://schemas.microsoft.com/office/drawing/2014/main" id="{A03CC6D9-EA3C-4C4D-8E87-E77AF3223D0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EBD73C27-06DF-9F43-92C1-1B9E85122D3C}"/>
              </a:ext>
            </a:extLst>
          </p:cNvPr>
          <p:cNvSpPr>
            <a:spLocks noGrp="1"/>
          </p:cNvSpPr>
          <p:nvPr>
            <p:ph sz="half" idx="2"/>
          </p:nvPr>
        </p:nvSpPr>
        <p:spPr>
          <a:xfrm>
            <a:off x="839788" y="2505075"/>
            <a:ext cx="5157787" cy="3684588"/>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560B757-C458-9E45-9662-D43535C4FE44}"/>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9C3000C6-E367-9048-9ECC-CC9D94459762}"/>
              </a:ext>
            </a:extLst>
          </p:cNvPr>
          <p:cNvSpPr>
            <a:spLocks noGrp="1"/>
          </p:cNvSpPr>
          <p:nvPr>
            <p:ph sz="quarter" idx="4"/>
          </p:nvPr>
        </p:nvSpPr>
        <p:spPr>
          <a:xfrm>
            <a:off x="6172200" y="2505075"/>
            <a:ext cx="5183188" cy="3684588"/>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CFF696B-0A9F-6943-BDDB-F15E36B79809}"/>
              </a:ext>
            </a:extLst>
          </p:cNvPr>
          <p:cNvSpPr>
            <a:spLocks noGrp="1"/>
          </p:cNvSpPr>
          <p:nvPr>
            <p:ph type="dt" sz="half" idx="10"/>
          </p:nvPr>
        </p:nvSpPr>
        <p:spPr>
          <a:xfrm>
            <a:off x="838200" y="6356350"/>
            <a:ext cx="2743200" cy="365125"/>
          </a:xfrm>
          <a:prstGeom prst="rect">
            <a:avLst/>
          </a:prstGeom>
        </p:spPr>
        <p:txBody>
          <a:bodyPr/>
          <a:lstStyle/>
          <a:p>
            <a:fld id="{1A84317A-23C7-43CF-84C0-E7949A0EEEC1}" type="datetime1">
              <a:rPr lang="en-US" smtClean="0"/>
              <a:t>8/29/26</a:t>
            </a:fld>
            <a:endParaRPr lang="en-US"/>
          </a:p>
        </p:txBody>
      </p:sp>
      <p:sp>
        <p:nvSpPr>
          <p:cNvPr id="8" name="Footer Placeholder 7">
            <a:extLst>
              <a:ext uri="{FF2B5EF4-FFF2-40B4-BE49-F238E27FC236}">
                <a16:creationId xmlns:a16="http://schemas.microsoft.com/office/drawing/2014/main" id="{81C31820-BF02-4248-BC1F-4295A75AA6BE}"/>
              </a:ext>
            </a:extLst>
          </p:cNvPr>
          <p:cNvSpPr>
            <a:spLocks noGrp="1"/>
          </p:cNvSpPr>
          <p:nvPr>
            <p:ph type="ftr" sz="quarter" idx="11"/>
          </p:nvPr>
        </p:nvSpPr>
        <p:spPr>
          <a:xfrm>
            <a:off x="4038600" y="6356350"/>
            <a:ext cx="4114800" cy="365125"/>
          </a:xfrm>
          <a:prstGeom prst="rect">
            <a:avLst/>
          </a:prstGeom>
        </p:spPr>
        <p:txBody>
          <a:bodyPr/>
          <a:lstStyle/>
          <a:p>
            <a:r>
              <a:rPr lang="ar-SA"/>
              <a:t>برنامج التصميم الجرافيكي - المستوى الخامس</a:t>
            </a:r>
            <a:endParaRPr lang="en-US"/>
          </a:p>
        </p:txBody>
      </p:sp>
      <p:sp>
        <p:nvSpPr>
          <p:cNvPr id="9" name="Slide Number Placeholder 8">
            <a:extLst>
              <a:ext uri="{FF2B5EF4-FFF2-40B4-BE49-F238E27FC236}">
                <a16:creationId xmlns:a16="http://schemas.microsoft.com/office/drawing/2014/main" id="{4EB86F3B-68E8-5C4B-90C1-FAC02EB2A12E}"/>
              </a:ext>
            </a:extLst>
          </p:cNvPr>
          <p:cNvSpPr>
            <a:spLocks noGrp="1"/>
          </p:cNvSpPr>
          <p:nvPr>
            <p:ph type="sldNum" sz="quarter" idx="12"/>
          </p:nvPr>
        </p:nvSpPr>
        <p:spPr>
          <a:xfrm>
            <a:off x="8610600" y="6356350"/>
            <a:ext cx="2743200" cy="365125"/>
          </a:xfrm>
          <a:prstGeom prst="rect">
            <a:avLst/>
          </a:prstGeom>
        </p:spPr>
        <p:txBody>
          <a:bodyPr/>
          <a:lstStyle/>
          <a:p>
            <a:fld id="{581E6A32-401E-CF4D-886B-1F343C82E98B}" type="slidenum">
              <a:rPr lang="en-US" smtClean="0"/>
              <a:t>‹#›</a:t>
            </a:fld>
            <a:endParaRPr lang="en-US"/>
          </a:p>
        </p:txBody>
      </p:sp>
    </p:spTree>
    <p:extLst>
      <p:ext uri="{BB962C8B-B14F-4D97-AF65-F5344CB8AC3E}">
        <p14:creationId xmlns:p14="http://schemas.microsoft.com/office/powerpoint/2010/main" val="559219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114EBE-511D-A14D-A485-F2D099AB4846}"/>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Date Placeholder 2">
            <a:extLst>
              <a:ext uri="{FF2B5EF4-FFF2-40B4-BE49-F238E27FC236}">
                <a16:creationId xmlns:a16="http://schemas.microsoft.com/office/drawing/2014/main" id="{49F9DAD5-D1DB-EE45-A2CF-C16477BC6224}"/>
              </a:ext>
            </a:extLst>
          </p:cNvPr>
          <p:cNvSpPr>
            <a:spLocks noGrp="1"/>
          </p:cNvSpPr>
          <p:nvPr>
            <p:ph type="dt" sz="half" idx="10"/>
          </p:nvPr>
        </p:nvSpPr>
        <p:spPr>
          <a:xfrm>
            <a:off x="838200" y="6356350"/>
            <a:ext cx="2743200" cy="365125"/>
          </a:xfrm>
          <a:prstGeom prst="rect">
            <a:avLst/>
          </a:prstGeom>
        </p:spPr>
        <p:txBody>
          <a:bodyPr/>
          <a:lstStyle/>
          <a:p>
            <a:fld id="{E61B70F4-2ADC-4968-894A-168A515CD00F}" type="datetime1">
              <a:rPr lang="en-US" smtClean="0"/>
              <a:t>8/29/26</a:t>
            </a:fld>
            <a:endParaRPr lang="en-US"/>
          </a:p>
        </p:txBody>
      </p:sp>
      <p:sp>
        <p:nvSpPr>
          <p:cNvPr id="4" name="Footer Placeholder 3">
            <a:extLst>
              <a:ext uri="{FF2B5EF4-FFF2-40B4-BE49-F238E27FC236}">
                <a16:creationId xmlns:a16="http://schemas.microsoft.com/office/drawing/2014/main" id="{1A9B2BBE-A804-6A4F-9EA0-9AFD447876EE}"/>
              </a:ext>
            </a:extLst>
          </p:cNvPr>
          <p:cNvSpPr>
            <a:spLocks noGrp="1"/>
          </p:cNvSpPr>
          <p:nvPr>
            <p:ph type="ftr" sz="quarter" idx="11"/>
          </p:nvPr>
        </p:nvSpPr>
        <p:spPr>
          <a:xfrm>
            <a:off x="4038600" y="6356350"/>
            <a:ext cx="4114800" cy="365125"/>
          </a:xfrm>
          <a:prstGeom prst="rect">
            <a:avLst/>
          </a:prstGeom>
        </p:spPr>
        <p:txBody>
          <a:bodyPr/>
          <a:lstStyle/>
          <a:p>
            <a:r>
              <a:rPr lang="ar-SA"/>
              <a:t>برنامج التصميم الجرافيكي - المستوى الخامس</a:t>
            </a:r>
            <a:endParaRPr lang="en-US"/>
          </a:p>
        </p:txBody>
      </p:sp>
      <p:sp>
        <p:nvSpPr>
          <p:cNvPr id="5" name="Slide Number Placeholder 4">
            <a:extLst>
              <a:ext uri="{FF2B5EF4-FFF2-40B4-BE49-F238E27FC236}">
                <a16:creationId xmlns:a16="http://schemas.microsoft.com/office/drawing/2014/main" id="{B1EE21E9-C4E6-4F44-AE67-862133FBE8D6}"/>
              </a:ext>
            </a:extLst>
          </p:cNvPr>
          <p:cNvSpPr>
            <a:spLocks noGrp="1"/>
          </p:cNvSpPr>
          <p:nvPr>
            <p:ph type="sldNum" sz="quarter" idx="12"/>
          </p:nvPr>
        </p:nvSpPr>
        <p:spPr>
          <a:xfrm>
            <a:off x="8610600" y="6356350"/>
            <a:ext cx="2743200" cy="365125"/>
          </a:xfrm>
          <a:prstGeom prst="rect">
            <a:avLst/>
          </a:prstGeom>
        </p:spPr>
        <p:txBody>
          <a:bodyPr/>
          <a:lstStyle/>
          <a:p>
            <a:fld id="{581E6A32-401E-CF4D-886B-1F343C82E98B}" type="slidenum">
              <a:rPr lang="en-US" smtClean="0"/>
              <a:t>‹#›</a:t>
            </a:fld>
            <a:endParaRPr lang="en-US"/>
          </a:p>
        </p:txBody>
      </p:sp>
    </p:spTree>
    <p:extLst>
      <p:ext uri="{BB962C8B-B14F-4D97-AF65-F5344CB8AC3E}">
        <p14:creationId xmlns:p14="http://schemas.microsoft.com/office/powerpoint/2010/main" val="2600045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38EA237-DB10-6343-9513-6F6F466CECDC}"/>
              </a:ext>
            </a:extLst>
          </p:cNvPr>
          <p:cNvSpPr>
            <a:spLocks noGrp="1"/>
          </p:cNvSpPr>
          <p:nvPr>
            <p:ph type="dt" sz="half" idx="10"/>
          </p:nvPr>
        </p:nvSpPr>
        <p:spPr>
          <a:xfrm>
            <a:off x="838200" y="6356350"/>
            <a:ext cx="2743200" cy="365125"/>
          </a:xfrm>
          <a:prstGeom prst="rect">
            <a:avLst/>
          </a:prstGeom>
        </p:spPr>
        <p:txBody>
          <a:bodyPr/>
          <a:lstStyle/>
          <a:p>
            <a:fld id="{80527E97-0D0F-4F25-94B2-511CFB784A61}" type="datetime1">
              <a:rPr lang="en-US" smtClean="0"/>
              <a:t>8/29/26</a:t>
            </a:fld>
            <a:endParaRPr lang="en-US"/>
          </a:p>
        </p:txBody>
      </p:sp>
      <p:sp>
        <p:nvSpPr>
          <p:cNvPr id="3" name="Footer Placeholder 2">
            <a:extLst>
              <a:ext uri="{FF2B5EF4-FFF2-40B4-BE49-F238E27FC236}">
                <a16:creationId xmlns:a16="http://schemas.microsoft.com/office/drawing/2014/main" id="{3BC2839F-65CA-EA47-91F3-FA59AF2F327B}"/>
              </a:ext>
            </a:extLst>
          </p:cNvPr>
          <p:cNvSpPr>
            <a:spLocks noGrp="1"/>
          </p:cNvSpPr>
          <p:nvPr>
            <p:ph type="ftr" sz="quarter" idx="11"/>
          </p:nvPr>
        </p:nvSpPr>
        <p:spPr>
          <a:xfrm>
            <a:off x="4038600" y="6356350"/>
            <a:ext cx="4114800" cy="365125"/>
          </a:xfrm>
          <a:prstGeom prst="rect">
            <a:avLst/>
          </a:prstGeom>
        </p:spPr>
        <p:txBody>
          <a:bodyPr/>
          <a:lstStyle/>
          <a:p>
            <a:r>
              <a:rPr lang="ar-SA"/>
              <a:t>برنامج التصميم الجرافيكي - المستوى الخامس</a:t>
            </a:r>
            <a:endParaRPr lang="en-US"/>
          </a:p>
        </p:txBody>
      </p:sp>
      <p:sp>
        <p:nvSpPr>
          <p:cNvPr id="4" name="Slide Number Placeholder 3">
            <a:extLst>
              <a:ext uri="{FF2B5EF4-FFF2-40B4-BE49-F238E27FC236}">
                <a16:creationId xmlns:a16="http://schemas.microsoft.com/office/drawing/2014/main" id="{711568A4-56E2-6746-B167-BC75B74B1F15}"/>
              </a:ext>
            </a:extLst>
          </p:cNvPr>
          <p:cNvSpPr>
            <a:spLocks noGrp="1"/>
          </p:cNvSpPr>
          <p:nvPr>
            <p:ph type="sldNum" sz="quarter" idx="12"/>
          </p:nvPr>
        </p:nvSpPr>
        <p:spPr>
          <a:xfrm>
            <a:off x="8610600" y="6356350"/>
            <a:ext cx="2743200" cy="365125"/>
          </a:xfrm>
          <a:prstGeom prst="rect">
            <a:avLst/>
          </a:prstGeom>
        </p:spPr>
        <p:txBody>
          <a:bodyPr/>
          <a:lstStyle/>
          <a:p>
            <a:fld id="{581E6A32-401E-CF4D-886B-1F343C82E98B}" type="slidenum">
              <a:rPr lang="en-US" smtClean="0"/>
              <a:t>‹#›</a:t>
            </a:fld>
            <a:endParaRPr lang="en-US"/>
          </a:p>
        </p:txBody>
      </p:sp>
    </p:spTree>
    <p:extLst>
      <p:ext uri="{BB962C8B-B14F-4D97-AF65-F5344CB8AC3E}">
        <p14:creationId xmlns:p14="http://schemas.microsoft.com/office/powerpoint/2010/main" val="11552278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ACBE66-AAC5-D249-B7D9-2C06C9249FA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F94C034-F466-BC44-8CB8-F94D2C1CC40B}"/>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A1AE357-EE97-C745-821A-899A56D338F4}"/>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3490B094-318C-5C4D-9217-21257B60E346}"/>
              </a:ext>
            </a:extLst>
          </p:cNvPr>
          <p:cNvSpPr>
            <a:spLocks noGrp="1"/>
          </p:cNvSpPr>
          <p:nvPr>
            <p:ph type="dt" sz="half" idx="10"/>
          </p:nvPr>
        </p:nvSpPr>
        <p:spPr>
          <a:xfrm>
            <a:off x="838200" y="6356350"/>
            <a:ext cx="2743200" cy="365125"/>
          </a:xfrm>
          <a:prstGeom prst="rect">
            <a:avLst/>
          </a:prstGeom>
        </p:spPr>
        <p:txBody>
          <a:bodyPr/>
          <a:lstStyle/>
          <a:p>
            <a:fld id="{CE1A1EED-5468-4662-9116-EA324E72E27D}" type="datetime1">
              <a:rPr lang="en-US" smtClean="0"/>
              <a:t>8/29/26</a:t>
            </a:fld>
            <a:endParaRPr lang="en-US"/>
          </a:p>
        </p:txBody>
      </p:sp>
      <p:sp>
        <p:nvSpPr>
          <p:cNvPr id="6" name="Footer Placeholder 5">
            <a:extLst>
              <a:ext uri="{FF2B5EF4-FFF2-40B4-BE49-F238E27FC236}">
                <a16:creationId xmlns:a16="http://schemas.microsoft.com/office/drawing/2014/main" id="{53659FD8-B6EE-4846-A5E7-E6113CD88110}"/>
              </a:ext>
            </a:extLst>
          </p:cNvPr>
          <p:cNvSpPr>
            <a:spLocks noGrp="1"/>
          </p:cNvSpPr>
          <p:nvPr>
            <p:ph type="ftr" sz="quarter" idx="11"/>
          </p:nvPr>
        </p:nvSpPr>
        <p:spPr>
          <a:xfrm>
            <a:off x="4038600" y="6356350"/>
            <a:ext cx="4114800" cy="365125"/>
          </a:xfrm>
          <a:prstGeom prst="rect">
            <a:avLst/>
          </a:prstGeom>
        </p:spPr>
        <p:txBody>
          <a:bodyPr/>
          <a:lstStyle/>
          <a:p>
            <a:r>
              <a:rPr lang="ar-SA"/>
              <a:t>برنامج التصميم الجرافيكي - المستوى الخامس</a:t>
            </a:r>
            <a:endParaRPr lang="en-US"/>
          </a:p>
        </p:txBody>
      </p:sp>
      <p:sp>
        <p:nvSpPr>
          <p:cNvPr id="7" name="Slide Number Placeholder 6">
            <a:extLst>
              <a:ext uri="{FF2B5EF4-FFF2-40B4-BE49-F238E27FC236}">
                <a16:creationId xmlns:a16="http://schemas.microsoft.com/office/drawing/2014/main" id="{6F246591-DE00-4D4A-9B41-813AEA448918}"/>
              </a:ext>
            </a:extLst>
          </p:cNvPr>
          <p:cNvSpPr>
            <a:spLocks noGrp="1"/>
          </p:cNvSpPr>
          <p:nvPr>
            <p:ph type="sldNum" sz="quarter" idx="12"/>
          </p:nvPr>
        </p:nvSpPr>
        <p:spPr>
          <a:xfrm>
            <a:off x="8610600" y="6356350"/>
            <a:ext cx="2743200" cy="365125"/>
          </a:xfrm>
          <a:prstGeom prst="rect">
            <a:avLst/>
          </a:prstGeom>
        </p:spPr>
        <p:txBody>
          <a:bodyPr/>
          <a:lstStyle/>
          <a:p>
            <a:fld id="{581E6A32-401E-CF4D-886B-1F343C82E98B}" type="slidenum">
              <a:rPr lang="en-US" smtClean="0"/>
              <a:t>‹#›</a:t>
            </a:fld>
            <a:endParaRPr lang="en-US"/>
          </a:p>
        </p:txBody>
      </p:sp>
    </p:spTree>
    <p:extLst>
      <p:ext uri="{BB962C8B-B14F-4D97-AF65-F5344CB8AC3E}">
        <p14:creationId xmlns:p14="http://schemas.microsoft.com/office/powerpoint/2010/main" val="14551376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8B65E9-0D75-2845-89B4-31BEEF76F611}"/>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BC22A3C-F646-514E-83DC-4E923202CFC6}"/>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263BC2D-5DAE-6640-9824-650C4BE7739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2BA8E1E5-B4EE-C24A-9234-35BBFF0BCCB6}"/>
              </a:ext>
            </a:extLst>
          </p:cNvPr>
          <p:cNvSpPr>
            <a:spLocks noGrp="1"/>
          </p:cNvSpPr>
          <p:nvPr>
            <p:ph type="dt" sz="half" idx="10"/>
          </p:nvPr>
        </p:nvSpPr>
        <p:spPr>
          <a:xfrm>
            <a:off x="838200" y="6356350"/>
            <a:ext cx="2743200" cy="365125"/>
          </a:xfrm>
          <a:prstGeom prst="rect">
            <a:avLst/>
          </a:prstGeom>
        </p:spPr>
        <p:txBody>
          <a:bodyPr/>
          <a:lstStyle/>
          <a:p>
            <a:fld id="{87D82976-136B-45A3-BE74-AF47A0873794}" type="datetime1">
              <a:rPr lang="en-US" smtClean="0"/>
              <a:t>8/29/26</a:t>
            </a:fld>
            <a:endParaRPr lang="en-US"/>
          </a:p>
        </p:txBody>
      </p:sp>
      <p:sp>
        <p:nvSpPr>
          <p:cNvPr id="6" name="Footer Placeholder 5">
            <a:extLst>
              <a:ext uri="{FF2B5EF4-FFF2-40B4-BE49-F238E27FC236}">
                <a16:creationId xmlns:a16="http://schemas.microsoft.com/office/drawing/2014/main" id="{B843CD61-1855-064B-8C88-185ECE7B1C59}"/>
              </a:ext>
            </a:extLst>
          </p:cNvPr>
          <p:cNvSpPr>
            <a:spLocks noGrp="1"/>
          </p:cNvSpPr>
          <p:nvPr>
            <p:ph type="ftr" sz="quarter" idx="11"/>
          </p:nvPr>
        </p:nvSpPr>
        <p:spPr>
          <a:xfrm>
            <a:off x="4038600" y="6356350"/>
            <a:ext cx="4114800" cy="365125"/>
          </a:xfrm>
          <a:prstGeom prst="rect">
            <a:avLst/>
          </a:prstGeom>
        </p:spPr>
        <p:txBody>
          <a:bodyPr/>
          <a:lstStyle/>
          <a:p>
            <a:r>
              <a:rPr lang="ar-SA"/>
              <a:t>برنامج التصميم الجرافيكي - المستوى الخامس</a:t>
            </a:r>
            <a:endParaRPr lang="en-US"/>
          </a:p>
        </p:txBody>
      </p:sp>
      <p:sp>
        <p:nvSpPr>
          <p:cNvPr id="7" name="Slide Number Placeholder 6">
            <a:extLst>
              <a:ext uri="{FF2B5EF4-FFF2-40B4-BE49-F238E27FC236}">
                <a16:creationId xmlns:a16="http://schemas.microsoft.com/office/drawing/2014/main" id="{3246B2A3-DACB-994E-A6F9-896A62735539}"/>
              </a:ext>
            </a:extLst>
          </p:cNvPr>
          <p:cNvSpPr>
            <a:spLocks noGrp="1"/>
          </p:cNvSpPr>
          <p:nvPr>
            <p:ph type="sldNum" sz="quarter" idx="12"/>
          </p:nvPr>
        </p:nvSpPr>
        <p:spPr>
          <a:xfrm>
            <a:off x="8610600" y="6356350"/>
            <a:ext cx="2743200" cy="365125"/>
          </a:xfrm>
          <a:prstGeom prst="rect">
            <a:avLst/>
          </a:prstGeom>
        </p:spPr>
        <p:txBody>
          <a:bodyPr/>
          <a:lstStyle/>
          <a:p>
            <a:fld id="{581E6A32-401E-CF4D-886B-1F343C82E98B}" type="slidenum">
              <a:rPr lang="en-US" smtClean="0"/>
              <a:t>‹#›</a:t>
            </a:fld>
            <a:endParaRPr lang="en-US"/>
          </a:p>
        </p:txBody>
      </p:sp>
    </p:spTree>
    <p:extLst>
      <p:ext uri="{BB962C8B-B14F-4D97-AF65-F5344CB8AC3E}">
        <p14:creationId xmlns:p14="http://schemas.microsoft.com/office/powerpoint/2010/main" val="20254912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D9FF93-C82F-3441-A9FD-C3DAF66513F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AA9E963-5C99-9440-A23E-5DF26D5F5C90}"/>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4937B26-4382-A648-9F91-4C61986B009F}"/>
              </a:ext>
            </a:extLst>
          </p:cNvPr>
          <p:cNvSpPr>
            <a:spLocks noGrp="1"/>
          </p:cNvSpPr>
          <p:nvPr>
            <p:ph type="dt" sz="half" idx="10"/>
          </p:nvPr>
        </p:nvSpPr>
        <p:spPr>
          <a:xfrm>
            <a:off x="838200" y="6356350"/>
            <a:ext cx="2743200" cy="365125"/>
          </a:xfrm>
          <a:prstGeom prst="rect">
            <a:avLst/>
          </a:prstGeom>
        </p:spPr>
        <p:txBody>
          <a:bodyPr/>
          <a:lstStyle/>
          <a:p>
            <a:fld id="{25B967AB-6CBB-4FFA-80BE-668735DAF57C}" type="datetime1">
              <a:rPr lang="en-US" smtClean="0"/>
              <a:t>8/29/26</a:t>
            </a:fld>
            <a:endParaRPr lang="en-US"/>
          </a:p>
        </p:txBody>
      </p:sp>
      <p:sp>
        <p:nvSpPr>
          <p:cNvPr id="5" name="Footer Placeholder 4">
            <a:extLst>
              <a:ext uri="{FF2B5EF4-FFF2-40B4-BE49-F238E27FC236}">
                <a16:creationId xmlns:a16="http://schemas.microsoft.com/office/drawing/2014/main" id="{F34F3DC5-9E54-7C4C-85B5-4E83289C8125}"/>
              </a:ext>
            </a:extLst>
          </p:cNvPr>
          <p:cNvSpPr>
            <a:spLocks noGrp="1"/>
          </p:cNvSpPr>
          <p:nvPr>
            <p:ph type="ftr" sz="quarter" idx="11"/>
          </p:nvPr>
        </p:nvSpPr>
        <p:spPr>
          <a:xfrm>
            <a:off x="4038600" y="6356350"/>
            <a:ext cx="4114800" cy="365125"/>
          </a:xfrm>
          <a:prstGeom prst="rect">
            <a:avLst/>
          </a:prstGeom>
        </p:spPr>
        <p:txBody>
          <a:bodyPr/>
          <a:lstStyle/>
          <a:p>
            <a:r>
              <a:rPr lang="ar-SA"/>
              <a:t>برنامج التصميم الجرافيكي - المستوى الخامس</a:t>
            </a:r>
            <a:endParaRPr lang="en-US"/>
          </a:p>
        </p:txBody>
      </p:sp>
      <p:sp>
        <p:nvSpPr>
          <p:cNvPr id="6" name="Slide Number Placeholder 5">
            <a:extLst>
              <a:ext uri="{FF2B5EF4-FFF2-40B4-BE49-F238E27FC236}">
                <a16:creationId xmlns:a16="http://schemas.microsoft.com/office/drawing/2014/main" id="{8B2E6178-F519-1E48-92C6-D0E47439138B}"/>
              </a:ext>
            </a:extLst>
          </p:cNvPr>
          <p:cNvSpPr>
            <a:spLocks noGrp="1"/>
          </p:cNvSpPr>
          <p:nvPr>
            <p:ph type="sldNum" sz="quarter" idx="12"/>
          </p:nvPr>
        </p:nvSpPr>
        <p:spPr>
          <a:xfrm>
            <a:off x="8610600" y="6356350"/>
            <a:ext cx="2743200" cy="365125"/>
          </a:xfrm>
          <a:prstGeom prst="rect">
            <a:avLst/>
          </a:prstGeom>
        </p:spPr>
        <p:txBody>
          <a:bodyPr/>
          <a:lstStyle/>
          <a:p>
            <a:fld id="{581E6A32-401E-CF4D-886B-1F343C82E98B}" type="slidenum">
              <a:rPr lang="en-US" smtClean="0"/>
              <a:t>‹#›</a:t>
            </a:fld>
            <a:endParaRPr lang="en-US"/>
          </a:p>
        </p:txBody>
      </p:sp>
    </p:spTree>
    <p:extLst>
      <p:ext uri="{BB962C8B-B14F-4D97-AF65-F5344CB8AC3E}">
        <p14:creationId xmlns:p14="http://schemas.microsoft.com/office/powerpoint/2010/main" val="21601545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912978B-FCD2-2045-85F0-1A14DE5CB5E0}"/>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9FB10E8-067B-2C48-B702-967E01DD84B6}"/>
              </a:ext>
            </a:extLst>
          </p:cNvPr>
          <p:cNvSpPr>
            <a:spLocks noGrp="1"/>
          </p:cNvSpPr>
          <p:nvPr>
            <p:ph type="body" orient="vert" idx="1"/>
          </p:nvPr>
        </p:nvSpPr>
        <p:spPr>
          <a:xfrm>
            <a:off x="838200" y="365125"/>
            <a:ext cx="7734300" cy="5811838"/>
          </a:xfrm>
          <a:prstGeom prst="rect">
            <a:avLst/>
          </a:prstGeo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5F7474-7BF7-8848-8A5E-943CAEF7B509}"/>
              </a:ext>
            </a:extLst>
          </p:cNvPr>
          <p:cNvSpPr>
            <a:spLocks noGrp="1"/>
          </p:cNvSpPr>
          <p:nvPr>
            <p:ph type="dt" sz="half" idx="10"/>
          </p:nvPr>
        </p:nvSpPr>
        <p:spPr>
          <a:xfrm>
            <a:off x="838200" y="6356350"/>
            <a:ext cx="2743200" cy="365125"/>
          </a:xfrm>
          <a:prstGeom prst="rect">
            <a:avLst/>
          </a:prstGeom>
        </p:spPr>
        <p:txBody>
          <a:bodyPr/>
          <a:lstStyle/>
          <a:p>
            <a:fld id="{B7B49DCA-0B0C-490D-9170-2EBC047E1017}" type="datetime1">
              <a:rPr lang="en-US" smtClean="0"/>
              <a:t>8/29/26</a:t>
            </a:fld>
            <a:endParaRPr lang="en-US"/>
          </a:p>
        </p:txBody>
      </p:sp>
      <p:sp>
        <p:nvSpPr>
          <p:cNvPr id="5" name="Footer Placeholder 4">
            <a:extLst>
              <a:ext uri="{FF2B5EF4-FFF2-40B4-BE49-F238E27FC236}">
                <a16:creationId xmlns:a16="http://schemas.microsoft.com/office/drawing/2014/main" id="{BAFEE781-F8D4-3A47-B4CF-BE796E445F0C}"/>
              </a:ext>
            </a:extLst>
          </p:cNvPr>
          <p:cNvSpPr>
            <a:spLocks noGrp="1"/>
          </p:cNvSpPr>
          <p:nvPr>
            <p:ph type="ftr" sz="quarter" idx="11"/>
          </p:nvPr>
        </p:nvSpPr>
        <p:spPr>
          <a:xfrm>
            <a:off x="4038600" y="6356350"/>
            <a:ext cx="4114800" cy="365125"/>
          </a:xfrm>
          <a:prstGeom prst="rect">
            <a:avLst/>
          </a:prstGeom>
        </p:spPr>
        <p:txBody>
          <a:bodyPr/>
          <a:lstStyle/>
          <a:p>
            <a:r>
              <a:rPr lang="ar-SA"/>
              <a:t>برنامج التصميم الجرافيكي - المستوى الخامس</a:t>
            </a:r>
            <a:endParaRPr lang="en-US"/>
          </a:p>
        </p:txBody>
      </p:sp>
      <p:sp>
        <p:nvSpPr>
          <p:cNvPr id="6" name="Slide Number Placeholder 5">
            <a:extLst>
              <a:ext uri="{FF2B5EF4-FFF2-40B4-BE49-F238E27FC236}">
                <a16:creationId xmlns:a16="http://schemas.microsoft.com/office/drawing/2014/main" id="{AF7C0E21-9A27-AB48-A677-0FCAD06A0459}"/>
              </a:ext>
            </a:extLst>
          </p:cNvPr>
          <p:cNvSpPr>
            <a:spLocks noGrp="1"/>
          </p:cNvSpPr>
          <p:nvPr>
            <p:ph type="sldNum" sz="quarter" idx="12"/>
          </p:nvPr>
        </p:nvSpPr>
        <p:spPr>
          <a:xfrm>
            <a:off x="8610600" y="6356350"/>
            <a:ext cx="2743200" cy="365125"/>
          </a:xfrm>
          <a:prstGeom prst="rect">
            <a:avLst/>
          </a:prstGeom>
        </p:spPr>
        <p:txBody>
          <a:bodyPr/>
          <a:lstStyle/>
          <a:p>
            <a:fld id="{581E6A32-401E-CF4D-886B-1F343C82E98B}" type="slidenum">
              <a:rPr lang="en-US" smtClean="0"/>
              <a:t>‹#›</a:t>
            </a:fld>
            <a:endParaRPr lang="en-US"/>
          </a:p>
        </p:txBody>
      </p:sp>
    </p:spTree>
    <p:extLst>
      <p:ext uri="{BB962C8B-B14F-4D97-AF65-F5344CB8AC3E}">
        <p14:creationId xmlns:p14="http://schemas.microsoft.com/office/powerpoint/2010/main" val="146180736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Title Placeholder 1">
            <a:extLst>
              <a:ext uri="{FF2B5EF4-FFF2-40B4-BE49-F238E27FC236}">
                <a16:creationId xmlns:a16="http://schemas.microsoft.com/office/drawing/2014/main" id="{50CBAF2A-1BA4-EDEB-C3AE-3FCA48001454}"/>
              </a:ext>
            </a:extLst>
          </p:cNvPr>
          <p:cNvSpPr>
            <a:spLocks noGrp="1"/>
          </p:cNvSpPr>
          <p:nvPr>
            <p:ph type="title"/>
          </p:nvPr>
        </p:nvSpPr>
        <p:spPr>
          <a:xfrm>
            <a:off x="838200" y="1504950"/>
            <a:ext cx="10515600" cy="976312"/>
          </a:xfrm>
          <a:prstGeom prst="rect">
            <a:avLst/>
          </a:prstGeom>
        </p:spPr>
        <p:txBody>
          <a:bodyPr vert="horz" lIns="91440" tIns="45720" rIns="91440" bIns="45720" rtlCol="0" anchor="ctr">
            <a:normAutofit/>
          </a:bodyPr>
          <a:lstStyle/>
          <a:p>
            <a:r>
              <a:rPr lang="en-US" dirty="0"/>
              <a:t>Click to edit Master title style</a:t>
            </a:r>
          </a:p>
        </p:txBody>
      </p:sp>
      <p:sp>
        <p:nvSpPr>
          <p:cNvPr id="8" name="Text Placeholder 2">
            <a:extLst>
              <a:ext uri="{FF2B5EF4-FFF2-40B4-BE49-F238E27FC236}">
                <a16:creationId xmlns:a16="http://schemas.microsoft.com/office/drawing/2014/main" id="{D9BAD7FB-C18B-8746-EE3B-F73AC891F639}"/>
              </a:ext>
            </a:extLst>
          </p:cNvPr>
          <p:cNvSpPr>
            <a:spLocks noGrp="1"/>
          </p:cNvSpPr>
          <p:nvPr>
            <p:ph type="body" idx="1"/>
          </p:nvPr>
        </p:nvSpPr>
        <p:spPr>
          <a:xfrm>
            <a:off x="838200" y="2711449"/>
            <a:ext cx="10515600" cy="323691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Date Placeholder 3">
            <a:extLst>
              <a:ext uri="{FF2B5EF4-FFF2-40B4-BE49-F238E27FC236}">
                <a16:creationId xmlns:a16="http://schemas.microsoft.com/office/drawing/2014/main" id="{DF8C289F-6F88-6C1A-E408-749908346D8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47403A2-7C00-4E7B-9B12-0162AA911228}" type="datetime1">
              <a:rPr lang="en-US" smtClean="0"/>
              <a:t>8/29/26</a:t>
            </a:fld>
            <a:endParaRPr lang="en-US"/>
          </a:p>
        </p:txBody>
      </p:sp>
      <p:sp>
        <p:nvSpPr>
          <p:cNvPr id="10" name="Footer Placeholder 4">
            <a:extLst>
              <a:ext uri="{FF2B5EF4-FFF2-40B4-BE49-F238E27FC236}">
                <a16:creationId xmlns:a16="http://schemas.microsoft.com/office/drawing/2014/main" id="{0C2AA6E4-D910-BEBC-BBF3-DF05934FC0D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000">
                <a:solidFill>
                  <a:schemeClr val="tx1">
                    <a:tint val="75000"/>
                  </a:schemeClr>
                </a:solidFill>
                <a:latin typeface="GE Dinar One" panose="020A0503020102020204" pitchFamily="18" charset="-78"/>
                <a:ea typeface="GE Dinar One" panose="020A0503020102020204" pitchFamily="18" charset="-78"/>
                <a:cs typeface="GE Dinar One" panose="020A0503020102020204" pitchFamily="18" charset="-78"/>
              </a:defRPr>
            </a:lvl1pPr>
          </a:lstStyle>
          <a:p>
            <a:r>
              <a:rPr lang="ar-SA" dirty="0"/>
              <a:t>برنامج التصميم الجرافيكي - المستوى السابع</a:t>
            </a:r>
            <a:endParaRPr lang="en-US" dirty="0"/>
          </a:p>
        </p:txBody>
      </p:sp>
      <p:sp>
        <p:nvSpPr>
          <p:cNvPr id="11" name="Slide Number Placeholder 5">
            <a:extLst>
              <a:ext uri="{FF2B5EF4-FFF2-40B4-BE49-F238E27FC236}">
                <a16:creationId xmlns:a16="http://schemas.microsoft.com/office/drawing/2014/main" id="{8F3F3AF2-D3E0-15A1-2C5A-A79ECC8B509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r>
              <a:rPr lang="en-US" dirty="0"/>
              <a:t>334 GPC –Advertising Design</a:t>
            </a:r>
          </a:p>
        </p:txBody>
      </p:sp>
      <p:pic>
        <p:nvPicPr>
          <p:cNvPr id="12" name="Picture 11" descr="A black background with a black square&#10;&#10;Description automatically generated with medium confidence">
            <a:extLst>
              <a:ext uri="{FF2B5EF4-FFF2-40B4-BE49-F238E27FC236}">
                <a16:creationId xmlns:a16="http://schemas.microsoft.com/office/drawing/2014/main" id="{CCF9A999-8AEC-9C77-D955-F69D61AD288B}"/>
              </a:ext>
            </a:extLst>
          </p:cNvPr>
          <p:cNvPicPr>
            <a:picLocks noChangeAspect="1"/>
          </p:cNvPicPr>
          <p:nvPr userDrawn="1"/>
        </p:nvPicPr>
        <p:blipFill>
          <a:blip r:embed="rId13"/>
          <a:stretch>
            <a:fillRect/>
          </a:stretch>
        </p:blipFill>
        <p:spPr>
          <a:xfrm>
            <a:off x="11123785" y="402363"/>
            <a:ext cx="460030" cy="720000"/>
          </a:xfrm>
          <a:prstGeom prst="rect">
            <a:avLst/>
          </a:prstGeom>
        </p:spPr>
      </p:pic>
      <p:cxnSp>
        <p:nvCxnSpPr>
          <p:cNvPr id="13" name="Straight Connector 12">
            <a:extLst>
              <a:ext uri="{FF2B5EF4-FFF2-40B4-BE49-F238E27FC236}">
                <a16:creationId xmlns:a16="http://schemas.microsoft.com/office/drawing/2014/main" id="{5E392E98-9E2E-F723-EDD1-6E661E95F3B0}"/>
              </a:ext>
            </a:extLst>
          </p:cNvPr>
          <p:cNvCxnSpPr>
            <a:cxnSpLocks/>
          </p:cNvCxnSpPr>
          <p:nvPr userDrawn="1"/>
        </p:nvCxnSpPr>
        <p:spPr>
          <a:xfrm flipH="1">
            <a:off x="419100" y="6296025"/>
            <a:ext cx="11353800" cy="0"/>
          </a:xfrm>
          <a:prstGeom prst="line">
            <a:avLst/>
          </a:prstGeom>
        </p:spPr>
        <p:style>
          <a:lnRef idx="1">
            <a:schemeClr val="dk1"/>
          </a:lnRef>
          <a:fillRef idx="0">
            <a:schemeClr val="dk1"/>
          </a:fillRef>
          <a:effectRef idx="0">
            <a:schemeClr val="dk1"/>
          </a:effectRef>
          <a:fontRef idx="minor">
            <a:schemeClr val="tx1"/>
          </a:fontRef>
        </p:style>
      </p:cxnSp>
      <p:sp>
        <p:nvSpPr>
          <p:cNvPr id="14" name="TextBox 13">
            <a:extLst>
              <a:ext uri="{FF2B5EF4-FFF2-40B4-BE49-F238E27FC236}">
                <a16:creationId xmlns:a16="http://schemas.microsoft.com/office/drawing/2014/main" id="{BA59E9B4-2072-7E36-C73D-F228C5C765F9}"/>
              </a:ext>
            </a:extLst>
          </p:cNvPr>
          <p:cNvSpPr txBox="1"/>
          <p:nvPr userDrawn="1"/>
        </p:nvSpPr>
        <p:spPr>
          <a:xfrm>
            <a:off x="10001828" y="536723"/>
            <a:ext cx="1074332" cy="461665"/>
          </a:xfrm>
          <a:prstGeom prst="rect">
            <a:avLst/>
          </a:prstGeom>
          <a:noFill/>
        </p:spPr>
        <p:txBody>
          <a:bodyPr wrap="none" rtlCol="0">
            <a:spAutoFit/>
          </a:bodyPr>
          <a:lstStyle/>
          <a:p>
            <a:pPr algn="r" rtl="1"/>
            <a:r>
              <a:rPr lang="ar-SA" sz="1200" dirty="0">
                <a:latin typeface="GE Dinar One" panose="020A0503020102020204" pitchFamily="18" charset="-78"/>
                <a:ea typeface="GE Dinar One" panose="020A0503020102020204" pitchFamily="18" charset="-78"/>
                <a:cs typeface="GE Dinar One" panose="020A0503020102020204" pitchFamily="18" charset="-78"/>
              </a:rPr>
              <a:t>كلية الفنون</a:t>
            </a:r>
          </a:p>
          <a:p>
            <a:pPr algn="r" rtl="1"/>
            <a:r>
              <a:rPr lang="ar-SA" sz="1200" dirty="0">
                <a:latin typeface="GE Dinar One" panose="020A0503020102020204" pitchFamily="18" charset="-78"/>
                <a:ea typeface="GE Dinar One" panose="020A0503020102020204" pitchFamily="18" charset="-78"/>
                <a:cs typeface="GE Dinar One" panose="020A0503020102020204" pitchFamily="18" charset="-78"/>
              </a:rPr>
              <a:t>قسم التصميم</a:t>
            </a:r>
            <a:endParaRPr lang="en-GB" sz="1200" dirty="0">
              <a:latin typeface="GE Dinar One" panose="020A0503020102020204" pitchFamily="18" charset="-78"/>
              <a:ea typeface="GE Dinar One" panose="020A0503020102020204" pitchFamily="18" charset="-78"/>
              <a:cs typeface="GE Dinar One" panose="020A0503020102020204" pitchFamily="18" charset="-78"/>
            </a:endParaRPr>
          </a:p>
        </p:txBody>
      </p:sp>
      <p:sp>
        <p:nvSpPr>
          <p:cNvPr id="2" name="TextBox 1">
            <a:extLst>
              <a:ext uri="{FF2B5EF4-FFF2-40B4-BE49-F238E27FC236}">
                <a16:creationId xmlns:a16="http://schemas.microsoft.com/office/drawing/2014/main" id="{927FB34A-3019-4A0D-6648-F86EAC55AD6C}"/>
              </a:ext>
            </a:extLst>
          </p:cNvPr>
          <p:cNvSpPr txBox="1"/>
          <p:nvPr userDrawn="1"/>
        </p:nvSpPr>
        <p:spPr>
          <a:xfrm>
            <a:off x="696285" y="493278"/>
            <a:ext cx="1456365" cy="338554"/>
          </a:xfrm>
          <a:prstGeom prst="rect">
            <a:avLst/>
          </a:prstGeom>
          <a:noFill/>
        </p:spPr>
        <p:txBody>
          <a:bodyPr wrap="square">
            <a:spAutoFit/>
          </a:bodyPr>
          <a:lstStyle/>
          <a:p>
            <a:pPr algn="ctr" rtl="1"/>
            <a:r>
              <a:rPr lang="ar-SA" sz="800" dirty="0">
                <a:solidFill>
                  <a:schemeClr val="tx1">
                    <a:lumMod val="50000"/>
                    <a:lumOff val="50000"/>
                  </a:schemeClr>
                </a:solidFill>
                <a:latin typeface="GE Dinar One" panose="020A0503020102020204" pitchFamily="18" charset="-78"/>
                <a:ea typeface="GE Dinar One" panose="020A0503020102020204" pitchFamily="18" charset="-78"/>
                <a:cs typeface="GE Dinar One" panose="020A0503020102020204" pitchFamily="18" charset="-78"/>
              </a:rPr>
              <a:t>٣٣٠ جفك تصميم المغلفات</a:t>
            </a:r>
          </a:p>
          <a:p>
            <a:pPr marL="0" marR="0" lvl="0" indent="0" algn="ctr" defTabSz="914400" rtl="1" eaLnBrk="1" fontAlgn="auto" latinLnBrk="0" hangingPunct="1">
              <a:lnSpc>
                <a:spcPct val="100000"/>
              </a:lnSpc>
              <a:spcBef>
                <a:spcPts val="0"/>
              </a:spcBef>
              <a:spcAft>
                <a:spcPts val="0"/>
              </a:spcAft>
              <a:buClrTx/>
              <a:buSzTx/>
              <a:buFontTx/>
              <a:buNone/>
              <a:tabLst/>
              <a:defRPr/>
            </a:pPr>
            <a:r>
              <a:rPr lang="en-US" sz="800" dirty="0">
                <a:solidFill>
                  <a:schemeClr val="tx1">
                    <a:lumMod val="50000"/>
                    <a:lumOff val="50000"/>
                  </a:schemeClr>
                </a:solidFill>
                <a:latin typeface="+mn-lt"/>
                <a:ea typeface="GE Dinar One" panose="020A0503020102020204" pitchFamily="18" charset="-78"/>
                <a:cs typeface="GE Dinar One" panose="020A0503020102020204" pitchFamily="18" charset="-78"/>
              </a:rPr>
              <a:t>330 GPC Packaging Design</a:t>
            </a:r>
            <a:endParaRPr lang="ar-SA" sz="800" dirty="0">
              <a:solidFill>
                <a:schemeClr val="tx1">
                  <a:lumMod val="50000"/>
                  <a:lumOff val="50000"/>
                </a:schemeClr>
              </a:solidFill>
              <a:latin typeface="+mn-lt"/>
              <a:ea typeface="GE Dinar One" panose="020A0503020102020204" pitchFamily="18" charset="-78"/>
              <a:cs typeface="GE Dinar One" panose="020A0503020102020204" pitchFamily="18" charset="-78"/>
            </a:endParaRPr>
          </a:p>
        </p:txBody>
      </p:sp>
      <p:sp>
        <p:nvSpPr>
          <p:cNvPr id="3" name="TextBox 2">
            <a:extLst>
              <a:ext uri="{FF2B5EF4-FFF2-40B4-BE49-F238E27FC236}">
                <a16:creationId xmlns:a16="http://schemas.microsoft.com/office/drawing/2014/main" id="{A4DEF6D6-B38C-E645-34D6-5A26D793929E}"/>
              </a:ext>
            </a:extLst>
          </p:cNvPr>
          <p:cNvSpPr txBox="1"/>
          <p:nvPr userDrawn="1"/>
        </p:nvSpPr>
        <p:spPr>
          <a:xfrm>
            <a:off x="456139" y="400945"/>
            <a:ext cx="385042" cy="523220"/>
          </a:xfrm>
          <a:prstGeom prst="rect">
            <a:avLst/>
          </a:prstGeom>
          <a:noFill/>
        </p:spPr>
        <p:txBody>
          <a:bodyPr wrap="none" rtlCol="0">
            <a:spAutoFit/>
          </a:bodyPr>
          <a:lstStyle/>
          <a:p>
            <a:pPr marL="0" algn="l" defTabSz="914400" rtl="0" eaLnBrk="1" latinLnBrk="0" hangingPunct="1"/>
            <a:r>
              <a:rPr lang="en-US" sz="2800" b="0" i="0" dirty="0">
                <a:solidFill>
                  <a:schemeClr val="tx1">
                    <a:lumMod val="50000"/>
                    <a:lumOff val="50000"/>
                  </a:schemeClr>
                </a:solidFill>
                <a:latin typeface="Avenir Medium" panose="02000503020000020003" pitchFamily="2" charset="0"/>
                <a:cs typeface="+mj-cs"/>
              </a:rPr>
              <a:t>6</a:t>
            </a:r>
            <a:endParaRPr lang="en-SA" sz="2800" b="0" i="0" dirty="0">
              <a:solidFill>
                <a:schemeClr val="tx1">
                  <a:lumMod val="50000"/>
                  <a:lumOff val="50000"/>
                </a:schemeClr>
              </a:solidFill>
              <a:latin typeface="Avenir Medium" panose="02000503020000020003" pitchFamily="2" charset="0"/>
              <a:cs typeface="+mj-cs"/>
            </a:endParaRPr>
          </a:p>
        </p:txBody>
      </p:sp>
    </p:spTree>
    <p:extLst>
      <p:ext uri="{BB962C8B-B14F-4D97-AF65-F5344CB8AC3E}">
        <p14:creationId xmlns:p14="http://schemas.microsoft.com/office/powerpoint/2010/main" val="207540959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r" defTabSz="914400" rtl="1" eaLnBrk="1" latinLnBrk="0" hangingPunct="1">
        <a:lnSpc>
          <a:spcPct val="90000"/>
        </a:lnSpc>
        <a:spcBef>
          <a:spcPct val="0"/>
        </a:spcBef>
        <a:buNone/>
        <a:defRPr sz="4400" kern="1200">
          <a:solidFill>
            <a:schemeClr val="tx1"/>
          </a:solidFill>
          <a:latin typeface="Sakkal Majalla" panose="02000000000000000000" pitchFamily="2" charset="-78"/>
          <a:ea typeface="+mj-ea"/>
          <a:cs typeface="Sakkal Majalla" panose="02000000000000000000" pitchFamily="2" charset="-78"/>
        </a:defRPr>
      </a:lvl1pPr>
    </p:titleStyle>
    <p:body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Sakkal Majalla" panose="02000000000000000000" pitchFamily="2" charset="-78"/>
          <a:ea typeface="+mn-ea"/>
          <a:cs typeface="Sakkal Majalla" panose="02000000000000000000" pitchFamily="2" charset="-78"/>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Sakkal Majalla" panose="02000000000000000000" pitchFamily="2" charset="-78"/>
          <a:ea typeface="+mn-ea"/>
          <a:cs typeface="Sakkal Majalla" panose="02000000000000000000" pitchFamily="2" charset="-78"/>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Sakkal Majalla" panose="02000000000000000000" pitchFamily="2" charset="-78"/>
          <a:ea typeface="+mn-ea"/>
          <a:cs typeface="Sakkal Majalla" panose="02000000000000000000" pitchFamily="2" charset="-78"/>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jpeg"/><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 Id="rId3" Type="http://schemas.openxmlformats.org/officeDocument/2006/relationships/image" Target="../media/image1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 Id="rId3" Type="http://schemas.openxmlformats.org/officeDocument/2006/relationships/image" Target="../media/image2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695A86-478A-71C3-B781-91B8C540C0E2}"/>
              </a:ext>
            </a:extLst>
          </p:cNvPr>
          <p:cNvSpPr>
            <a:spLocks noGrp="1"/>
          </p:cNvSpPr>
          <p:nvPr>
            <p:ph type="ctrTitle"/>
          </p:nvPr>
        </p:nvSpPr>
        <p:spPr>
          <a:xfrm>
            <a:off x="5181600" y="1302658"/>
            <a:ext cx="4604657" cy="2387600"/>
          </a:xfrm>
        </p:spPr>
        <p:txBody>
          <a:bodyPr>
            <a:normAutofit/>
          </a:bodyPr>
          <a:lstStyle/>
          <a:p>
            <a:r>
              <a:rPr lang="ar-SA" sz="4000" b="1" dirty="0"/>
              <a:t>من المكعّب إلى العبوة</a:t>
            </a:r>
            <a:r>
              <a:rPr lang="en-US" sz="4000" b="1" dirty="0"/>
              <a:t/>
            </a:r>
            <a:r>
              <a:rPr lang="ar-SA" sz="4000" b="1" dirty="0"/>
              <a:t/>
            </a:r>
            <a:endParaRPr lang="en-GB" sz="4000" dirty="0"/>
          </a:p>
        </p:txBody>
      </p:sp>
      <p:sp>
        <p:nvSpPr>
          <p:cNvPr id="3" name="Subtitle 2">
            <a:extLst>
              <a:ext uri="{FF2B5EF4-FFF2-40B4-BE49-F238E27FC236}">
                <a16:creationId xmlns:a16="http://schemas.microsoft.com/office/drawing/2014/main" id="{3976FDC2-234A-44A1-C967-179A0C8EFCC8}"/>
              </a:ext>
            </a:extLst>
          </p:cNvPr>
          <p:cNvSpPr>
            <a:spLocks noGrp="1"/>
          </p:cNvSpPr>
          <p:nvPr>
            <p:ph type="subTitle" idx="1"/>
          </p:nvPr>
        </p:nvSpPr>
        <p:spPr>
          <a:xfrm>
            <a:off x="3135085" y="3678237"/>
            <a:ext cx="9144000" cy="1655762"/>
          </a:xfrm>
        </p:spPr>
        <p:txBody>
          <a:bodyPr anchor="t">
            <a:normAutofit/>
          </a:bodyPr>
          <a:lstStyle/>
          <a:p>
            <a:pPr marL="0" indent="0" algn="ctr" defTabSz="914400" rtl="1" eaLnBrk="1" latinLnBrk="0" hangingPunct="1">
              <a:lnSpc>
                <a:spcPct val="90000"/>
              </a:lnSpc>
              <a:spcBef>
                <a:spcPts val="1000"/>
              </a:spcBef>
              <a:buFont typeface="Arial" panose="020B0604020202020204" pitchFamily="34" charset="0"/>
              <a:buNone/>
            </a:pPr>
            <a:r>
              <a:rPr lang="ar-SA" sz="2000" b="1" dirty="0">
                <a:solidFill>
                  <a:schemeClr val="bg1">
                    <a:lumMod val="50000"/>
                  </a:schemeClr>
                </a:solidFill>
              </a:rPr>
              <a:t>أعداد: أنوره السعدون</a:t>
            </a:r>
          </a:p>
        </p:txBody>
      </p:sp>
      <p:sp>
        <p:nvSpPr>
          <p:cNvPr id="4" name="Footer Placeholder 3">
            <a:extLst>
              <a:ext uri="{FF2B5EF4-FFF2-40B4-BE49-F238E27FC236}">
                <a16:creationId xmlns:a16="http://schemas.microsoft.com/office/drawing/2014/main" id="{714C6116-B646-777F-65B1-F0C3109564C4}"/>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pic>
        <p:nvPicPr>
          <p:cNvPr id="5" name="Picture 4" descr="cover_portrait.png"/>
          <p:cNvPicPr>
            <a:picLocks noChangeAspect="1"/>
          </p:cNvPicPr>
          <p:nvPr/>
        </p:nvPicPr>
        <p:blipFill>
          <a:blip r:embed="rId3"/>
          <a:stretch>
            <a:fillRect/>
          </a:stretch>
        </p:blipFill>
        <p:spPr>
          <a:xfrm>
            <a:off x="2608970" y="1524001"/>
            <a:ext cx="2859259" cy="4332514"/>
          </a:xfrm>
          <a:prstGeom prst="rect">
            <a:avLst/>
          </a:prstGeom>
        </p:spPr>
      </p:pic>
    </p:spTree>
    <p:extLst>
      <p:ext uri="{BB962C8B-B14F-4D97-AF65-F5344CB8AC3E}">
        <p14:creationId xmlns:p14="http://schemas.microsoft.com/office/powerpoint/2010/main" val="31645199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435C85B-1FE3-EB4E-BB0D-284564032382}"/>
              </a:ext>
            </a:extLst>
          </p:cNvPr>
          <p:cNvSpPr>
            <a:spLocks noGrp="1"/>
          </p:cNvSpPr>
          <p:nvPr>
            <p:ph idx="1"/>
          </p:nvPr>
        </p:nvSpPr>
        <p:spPr>
          <a:xfrm>
            <a:off x="1040344" y="1600200"/>
            <a:ext cx="9873205" cy="4389120"/>
          </a:xfrm>
        </p:spPr>
        <p:txBody>
          <a:bodyPr anchor="ctr">
            <a:normAutofit/>
          </a:bodyPr>
          <a:lstStyle/>
          <a:p>
            <a:pPr marL="0" indent="0">
              <a:buNone/>
            </a:pPr>
            <a:r>
              <a:rPr lang="ar-SA" sz="2000" b="1"/>
              <a:t>مقدمة:</a:t>
            </a:r>
          </a:p>
          <a:p>
            <a:pPr marL="0" indent="0">
              <a:buNone/>
            </a:pPr>
            <a:r>
              <a:rPr lang="ar-SA" sz="2000"/>
              <a:t>يُعدّ المكعّب الشكل الأساسي الذي تنطلق منه معظم العبوات المتداولة في الأسواق. وتتناول هذه المحاضرة منهجية تحويل المكعّب، عبر عمليات القص والطي والتشكيل، إلى أشكال تغليف مبتكرة تحقق التميّز البصري على رفوف العرض، دون الحاجة إلى معرفة متقدمة بالهندسة الفراغية.</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Tree>
    <p:extLst>
      <p:ext uri="{BB962C8B-B14F-4D97-AF65-F5344CB8AC3E}">
        <p14:creationId xmlns:p14="http://schemas.microsoft.com/office/powerpoint/2010/main" val="3008581654"/>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1005840" y="1600200"/>
            <a:ext cx="10149840" cy="4389120"/>
          </a:xfrm>
        </p:spPr>
        <p:txBody>
          <a:bodyPr anchor="ctr">
            <a:normAutofit/>
          </a:bodyPr>
          <a:lstStyle/>
          <a:p>
            <a:pPr marL="0" indent="0">
              <a:buNone/>
            </a:pPr>
            <a:r>
              <a:rPr lang="ar-SA" sz="2000" b="1"/>
              <a:t>أهداف المحاضرة:</a:t>
            </a:r>
          </a:p>
          <a:p>
            <a:pPr marL="0" indent="0">
              <a:buNone/>
            </a:pPr>
            <a:r>
              <a:rPr lang="ar-SA" sz="2000"/>
              <a:t>يُتوقع من الطالب في نهاية المحاضرة أن يكون قادرًا على:</a:t>
            </a:r>
          </a:p>
          <a:p>
            <a:pPr/>
            <a:r>
              <a:rPr lang="ar-SA" sz="2000"/>
              <a:t>استخدام أدوات القص والطي استخدامًا دقيقًا وآمنًا.</a:t>
            </a:r>
          </a:p>
          <a:p>
            <a:pPr/>
            <a:r>
              <a:rPr lang="ar-SA" sz="2000"/>
              <a:t>قراءة الدايلاين (Die-line) وفهم أجزائه.</a:t>
            </a:r>
          </a:p>
          <a:p>
            <a:pPr/>
            <a:r>
              <a:rPr lang="ar-SA" sz="2000"/>
              <a:t>تعديل شكل المكعّب بثلاث طرق للحصول على عبوات جديدة.</a:t>
            </a:r>
          </a:p>
          <a:p>
            <a:pPr/>
            <a:r>
              <a:rPr lang="ar-SA" sz="2000"/>
              <a:t>رسم الطيات المنحنية وتنفيذها بدقة.</a:t>
            </a:r>
          </a:p>
          <a:p>
            <a:pPr/>
            <a:r>
              <a:rPr lang="ar-SA" sz="2000"/>
              <a:t>المواءمة بين الجانبين الجمالي والوظيفي للعبوة.</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أولًا: أدوات القص (Cutting):</a:t>
            </a:r>
          </a:p>
          <a:p>
            <a:pPr/>
            <a:r>
              <a:rPr lang="ar-SA" sz="2000" b="1"/>
              <a:t>المشرط (Scalpel): </a:t>
            </a:r>
            <a:r>
              <a:rPr lang="ar-SA" sz="2000"/>
              <a:t>أداة قص بمقبض معدني نحيف وشفرة صغيرة قابلة للتبديل، وهو الأدق والأسهل تحكمًا في المنحنيات والتفاصيل.</a:t>
            </a:r>
          </a:p>
          <a:p>
            <a:pPr/>
            <a:r>
              <a:rPr lang="ar-SA" sz="2000" b="1"/>
              <a:t>الكتر (Cutter): </a:t>
            </a:r>
            <a:r>
              <a:rPr lang="ar-SA" sz="2000"/>
              <a:t>سكين بشفرة طويلة تُكسر أطرافها عند تلفها. الرخيص منه يهتز ويصعب التحكم به، والأفضل النوع القوي ذو المقبض السميك.</a:t>
            </a:r>
          </a:p>
          <a:p>
            <a:pPr/>
            <a:r>
              <a:rPr lang="ar-SA" sz="2000" b="1"/>
              <a:t>المسطرة المعدنية: </a:t>
            </a:r>
            <a:r>
              <a:rPr lang="ar-SA" sz="2000"/>
              <a:t>هي المسطرة الوحيدة المناسبة للقص؛ أما البلاستيكية فتجرحها الشفرة وتخرج عن الخط، فتُستخدم للقياس فقط.</a:t>
            </a:r>
          </a:p>
          <a:p>
            <a:pPr/>
            <a:r>
              <a:rPr lang="ar-SA" sz="2000" b="1"/>
              <a:t>لوح القص (Cutting Mat): </a:t>
            </a:r>
            <a:r>
              <a:rPr lang="ar-SA" sz="2000"/>
              <a:t>لوح مطاطي يوضع تحت الورق أثناء القص، يحمي الطاولة ويحافظ على حدة الشفرة. ويُسمّى «ذاتي الالتئام» لأن أثر الشفرة يُغلق من نفسه فيبقى السطح أملس، وكلما كان أكبر كان أفضل.</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pic>
        <p:nvPicPr>
          <p:cNvPr id="16" name="Picture 15" descr="cut.png"/>
          <p:cNvPicPr>
            <a:picLocks noChangeAspect="1"/>
          </p:cNvPicPr>
          <p:nvPr/>
        </p:nvPicPr>
        <p:blipFill>
          <a:blip r:embed="rId3"/>
          <a:stretch>
            <a:fillRect/>
          </a:stretch>
        </p:blipFill>
        <p:spPr>
          <a:xfrm>
            <a:off x="728833" y="1600200"/>
            <a:ext cx="4394492" cy="438912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1005840" y="1600200"/>
            <a:ext cx="10149840" cy="4389120"/>
          </a:xfrm>
        </p:spPr>
        <p:txBody>
          <a:bodyPr anchor="ctr">
            <a:normAutofit/>
          </a:bodyPr>
          <a:lstStyle/>
          <a:p>
            <a:pPr marL="0" indent="0">
              <a:buNone/>
            </a:pPr>
            <a:r>
              <a:rPr lang="ar-SA" sz="2000" b="1"/>
              <a:t>قواعد السلامة أثناء القص:</a:t>
            </a:r>
          </a:p>
          <a:p>
            <a:pPr marL="0" indent="0">
              <a:buNone/>
            </a:pPr>
            <a:r>
              <a:rPr lang="ar-SA" sz="2000" b="1"/>
              <a:t>١. موضع المسطرة: </a:t>
            </a:r>
            <a:r>
              <a:rPr lang="ar-SA" sz="2000"/>
              <a:t>توضع المسطرة فوق الجزء الذي نريد الاحتفاظ به (التصميم)، وتكون الشفرة من جهة الورق الزائد؛ فإن انزلقت الشفرة قطعت الورق الزائد ولم تُتلف التصميم.</a:t>
            </a:r>
          </a:p>
          <a:p>
            <a:pPr marL="0" indent="0">
              <a:buNone/>
            </a:pPr>
            <a:r>
              <a:rPr lang="ar-SA" sz="2000" b="1"/>
              <a:t>٢. موضع اليد: </a:t>
            </a:r>
            <a:r>
              <a:rPr lang="ar-SA" sz="2000"/>
              <a:t>تُثبَّت المسطرة باليد الأخرى والأصابع فوقها بعيدًا عن حافتها، فلا تكون أي إصبع في مسار الشفرة.</a:t>
            </a:r>
          </a:p>
          <a:p>
            <a:pPr marL="0" indent="0">
              <a:buNone/>
            </a:pPr>
            <a:r>
              <a:rPr lang="ar-SA" sz="2000" b="1"/>
              <a:t>٣. طريقة القص: </a:t>
            </a:r>
            <a:r>
              <a:rPr lang="ar-SA" sz="2000"/>
              <a:t>يُقص الخط بسحبة واحدة ثابتة وضغط متساوٍ من أوله إلى آخره؛ فتكرار القص على الخط نفسه قد يُخرج الشفرة عن مسارها ويترك حافة متعرجة.</a:t>
            </a:r>
          </a:p>
          <a:p>
            <a:pPr marL="0" indent="0">
              <a:buNone/>
            </a:pPr>
            <a:r>
              <a:rPr lang="ar-SA" sz="2000" b="1"/>
              <a:t>٤. تغيير الشفرة: </a:t>
            </a:r>
            <a:r>
              <a:rPr lang="ar-SA" sz="2000"/>
              <a:t>تُغيَّر الشفرة متى بدأت تسحب الورق أو تمزّقه بدل أن تقطعه، لأن الشفرة غير الحادة تحتاج ضغطًا أكبر فيزيد احتمال انزلاقها.</a:t>
            </a:r>
          </a:p>
          <a:p>
            <a:pPr marL="0" indent="0">
              <a:buNone/>
            </a:pPr>
            <a:r>
              <a:rPr lang="ar-SA" sz="2000" b="1"/>
              <a:t>٥. بعد الاستخدام: </a:t>
            </a:r>
            <a:r>
              <a:rPr lang="ar-SA" sz="2000"/>
              <a:t>تُغطّى الشفرة أو تُعاد داخل المقبض، وتُرمى الشفرات القديمة في علبة مغلقة.</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ثانيًا: الطي (Folding):</a:t>
            </a:r>
          </a:p>
          <a:p>
            <a:pPr marL="0" indent="0">
              <a:buNone/>
            </a:pPr>
            <a:r>
              <a:rPr lang="ar-SA" sz="2000" b="1"/>
              <a:t>القاعدة الأساسية: </a:t>
            </a:r>
            <a:r>
              <a:rPr lang="ar-SA" sz="2000"/>
              <a:t>لا نقطع خط الطي، بل نضغطه بأداة غير حادة على طول المسطرة، فيتكوّن على الورق مجرى خفيف ينثني عليه الورق بسهولة واستقامة.</a:t>
            </a:r>
          </a:p>
          <a:p>
            <a:pPr marL="0" indent="0">
              <a:buNone/>
            </a:pPr>
            <a:r>
              <a:rPr lang="ar-SA" sz="2000" b="1"/>
              <a:t>أدوات الضغط على خط الطي:</a:t>
            </a:r>
          </a:p>
          <a:p>
            <a:pPr/>
            <a:r>
              <a:rPr lang="ar-SA" sz="2000" b="1"/>
              <a:t>عظمة الطي (Bone Folder): </a:t>
            </a:r>
            <a:r>
              <a:rPr lang="ar-SA" sz="2000"/>
              <a:t>أداة يستخدمها مجلّدو الكتب: قطعة مسطحة من العظم أو البلاستيك بطرف مدبب أملس، نمرّره على الخط بجانب المسطرة. عيبها أن طرفها سميك، فيبعد الخط عن المسطرة ١–٢ مم.</a:t>
            </a:r>
          </a:p>
          <a:p>
            <a:pPr/>
            <a:r>
              <a:rPr lang="ar-SA" sz="2000" b="1"/>
              <a:t>قلم جاف انتهى حبره: </a:t>
            </a:r>
            <a:r>
              <a:rPr lang="ar-SA" sz="2000"/>
              <a:t>في رأسه كرة معدنية صغيرة تخرج الحبر؛ إذا انتهى الحبر نمرّر رأسه على الخط فتضغط الكرة الورق دون أن تكتب. وعيبه عيب عظمة الطي نفسه.</a:t>
            </a:r>
          </a:p>
          <a:p>
            <a:pPr/>
            <a:r>
              <a:rPr lang="ar-SA" sz="2000" b="1"/>
              <a:t>ظهر شفرة المشرط أو الكتر: </a:t>
            </a:r>
            <a:r>
              <a:rPr lang="ar-SA" sz="2000"/>
              <a:t>نقلب الشفرة فيضغط ظهرها غير الحاد الخط لاصقًا بالمسطرة تمامًا، وهي الطريقة الأدق.</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pic>
        <p:nvPicPr>
          <p:cNvPr id="16" name="Picture 15" descr="crease.png"/>
          <p:cNvPicPr>
            <a:picLocks noChangeAspect="1"/>
          </p:cNvPicPr>
          <p:nvPr/>
        </p:nvPicPr>
        <p:blipFill>
          <a:blip r:embed="rId3"/>
          <a:stretch>
            <a:fillRect/>
          </a:stretch>
        </p:blipFill>
        <p:spPr>
          <a:xfrm>
            <a:off x="734199" y="1600200"/>
            <a:ext cx="4383760" cy="438912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الصلة بالإنتاج الصناعي: قالب القص والتكسير (Die-cut)</a:t>
            </a:r>
          </a:p>
          <a:p>
            <a:pPr marL="0" indent="0">
              <a:buNone/>
            </a:pPr>
            <a:r>
              <a:rPr lang="ar-SA" sz="2000"/>
              <a:t>في المصانع لا تُقص آلاف العبوات باليد، بل بقالب يقص العبوة ويجهّز خطوط طيّها في ضغطة واحدة.</a:t>
            </a:r>
          </a:p>
          <a:p>
            <a:pPr marL="0" indent="0">
              <a:buNone/>
            </a:pPr>
            <a:r>
              <a:rPr lang="ar-SA" sz="2000" b="1"/>
              <a:t>القص: </a:t>
            </a:r>
            <a:r>
              <a:rPr lang="ar-SA" sz="2000"/>
              <a:t>فصل العبوة عن الورق الزائد بشفرة حادة.</a:t>
            </a:r>
          </a:p>
          <a:p>
            <a:pPr marL="0" indent="0">
              <a:buNone/>
            </a:pPr>
            <a:r>
              <a:rPr lang="ar-SA" sz="2000" b="1"/>
              <a:t>التكسير (Creasing): </a:t>
            </a:r>
            <a:r>
              <a:rPr lang="ar-SA" sz="2000"/>
              <a:t>ضغط خط الطي في الورق دون قطعه، حتى يُطوى بسهولة. وهو ما نفعله يدويًا بظهر الشفرة.</a:t>
            </a:r>
          </a:p>
          <a:p>
            <a:pPr marL="0" indent="0">
              <a:buNone/>
            </a:pPr>
            <a:r>
              <a:rPr lang="ar-SA" sz="2000" b="1"/>
              <a:t>كيف يعمل القالب؟</a:t>
            </a:r>
          </a:p>
          <a:p>
            <a:pPr marL="0" indent="0">
              <a:buNone/>
            </a:pPr>
            <a:r>
              <a:rPr lang="ar-SA" sz="2000" b="1"/>
              <a:t>١. </a:t>
            </a:r>
            <a:r>
              <a:rPr lang="ar-SA" sz="2000"/>
              <a:t>يرسم المصمم الدايلاين (Die-line)، وهو رسم العبوة مفرودة: خط متصل للقص، وخط متقطع للطي.</a:t>
            </a:r>
          </a:p>
          <a:p>
            <a:pPr marL="0" indent="0">
              <a:buNone/>
            </a:pPr>
            <a:r>
              <a:rPr lang="ar-SA" sz="2000" b="1"/>
              <a:t>٢. </a:t>
            </a:r>
            <a:r>
              <a:rPr lang="ar-SA" sz="2000"/>
              <a:t>يُصنع القالب: لوح خشبي تُثبَّت فيه شفرات حادة مكان خطوط القص، ومساطر معدنية غير حادة مكان خطوط الطي.</a:t>
            </a:r>
          </a:p>
          <a:p>
            <a:pPr marL="0" indent="0">
              <a:buNone/>
            </a:pPr>
            <a:r>
              <a:rPr lang="ar-SA" sz="2000" b="1"/>
              <a:t>٣. </a:t>
            </a:r>
            <a:r>
              <a:rPr lang="ar-SA" sz="2000"/>
              <a:t>يُكبس القالب على الورق، فتخرج العبوة مقصوصة وخطوطها جاهزة للطي.</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pic>
        <p:nvPicPr>
          <p:cNvPr id="16" name="Picture 15" descr="dc1.png"/>
          <p:cNvPicPr>
            <a:picLocks noChangeAspect="1"/>
          </p:cNvPicPr>
          <p:nvPr/>
        </p:nvPicPr>
        <p:blipFill>
          <a:blip r:embed="rId3"/>
          <a:stretch>
            <a:fillRect/>
          </a:stretch>
        </p:blipFill>
        <p:spPr>
          <a:xfrm>
            <a:off x="457200" y="1726320"/>
            <a:ext cx="4937760" cy="4136879"/>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عناصر المكعّب الثلاثة:</a:t>
            </a:r>
          </a:p>
          <a:p>
            <a:pPr marL="0" indent="0">
              <a:buNone/>
            </a:pPr>
            <a:r>
              <a:rPr lang="ar-SA" sz="2000"/>
              <a:t>أي صندوق يتكوّن من ثلاثة عناصر، وأي تعديل على شكله هو تعديل على واحد منها أو أكثر:</a:t>
            </a:r>
          </a:p>
          <a:p>
            <a:pPr/>
            <a:r>
              <a:rPr lang="ar-SA" sz="2000" b="1"/>
              <a:t>الأوجه (Faces): </a:t>
            </a:r>
            <a:r>
              <a:rPr lang="ar-SA" sz="2000"/>
              <a:t>الأسطح المستوية، وللمكعّب ٦ أوجه. وهي مساحات الطباعة والشعار.</a:t>
            </a:r>
          </a:p>
          <a:p>
            <a:pPr/>
            <a:r>
              <a:rPr lang="ar-SA" sz="2000" b="1"/>
              <a:t>الحواف (Edges): </a:t>
            </a:r>
            <a:r>
              <a:rPr lang="ar-SA" sz="2000"/>
              <a:t>الخطوط التي يلتقي عندها وجهان، وللمكعّب ١٢ حافة. وهي خطوط الطي.</a:t>
            </a:r>
          </a:p>
          <a:p>
            <a:pPr/>
            <a:r>
              <a:rPr lang="ar-SA" sz="2000" b="1"/>
              <a:t>الزوايا (Corners): </a:t>
            </a:r>
            <a:r>
              <a:rPr lang="ar-SA" sz="2000"/>
              <a:t>النقاط التي تلتقي عندها ثلاث حواف، مثل زاوية الطاولة، وللمكعّب ٨ زوايا. وتُسمّى هندسيًا «الرؤوس»، وهي أضعف أجزاء العبوة وأكثرها عرضة للتلف.</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pic>
        <p:nvPicPr>
          <p:cNvPr id="16" name="Picture 15" descr="cover.png"/>
          <p:cNvPicPr>
            <a:picLocks noChangeAspect="1"/>
          </p:cNvPicPr>
          <p:nvPr/>
        </p:nvPicPr>
        <p:blipFill>
          <a:blip r:embed="rId2"/>
          <a:stretch>
            <a:fillRect/>
          </a:stretch>
        </p:blipFill>
        <p:spPr>
          <a:xfrm>
            <a:off x="457200" y="2220096"/>
            <a:ext cx="4937760" cy="3149327"/>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الدايلاين (Die-line):</a:t>
            </a:r>
          </a:p>
          <a:p>
            <a:pPr marL="0" indent="0">
              <a:buNone/>
            </a:pPr>
            <a:r>
              <a:rPr lang="ar-SA" sz="2000"/>
              <a:t>هو العبوة وهي مفرودة قبل طيّها؛ أي الشكل المسطّح الذي نقصّه ثم نطويه ليصبح صندوقًا. ويُسمّى في كتب الهندسة «المِفرَد» (Net). وعند تصميمه نحدد:</a:t>
            </a:r>
          </a:p>
          <a:p>
            <a:pPr/>
            <a:r>
              <a:rPr lang="ar-SA" sz="2000" b="1"/>
              <a:t>ترتيب الأوجه: </a:t>
            </a:r>
            <a:r>
              <a:rPr lang="ar-SA" sz="2000"/>
              <a:t>أي وجه يتصل بأي وجه، بحيث ينغلق الصندوق صحيحًا عند الطي.</a:t>
            </a:r>
          </a:p>
          <a:p>
            <a:pPr/>
            <a:r>
              <a:rPr lang="ar-SA" sz="2000" b="1"/>
              <a:t>الألسنة (Tabs): </a:t>
            </a:r>
            <a:r>
              <a:rPr lang="ar-SA" sz="2000"/>
              <a:t>الأجزاء الصغيرة البارزة من أطراف الأوجه، وهي المعلّمة بحرف T في الصورة.</a:t>
            </a:r>
          </a:p>
          <a:p>
            <a:pPr/>
            <a:r>
              <a:rPr lang="ar-SA" sz="2000" b="1"/>
              <a:t>طريقة الإغلاق: </a:t>
            </a:r>
            <a:r>
              <a:rPr lang="ar-SA" sz="2000"/>
              <a:t>كيف يُقفل الصندوق؛ باللصق أو بالإدخال.</a:t>
            </a:r>
          </a:p>
          <a:p>
            <a:pPr/>
            <a:r>
              <a:rPr lang="ar-SA" sz="2000" b="1"/>
              <a:t>موضع الغطاء: </a:t>
            </a:r>
            <a:r>
              <a:rPr lang="ar-SA" sz="2000"/>
              <a:t>يمكن أن يكون على أي وجه وبأي اتجاه، حسب طريقة عرض المنتج واستخدامه.</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pic>
        <p:nvPicPr>
          <p:cNvPr id="16" name="Picture 15" descr="dc1.png"/>
          <p:cNvPicPr>
            <a:picLocks noChangeAspect="1"/>
          </p:cNvPicPr>
          <p:nvPr/>
        </p:nvPicPr>
        <p:blipFill>
          <a:blip r:embed="rId2"/>
          <a:stretch>
            <a:fillRect/>
          </a:stretch>
        </p:blipFill>
        <p:spPr>
          <a:xfrm>
            <a:off x="457200" y="1726320"/>
            <a:ext cx="4937760" cy="4136879"/>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الألسنة (Tabs): أشكالها ووظائفها</a:t>
            </a:r>
          </a:p>
          <a:p>
            <a:pPr marL="0" indent="0">
              <a:buNone/>
            </a:pPr>
            <a:r>
              <a:rPr lang="ar-SA" sz="2000"/>
              <a:t>اللسان جزء إضافي يبرز من طرف الوجه، يُطوى للداخل ليثبّت الأوجه ببعضها، ولا يظهر من الخارج بعد إغلاق العبوة.</a:t>
            </a:r>
          </a:p>
          <a:p>
            <a:pPr/>
            <a:r>
              <a:rPr lang="ar-SA" sz="2000" b="1"/>
              <a:t>شكله: </a:t>
            </a:r>
            <a:r>
              <a:rPr lang="ar-SA" sz="2000"/>
              <a:t>غالبًا شبه منحرف؛ قاعدته العريضة متصلة بالوجه، وطرفاه مائلان حتى لا يصطدم بالألسنة المجاورة عند الطي.</a:t>
            </a:r>
          </a:p>
          <a:p>
            <a:pPr/>
            <a:r>
              <a:rPr lang="ar-SA" sz="2000" b="1"/>
              <a:t>لسان اللصق (Glue Tab): </a:t>
            </a:r>
            <a:r>
              <a:rPr lang="ar-SA" sz="2000"/>
              <a:t>يُلصق على الوجه المقابل، فيكون الإغلاق دائمًا.</a:t>
            </a:r>
          </a:p>
          <a:p>
            <a:pPr/>
            <a:r>
              <a:rPr lang="ar-SA" sz="2000" b="1"/>
              <a:t>لسان الإدخال (Tuck Flap): </a:t>
            </a:r>
            <a:r>
              <a:rPr lang="ar-SA" sz="2000"/>
              <a:t>يُدخل داخل العبوة دون لصق، فتُفتح وتُغلق أكثر من مرة.</a:t>
            </a:r>
          </a:p>
          <a:p>
            <a:pPr/>
            <a:r>
              <a:rPr lang="ar-SA" sz="2000" b="1"/>
              <a:t>أقفال الطي (Click Lock و Tongue Lock): </a:t>
            </a:r>
            <a:r>
              <a:rPr lang="ar-SA" sz="2000"/>
              <a:t>ألسنة بقصّات خاصة تتشابك مع بعضها فتُقفل العبوة دون غراء.</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
        <p:nvSpPr>
          <p:cNvPr id="16" name="Rectangle 15"/>
          <p:cNvSpPr/>
          <p:nvPr/>
        </p:nvSpPr>
        <p:spPr>
          <a:xfrm>
            <a:off x="1737360" y="3154680"/>
            <a:ext cx="2194560" cy="2194560"/>
          </a:xfrm>
          <a:prstGeom prst="rect">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rapezoid 16"/>
          <p:cNvSpPr/>
          <p:nvPr/>
        </p:nvSpPr>
        <p:spPr>
          <a:xfrm>
            <a:off x="1737360" y="2423160"/>
            <a:ext cx="2194560" cy="731520"/>
          </a:xfrm>
          <a:prstGeom prst="trapezoid">
            <a:avLst/>
          </a:prstGeom>
          <a:solidFill>
            <a:srgbClr val="E7E6E6"/>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1737360" y="3154680"/>
            <a:ext cx="2194560" cy="0"/>
          </a:xfrm>
          <a:prstGeom prst="line">
            <a:avLst/>
          </a:prstGeom>
          <a:ln w="31750">
            <a:solidFill>
              <a:srgbClr val="2E7D32"/>
            </a:solidFill>
            <a:prstDash val="dash"/>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737360" y="2423160"/>
            <a:ext cx="2194560" cy="731520"/>
          </a:xfrm>
          <a:prstGeom prst="rect">
            <a:avLst/>
          </a:prstGeom>
          <a:noFill/>
        </p:spPr>
        <p:txBody>
          <a:bodyPr wrap="square" anchor="ctr">
            <a:spAutoFit/>
          </a:bodyPr>
          <a:lstStyle/>
          <a:p>
            <a:pPr algn="ctr" rtl="1"/>
            <a:r>
              <a:rPr sz="1800" b="1" lang="ar-SA">
                <a:solidFill>
                  <a:srgbClr val="000000"/>
                </a:solidFill>
                <a:latin typeface="Sakkal Majalla"/>
                <a:cs typeface="Sakkal Majalla"/>
              </a:rPr>
              <a:t>لسان</a:t>
            </a:r>
          </a:p>
        </p:txBody>
      </p:sp>
      <p:sp>
        <p:nvSpPr>
          <p:cNvPr id="20" name="TextBox 19"/>
          <p:cNvSpPr txBox="1"/>
          <p:nvPr/>
        </p:nvSpPr>
        <p:spPr>
          <a:xfrm>
            <a:off x="1737360" y="3154680"/>
            <a:ext cx="2194560" cy="2194560"/>
          </a:xfrm>
          <a:prstGeom prst="rect">
            <a:avLst/>
          </a:prstGeom>
          <a:noFill/>
        </p:spPr>
        <p:txBody>
          <a:bodyPr wrap="square" anchor="ctr">
            <a:spAutoFit/>
          </a:bodyPr>
          <a:lstStyle/>
          <a:p>
            <a:pPr algn="ctr" rtl="1"/>
            <a:r>
              <a:rPr sz="2000" b="1" lang="ar-SA">
                <a:solidFill>
                  <a:srgbClr val="000000"/>
                </a:solidFill>
                <a:latin typeface="Sakkal Majalla"/>
                <a:cs typeface="Sakkal Majalla"/>
              </a:rPr>
              <a:t>وجه</a:t>
            </a:r>
          </a:p>
        </p:txBody>
      </p:sp>
      <p:sp>
        <p:nvSpPr>
          <p:cNvPr id="21" name="TextBox 20"/>
          <p:cNvSpPr txBox="1"/>
          <p:nvPr/>
        </p:nvSpPr>
        <p:spPr>
          <a:xfrm>
            <a:off x="457200" y="5486400"/>
            <a:ext cx="4937760" cy="365760"/>
          </a:xfrm>
          <a:prstGeom prst="rect">
            <a:avLst/>
          </a:prstGeom>
          <a:noFill/>
        </p:spPr>
        <p:txBody>
          <a:bodyPr wrap="square" anchor="ctr">
            <a:spAutoFit/>
          </a:bodyPr>
          <a:lstStyle/>
          <a:p>
            <a:pPr algn="ctr" rtl="1"/>
            <a:r>
              <a:rPr sz="1500" b="0" lang="ar-SA">
                <a:solidFill>
                  <a:srgbClr val="2E7D32"/>
                </a:solidFill>
                <a:latin typeface="Sakkal Majalla"/>
                <a:cs typeface="Sakkal Majalla"/>
              </a:rPr>
              <a:t>خط طي (متقطع) بين اللسان والوجه</a:t>
            </a:r>
          </a:p>
        </p:txBody>
      </p:sp>
      <p:sp>
        <p:nvSpPr>
          <p:cNvPr id="22" name="TextBox 21"/>
          <p:cNvSpPr txBox="1"/>
          <p:nvPr/>
        </p:nvSpPr>
        <p:spPr>
          <a:xfrm>
            <a:off x="457200" y="5852159"/>
            <a:ext cx="4937760" cy="365760"/>
          </a:xfrm>
          <a:prstGeom prst="rect">
            <a:avLst/>
          </a:prstGeom>
          <a:noFill/>
        </p:spPr>
        <p:txBody>
          <a:bodyPr wrap="square" anchor="ctr">
            <a:spAutoFit/>
          </a:bodyPr>
          <a:lstStyle/>
          <a:p>
            <a:pPr algn="ctr" rtl="1"/>
            <a:r>
              <a:rPr sz="1500" b="0" lang="ar-SA">
                <a:solidFill>
                  <a:srgbClr val="595959"/>
                </a:solidFill>
                <a:latin typeface="Sakkal Majalla"/>
                <a:cs typeface="Sakkal Majalla"/>
              </a:rPr>
              <a:t>حواف اللسان المائلة تمنع اصطدامه بالألسنة المجاورة</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اتجاه ألياف الورق (Grain Direction):</a:t>
            </a:r>
          </a:p>
          <a:p>
            <a:pPr marL="0" indent="0">
              <a:buNone/>
            </a:pPr>
            <a:r>
              <a:rPr lang="ar-SA" sz="2000" b="1"/>
              <a:t>ما هو؟ </a:t>
            </a:r>
            <a:r>
              <a:rPr lang="ar-SA" sz="2000"/>
              <a:t>الورق مصنوع من ألياف دقيقة جدًا، وأثناء تصنيعه في المصنع تصطف أغلب هذه الألياف في اتجاه واحد، مثل خطوط الخشب.</a:t>
            </a:r>
          </a:p>
          <a:p>
            <a:pPr marL="0" indent="0">
              <a:buNone/>
            </a:pPr>
            <a:r>
              <a:rPr lang="ar-SA" sz="2000" b="1"/>
              <a:t>مثال للتوضيح: </a:t>
            </a:r>
            <a:r>
              <a:rPr lang="ar-SA" sz="2000"/>
              <a:t>تخيّلي حزمة من أعواد المعكرونة النيئة مصفوفة جنب بعض: لو ثنيناها على طول الأعواد تنثني بسهولة، ولو ثنيناها بعرض الأعواد تتكسر. والورق كذلك.</a:t>
            </a:r>
          </a:p>
          <a:p>
            <a:pPr/>
            <a:r>
              <a:rPr lang="ar-SA" sz="2000" b="1"/>
              <a:t>خط الطي على طول الألياف: </a:t>
            </a:r>
            <a:r>
              <a:rPr lang="ar-SA" sz="2000"/>
              <a:t>الطي سهل والخط نظيف ومستقيم (الخط الأخضر في الرسم).</a:t>
            </a:r>
          </a:p>
          <a:p>
            <a:pPr/>
            <a:r>
              <a:rPr lang="ar-SA" sz="2000" b="1"/>
              <a:t>خط الطي بعرض الألياف: </a:t>
            </a:r>
            <a:r>
              <a:rPr lang="ar-SA" sz="2000"/>
              <a:t>الطي أصعب، وقد تتشقق طبقة الطباعة على الخط (الخط الأحمر).</a:t>
            </a:r>
          </a:p>
          <a:p>
            <a:pPr marL="0" indent="0">
              <a:buNone/>
            </a:pPr>
            <a:r>
              <a:rPr lang="ar-SA" sz="2000" b="1"/>
              <a:t>كيف أعرف الاتجاه؟ </a:t>
            </a:r>
            <a:r>
              <a:rPr lang="ar-SA" sz="2000"/>
              <a:t>نقص قطعة صغيرة ونثنيها طولًا ثم عرضًا؛ الاتجاه الأسهل هو اتجاه الألياف.</a:t>
            </a:r>
          </a:p>
          <a:p>
            <a:pPr marL="0" indent="0">
              <a:buNone/>
            </a:pPr>
            <a:r>
              <a:rPr lang="ar-SA" sz="2000" b="1"/>
              <a:t>عند التصميم: </a:t>
            </a:r>
            <a:r>
              <a:rPr lang="ar-SA" sz="2000"/>
              <a:t>نضع الدايلاين على اللوح بحيث تكون أطول خطوط الطي على طول الألياف.</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
        <p:nvSpPr>
          <p:cNvPr id="16" name="Rectangle 15"/>
          <p:cNvSpPr/>
          <p:nvPr/>
        </p:nvSpPr>
        <p:spPr>
          <a:xfrm>
            <a:off x="731520" y="1965960"/>
            <a:ext cx="4389120" cy="2926080"/>
          </a:xfrm>
          <a:prstGeom prst="rect">
            <a:avLst/>
          </a:prstGeom>
          <a:solidFill>
            <a:srgbClr val="FAFAFA"/>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868680" y="2209800"/>
            <a:ext cx="4114800" cy="0"/>
          </a:xfrm>
          <a:prstGeom prst="line">
            <a:avLst/>
          </a:prstGeom>
          <a:ln w="9525">
            <a:solidFill>
              <a:srgbClr val="BFBFBF"/>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68680" y="2453640"/>
            <a:ext cx="4114800" cy="0"/>
          </a:xfrm>
          <a:prstGeom prst="line">
            <a:avLst/>
          </a:prstGeom>
          <a:ln w="9525">
            <a:solidFill>
              <a:srgbClr val="BFBFB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68680" y="2697480"/>
            <a:ext cx="4114800" cy="0"/>
          </a:xfrm>
          <a:prstGeom prst="line">
            <a:avLst/>
          </a:prstGeom>
          <a:ln w="9525">
            <a:solidFill>
              <a:srgbClr val="BFBFB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68680" y="2941320"/>
            <a:ext cx="4114800" cy="0"/>
          </a:xfrm>
          <a:prstGeom prst="line">
            <a:avLst/>
          </a:prstGeom>
          <a:ln w="9525">
            <a:solidFill>
              <a:srgbClr val="BFBFB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68680" y="3185160"/>
            <a:ext cx="4114800" cy="0"/>
          </a:xfrm>
          <a:prstGeom prst="line">
            <a:avLst/>
          </a:prstGeom>
          <a:ln w="9525">
            <a:solidFill>
              <a:srgbClr val="BFBFB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68680" y="3429000"/>
            <a:ext cx="4114800" cy="0"/>
          </a:xfrm>
          <a:prstGeom prst="line">
            <a:avLst/>
          </a:prstGeom>
          <a:ln w="9525">
            <a:solidFill>
              <a:srgbClr val="BFBFB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68680" y="3672840"/>
            <a:ext cx="4114800" cy="0"/>
          </a:xfrm>
          <a:prstGeom prst="line">
            <a:avLst/>
          </a:prstGeom>
          <a:ln w="9525">
            <a:solidFill>
              <a:srgbClr val="BFBFB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68680" y="3916680"/>
            <a:ext cx="4114800" cy="0"/>
          </a:xfrm>
          <a:prstGeom prst="line">
            <a:avLst/>
          </a:prstGeom>
          <a:ln w="9525">
            <a:solidFill>
              <a:srgbClr val="BFBFBF"/>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68680" y="4160520"/>
            <a:ext cx="4114800" cy="0"/>
          </a:xfrm>
          <a:prstGeom prst="line">
            <a:avLst/>
          </a:prstGeom>
          <a:ln w="9525">
            <a:solidFill>
              <a:srgbClr val="BFBFBF"/>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68680" y="4404360"/>
            <a:ext cx="4114800" cy="0"/>
          </a:xfrm>
          <a:prstGeom prst="line">
            <a:avLst/>
          </a:prstGeom>
          <a:ln w="9525">
            <a:solidFill>
              <a:srgbClr val="BFBFBF"/>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68680" y="4648200"/>
            <a:ext cx="4114800" cy="0"/>
          </a:xfrm>
          <a:prstGeom prst="line">
            <a:avLst/>
          </a:prstGeom>
          <a:ln w="9525">
            <a:solidFill>
              <a:srgbClr val="BFBFBF"/>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868680" y="3429000"/>
            <a:ext cx="4114800" cy="0"/>
          </a:xfrm>
          <a:prstGeom prst="line">
            <a:avLst/>
          </a:prstGeom>
          <a:ln w="38100">
            <a:solidFill>
              <a:srgbClr val="2E7D32"/>
            </a:solidFill>
            <a:prstDash val="dash"/>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926080" y="2103120"/>
            <a:ext cx="0" cy="2651759"/>
          </a:xfrm>
          <a:prstGeom prst="line">
            <a:avLst/>
          </a:prstGeom>
          <a:ln w="38100">
            <a:solidFill>
              <a:srgbClr val="C0392B"/>
            </a:solidFill>
            <a:prstDash val="dash"/>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31520" y="4983479"/>
            <a:ext cx="4389120" cy="365760"/>
          </a:xfrm>
          <a:prstGeom prst="rect">
            <a:avLst/>
          </a:prstGeom>
          <a:noFill/>
        </p:spPr>
        <p:txBody>
          <a:bodyPr wrap="square" anchor="ctr">
            <a:spAutoFit/>
          </a:bodyPr>
          <a:lstStyle/>
          <a:p>
            <a:pPr algn="ctr" rtl="1"/>
            <a:r>
              <a:rPr sz="1500" b="0" lang="ar-SA">
                <a:solidFill>
                  <a:srgbClr val="595959"/>
                </a:solidFill>
                <a:latin typeface="Sakkal Majalla"/>
                <a:cs typeface="Sakkal Majalla"/>
              </a:rPr>
              <a:t>الخطوط الرمادية: اتجاه الألياف</a:t>
            </a:r>
          </a:p>
        </p:txBody>
      </p:sp>
      <p:sp>
        <p:nvSpPr>
          <p:cNvPr id="31" name="TextBox 30"/>
          <p:cNvSpPr txBox="1"/>
          <p:nvPr/>
        </p:nvSpPr>
        <p:spPr>
          <a:xfrm>
            <a:off x="731520" y="5349240"/>
            <a:ext cx="4389120" cy="365760"/>
          </a:xfrm>
          <a:prstGeom prst="rect">
            <a:avLst/>
          </a:prstGeom>
          <a:noFill/>
        </p:spPr>
        <p:txBody>
          <a:bodyPr wrap="square" anchor="ctr">
            <a:spAutoFit/>
          </a:bodyPr>
          <a:lstStyle/>
          <a:p>
            <a:pPr algn="ctr" rtl="1"/>
            <a:r>
              <a:rPr sz="1600" b="1" lang="ar-SA">
                <a:solidFill>
                  <a:srgbClr val="2E7D32"/>
                </a:solidFill>
                <a:latin typeface="Sakkal Majalla"/>
                <a:cs typeface="Sakkal Majalla"/>
              </a:rPr>
              <a:t>الخط الأخضر: طيّ مع الألياف، نظيف ✓</a:t>
            </a:r>
          </a:p>
        </p:txBody>
      </p:sp>
      <p:sp>
        <p:nvSpPr>
          <p:cNvPr id="32" name="TextBox 31"/>
          <p:cNvSpPr txBox="1"/>
          <p:nvPr/>
        </p:nvSpPr>
        <p:spPr>
          <a:xfrm>
            <a:off x="731520" y="5715000"/>
            <a:ext cx="4389120" cy="365760"/>
          </a:xfrm>
          <a:prstGeom prst="rect">
            <a:avLst/>
          </a:prstGeom>
          <a:noFill/>
        </p:spPr>
        <p:txBody>
          <a:bodyPr wrap="square" anchor="ctr">
            <a:spAutoFit/>
          </a:bodyPr>
          <a:lstStyle/>
          <a:p>
            <a:pPr algn="ctr" rtl="1"/>
            <a:r>
              <a:rPr sz="1600" b="1" lang="ar-SA">
                <a:solidFill>
                  <a:srgbClr val="C0392B"/>
                </a:solidFill>
                <a:latin typeface="Sakkal Majalla"/>
                <a:cs typeface="Sakkal Majalla"/>
              </a:rPr>
              <a:t>الخط الأحمر: طيّ عكس الألياف، قد يتشقق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سماكة الورق في الدايلاين:</a:t>
            </a:r>
          </a:p>
          <a:p>
            <a:pPr marL="0" indent="0">
              <a:buNone/>
            </a:pPr>
            <a:r>
              <a:rPr lang="ar-SA" sz="2000" b="1"/>
              <a:t>المشكلة: </a:t>
            </a:r>
            <a:r>
              <a:rPr lang="ar-SA" sz="2000"/>
              <a:t>الورق المقوّى له سماكة، مثل الكرتون. فإذا رسمنا كل الأوجه بنفس المقاس تمامًا، لن تنطبق عند الطي: يظهر انتفاخ أو فتحات عند الحواف.</a:t>
            </a:r>
          </a:p>
          <a:p>
            <a:pPr marL="0" indent="0">
              <a:buNone/>
            </a:pPr>
            <a:r>
              <a:rPr lang="ar-SA" sz="2000" b="1"/>
              <a:t>مثال للتوضيح: </a:t>
            </a:r>
            <a:r>
              <a:rPr lang="ar-SA" sz="2000"/>
              <a:t>غلاف الكتاب أعرض قليلًا من صفحاته لأنه يلف حولها؛ ولو كان بنفس مقاسها لما أغلق. والعبوة كذلك.</a:t>
            </a:r>
          </a:p>
          <a:p>
            <a:pPr/>
            <a:r>
              <a:rPr lang="ar-SA" sz="2000" b="1"/>
              <a:t>الجزء الذي يدخل للداخل (كلسان الإدخال): </a:t>
            </a:r>
            <a:r>
              <a:rPr lang="ar-SA" sz="2000"/>
              <a:t>نصغّره قليلًا، بقدر سماكة الورق تقريبًا، حتى يدخل بسهولة.</a:t>
            </a:r>
          </a:p>
          <a:p>
            <a:pPr/>
            <a:r>
              <a:rPr lang="ar-SA" sz="2000" b="1"/>
              <a:t>الجزء الذي يلف من الخارج: </a:t>
            </a:r>
            <a:r>
              <a:rPr lang="ar-SA" sz="2000"/>
              <a:t>نكبّره قليلًا لأنه يحيط بسماكة الورق الذي تحته.</a:t>
            </a:r>
          </a:p>
          <a:p>
            <a:pPr/>
            <a:r>
              <a:rPr lang="ar-SA" sz="2000" b="1"/>
              <a:t>أطراف الألسنة: </a:t>
            </a:r>
            <a:r>
              <a:rPr lang="ar-SA" sz="2000"/>
              <a:t>نقصها بميل حتى لا تحتك بخطوط الطي المجاورة.</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
        <p:nvSpPr>
          <p:cNvPr id="16" name="Rectangle 15"/>
          <p:cNvSpPr/>
          <p:nvPr/>
        </p:nvSpPr>
        <p:spPr>
          <a:xfrm>
            <a:off x="1371600" y="2148840"/>
            <a:ext cx="3108960" cy="2377440"/>
          </a:xfrm>
          <a:prstGeom prst="rect">
            <a:avLst/>
          </a:prstGeom>
          <a:noFill/>
          <a:ln w="508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536192" y="2313432"/>
            <a:ext cx="2779776" cy="2048256"/>
          </a:xfrm>
          <a:prstGeom prst="rect">
            <a:avLst/>
          </a:prstGeom>
          <a:noFill/>
          <a:ln w="508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71600" y="1691640"/>
            <a:ext cx="3108960" cy="365760"/>
          </a:xfrm>
          <a:prstGeom prst="rect">
            <a:avLst/>
          </a:prstGeom>
          <a:noFill/>
        </p:spPr>
        <p:txBody>
          <a:bodyPr wrap="square" anchor="ctr">
            <a:spAutoFit/>
          </a:bodyPr>
          <a:lstStyle/>
          <a:p>
            <a:pPr algn="ctr" rtl="1"/>
            <a:r>
              <a:rPr sz="1500" b="0" lang="ar-SA">
                <a:solidFill>
                  <a:srgbClr val="595959"/>
                </a:solidFill>
                <a:latin typeface="Sakkal Majalla"/>
                <a:cs typeface="Sakkal Majalla"/>
              </a:rPr>
              <a:t>مقطع في عبوة من الأعلى</a:t>
            </a:r>
          </a:p>
        </p:txBody>
      </p:sp>
      <p:sp>
        <p:nvSpPr>
          <p:cNvPr id="19" name="TextBox 18"/>
          <p:cNvSpPr txBox="1"/>
          <p:nvPr/>
        </p:nvSpPr>
        <p:spPr>
          <a:xfrm>
            <a:off x="457200" y="4709160"/>
            <a:ext cx="4937760" cy="457200"/>
          </a:xfrm>
          <a:prstGeom prst="rect">
            <a:avLst/>
          </a:prstGeom>
          <a:noFill/>
        </p:spPr>
        <p:txBody>
          <a:bodyPr wrap="square" anchor="ctr">
            <a:spAutoFit/>
          </a:bodyPr>
          <a:lstStyle/>
          <a:p>
            <a:pPr algn="ctr" rtl="1"/>
            <a:r>
              <a:rPr sz="1500" b="1" lang="ar-SA">
                <a:solidFill>
                  <a:srgbClr val="000000"/>
                </a:solidFill>
                <a:latin typeface="Sakkal Majalla"/>
                <a:cs typeface="Sakkal Majalla"/>
              </a:rPr>
              <a:t>الخط الأسود: الجزء الخارجي، يلف حول غيره فيحتاج مقاسًا أكبر</a:t>
            </a:r>
          </a:p>
        </p:txBody>
      </p:sp>
      <p:sp>
        <p:nvSpPr>
          <p:cNvPr id="20" name="TextBox 19"/>
          <p:cNvSpPr txBox="1"/>
          <p:nvPr/>
        </p:nvSpPr>
        <p:spPr>
          <a:xfrm>
            <a:off x="457200" y="5166360"/>
            <a:ext cx="4937760" cy="457200"/>
          </a:xfrm>
          <a:prstGeom prst="rect">
            <a:avLst/>
          </a:prstGeom>
          <a:noFill/>
        </p:spPr>
        <p:txBody>
          <a:bodyPr wrap="square" anchor="ctr">
            <a:spAutoFit/>
          </a:bodyPr>
          <a:lstStyle/>
          <a:p>
            <a:pPr algn="ctr" rtl="1"/>
            <a:r>
              <a:rPr sz="1500" b="1" lang="ar-SA">
                <a:solidFill>
                  <a:srgbClr val="2E7D32"/>
                </a:solidFill>
                <a:latin typeface="Sakkal Majalla"/>
                <a:cs typeface="Sakkal Majalla"/>
              </a:rPr>
              <a:t>الخط الأخضر: الجزء الداخلي، يحتاج مقاسًا أصغر</a:t>
            </a:r>
          </a:p>
        </p:txBody>
      </p:sp>
      <p:sp>
        <p:nvSpPr>
          <p:cNvPr id="21" name="TextBox 20"/>
          <p:cNvSpPr txBox="1"/>
          <p:nvPr/>
        </p:nvSpPr>
        <p:spPr>
          <a:xfrm>
            <a:off x="457200" y="5623560"/>
            <a:ext cx="4937760" cy="457200"/>
          </a:xfrm>
          <a:prstGeom prst="rect">
            <a:avLst/>
          </a:prstGeom>
          <a:noFill/>
        </p:spPr>
        <p:txBody>
          <a:bodyPr wrap="square" anchor="ctr">
            <a:spAutoFit/>
          </a:bodyPr>
          <a:lstStyle/>
          <a:p>
            <a:pPr algn="ctr" rtl="1"/>
            <a:r>
              <a:rPr sz="1500" b="0" lang="ar-SA">
                <a:solidFill>
                  <a:srgbClr val="595959"/>
                </a:solidFill>
                <a:latin typeface="Sakkal Majalla"/>
                <a:cs typeface="Sakkal Majalla"/>
              </a:rPr>
              <a:t>الفرق بينهما = سماكة الورق</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اتجاه الطي: للداخل أو للخارج</a:t>
            </a:r>
          </a:p>
          <a:p>
            <a:pPr marL="0" indent="0">
              <a:buNone/>
            </a:pPr>
            <a:r>
              <a:rPr lang="ar-SA" sz="2000"/>
              <a:t>كل خط طي في الدايلاين يُطوى في أحد اتجاهين، ولكل اتجاه اسم ورمز:</a:t>
            </a:r>
          </a:p>
          <a:p>
            <a:pPr/>
            <a:r>
              <a:rPr lang="ar-SA" sz="2000" b="1"/>
              <a:t>طيّة الوادي (Valley Fold): </a:t>
            </a:r>
            <a:r>
              <a:rPr lang="ar-SA" sz="2000"/>
              <a:t>نضع الورقة على الطاولة ونرفع طرفيها للأعلى، فيبقى خط الطي في الأسفل، مثل كتاب مفتوح أو حرف V. رمزها خط متقطع.</a:t>
            </a:r>
          </a:p>
          <a:p>
            <a:pPr/>
            <a:r>
              <a:rPr lang="ar-SA" sz="2000" b="1"/>
              <a:t>طيّة الجبل (Mountain Fold): </a:t>
            </a:r>
            <a:r>
              <a:rPr lang="ar-SA" sz="2000"/>
              <a:t>نرفع خط الطي نفسه للأعلى وينزل الطرفان، مثل الخيمة أو سقف البيت أو حرف V مقلوب. رمزها شرطة ونقطة.</a:t>
            </a:r>
          </a:p>
          <a:p>
            <a:pPr marL="0" indent="0">
              <a:buNone/>
            </a:pPr>
            <a:r>
              <a:rPr lang="ar-SA" sz="2000" b="1"/>
              <a:t>لماذا نهتم؟ </a:t>
            </a:r>
            <a:r>
              <a:rPr lang="ar-SA" sz="2000"/>
              <a:t>في أغلب الصناديق تُطوى كل الخطوط في اتجاه واحد. لكن في بعض الأشكال، مثل تقنية الضغط، يُطوى خط المنتصف عكس باقي الخطوط، ولو طُوي خطأً لن يتكوّن الشكل.</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cxnSp>
        <p:nvCxnSpPr>
          <p:cNvPr id="16" name="Connector 15"/>
          <p:cNvCxnSpPr/>
          <p:nvPr/>
        </p:nvCxnSpPr>
        <p:spPr>
          <a:xfrm>
            <a:off x="1005840" y="1874519"/>
            <a:ext cx="822960" cy="1005841"/>
          </a:xfrm>
          <a:prstGeom prst="line">
            <a:avLst/>
          </a:prstGeom>
          <a:ln w="381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1828800" y="1874519"/>
            <a:ext cx="822960" cy="1005841"/>
          </a:xfrm>
          <a:prstGeom prst="line">
            <a:avLst/>
          </a:prstGeom>
          <a:ln w="38100">
            <a:solidFill>
              <a:srgbClr val="00000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731520" y="2971800"/>
            <a:ext cx="2194560" cy="411480"/>
          </a:xfrm>
          <a:prstGeom prst="rect">
            <a:avLst/>
          </a:prstGeom>
          <a:noFill/>
        </p:spPr>
        <p:txBody>
          <a:bodyPr wrap="square" anchor="ctr">
            <a:spAutoFit/>
          </a:bodyPr>
          <a:lstStyle/>
          <a:p>
            <a:pPr algn="ctr" rtl="1"/>
            <a:r>
              <a:rPr sz="1700" b="1" lang="ar-SA">
                <a:solidFill>
                  <a:srgbClr val="000000"/>
                </a:solidFill>
                <a:latin typeface="Sakkal Majalla"/>
                <a:cs typeface="Sakkal Majalla"/>
              </a:rPr>
              <a:t>وادٍ: مثل كتاب مفتوح</a:t>
            </a:r>
          </a:p>
        </p:txBody>
      </p:sp>
      <p:cxnSp>
        <p:nvCxnSpPr>
          <p:cNvPr id="19" name="Connector 18"/>
          <p:cNvCxnSpPr/>
          <p:nvPr/>
        </p:nvCxnSpPr>
        <p:spPr>
          <a:xfrm flipV="1">
            <a:off x="1005840" y="4069079"/>
            <a:ext cx="822960" cy="1005840"/>
          </a:xfrm>
          <a:prstGeom prst="line">
            <a:avLst/>
          </a:prstGeom>
          <a:ln w="381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828800" y="4069079"/>
            <a:ext cx="822960" cy="1005840"/>
          </a:xfrm>
          <a:prstGeom prst="line">
            <a:avLst/>
          </a:prstGeom>
          <a:ln w="38100">
            <a:solidFill>
              <a:srgbClr val="00000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31520" y="5166359"/>
            <a:ext cx="2194560" cy="411480"/>
          </a:xfrm>
          <a:prstGeom prst="rect">
            <a:avLst/>
          </a:prstGeom>
          <a:noFill/>
        </p:spPr>
        <p:txBody>
          <a:bodyPr wrap="square" anchor="ctr">
            <a:spAutoFit/>
          </a:bodyPr>
          <a:lstStyle/>
          <a:p>
            <a:pPr algn="ctr" rtl="1"/>
            <a:r>
              <a:rPr sz="1700" b="1" lang="ar-SA">
                <a:solidFill>
                  <a:srgbClr val="000000"/>
                </a:solidFill>
                <a:latin typeface="Sakkal Majalla"/>
                <a:cs typeface="Sakkal Majalla"/>
              </a:rPr>
              <a:t>جبل: مثل الخيمة</a:t>
            </a:r>
          </a:p>
        </p:txBody>
      </p:sp>
      <p:cxnSp>
        <p:nvCxnSpPr>
          <p:cNvPr id="22" name="Connector 21"/>
          <p:cNvCxnSpPr/>
          <p:nvPr/>
        </p:nvCxnSpPr>
        <p:spPr>
          <a:xfrm>
            <a:off x="3200400" y="2377439"/>
            <a:ext cx="1463040" cy="0"/>
          </a:xfrm>
          <a:prstGeom prst="line">
            <a:avLst/>
          </a:prstGeom>
          <a:ln w="38100">
            <a:solidFill>
              <a:srgbClr val="000000"/>
            </a:solidFill>
            <a:prstDash val="dash"/>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017520" y="2514599"/>
            <a:ext cx="1828800" cy="365760"/>
          </a:xfrm>
          <a:prstGeom prst="rect">
            <a:avLst/>
          </a:prstGeom>
          <a:noFill/>
        </p:spPr>
        <p:txBody>
          <a:bodyPr wrap="square" anchor="ctr">
            <a:spAutoFit/>
          </a:bodyPr>
          <a:lstStyle/>
          <a:p>
            <a:pPr algn="ctr" rtl="1"/>
            <a:r>
              <a:rPr sz="1400" b="0" lang="ar-SA">
                <a:solidFill>
                  <a:srgbClr val="595959"/>
                </a:solidFill>
                <a:latin typeface="Sakkal Majalla"/>
                <a:cs typeface="Sakkal Majalla"/>
              </a:rPr>
              <a:t>رمزه: خط متقطع</a:t>
            </a:r>
          </a:p>
        </p:txBody>
      </p:sp>
      <p:cxnSp>
        <p:nvCxnSpPr>
          <p:cNvPr id="24" name="Connector 23"/>
          <p:cNvCxnSpPr/>
          <p:nvPr/>
        </p:nvCxnSpPr>
        <p:spPr>
          <a:xfrm>
            <a:off x="3200400" y="4571999"/>
            <a:ext cx="1463040" cy="0"/>
          </a:xfrm>
          <a:prstGeom prst="line">
            <a:avLst/>
          </a:prstGeom>
          <a:ln w="38100">
            <a:solidFill>
              <a:srgbClr val="000000"/>
            </a:solidFill>
            <a:prstDash val="dashDot"/>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017520" y="4709159"/>
            <a:ext cx="1828800" cy="365760"/>
          </a:xfrm>
          <a:prstGeom prst="rect">
            <a:avLst/>
          </a:prstGeom>
          <a:noFill/>
        </p:spPr>
        <p:txBody>
          <a:bodyPr wrap="square" anchor="ctr">
            <a:spAutoFit/>
          </a:bodyPr>
          <a:lstStyle/>
          <a:p>
            <a:pPr algn="ctr" rtl="1"/>
            <a:r>
              <a:rPr sz="1400" b="0" lang="ar-SA">
                <a:solidFill>
                  <a:srgbClr val="595959"/>
                </a:solidFill>
                <a:latin typeface="Sakkal Majalla"/>
                <a:cs typeface="Sakkal Majalla"/>
              </a:rPr>
              <a:t>رمزه: شرطة ونقطة</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كيف نغيّر شكل المكعّب؟ (Deforming a Cube)</a:t>
            </a:r>
          </a:p>
          <a:p>
            <a:pPr marL="0" indent="0">
              <a:buNone/>
            </a:pPr>
            <a:r>
              <a:rPr lang="ar-SA" sz="2000"/>
              <a:t>نبدأ بصندوق مكعّب عادي، ونغيّر شكله بطريقة مدروسة لنحصل على عبوة جديدة. وللتفكير في ذلك ثلاث طرق:</a:t>
            </a:r>
          </a:p>
          <a:p>
            <a:pPr marL="0" indent="0">
              <a:buNone/>
            </a:pPr>
            <a:r>
              <a:rPr lang="ar-SA" sz="2000" b="1"/>
              <a:t>١. القطع: </a:t>
            </a:r>
            <a:r>
              <a:rPr lang="ar-SA" sz="2000"/>
              <a:t>نتخيل المكعّب قطعة صابون أو جبن صلبة، ونقطع منها جزءًا بالسكين: نميل السطح العلوي، أو نشطف حافة، أو نشطف زاوية. هنا يصغر الشكل ويظهر سطح جديد مكان القطع.</a:t>
            </a:r>
          </a:p>
          <a:p>
            <a:pPr marL="0" indent="0">
              <a:buNone/>
            </a:pPr>
            <a:r>
              <a:rPr lang="ar-SA" sz="2000" b="1"/>
              <a:t>٢. الشدّ والضغط واللفّ: </a:t>
            </a:r>
            <a:r>
              <a:rPr lang="ar-SA" sz="2000"/>
              <a:t>نتخيل المكعّب إسفنجة: نشدّها فتميل، أو نضغطها فتنثني، أو نلفّها فتلتوي. هنا لا نقطع شيئًا، بل يتغير ميلان الأوجه فقط.</a:t>
            </a:r>
          </a:p>
          <a:p>
            <a:pPr marL="0" indent="0">
              <a:buNone/>
            </a:pPr>
            <a:r>
              <a:rPr lang="ar-SA" sz="2000" b="1"/>
              <a:t>٣. تقويس الحواف: </a:t>
            </a:r>
            <a:r>
              <a:rPr lang="ar-SA" sz="2000"/>
              <a:t>نرسم خطوط الطي منحنية بدل المستقيمة، فتتقوّس الأوجه وتصبح العبوة ناعمة.</a:t>
            </a:r>
          </a:p>
          <a:p>
            <a:pPr marL="0" indent="0">
              <a:buNone/>
            </a:pPr>
            <a:r>
              <a:rPr lang="ar-SA" sz="2000"/>
              <a:t>الصور يسارًا: مثال لكل طريقة بالترتيب.</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pic>
        <p:nvPicPr>
          <p:cNvPr id="16" name="Picture 15" descr="face.png"/>
          <p:cNvPicPr>
            <a:picLocks noChangeAspect="1"/>
          </p:cNvPicPr>
          <p:nvPr/>
        </p:nvPicPr>
        <p:blipFill>
          <a:blip r:embed="rId2"/>
          <a:stretch>
            <a:fillRect/>
          </a:stretch>
        </p:blipFill>
        <p:spPr>
          <a:xfrm>
            <a:off x="1872699" y="1600200"/>
            <a:ext cx="2106761" cy="2322576"/>
          </a:xfrm>
          <a:prstGeom prst="rect">
            <a:avLst/>
          </a:prstGeom>
        </p:spPr>
      </p:pic>
      <p:pic>
        <p:nvPicPr>
          <p:cNvPr id="17" name="Picture 16" descr="stretch-edge.png"/>
          <p:cNvPicPr>
            <a:picLocks noChangeAspect="1"/>
          </p:cNvPicPr>
          <p:nvPr/>
        </p:nvPicPr>
        <p:blipFill>
          <a:blip r:embed="rId3"/>
          <a:stretch>
            <a:fillRect/>
          </a:stretch>
        </p:blipFill>
        <p:spPr>
          <a:xfrm>
            <a:off x="783975" y="4105656"/>
            <a:ext cx="1723888" cy="1883664"/>
          </a:xfrm>
          <a:prstGeom prst="rect">
            <a:avLst/>
          </a:prstGeom>
        </p:spPr>
      </p:pic>
      <p:pic>
        <p:nvPicPr>
          <p:cNvPr id="18" name="Picture 17" descr="single.png"/>
          <p:cNvPicPr>
            <a:picLocks noChangeAspect="1"/>
          </p:cNvPicPr>
          <p:nvPr/>
        </p:nvPicPr>
        <p:blipFill>
          <a:blip r:embed="rId4"/>
          <a:stretch>
            <a:fillRect/>
          </a:stretch>
        </p:blipFill>
        <p:spPr>
          <a:xfrm>
            <a:off x="3017520" y="4108109"/>
            <a:ext cx="2377440" cy="1878757"/>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إمالة السطح العلوي (Shaving a Face):</a:t>
            </a:r>
          </a:p>
          <a:p>
            <a:pPr marL="0" indent="0">
              <a:buNone/>
            </a:pPr>
            <a:r>
              <a:rPr lang="ar-SA" sz="2000" b="1"/>
              <a:t>الفكرة ببساطة: </a:t>
            </a:r>
            <a:r>
              <a:rPr lang="ar-SA" sz="2000"/>
              <a:t>نتخيل مكعّب جبن ونقطع رأسه بالسكين قطعًا مائلًا، فيصبح السطح العلوي منحدرًا مثل السقف المائل.</a:t>
            </a:r>
          </a:p>
          <a:p>
            <a:pPr marL="0" indent="0">
              <a:buNone/>
            </a:pPr>
            <a:r>
              <a:rPr lang="ar-SA" sz="2000" b="1"/>
              <a:t>ماذا يتغير؟ </a:t>
            </a:r>
            <a:r>
              <a:rPr lang="ar-SA" sz="2000"/>
              <a:t>الجدار الأمامي يقصر والخلفي يبقى طويلًا، فيصبح الجداران الجانبيان شبه منحرف (ضلع أطول من الآخر)، ويصبح السطح العلوي مستطيلًا أطول من القاعدة لأنه مائل.</a:t>
            </a:r>
          </a:p>
          <a:p>
            <a:pPr marL="0" indent="0">
              <a:buNone/>
            </a:pPr>
            <a:r>
              <a:rPr lang="ar-SA" sz="2000" b="1"/>
              <a:t>الاستخدام في التغليف: </a:t>
            </a:r>
            <a:r>
              <a:rPr lang="ar-SA" sz="2000"/>
              <a:t>السطح المائل يصبح واجهة للشعار أو المنتج تُقرأ بسهولة من فوق الرف.</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pic>
        <p:nvPicPr>
          <p:cNvPr id="16" name="Picture 15" descr="face.png"/>
          <p:cNvPicPr>
            <a:picLocks noChangeAspect="1"/>
          </p:cNvPicPr>
          <p:nvPr/>
        </p:nvPicPr>
        <p:blipFill>
          <a:blip r:embed="rId3"/>
          <a:stretch>
            <a:fillRect/>
          </a:stretch>
        </p:blipFill>
        <p:spPr>
          <a:xfrm>
            <a:off x="1287948" y="1600200"/>
            <a:ext cx="3276262" cy="3611879"/>
          </a:xfrm>
          <a:prstGeom prst="rect">
            <a:avLst/>
          </a:prstGeom>
        </p:spPr>
      </p:pic>
      <p:sp>
        <p:nvSpPr>
          <p:cNvPr id="17" name="TextBox 16"/>
          <p:cNvSpPr txBox="1"/>
          <p:nvPr/>
        </p:nvSpPr>
        <p:spPr>
          <a:xfrm>
            <a:off x="457200" y="5257800"/>
            <a:ext cx="4937760" cy="347472"/>
          </a:xfrm>
          <a:prstGeom prst="rect">
            <a:avLst/>
          </a:prstGeom>
          <a:noFill/>
        </p:spPr>
        <p:txBody>
          <a:bodyPr wrap="square" anchor="ctr">
            <a:spAutoFit/>
          </a:bodyPr>
          <a:lstStyle/>
          <a:p>
            <a:pPr algn="ctr" rtl="1"/>
            <a:r>
              <a:rPr sz="1500" b="0" lang="ar-SA">
                <a:solidFill>
                  <a:srgbClr val="595959"/>
                </a:solidFill>
                <a:latin typeface="Sakkal Majalla"/>
                <a:cs typeface="Sakkal Majalla"/>
              </a:rPr>
              <a:t>في الصورة: الدايلاين، والعبوة بعد الطي</a:t>
            </a:r>
          </a:p>
        </p:txBody>
      </p:sp>
      <p:sp>
        <p:nvSpPr>
          <p:cNvPr id="18" name="TextBox 17"/>
          <p:cNvSpPr txBox="1"/>
          <p:nvPr/>
        </p:nvSpPr>
        <p:spPr>
          <a:xfrm>
            <a:off x="457200" y="5605272"/>
            <a:ext cx="4937760" cy="347472"/>
          </a:xfrm>
          <a:prstGeom prst="rect">
            <a:avLst/>
          </a:prstGeom>
          <a:noFill/>
        </p:spPr>
        <p:txBody>
          <a:bodyPr wrap="square" anchor="ctr">
            <a:spAutoFit/>
          </a:bodyPr>
          <a:lstStyle/>
          <a:p>
            <a:pPr algn="ctr" rtl="1"/>
            <a:r>
              <a:rPr sz="1600" b="1" lang="ar-SA">
                <a:solidFill>
                  <a:srgbClr val="000000"/>
                </a:solidFill>
                <a:latin typeface="Sakkal Majalla"/>
                <a:cs typeface="Sakkal Majalla"/>
              </a:rPr>
              <a:t>الطريقة: القطع، عدد الأوجه: ٦ أوجه</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شطف حافة (Shaving an Edge):</a:t>
            </a:r>
          </a:p>
          <a:p>
            <a:pPr marL="0" indent="0">
              <a:buNone/>
            </a:pPr>
            <a:r>
              <a:rPr lang="ar-SA" sz="2000" b="1"/>
              <a:t>الفكرة ببساطة: </a:t>
            </a:r>
            <a:r>
              <a:rPr lang="ar-SA" sz="2000"/>
              <a:t>نقطع إحدى الحواف الحادة قطعًا مائلًا صغيرًا، مثل حافة الطاولة المشطوفة، فيظهر مكانها سطح جديد ضيق.</a:t>
            </a:r>
          </a:p>
          <a:p>
            <a:pPr marL="0" indent="0">
              <a:buNone/>
            </a:pPr>
            <a:r>
              <a:rPr lang="ar-SA" sz="2000" b="1"/>
              <a:t>ماذا يتغير؟ </a:t>
            </a:r>
            <a:r>
              <a:rPr lang="ar-SA" sz="2000"/>
              <a:t>يُضاف في الدايلاين شريط مستطيل جديد بين الوجهين، ويُقص من كل جدار جانبي زاوية، فيصبح شكله خماسيًا.</a:t>
            </a:r>
          </a:p>
          <a:p>
            <a:pPr marL="0" indent="0">
              <a:buNone/>
            </a:pPr>
            <a:r>
              <a:rPr lang="ar-SA" sz="2000" b="1"/>
              <a:t>الاستخدام في التغليف: </a:t>
            </a:r>
            <a:r>
              <a:rPr lang="ar-SA" sz="2000"/>
              <a:t>السطح الجديد مكان لمعلومة أو لون مميز، ويجعل العبوة أنعم، فيناسب علب الهدايا والعطور.</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pic>
        <p:nvPicPr>
          <p:cNvPr id="16" name="Picture 15" descr="edge.png"/>
          <p:cNvPicPr>
            <a:picLocks noChangeAspect="1"/>
          </p:cNvPicPr>
          <p:nvPr/>
        </p:nvPicPr>
        <p:blipFill>
          <a:blip r:embed="rId3"/>
          <a:stretch>
            <a:fillRect/>
          </a:stretch>
        </p:blipFill>
        <p:spPr>
          <a:xfrm>
            <a:off x="1254668" y="1600200"/>
            <a:ext cx="3342823" cy="3611879"/>
          </a:xfrm>
          <a:prstGeom prst="rect">
            <a:avLst/>
          </a:prstGeom>
        </p:spPr>
      </p:pic>
      <p:sp>
        <p:nvSpPr>
          <p:cNvPr id="17" name="TextBox 16"/>
          <p:cNvSpPr txBox="1"/>
          <p:nvPr/>
        </p:nvSpPr>
        <p:spPr>
          <a:xfrm>
            <a:off x="457200" y="5257800"/>
            <a:ext cx="4937760" cy="347472"/>
          </a:xfrm>
          <a:prstGeom prst="rect">
            <a:avLst/>
          </a:prstGeom>
          <a:noFill/>
        </p:spPr>
        <p:txBody>
          <a:bodyPr wrap="square" anchor="ctr">
            <a:spAutoFit/>
          </a:bodyPr>
          <a:lstStyle/>
          <a:p>
            <a:pPr algn="ctr" rtl="1"/>
            <a:r>
              <a:rPr sz="1500" b="0" lang="ar-SA">
                <a:solidFill>
                  <a:srgbClr val="595959"/>
                </a:solidFill>
                <a:latin typeface="Sakkal Majalla"/>
                <a:cs typeface="Sakkal Majalla"/>
              </a:rPr>
              <a:t>في الصورة: الدايلاين، والعبوة بعد الطي</a:t>
            </a:r>
          </a:p>
        </p:txBody>
      </p:sp>
      <p:sp>
        <p:nvSpPr>
          <p:cNvPr id="18" name="TextBox 17"/>
          <p:cNvSpPr txBox="1"/>
          <p:nvPr/>
        </p:nvSpPr>
        <p:spPr>
          <a:xfrm>
            <a:off x="457200" y="5605272"/>
            <a:ext cx="4937760" cy="347472"/>
          </a:xfrm>
          <a:prstGeom prst="rect">
            <a:avLst/>
          </a:prstGeom>
          <a:noFill/>
        </p:spPr>
        <p:txBody>
          <a:bodyPr wrap="square" anchor="ctr">
            <a:spAutoFit/>
          </a:bodyPr>
          <a:lstStyle/>
          <a:p>
            <a:pPr algn="ctr" rtl="1"/>
            <a:r>
              <a:rPr sz="1600" b="1" lang="ar-SA">
                <a:solidFill>
                  <a:srgbClr val="000000"/>
                </a:solidFill>
                <a:latin typeface="Sakkal Majalla"/>
                <a:cs typeface="Sakkal Majalla"/>
              </a:rPr>
              <a:t>الطريقة: القطع، عدد الأوجه: ٧ أوجه</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شطف زاوية (Shaving a Corner):</a:t>
            </a:r>
          </a:p>
          <a:p>
            <a:pPr marL="0" indent="0">
              <a:buNone/>
            </a:pPr>
            <a:r>
              <a:rPr lang="ar-SA" sz="2000" b="1"/>
              <a:t>الفكرة ببساطة: </a:t>
            </a:r>
            <a:r>
              <a:rPr lang="ar-SA" sz="2000"/>
              <a:t>نقطع رأس إحدى زوايا المكعّب بقطعة صغيرة، فيظهر مكانها سطح على شكل مثلث. وإذا قطعنا المسافة نفسها على الحواف الثلاث كان المثلث متساوي الأضلاع.</a:t>
            </a:r>
          </a:p>
          <a:p>
            <a:pPr marL="0" indent="0">
              <a:buNone/>
            </a:pPr>
            <a:r>
              <a:rPr lang="ar-SA" sz="2000" b="1"/>
              <a:t>ماذا يتغير؟ </a:t>
            </a:r>
            <a:r>
              <a:rPr lang="ar-SA" sz="2000"/>
              <a:t>الأوجه الثلاثة التي كانت تلتقي عند الزاوية يُقص من كل منها زاوية صغيرة فتصبح خماسية، ويُضاف مثلث في الدايلاين.</a:t>
            </a:r>
          </a:p>
          <a:p>
            <a:pPr marL="0" indent="0">
              <a:buNone/>
            </a:pPr>
            <a:r>
              <a:rPr lang="ar-SA" sz="2000" b="1"/>
              <a:t>الاستخدام في التغليف: </a:t>
            </a:r>
            <a:r>
              <a:rPr lang="ar-SA" sz="2000"/>
              <a:t>المثلث مكان مميز للشعار، ويمكن إيقاف العبوة عليه فتبدو كأنها منحوتة.</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pic>
        <p:nvPicPr>
          <p:cNvPr id="16" name="Picture 15" descr="corner.png"/>
          <p:cNvPicPr>
            <a:picLocks noChangeAspect="1"/>
          </p:cNvPicPr>
          <p:nvPr/>
        </p:nvPicPr>
        <p:blipFill>
          <a:blip r:embed="rId3"/>
          <a:stretch>
            <a:fillRect/>
          </a:stretch>
        </p:blipFill>
        <p:spPr>
          <a:xfrm>
            <a:off x="651316" y="1600200"/>
            <a:ext cx="4549526" cy="3611879"/>
          </a:xfrm>
          <a:prstGeom prst="rect">
            <a:avLst/>
          </a:prstGeom>
        </p:spPr>
      </p:pic>
      <p:sp>
        <p:nvSpPr>
          <p:cNvPr id="17" name="TextBox 16"/>
          <p:cNvSpPr txBox="1"/>
          <p:nvPr/>
        </p:nvSpPr>
        <p:spPr>
          <a:xfrm>
            <a:off x="457200" y="5257800"/>
            <a:ext cx="4937760" cy="347472"/>
          </a:xfrm>
          <a:prstGeom prst="rect">
            <a:avLst/>
          </a:prstGeom>
          <a:noFill/>
        </p:spPr>
        <p:txBody>
          <a:bodyPr wrap="square" anchor="ctr">
            <a:spAutoFit/>
          </a:bodyPr>
          <a:lstStyle/>
          <a:p>
            <a:pPr algn="ctr" rtl="1"/>
            <a:r>
              <a:rPr sz="1500" b="0" lang="ar-SA">
                <a:solidFill>
                  <a:srgbClr val="595959"/>
                </a:solidFill>
                <a:latin typeface="Sakkal Majalla"/>
                <a:cs typeface="Sakkal Majalla"/>
              </a:rPr>
              <a:t>في الصورة: الدايلاين، والعبوة بعد الطي</a:t>
            </a:r>
          </a:p>
        </p:txBody>
      </p:sp>
      <p:sp>
        <p:nvSpPr>
          <p:cNvPr id="18" name="TextBox 17"/>
          <p:cNvSpPr txBox="1"/>
          <p:nvPr/>
        </p:nvSpPr>
        <p:spPr>
          <a:xfrm>
            <a:off x="457200" y="5605272"/>
            <a:ext cx="4937760" cy="347472"/>
          </a:xfrm>
          <a:prstGeom prst="rect">
            <a:avLst/>
          </a:prstGeom>
          <a:noFill/>
        </p:spPr>
        <p:txBody>
          <a:bodyPr wrap="square" anchor="ctr">
            <a:spAutoFit/>
          </a:bodyPr>
          <a:lstStyle/>
          <a:p>
            <a:pPr algn="ctr" rtl="1"/>
            <a:r>
              <a:rPr sz="1600" b="1" lang="ar-SA">
                <a:solidFill>
                  <a:srgbClr val="000000"/>
                </a:solidFill>
                <a:latin typeface="Sakkal Majalla"/>
                <a:cs typeface="Sakkal Majalla"/>
              </a:rPr>
              <a:t>الطريقة: القطع، عدد الأوجه: ٧ أوجه</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الشدّ من حافة إلى حافة (Stretching Edge-to-edge):</a:t>
            </a:r>
          </a:p>
          <a:p>
            <a:pPr marL="0" indent="0">
              <a:buNone/>
            </a:pPr>
            <a:r>
              <a:rPr lang="ar-SA" sz="2000" b="1"/>
              <a:t>الفكرة ببساطة: </a:t>
            </a:r>
            <a:r>
              <a:rPr lang="ar-SA" sz="2000"/>
              <a:t>نتخيل المكعّب إسفنجة، نمسك الحافة العلوية من جهة والحافة السفلية من الجهة المقابلة ونشدّهما، فيميل الصندوق كله إلى جهة واحدة.</a:t>
            </a:r>
          </a:p>
          <a:p>
            <a:pPr marL="0" indent="0">
              <a:buNone/>
            </a:pPr>
            <a:r>
              <a:rPr lang="ar-SA" sz="2000" b="1"/>
              <a:t>ماذا يتغير؟ </a:t>
            </a:r>
            <a:r>
              <a:rPr lang="ar-SA" sz="2000"/>
              <a:t>الجداران الجانبيان يصبحان متوازيي أضلاع (مثل مربع مائل)، وباقي الأوجه تبقى مستطيلات.</a:t>
            </a:r>
          </a:p>
          <a:p>
            <a:pPr marL="0" indent="0">
              <a:buNone/>
            </a:pPr>
            <a:r>
              <a:rPr lang="ar-SA" sz="2000" b="1"/>
              <a:t>الاستخدام في التغليف: </a:t>
            </a:r>
            <a:r>
              <a:rPr lang="ar-SA" sz="2000"/>
              <a:t>شكل يوحي بالحركة والنشاط، يناسب المنتجات الشبابية والرياضية.</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pic>
        <p:nvPicPr>
          <p:cNvPr id="16" name="Picture 15" descr="stretch-edge.png"/>
          <p:cNvPicPr>
            <a:picLocks noChangeAspect="1"/>
          </p:cNvPicPr>
          <p:nvPr/>
        </p:nvPicPr>
        <p:blipFill>
          <a:blip r:embed="rId3"/>
          <a:stretch>
            <a:fillRect/>
          </a:stretch>
        </p:blipFill>
        <p:spPr>
          <a:xfrm>
            <a:off x="1273322" y="1600199"/>
            <a:ext cx="3305515" cy="3611880"/>
          </a:xfrm>
          <a:prstGeom prst="rect">
            <a:avLst/>
          </a:prstGeom>
        </p:spPr>
      </p:pic>
      <p:sp>
        <p:nvSpPr>
          <p:cNvPr id="17" name="TextBox 16"/>
          <p:cNvSpPr txBox="1"/>
          <p:nvPr/>
        </p:nvSpPr>
        <p:spPr>
          <a:xfrm>
            <a:off x="457200" y="5257800"/>
            <a:ext cx="4937760" cy="347472"/>
          </a:xfrm>
          <a:prstGeom prst="rect">
            <a:avLst/>
          </a:prstGeom>
          <a:noFill/>
        </p:spPr>
        <p:txBody>
          <a:bodyPr wrap="square" anchor="ctr">
            <a:spAutoFit/>
          </a:bodyPr>
          <a:lstStyle/>
          <a:p>
            <a:pPr algn="ctr" rtl="1"/>
            <a:r>
              <a:rPr sz="1500" b="0" lang="ar-SA">
                <a:solidFill>
                  <a:srgbClr val="595959"/>
                </a:solidFill>
                <a:latin typeface="Sakkal Majalla"/>
                <a:cs typeface="Sakkal Majalla"/>
              </a:rPr>
              <a:t>في الصورة: الدايلاين، والعبوة بعد الطي</a:t>
            </a:r>
          </a:p>
        </p:txBody>
      </p:sp>
      <p:sp>
        <p:nvSpPr>
          <p:cNvPr id="18" name="TextBox 17"/>
          <p:cNvSpPr txBox="1"/>
          <p:nvPr/>
        </p:nvSpPr>
        <p:spPr>
          <a:xfrm>
            <a:off x="457200" y="5605272"/>
            <a:ext cx="4937760" cy="347472"/>
          </a:xfrm>
          <a:prstGeom prst="rect">
            <a:avLst/>
          </a:prstGeom>
          <a:noFill/>
        </p:spPr>
        <p:txBody>
          <a:bodyPr wrap="square" anchor="ctr">
            <a:spAutoFit/>
          </a:bodyPr>
          <a:lstStyle/>
          <a:p>
            <a:pPr algn="ctr" rtl="1"/>
            <a:r>
              <a:rPr sz="1600" b="1" lang="ar-SA">
                <a:solidFill>
                  <a:srgbClr val="000000"/>
                </a:solidFill>
                <a:latin typeface="Sakkal Majalla"/>
                <a:cs typeface="Sakkal Majalla"/>
              </a:rPr>
              <a:t>الطريقة: الشدّ، عدد الأوجه: ٦ أوجه</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الشدّ من زاوية إلى زاوية (Stretching Corner-to-corner):</a:t>
            </a:r>
          </a:p>
          <a:p>
            <a:pPr marL="0" indent="0">
              <a:buNone/>
            </a:pPr>
            <a:r>
              <a:rPr lang="ar-SA" sz="2000" b="1"/>
              <a:t>الفكرة ببساطة: </a:t>
            </a:r>
            <a:r>
              <a:rPr lang="ar-SA" sz="2000"/>
              <a:t>نمسك الزاوية العلوية من جهة والزاوية السفلية المقابلة لها تمامًا (أبعد نقطتين في المكعّب) ونشدّهما، فيتمدد المكعّب على طول هذا الخط.</a:t>
            </a:r>
          </a:p>
          <a:p>
            <a:pPr marL="0" indent="0">
              <a:buNone/>
            </a:pPr>
            <a:r>
              <a:rPr lang="ar-SA" sz="2000" b="1"/>
              <a:t>ماذا يتغير؟ </a:t>
            </a:r>
            <a:r>
              <a:rPr lang="ar-SA" sz="2000"/>
              <a:t>كل الأوجه الستة تصبح معيّنات مثل شكل الماسة في ورق اللعب، ولا تبقى أي زاوية قائمة.</a:t>
            </a:r>
          </a:p>
          <a:p>
            <a:pPr marL="0" indent="0">
              <a:buNone/>
            </a:pPr>
            <a:r>
              <a:rPr lang="ar-SA" sz="2000" b="1"/>
              <a:t>الاستخدام في التغليف: </a:t>
            </a:r>
            <a:r>
              <a:rPr lang="ar-SA" sz="2000"/>
              <a:t>شكل يحيّر العين لأنها تتوقع زوايا قائمة فلا تجدها، فيناسب المنتجات الفاخرة والفنية.</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pic>
        <p:nvPicPr>
          <p:cNvPr id="16" name="Picture 15" descr="stretch-corner.png"/>
          <p:cNvPicPr>
            <a:picLocks noChangeAspect="1"/>
          </p:cNvPicPr>
          <p:nvPr/>
        </p:nvPicPr>
        <p:blipFill>
          <a:blip r:embed="rId3"/>
          <a:stretch>
            <a:fillRect/>
          </a:stretch>
        </p:blipFill>
        <p:spPr>
          <a:xfrm>
            <a:off x="889118" y="1600199"/>
            <a:ext cx="4073922" cy="3611880"/>
          </a:xfrm>
          <a:prstGeom prst="rect">
            <a:avLst/>
          </a:prstGeom>
        </p:spPr>
      </p:pic>
      <p:sp>
        <p:nvSpPr>
          <p:cNvPr id="17" name="TextBox 16"/>
          <p:cNvSpPr txBox="1"/>
          <p:nvPr/>
        </p:nvSpPr>
        <p:spPr>
          <a:xfrm>
            <a:off x="457200" y="5257800"/>
            <a:ext cx="4937760" cy="347472"/>
          </a:xfrm>
          <a:prstGeom prst="rect">
            <a:avLst/>
          </a:prstGeom>
          <a:noFill/>
        </p:spPr>
        <p:txBody>
          <a:bodyPr wrap="square" anchor="ctr">
            <a:spAutoFit/>
          </a:bodyPr>
          <a:lstStyle/>
          <a:p>
            <a:pPr algn="ctr" rtl="1"/>
            <a:r>
              <a:rPr sz="1500" b="0" lang="ar-SA">
                <a:solidFill>
                  <a:srgbClr val="595959"/>
                </a:solidFill>
                <a:latin typeface="Sakkal Majalla"/>
                <a:cs typeface="Sakkal Majalla"/>
              </a:rPr>
              <a:t>في الصورة: الدايلاين، والعبوة بعد الطي</a:t>
            </a:r>
          </a:p>
        </p:txBody>
      </p:sp>
      <p:sp>
        <p:nvSpPr>
          <p:cNvPr id="18" name="TextBox 17"/>
          <p:cNvSpPr txBox="1"/>
          <p:nvPr/>
        </p:nvSpPr>
        <p:spPr>
          <a:xfrm>
            <a:off x="457200" y="5605272"/>
            <a:ext cx="4937760" cy="347472"/>
          </a:xfrm>
          <a:prstGeom prst="rect">
            <a:avLst/>
          </a:prstGeom>
          <a:noFill/>
        </p:spPr>
        <p:txBody>
          <a:bodyPr wrap="square" anchor="ctr">
            <a:spAutoFit/>
          </a:bodyPr>
          <a:lstStyle/>
          <a:p>
            <a:pPr algn="ctr" rtl="1"/>
            <a:r>
              <a:rPr sz="1600" b="1" lang="ar-SA">
                <a:solidFill>
                  <a:srgbClr val="000000"/>
                </a:solidFill>
                <a:latin typeface="Sakkal Majalla"/>
                <a:cs typeface="Sakkal Majalla"/>
              </a:rPr>
              <a:t>الطريقة: الشدّ، عدد الأوجه: ٦ أوجه</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لفّ الغطاء والقاعدة (Twisting Opposite Faces):</a:t>
            </a:r>
          </a:p>
          <a:p>
            <a:pPr marL="0" indent="0">
              <a:buNone/>
            </a:pPr>
            <a:r>
              <a:rPr lang="ar-SA" sz="2000" b="1"/>
              <a:t>الفكرة ببساطة: </a:t>
            </a:r>
            <a:r>
              <a:rPr lang="ar-SA" sz="2000"/>
              <a:t>الوجهان المقصودان هما الغطاء والقاعدة. نثبّت القاعدة ونلفّ الغطاء قليلًا، كما نفتح غطاء البرطمان، فتميل الجدران الأربعة.</a:t>
            </a:r>
          </a:p>
          <a:p>
            <a:pPr marL="0" indent="0">
              <a:buNone/>
            </a:pPr>
            <a:r>
              <a:rPr lang="ar-SA" sz="2000" b="1"/>
              <a:t>ماذا يتغير؟ </a:t>
            </a:r>
            <a:r>
              <a:rPr lang="ar-SA" sz="2000"/>
              <a:t>يبقى الغطاء والقاعدة مربعين، وتصبح الجدران متوازيات أضلاع مائلة في الاتجاه نفسه. وأفضل ميل أن ينحرف الجدار ١٠ درجات فقط عن الوقوف المستقيم (زاوية ٨٠°)، وأكثر من ٢٠ درجة (أقل من ٧٠°) يجعل الشكل مبالغًا فيه.</a:t>
            </a:r>
          </a:p>
          <a:p>
            <a:pPr marL="0" indent="0">
              <a:buNone/>
            </a:pPr>
            <a:r>
              <a:rPr lang="ar-SA" sz="2000" b="1"/>
              <a:t>الاستخدام في التغليف: </a:t>
            </a:r>
            <a:r>
              <a:rPr lang="ar-SA" sz="2000"/>
              <a:t>تغيير خفيف لا يُلاحظ من أول نظرة، ثم يكتشفه المشتري، فيناسب العلامات الراقية.</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pic>
        <p:nvPicPr>
          <p:cNvPr id="16" name="Picture 15" descr="twist.png"/>
          <p:cNvPicPr>
            <a:picLocks noChangeAspect="1"/>
          </p:cNvPicPr>
          <p:nvPr/>
        </p:nvPicPr>
        <p:blipFill>
          <a:blip r:embed="rId3"/>
          <a:stretch>
            <a:fillRect/>
          </a:stretch>
        </p:blipFill>
        <p:spPr>
          <a:xfrm>
            <a:off x="1104590" y="1600200"/>
            <a:ext cx="3642978" cy="3611879"/>
          </a:xfrm>
          <a:prstGeom prst="rect">
            <a:avLst/>
          </a:prstGeom>
        </p:spPr>
      </p:pic>
      <p:sp>
        <p:nvSpPr>
          <p:cNvPr id="17" name="TextBox 16"/>
          <p:cNvSpPr txBox="1"/>
          <p:nvPr/>
        </p:nvSpPr>
        <p:spPr>
          <a:xfrm>
            <a:off x="457200" y="5257800"/>
            <a:ext cx="4937760" cy="347472"/>
          </a:xfrm>
          <a:prstGeom prst="rect">
            <a:avLst/>
          </a:prstGeom>
          <a:noFill/>
        </p:spPr>
        <p:txBody>
          <a:bodyPr wrap="square" anchor="ctr">
            <a:spAutoFit/>
          </a:bodyPr>
          <a:lstStyle/>
          <a:p>
            <a:pPr algn="ctr" rtl="1"/>
            <a:r>
              <a:rPr sz="1500" b="0" lang="ar-SA">
                <a:solidFill>
                  <a:srgbClr val="595959"/>
                </a:solidFill>
                <a:latin typeface="Sakkal Majalla"/>
                <a:cs typeface="Sakkal Majalla"/>
              </a:rPr>
              <a:t>في الصورة: الدايلاين، والعبوة بعد الطي</a:t>
            </a:r>
          </a:p>
        </p:txBody>
      </p:sp>
      <p:sp>
        <p:nvSpPr>
          <p:cNvPr id="18" name="TextBox 17"/>
          <p:cNvSpPr txBox="1"/>
          <p:nvPr/>
        </p:nvSpPr>
        <p:spPr>
          <a:xfrm>
            <a:off x="457200" y="5605272"/>
            <a:ext cx="4937760" cy="347472"/>
          </a:xfrm>
          <a:prstGeom prst="rect">
            <a:avLst/>
          </a:prstGeom>
          <a:noFill/>
        </p:spPr>
        <p:txBody>
          <a:bodyPr wrap="square" anchor="ctr">
            <a:spAutoFit/>
          </a:bodyPr>
          <a:lstStyle/>
          <a:p>
            <a:pPr algn="ctr" rtl="1"/>
            <a:r>
              <a:rPr sz="1600" b="1" lang="ar-SA">
                <a:solidFill>
                  <a:srgbClr val="000000"/>
                </a:solidFill>
                <a:latin typeface="Sakkal Majalla"/>
                <a:cs typeface="Sakkal Majalla"/>
              </a:rPr>
              <a:t>الطريقة: اللفّ، عدد الأوجه: ٦ أوجه</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اللفّ: النسخة المُضلَّعة (Twisting: Faceted Version):</a:t>
            </a:r>
          </a:p>
          <a:p>
            <a:pPr marL="0" indent="0">
              <a:buNone/>
            </a:pPr>
            <a:r>
              <a:rPr lang="ar-SA" sz="2000" b="1"/>
              <a:t>الفكرة ببساطة: </a:t>
            </a:r>
            <a:r>
              <a:rPr lang="ar-SA" sz="2000"/>
              <a:t>نكمل لفّ الغطاء أكثر حتى تقع كل زاوية من الغطاء فوق منتصف حافة من حواف القاعدة، ثم نصل كل زاوية بالزاويتين القريبتين منها بخطوط طي.</a:t>
            </a:r>
          </a:p>
          <a:p>
            <a:pPr marL="0" indent="0">
              <a:buNone/>
            </a:pPr>
            <a:r>
              <a:rPr lang="ar-SA" sz="2000" b="1"/>
              <a:t>ماذا يتغير؟ </a:t>
            </a:r>
            <a:r>
              <a:rPr lang="ar-SA" sz="2000"/>
              <a:t>تتحول الجدران إلى ثمانية مثلثات حول العبوة: أربعة رأسها للأعلى وأربعة رأسها للأسفل، وفي الدايلاين تظهر كشريط من مثلثات متعاكسة. ويحتاج ألسنة بحافة مثنية (Flanged Tabs) لتثبيت الغطاء والقاعدة.</a:t>
            </a:r>
          </a:p>
          <a:p>
            <a:pPr marL="0" indent="0">
              <a:buNone/>
            </a:pPr>
            <a:r>
              <a:rPr lang="ar-SA" sz="2000" b="1"/>
              <a:t>الاستخدام في التغليف: </a:t>
            </a:r>
            <a:r>
              <a:rPr lang="ar-SA" sz="2000"/>
              <a:t>شكل يشبه الجوهرة، يناسب المجوهرات والشوكولاتة الفاخرة والشموع.</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pic>
        <p:nvPicPr>
          <p:cNvPr id="16" name="Picture 15" descr="twist-facet.png"/>
          <p:cNvPicPr>
            <a:picLocks noChangeAspect="1"/>
          </p:cNvPicPr>
          <p:nvPr/>
        </p:nvPicPr>
        <p:blipFill>
          <a:blip r:embed="rId3"/>
          <a:stretch>
            <a:fillRect/>
          </a:stretch>
        </p:blipFill>
        <p:spPr>
          <a:xfrm>
            <a:off x="764224" y="1600200"/>
            <a:ext cx="4323710" cy="3611879"/>
          </a:xfrm>
          <a:prstGeom prst="rect">
            <a:avLst/>
          </a:prstGeom>
        </p:spPr>
      </p:pic>
      <p:sp>
        <p:nvSpPr>
          <p:cNvPr id="17" name="TextBox 16"/>
          <p:cNvSpPr txBox="1"/>
          <p:nvPr/>
        </p:nvSpPr>
        <p:spPr>
          <a:xfrm>
            <a:off x="457200" y="5257800"/>
            <a:ext cx="4937760" cy="347472"/>
          </a:xfrm>
          <a:prstGeom prst="rect">
            <a:avLst/>
          </a:prstGeom>
          <a:noFill/>
        </p:spPr>
        <p:txBody>
          <a:bodyPr wrap="square" anchor="ctr">
            <a:spAutoFit/>
          </a:bodyPr>
          <a:lstStyle/>
          <a:p>
            <a:pPr algn="ctr" rtl="1"/>
            <a:r>
              <a:rPr sz="1500" b="0" lang="ar-SA">
                <a:solidFill>
                  <a:srgbClr val="595959"/>
                </a:solidFill>
                <a:latin typeface="Sakkal Majalla"/>
                <a:cs typeface="Sakkal Majalla"/>
              </a:rPr>
              <a:t>في الصورة: الدايلاين، والعبوة بعد الطي</a:t>
            </a:r>
          </a:p>
        </p:txBody>
      </p:sp>
      <p:sp>
        <p:nvSpPr>
          <p:cNvPr id="18" name="TextBox 17"/>
          <p:cNvSpPr txBox="1"/>
          <p:nvPr/>
        </p:nvSpPr>
        <p:spPr>
          <a:xfrm>
            <a:off x="457200" y="5605272"/>
            <a:ext cx="4937760" cy="347472"/>
          </a:xfrm>
          <a:prstGeom prst="rect">
            <a:avLst/>
          </a:prstGeom>
          <a:noFill/>
        </p:spPr>
        <p:txBody>
          <a:bodyPr wrap="square" anchor="ctr">
            <a:spAutoFit/>
          </a:bodyPr>
          <a:lstStyle/>
          <a:p>
            <a:pPr algn="ctr" rtl="1"/>
            <a:r>
              <a:rPr sz="1600" b="1" lang="ar-SA">
                <a:solidFill>
                  <a:srgbClr val="000000"/>
                </a:solidFill>
                <a:latin typeface="Sakkal Majalla"/>
                <a:cs typeface="Sakkal Majalla"/>
              </a:rPr>
              <a:t>الطريقة: اللفّ، عدد الأوجه: ١٠ أوجه</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الضغط من الأعلى إلى الأسفل (Compressing Face-to-face):</a:t>
            </a:r>
          </a:p>
          <a:p>
            <a:pPr marL="0" indent="0">
              <a:buNone/>
            </a:pPr>
            <a:r>
              <a:rPr lang="ar-SA" sz="2000" b="1"/>
              <a:t>الفكرة ببساطة: </a:t>
            </a:r>
            <a:r>
              <a:rPr lang="ar-SA" sz="2000"/>
              <a:t>نتخيل علبة إسفنجية نضغطها من فوق بكفّ اليد، فتنثني جدرانها من المنتصف. والشكل في الصورة تبسيط لهذه الفكرة بخطوط طي مستقيمة.</a:t>
            </a:r>
          </a:p>
          <a:p>
            <a:pPr marL="0" indent="0">
              <a:buNone/>
            </a:pPr>
            <a:r>
              <a:rPr lang="ar-SA" sz="2000" b="1"/>
              <a:t>ماذا يتغير؟ </a:t>
            </a:r>
            <a:r>
              <a:rPr lang="ar-SA" sz="2000"/>
              <a:t>يُضاف لكل جدار خط طي أفقي في منتصفه، وتصبح الخطوط بين الجدران منكسرة بدل المستقيمة. ورغم أن الشكل يبدو مضغوطًا، فإن كمية الورق نفسها كالمكعّب العادي.</a:t>
            </a:r>
          </a:p>
          <a:p>
            <a:pPr marL="0" indent="0">
              <a:buNone/>
            </a:pPr>
            <a:r>
              <a:rPr lang="ar-SA" sz="2000" b="1"/>
              <a:t>الاستخدام في التغليف: </a:t>
            </a:r>
            <a:r>
              <a:rPr lang="ar-SA" sz="2000"/>
              <a:t>شكل مرح يوحي بالليونة، يناسب المنتجات الناعمة ومنتجات الأطفال.</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pic>
        <p:nvPicPr>
          <p:cNvPr id="16" name="Picture 15" descr="compress.png"/>
          <p:cNvPicPr>
            <a:picLocks noChangeAspect="1"/>
          </p:cNvPicPr>
          <p:nvPr/>
        </p:nvPicPr>
        <p:blipFill>
          <a:blip r:embed="rId3"/>
          <a:stretch>
            <a:fillRect/>
          </a:stretch>
        </p:blipFill>
        <p:spPr>
          <a:xfrm>
            <a:off x="1111287" y="1600200"/>
            <a:ext cx="3629585" cy="3611879"/>
          </a:xfrm>
          <a:prstGeom prst="rect">
            <a:avLst/>
          </a:prstGeom>
        </p:spPr>
      </p:pic>
      <p:sp>
        <p:nvSpPr>
          <p:cNvPr id="17" name="TextBox 16"/>
          <p:cNvSpPr txBox="1"/>
          <p:nvPr/>
        </p:nvSpPr>
        <p:spPr>
          <a:xfrm>
            <a:off x="457200" y="5257800"/>
            <a:ext cx="4937760" cy="347472"/>
          </a:xfrm>
          <a:prstGeom prst="rect">
            <a:avLst/>
          </a:prstGeom>
          <a:noFill/>
        </p:spPr>
        <p:txBody>
          <a:bodyPr wrap="square" anchor="ctr">
            <a:spAutoFit/>
          </a:bodyPr>
          <a:lstStyle/>
          <a:p>
            <a:pPr algn="ctr" rtl="1"/>
            <a:r>
              <a:rPr sz="1500" b="0" lang="ar-SA">
                <a:solidFill>
                  <a:srgbClr val="595959"/>
                </a:solidFill>
                <a:latin typeface="Sakkal Majalla"/>
                <a:cs typeface="Sakkal Majalla"/>
              </a:rPr>
              <a:t>في الصورة: الدايلاين، والعبوة بعد الطي</a:t>
            </a:r>
          </a:p>
        </p:txBody>
      </p:sp>
      <p:sp>
        <p:nvSpPr>
          <p:cNvPr id="18" name="TextBox 17"/>
          <p:cNvSpPr txBox="1"/>
          <p:nvPr/>
        </p:nvSpPr>
        <p:spPr>
          <a:xfrm>
            <a:off x="457200" y="5605272"/>
            <a:ext cx="4937760" cy="347472"/>
          </a:xfrm>
          <a:prstGeom prst="rect">
            <a:avLst/>
          </a:prstGeom>
          <a:noFill/>
        </p:spPr>
        <p:txBody>
          <a:bodyPr wrap="square" anchor="ctr">
            <a:spAutoFit/>
          </a:bodyPr>
          <a:lstStyle/>
          <a:p>
            <a:pPr algn="ctr" rtl="1"/>
            <a:r>
              <a:rPr sz="1600" b="1" lang="ar-SA">
                <a:solidFill>
                  <a:srgbClr val="000000"/>
                </a:solidFill>
                <a:latin typeface="Sakkal Majalla"/>
                <a:cs typeface="Sakkal Majalla"/>
              </a:rPr>
              <a:t>الطريقة: الضغط، عدد الأوجه: ٦ أوجه</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1005840" y="1600200"/>
            <a:ext cx="10149840" cy="4389120"/>
          </a:xfrm>
        </p:spPr>
        <p:txBody>
          <a:bodyPr anchor="ctr">
            <a:normAutofit/>
          </a:bodyPr>
          <a:lstStyle/>
          <a:p>
            <a:pPr marL="0" indent="0">
              <a:buNone/>
            </a:pPr>
            <a:r>
              <a:rPr lang="ar-SA" sz="2000" b="1"/>
              <a:t>مقارنة بين التقنيات:</a:t>
            </a:r>
          </a:p>
          <a:p>
            <a:pPr/>
            <a:r>
              <a:rPr lang="ar-SA" sz="2000" b="1"/>
              <a:t>إمالة السطح العلوي (القطع، ٦ أوجه): </a:t>
            </a:r>
            <a:r>
              <a:rPr lang="ar-SA" sz="2000"/>
              <a:t>سطح علوي منحدر، وجانبان شبه منحرفين.</a:t>
            </a:r>
          </a:p>
          <a:p>
            <a:pPr/>
            <a:r>
              <a:rPr lang="ar-SA" sz="2000" b="1"/>
              <a:t>شطف حافة (القطع، ٧ أوجه): </a:t>
            </a:r>
            <a:r>
              <a:rPr lang="ar-SA" sz="2000"/>
              <a:t>سطح جديد مكان الحافة، وجانبان خماسيان.</a:t>
            </a:r>
          </a:p>
          <a:p>
            <a:pPr/>
            <a:r>
              <a:rPr lang="ar-SA" sz="2000" b="1"/>
              <a:t>شطف زاوية (القطع، ٧ أوجه): </a:t>
            </a:r>
            <a:r>
              <a:rPr lang="ar-SA" sz="2000"/>
              <a:t>سطح مثلث جديد، وثلاثة أوجه خماسية.</a:t>
            </a:r>
          </a:p>
          <a:p>
            <a:pPr/>
            <a:r>
              <a:rPr lang="ar-SA" sz="2000" b="1"/>
              <a:t>الشدّ من حافة لحافة (٦ أوجه): </a:t>
            </a:r>
            <a:r>
              <a:rPr lang="ar-SA" sz="2000"/>
              <a:t>صندوق مائل بوجهين متوازيي أضلاع.</a:t>
            </a:r>
          </a:p>
          <a:p>
            <a:pPr/>
            <a:r>
              <a:rPr lang="ar-SA" sz="2000" b="1"/>
              <a:t>الشدّ من زاوية لزاوية (٦ أوجه): </a:t>
            </a:r>
            <a:r>
              <a:rPr lang="ar-SA" sz="2000"/>
              <a:t>كل الأوجه معيّنات.</a:t>
            </a:r>
          </a:p>
          <a:p>
            <a:pPr/>
            <a:r>
              <a:rPr lang="ar-SA" sz="2000" b="1"/>
              <a:t>لفّ الغطاء والقاعدة (٦ أوجه): </a:t>
            </a:r>
            <a:r>
              <a:rPr lang="ar-SA" sz="2000"/>
              <a:t>جدران مائلة بزاوية ٨٠°.</a:t>
            </a:r>
          </a:p>
          <a:p>
            <a:pPr/>
            <a:r>
              <a:rPr lang="ar-SA" sz="2000" b="1"/>
              <a:t>اللفّ المُضلَّع (١٠ أوجه): </a:t>
            </a:r>
            <a:r>
              <a:rPr lang="ar-SA" sz="2000"/>
              <a:t>غطاء وقاعدة وثمانية مثلثات.</a:t>
            </a:r>
          </a:p>
          <a:p>
            <a:pPr/>
            <a:r>
              <a:rPr lang="ar-SA" sz="2000" b="1"/>
              <a:t>الضغط (٦ أوجه): </a:t>
            </a:r>
            <a:r>
              <a:rPr lang="ar-SA" sz="2000"/>
              <a:t>جدران منثنية عند منتصفها.</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تقويس الحواف: المنحنى المزدوج (Double Curve):</a:t>
            </a:r>
          </a:p>
          <a:p>
            <a:pPr marL="0" indent="0">
              <a:buNone/>
            </a:pPr>
            <a:r>
              <a:rPr lang="ar-SA" sz="2000"/>
              <a:t>نستبدل خط الطي المستقيم بخطين منحنيين متقابلين، فتتحول العبوة الحادة إلى عبوة ناعمة. وطريقة رسمه:</a:t>
            </a:r>
          </a:p>
          <a:p>
            <a:pPr marL="0" indent="0">
              <a:buNone/>
            </a:pPr>
            <a:r>
              <a:rPr lang="ar-SA" sz="2000" b="1"/>
              <a:t>١. تجهيز الدايلاين: </a:t>
            </a:r>
            <a:r>
              <a:rPr lang="ar-SA" sz="2000"/>
              <a:t>نرسم دايلاين المكعّب بألسنته، ونضيف خطوطًا مساعدة (خطوط إنشاء) تمر بمنتصف المربعات؛ خطان طويلان وخطان قصيران. وهذه الخطوط للرسم فقط، لا تُقص ولا تُطوى.</a:t>
            </a:r>
          </a:p>
          <a:p>
            <a:pPr marL="0" indent="0">
              <a:buNone/>
            </a:pPr>
            <a:r>
              <a:rPr lang="ar-SA" sz="2000" b="1"/>
              <a:t>٢. القوس الأول: </a:t>
            </a:r>
            <a:r>
              <a:rPr lang="ar-SA" sz="2000"/>
              <a:t>نحسب نصف القطر (الشريحة التالية)، ثم نضع رأس الفرجار على الخط المساعد يمين الحافة ونرسم قوسًا يمر بطرفي الحافة تمامًا.</a:t>
            </a:r>
          </a:p>
          <a:p>
            <a:pPr marL="0" indent="0">
              <a:buNone/>
            </a:pPr>
            <a:r>
              <a:rPr lang="ar-SA" sz="2000" b="1"/>
              <a:t>٣. القوس الثاني: </a:t>
            </a:r>
            <a:r>
              <a:rPr lang="ar-SA" sz="2000"/>
              <a:t>نكرر الخطوة نفسها لكن من يسار الحافة.</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pic>
        <p:nvPicPr>
          <p:cNvPr id="16" name="Picture 15" descr="dc2.png"/>
          <p:cNvPicPr>
            <a:picLocks noChangeAspect="1"/>
          </p:cNvPicPr>
          <p:nvPr/>
        </p:nvPicPr>
        <p:blipFill>
          <a:blip r:embed="rId2"/>
          <a:stretch>
            <a:fillRect/>
          </a:stretch>
        </p:blipFill>
        <p:spPr>
          <a:xfrm>
            <a:off x="1696009" y="1600200"/>
            <a:ext cx="2460140" cy="2103120"/>
          </a:xfrm>
          <a:prstGeom prst="rect">
            <a:avLst/>
          </a:prstGeom>
        </p:spPr>
      </p:pic>
      <p:pic>
        <p:nvPicPr>
          <p:cNvPr id="17" name="Picture 16" descr="dc3.png"/>
          <p:cNvPicPr>
            <a:picLocks noChangeAspect="1"/>
          </p:cNvPicPr>
          <p:nvPr/>
        </p:nvPicPr>
        <p:blipFill>
          <a:blip r:embed="rId3"/>
          <a:stretch>
            <a:fillRect/>
          </a:stretch>
        </p:blipFill>
        <p:spPr>
          <a:xfrm>
            <a:off x="1514821" y="3886200"/>
            <a:ext cx="2822517" cy="210312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حساب نصف قطر المنحنى:</a:t>
            </a:r>
          </a:p>
          <a:p>
            <a:pPr marL="0" indent="0">
              <a:buNone/>
            </a:pPr>
            <a:r>
              <a:rPr lang="ar-SA" sz="2000" b="1"/>
              <a:t>ما نصف القطر؟ </a:t>
            </a:r>
            <a:r>
              <a:rPr lang="ar-SA" sz="2000"/>
              <a:t>هو فتحة الفرجار؛ أي المسافة بين رأس الفرجار والقلم.</a:t>
            </a:r>
          </a:p>
          <a:p>
            <a:pPr marL="0" indent="0">
              <a:buNone/>
            </a:pPr>
            <a:r>
              <a:rPr lang="ar-SA" sz="2000" b="1"/>
              <a:t>القاعدة: </a:t>
            </a:r>
            <a:r>
              <a:rPr lang="ar-SA" sz="2000"/>
              <a:t>نصف القطر = طول الحافة + ٥٪ منها (أي طول الحافة × ١٫٠٥).</a:t>
            </a:r>
          </a:p>
          <a:p>
            <a:pPr marL="0" indent="0">
              <a:buNone/>
            </a:pPr>
            <a:r>
              <a:rPr lang="ar-SA" sz="2000" b="1"/>
              <a:t>مثال (حافة ١٠ سم): </a:t>
            </a:r>
            <a:r>
              <a:rPr lang="ar-SA" sz="2000"/>
              <a:t>٥٪ من ١٠ = ٠٫٥ سم، إذن ١٠ + ٠٫٥ = ١٠٫٥ سم.</a:t>
            </a:r>
          </a:p>
          <a:p>
            <a:pPr marL="0" indent="0">
              <a:buNone/>
            </a:pPr>
            <a:r>
              <a:rPr lang="ar-SA" sz="2000" b="1"/>
              <a:t>الرسم: </a:t>
            </a:r>
            <a:r>
              <a:rPr lang="ar-SA" sz="2000"/>
              <a:t>نفتح الفرجار ١٠٫٥ سم، ونرسم قوسًا يمر بطرفي الحافة تمامًا.</a:t>
            </a:r>
          </a:p>
          <a:p>
            <a:pPr marL="0" indent="0">
              <a:buNone/>
            </a:pPr>
            <a:r>
              <a:rPr lang="ar-SA" sz="2000" b="1"/>
              <a:t>أمثلة أخرى: </a:t>
            </a:r>
            <a:r>
              <a:rPr lang="ar-SA" sz="2000"/>
              <a:t>حافة ٨ سم ← ٨٫٤ سم، وحافة ١٢ سم ← ١٢٫٦ سم.</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pic>
        <p:nvPicPr>
          <p:cNvPr id="16" name="Picture 15" descr="dc2.png"/>
          <p:cNvPicPr>
            <a:picLocks noChangeAspect="1"/>
          </p:cNvPicPr>
          <p:nvPr/>
        </p:nvPicPr>
        <p:blipFill>
          <a:blip r:embed="rId3"/>
          <a:stretch>
            <a:fillRect/>
          </a:stretch>
        </p:blipFill>
        <p:spPr>
          <a:xfrm>
            <a:off x="457200" y="1684168"/>
            <a:ext cx="4937760" cy="4221182"/>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المنحنى المزدوج: إكمال الخطوات</a:t>
            </a:r>
          </a:p>
          <a:p>
            <a:pPr marL="0" indent="0">
              <a:buNone/>
            </a:pPr>
            <a:r>
              <a:rPr lang="ar-SA" sz="2000" b="1"/>
              <a:t>٤. اكتمال المنحنى: </a:t>
            </a:r>
            <a:r>
              <a:rPr lang="ar-SA" sz="2000"/>
              <a:t>يلتقي القوسان عند طرفي الحافة فيتكوّن شكل يشبه العدسة، وهو المنحنى المزدوج.</a:t>
            </a:r>
          </a:p>
          <a:p>
            <a:pPr marL="0" indent="0">
              <a:buNone/>
            </a:pPr>
            <a:r>
              <a:rPr lang="ar-SA" sz="2000" b="1"/>
              <a:t>٥. باقي الحواف: </a:t>
            </a:r>
            <a:r>
              <a:rPr lang="ar-SA" sz="2000"/>
              <a:t>نكرر العمل على الحواف الثلاث الأخرى للوجه بالخطوط المساعدة الطويلة، ونرسم بالخطوط القصيرة منحنيات صغيرة على الألسنة الأربعة حتى تتطابق معها.</a:t>
            </a:r>
          </a:p>
          <a:p>
            <a:pPr marL="0" indent="0">
              <a:buNone/>
            </a:pPr>
            <a:r>
              <a:rPr lang="ar-SA" sz="2000" b="1"/>
              <a:t>٦. الشكل النهائي: </a:t>
            </a:r>
            <a:r>
              <a:rPr lang="ar-SA" sz="2000"/>
              <a:t>مكعّب حواف سطحه العلوي ناعمة ومقعّرة.</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pic>
        <p:nvPicPr>
          <p:cNvPr id="16" name="Picture 15" descr="dc4b.png"/>
          <p:cNvPicPr>
            <a:picLocks noChangeAspect="1"/>
          </p:cNvPicPr>
          <p:nvPr/>
        </p:nvPicPr>
        <p:blipFill>
          <a:blip r:embed="rId2"/>
          <a:stretch>
            <a:fillRect/>
          </a:stretch>
        </p:blipFill>
        <p:spPr>
          <a:xfrm>
            <a:off x="457200" y="1658186"/>
            <a:ext cx="4937760" cy="1987147"/>
          </a:xfrm>
          <a:prstGeom prst="rect">
            <a:avLst/>
          </a:prstGeom>
        </p:spPr>
      </p:pic>
      <p:pic>
        <p:nvPicPr>
          <p:cNvPr id="17" name="Picture 16" descr="dc5.png"/>
          <p:cNvPicPr>
            <a:picLocks noChangeAspect="1"/>
          </p:cNvPicPr>
          <p:nvPr/>
        </p:nvPicPr>
        <p:blipFill>
          <a:blip r:embed="rId3"/>
          <a:stretch>
            <a:fillRect/>
          </a:stretch>
        </p:blipFill>
        <p:spPr>
          <a:xfrm>
            <a:off x="1871639" y="3886200"/>
            <a:ext cx="2108881" cy="210312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كيف نطوي على خط منحنٍ؟</a:t>
            </a:r>
          </a:p>
          <a:p>
            <a:pPr marL="0" indent="0">
              <a:buNone/>
            </a:pPr>
            <a:r>
              <a:rPr lang="ar-SA" sz="2000"/>
              <a:t>لا يمكن طيّ خط منحنٍ بدقة باليد الحرة، لأن أداة الطي تحتاج دليلًا تسير عليه كالمسطرة. والحل قالب منحنٍ:</a:t>
            </a:r>
          </a:p>
          <a:p>
            <a:pPr marL="0" indent="0">
              <a:buNone/>
            </a:pPr>
            <a:r>
              <a:rPr lang="ar-SA" sz="2000" b="1"/>
              <a:t>١. </a:t>
            </a:r>
            <a:r>
              <a:rPr lang="ar-SA" sz="2000"/>
              <a:t>نرسم على ورق مقوّى زائد شكلًا يشبه قطعة الفطيرة، بفتحة الفرجار نفسها (نصف القطر نفسه).</a:t>
            </a:r>
          </a:p>
          <a:p>
            <a:pPr marL="0" indent="0">
              <a:buNone/>
            </a:pPr>
            <a:r>
              <a:rPr lang="ar-SA" sz="2000" b="1"/>
              <a:t>٢. </a:t>
            </a:r>
            <a:r>
              <a:rPr lang="ar-SA" sz="2000"/>
              <a:t>نقصّه بدقة عالية، لأن أي عيب في حافته ينتقل إلى خط الطي.</a:t>
            </a:r>
          </a:p>
          <a:p>
            <a:pPr marL="0" indent="0">
              <a:buNone/>
            </a:pPr>
            <a:r>
              <a:rPr lang="ar-SA" sz="2000" b="1"/>
              <a:t>٣. </a:t>
            </a:r>
            <a:r>
              <a:rPr lang="ar-SA" sz="2000"/>
              <a:t>نضعه على الدايلاين بحيث تنطبق حافته المنحنية على المنحنى المرسوم.</a:t>
            </a:r>
          </a:p>
          <a:p>
            <a:pPr marL="0" indent="0">
              <a:buNone/>
            </a:pPr>
            <a:r>
              <a:rPr lang="ar-SA" sz="2000" b="1"/>
              <a:t>٤. </a:t>
            </a:r>
            <a:r>
              <a:rPr lang="ar-SA" sz="2000"/>
              <a:t>نمرر ظهر الشفرة على حافة القالب كما نمررها على المسطرة.</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pic>
        <p:nvPicPr>
          <p:cNvPr id="16" name="Picture 15" descr="wedge.png"/>
          <p:cNvPicPr>
            <a:picLocks noChangeAspect="1"/>
          </p:cNvPicPr>
          <p:nvPr/>
        </p:nvPicPr>
        <p:blipFill>
          <a:blip r:embed="rId2"/>
          <a:stretch>
            <a:fillRect/>
          </a:stretch>
        </p:blipFill>
        <p:spPr>
          <a:xfrm>
            <a:off x="575462" y="1600200"/>
            <a:ext cx="4701235" cy="438912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المنحنى المفرد (Single Curve):</a:t>
            </a:r>
          </a:p>
          <a:p>
            <a:pPr marL="0" indent="0">
              <a:buNone/>
            </a:pPr>
            <a:r>
              <a:rPr lang="ar-SA" sz="2000"/>
              <a:t>هنا نستبدل خط الطي بقوس واحد فقط فتتقوّس الجدران، لكن له شروط:</a:t>
            </a:r>
          </a:p>
          <a:p>
            <a:pPr/>
            <a:r>
              <a:rPr lang="ar-SA" sz="2000" b="1"/>
              <a:t>المكان: </a:t>
            </a:r>
            <a:r>
              <a:rPr lang="ar-SA" sz="2000"/>
              <a:t>على الخطوط الرأسية بين الجدران فقط.</a:t>
            </a:r>
          </a:p>
          <a:p>
            <a:pPr/>
            <a:r>
              <a:rPr lang="ar-SA" sz="2000" b="1"/>
              <a:t>الترتيب: </a:t>
            </a:r>
            <a:r>
              <a:rPr lang="ar-SA" sz="2000"/>
              <a:t>كل قوس عكس القوس الذي بجانبه، كصورته في المرآة.</a:t>
            </a:r>
          </a:p>
          <a:p>
            <a:pPr/>
            <a:r>
              <a:rPr lang="ar-SA" sz="2000" b="1"/>
              <a:t>العدد: </a:t>
            </a:r>
            <a:r>
              <a:rPr lang="ar-SA" sz="2000"/>
              <a:t>يجب أن يكون عدد الجدران زوجيًا (٤ أو ٦ أو ٨)، لأن الأقواس تعمل أزواجًا متعاكسة؛ ولو كان العدد فرديًا لبقي قوس بلا مقابل ولم ينغلق الشكل.</a:t>
            </a:r>
          </a:p>
          <a:p>
            <a:pPr/>
            <a:r>
              <a:rPr lang="ar-SA" sz="2000" b="1"/>
              <a:t>نصف القطر: </a:t>
            </a:r>
            <a:r>
              <a:rPr lang="ar-SA" sz="2000"/>
              <a:t>بالقاعدة نفسها: طول الحافة + ٥٪.</a:t>
            </a:r>
          </a:p>
          <a:p>
            <a:pPr marL="0" indent="0">
              <a:buNone/>
            </a:pPr>
            <a:r>
              <a:rPr lang="ar-SA" sz="2000" b="1"/>
              <a:t>الاستخدام في التغليف: </a:t>
            </a:r>
            <a:r>
              <a:rPr lang="ar-SA" sz="2000"/>
              <a:t>الجدران المقعّرة تجعل مسك العبوة أسهل، وتناسب مستحضرات التجميل والعطور والهدايا.</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pic>
        <p:nvPicPr>
          <p:cNvPr id="16" name="Picture 15" descr="single.png"/>
          <p:cNvPicPr>
            <a:picLocks noChangeAspect="1"/>
          </p:cNvPicPr>
          <p:nvPr/>
        </p:nvPicPr>
        <p:blipFill>
          <a:blip r:embed="rId2"/>
          <a:stretch>
            <a:fillRect/>
          </a:stretch>
        </p:blipFill>
        <p:spPr>
          <a:xfrm>
            <a:off x="457200" y="1843742"/>
            <a:ext cx="4937760" cy="3902034"/>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عبوات من السوق: من المكعّب إلى الشكل المميز</a:t>
            </a:r>
          </a:p>
          <a:p>
            <a:pPr marL="0" indent="0">
              <a:buNone/>
            </a:pPr>
            <a:r>
              <a:rPr lang="ar-SA" sz="2000" b="1"/>
              <a:t>توبليرون (Toblerone): </a:t>
            </a:r>
            <a:r>
              <a:rPr lang="ar-SA" sz="2000"/>
              <a:t>علبة على شكل منشور ثلاثي بدل الصندوق المستطيل، وأصبح شكلها جزءًا من هوية العلامة يُعرف حتى دون قراءة الاسم.</a:t>
            </a:r>
          </a:p>
          <a:p>
            <a:pPr marL="0" indent="0">
              <a:buNone/>
            </a:pPr>
            <a:r>
              <a:rPr lang="ar-SA" sz="2000" b="1"/>
              <a:t>تترا باك الهرمية (Tetra Classic): </a:t>
            </a:r>
            <a:r>
              <a:rPr lang="ar-SA" sz="2000"/>
              <a:t>عبوة حليب بأربعة أوجه مثلثة ظهرت في خمسينيات القرن العشرين، تُشكَّل من أنبوب ورقي يُغلق طرفاه في اتجاهين متعامدين، فتستهلك مادة أقل من الصندوق.</a:t>
            </a:r>
          </a:p>
          <a:p>
            <a:pPr marL="0" indent="0">
              <a:buNone/>
            </a:pPr>
            <a:r>
              <a:rPr lang="ar-SA" sz="2000" b="1"/>
              <a:t>الفكرة: </a:t>
            </a:r>
            <a:r>
              <a:rPr lang="ar-SA" sz="2000"/>
              <a:t>تغيير الشكل الأساسي قد يحقق التميّز البصري والتوفير في المادة معًا.</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
        <p:nvSpPr>
          <p:cNvPr id="16" name="Photo slot"/>
          <p:cNvSpPr/>
          <p:nvPr/>
        </p:nvSpPr>
        <p:spPr>
          <a:xfrm>
            <a:off x="457200" y="1600200"/>
            <a:ext cx="4937760" cy="2322576"/>
          </a:xfrm>
          <a:prstGeom prst="rect">
            <a:avLst/>
          </a:prstGeom>
          <a:solidFill>
            <a:srgbClr val="F2F2F2"/>
          </a:solidFill>
          <a:ln w="12700">
            <a:solidFill>
              <a:srgbClr val="A6A6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1600200"/>
            <a:ext cx="4663440" cy="2322576"/>
          </a:xfrm>
          <a:prstGeom prst="rect">
            <a:avLst/>
          </a:prstGeom>
          <a:noFill/>
        </p:spPr>
        <p:txBody>
          <a:bodyPr wrap="square" anchor="ctr">
            <a:spAutoFit/>
          </a:bodyPr>
          <a:lstStyle/>
          <a:p>
            <a:pPr algn="ctr" rtl="1"/>
            <a:r>
              <a:rPr sz="1600" b="0" lang="ar-SA">
                <a:solidFill>
                  <a:srgbClr val="595959"/>
                </a:solidFill>
                <a:latin typeface="Sakkal Majalla"/>
                <a:cs typeface="Sakkal Majalla"/>
              </a:rPr>
              <a:t>أدرج صورة: علبة شوكولاتة توبليرون</a:t>
            </a:r>
          </a:p>
        </p:txBody>
      </p:sp>
      <p:sp>
        <p:nvSpPr>
          <p:cNvPr id="18" name="Photo slot"/>
          <p:cNvSpPr/>
          <p:nvPr/>
        </p:nvSpPr>
        <p:spPr>
          <a:xfrm>
            <a:off x="457200" y="4105656"/>
            <a:ext cx="2377440" cy="1883664"/>
          </a:xfrm>
          <a:prstGeom prst="rect">
            <a:avLst/>
          </a:prstGeom>
          <a:solidFill>
            <a:srgbClr val="F2F2F2"/>
          </a:solidFill>
          <a:ln w="12700">
            <a:solidFill>
              <a:srgbClr val="A6A6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105656"/>
            <a:ext cx="2103120" cy="1883664"/>
          </a:xfrm>
          <a:prstGeom prst="rect">
            <a:avLst/>
          </a:prstGeom>
          <a:noFill/>
        </p:spPr>
        <p:txBody>
          <a:bodyPr wrap="square" anchor="ctr">
            <a:spAutoFit/>
          </a:bodyPr>
          <a:lstStyle/>
          <a:p>
            <a:pPr algn="ctr" rtl="1"/>
            <a:r>
              <a:rPr sz="1600" b="0" lang="ar-SA">
                <a:solidFill>
                  <a:srgbClr val="595959"/>
                </a:solidFill>
                <a:latin typeface="Sakkal Majalla"/>
                <a:cs typeface="Sakkal Majalla"/>
              </a:rPr>
              <a:t>أدرج صورة: عبوة تترا باك هرمية</a:t>
            </a:r>
          </a:p>
        </p:txBody>
      </p:sp>
      <p:sp>
        <p:nvSpPr>
          <p:cNvPr id="20" name="Photo slot"/>
          <p:cNvSpPr/>
          <p:nvPr/>
        </p:nvSpPr>
        <p:spPr>
          <a:xfrm>
            <a:off x="3017520" y="4105656"/>
            <a:ext cx="2377440" cy="1883664"/>
          </a:xfrm>
          <a:prstGeom prst="rect">
            <a:avLst/>
          </a:prstGeom>
          <a:solidFill>
            <a:srgbClr val="F2F2F2"/>
          </a:solidFill>
          <a:ln w="12700">
            <a:solidFill>
              <a:srgbClr val="A6A6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54680" y="4105656"/>
            <a:ext cx="2103120" cy="1883664"/>
          </a:xfrm>
          <a:prstGeom prst="rect">
            <a:avLst/>
          </a:prstGeom>
          <a:noFill/>
        </p:spPr>
        <p:txBody>
          <a:bodyPr wrap="square" anchor="ctr">
            <a:spAutoFit/>
          </a:bodyPr>
          <a:lstStyle/>
          <a:p>
            <a:pPr algn="ctr" rtl="1"/>
            <a:r>
              <a:rPr sz="1600" b="0" lang="ar-SA">
                <a:solidFill>
                  <a:srgbClr val="595959"/>
                </a:solidFill>
                <a:latin typeface="Sakkal Majalla"/>
                <a:cs typeface="Sakkal Majalla"/>
              </a:rPr>
              <a:t>أدرج صورة: دايلاين أو مقطع للعبوة</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عبوات من السوق: الأسطح المائلة والجدران المائلة</a:t>
            </a:r>
          </a:p>
          <a:p>
            <a:pPr marL="0" indent="0">
              <a:buNone/>
            </a:pPr>
            <a:r>
              <a:rPr lang="ar-SA" sz="2000" b="1"/>
              <a:t>علبة البطاطس المقلية في مطاعم الوجبات السريعة: </a:t>
            </a:r>
            <a:r>
              <a:rPr lang="ar-SA" sz="2000"/>
              <a:t>جدارها الأمامي أقصر من الخلفي وحافتها العلوية مائلة أو منحنية، فتُظهر المنتج وتسهّل تناوله؛ وهي قريبة من إمالة السطح والتقويس.</a:t>
            </a:r>
          </a:p>
          <a:p>
            <a:pPr marL="0" indent="0">
              <a:buNone/>
            </a:pPr>
            <a:r>
              <a:rPr lang="ar-SA" sz="2000" b="1"/>
              <a:t>علبة الطعام الصينية (Oyster Pail): </a:t>
            </a:r>
            <a:r>
              <a:rPr lang="ar-SA" sz="2000"/>
              <a:t>تُطوى من لوح واحد دون لصق، وجدرانها مائلة تتسع للأعلى، وتُقفل بألسنة متداخلة.</a:t>
            </a:r>
          </a:p>
          <a:p>
            <a:pPr marL="0" indent="0">
              <a:buNone/>
            </a:pPr>
            <a:r>
              <a:rPr lang="ar-SA" sz="2000" b="1"/>
              <a:t>علب العرض المائلة لمستحضرات التجميل: </a:t>
            </a:r>
            <a:r>
              <a:rPr lang="ar-SA" sz="2000"/>
              <a:t>سطحها العلوي المنحدر واجهة عرض على الرف.</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
        <p:nvSpPr>
          <p:cNvPr id="16" name="Photo slot"/>
          <p:cNvSpPr/>
          <p:nvPr/>
        </p:nvSpPr>
        <p:spPr>
          <a:xfrm>
            <a:off x="457200" y="1600200"/>
            <a:ext cx="4937760" cy="2322576"/>
          </a:xfrm>
          <a:prstGeom prst="rect">
            <a:avLst/>
          </a:prstGeom>
          <a:solidFill>
            <a:srgbClr val="F2F2F2"/>
          </a:solidFill>
          <a:ln w="12700">
            <a:solidFill>
              <a:srgbClr val="A6A6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1600200"/>
            <a:ext cx="4663440" cy="2322576"/>
          </a:xfrm>
          <a:prstGeom prst="rect">
            <a:avLst/>
          </a:prstGeom>
          <a:noFill/>
        </p:spPr>
        <p:txBody>
          <a:bodyPr wrap="square" anchor="ctr">
            <a:spAutoFit/>
          </a:bodyPr>
          <a:lstStyle/>
          <a:p>
            <a:pPr algn="ctr" rtl="1"/>
            <a:r>
              <a:rPr sz="1600" b="0" lang="ar-SA">
                <a:solidFill>
                  <a:srgbClr val="595959"/>
                </a:solidFill>
                <a:latin typeface="Sakkal Majalla"/>
                <a:cs typeface="Sakkal Majalla"/>
              </a:rPr>
              <a:t>أدرج صورة: علبة بطاطس مقلية</a:t>
            </a:r>
          </a:p>
        </p:txBody>
      </p:sp>
      <p:sp>
        <p:nvSpPr>
          <p:cNvPr id="18" name="Photo slot"/>
          <p:cNvSpPr/>
          <p:nvPr/>
        </p:nvSpPr>
        <p:spPr>
          <a:xfrm>
            <a:off x="457200" y="4105656"/>
            <a:ext cx="2377440" cy="1883664"/>
          </a:xfrm>
          <a:prstGeom prst="rect">
            <a:avLst/>
          </a:prstGeom>
          <a:solidFill>
            <a:srgbClr val="F2F2F2"/>
          </a:solidFill>
          <a:ln w="12700">
            <a:solidFill>
              <a:srgbClr val="A6A6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105656"/>
            <a:ext cx="2103120" cy="1883664"/>
          </a:xfrm>
          <a:prstGeom prst="rect">
            <a:avLst/>
          </a:prstGeom>
          <a:noFill/>
        </p:spPr>
        <p:txBody>
          <a:bodyPr wrap="square" anchor="ctr">
            <a:spAutoFit/>
          </a:bodyPr>
          <a:lstStyle/>
          <a:p>
            <a:pPr algn="ctr" rtl="1"/>
            <a:r>
              <a:rPr sz="1600" b="0" lang="ar-SA">
                <a:solidFill>
                  <a:srgbClr val="595959"/>
                </a:solidFill>
                <a:latin typeface="Sakkal Majalla"/>
                <a:cs typeface="Sakkal Majalla"/>
              </a:rPr>
              <a:t>أدرج صورة: علبة طعام صينية</a:t>
            </a:r>
          </a:p>
        </p:txBody>
      </p:sp>
      <p:sp>
        <p:nvSpPr>
          <p:cNvPr id="20" name="Photo slot"/>
          <p:cNvSpPr/>
          <p:nvPr/>
        </p:nvSpPr>
        <p:spPr>
          <a:xfrm>
            <a:off x="3017520" y="4105656"/>
            <a:ext cx="2377440" cy="1883664"/>
          </a:xfrm>
          <a:prstGeom prst="rect">
            <a:avLst/>
          </a:prstGeom>
          <a:solidFill>
            <a:srgbClr val="F2F2F2"/>
          </a:solidFill>
          <a:ln w="12700">
            <a:solidFill>
              <a:srgbClr val="A6A6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54680" y="4105656"/>
            <a:ext cx="2103120" cy="1883664"/>
          </a:xfrm>
          <a:prstGeom prst="rect">
            <a:avLst/>
          </a:prstGeom>
          <a:noFill/>
        </p:spPr>
        <p:txBody>
          <a:bodyPr wrap="square" anchor="ctr">
            <a:spAutoFit/>
          </a:bodyPr>
          <a:lstStyle/>
          <a:p>
            <a:pPr algn="ctr" rtl="1"/>
            <a:r>
              <a:rPr sz="1600" b="0" lang="ar-SA">
                <a:solidFill>
                  <a:srgbClr val="595959"/>
                </a:solidFill>
                <a:latin typeface="Sakkal Majalla"/>
                <a:cs typeface="Sakkal Majalla"/>
              </a:rPr>
              <a:t>أدرج صورة: علبة عرض بسطح مائل</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عبوات من السوق: المنحنيات والأشكال البلورية</a:t>
            </a:r>
          </a:p>
          <a:p>
            <a:pPr marL="0" indent="0">
              <a:buNone/>
            </a:pPr>
            <a:r>
              <a:rPr lang="ar-SA" sz="2000" b="1"/>
              <a:t>علبة الوسادة (Pillow Box): </a:t>
            </a:r>
            <a:r>
              <a:rPr lang="ar-SA" sz="2000"/>
              <a:t>تُصنع من لوح واحد بطيّات منحنية على طرفيها، وتُقفل بالضغط على الأقواس دون لصق؛ وهي مثال مباشر على المنحنى المفرد، وتُستخدم للهدايا والمجوهرات.</a:t>
            </a:r>
          </a:p>
          <a:p>
            <a:pPr marL="0" indent="0">
              <a:buNone/>
            </a:pPr>
            <a:r>
              <a:rPr lang="ar-SA" sz="2000" b="1"/>
              <a:t>علب الهدايا والشوكولاتة المُضلَّعة: </a:t>
            </a:r>
            <a:r>
              <a:rPr lang="ar-SA" sz="2000"/>
              <a:t>أشكال سداسية أو بلورية بأوجه مثلثة تشبه الأحجار الكريمة، قريبة من اللفّ المُضلَّع.</a:t>
            </a:r>
          </a:p>
          <a:p>
            <a:pPr marL="0" indent="0">
              <a:buNone/>
            </a:pPr>
            <a:r>
              <a:rPr lang="ar-SA" sz="2000" b="1"/>
              <a:t>علب العطور ذات الحواف المشطوفة: </a:t>
            </a:r>
            <a:r>
              <a:rPr lang="ar-SA" sz="2000"/>
              <a:t>تطبيق لشطف الحافة يعطي العلبة طابعًا ناعمًا وفاخرًا.</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
        <p:nvSpPr>
          <p:cNvPr id="16" name="Photo slot"/>
          <p:cNvSpPr/>
          <p:nvPr/>
        </p:nvSpPr>
        <p:spPr>
          <a:xfrm>
            <a:off x="457200" y="1600200"/>
            <a:ext cx="4937760" cy="2322576"/>
          </a:xfrm>
          <a:prstGeom prst="rect">
            <a:avLst/>
          </a:prstGeom>
          <a:solidFill>
            <a:srgbClr val="F2F2F2"/>
          </a:solidFill>
          <a:ln w="12700">
            <a:solidFill>
              <a:srgbClr val="A6A6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1600200"/>
            <a:ext cx="4663440" cy="2322576"/>
          </a:xfrm>
          <a:prstGeom prst="rect">
            <a:avLst/>
          </a:prstGeom>
          <a:noFill/>
        </p:spPr>
        <p:txBody>
          <a:bodyPr wrap="square" anchor="ctr">
            <a:spAutoFit/>
          </a:bodyPr>
          <a:lstStyle/>
          <a:p>
            <a:pPr algn="ctr" rtl="1"/>
            <a:r>
              <a:rPr sz="1600" b="0" lang="ar-SA">
                <a:solidFill>
                  <a:srgbClr val="595959"/>
                </a:solidFill>
                <a:latin typeface="Sakkal Majalla"/>
                <a:cs typeface="Sakkal Majalla"/>
              </a:rPr>
              <a:t>أدرج صورة: علبة وسادة (Pillow Box)</a:t>
            </a:r>
          </a:p>
        </p:txBody>
      </p:sp>
      <p:sp>
        <p:nvSpPr>
          <p:cNvPr id="18" name="Photo slot"/>
          <p:cNvSpPr/>
          <p:nvPr/>
        </p:nvSpPr>
        <p:spPr>
          <a:xfrm>
            <a:off x="457200" y="4105656"/>
            <a:ext cx="2377440" cy="1883664"/>
          </a:xfrm>
          <a:prstGeom prst="rect">
            <a:avLst/>
          </a:prstGeom>
          <a:solidFill>
            <a:srgbClr val="F2F2F2"/>
          </a:solidFill>
          <a:ln w="12700">
            <a:solidFill>
              <a:srgbClr val="A6A6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105656"/>
            <a:ext cx="2103120" cy="1883664"/>
          </a:xfrm>
          <a:prstGeom prst="rect">
            <a:avLst/>
          </a:prstGeom>
          <a:noFill/>
        </p:spPr>
        <p:txBody>
          <a:bodyPr wrap="square" anchor="ctr">
            <a:spAutoFit/>
          </a:bodyPr>
          <a:lstStyle/>
          <a:p>
            <a:pPr algn="ctr" rtl="1"/>
            <a:r>
              <a:rPr sz="1600" b="0" lang="ar-SA">
                <a:solidFill>
                  <a:srgbClr val="595959"/>
                </a:solidFill>
                <a:latin typeface="Sakkal Majalla"/>
                <a:cs typeface="Sakkal Majalla"/>
              </a:rPr>
              <a:t>أدرج صورة: علبة هدايا مُضلَّعة</a:t>
            </a:r>
          </a:p>
        </p:txBody>
      </p:sp>
      <p:sp>
        <p:nvSpPr>
          <p:cNvPr id="20" name="Photo slot"/>
          <p:cNvSpPr/>
          <p:nvPr/>
        </p:nvSpPr>
        <p:spPr>
          <a:xfrm>
            <a:off x="3017520" y="4105656"/>
            <a:ext cx="2377440" cy="1883664"/>
          </a:xfrm>
          <a:prstGeom prst="rect">
            <a:avLst/>
          </a:prstGeom>
          <a:solidFill>
            <a:srgbClr val="F2F2F2"/>
          </a:solidFill>
          <a:ln w="12700">
            <a:solidFill>
              <a:srgbClr val="A6A6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54680" y="4105656"/>
            <a:ext cx="2103120" cy="1883664"/>
          </a:xfrm>
          <a:prstGeom prst="rect">
            <a:avLst/>
          </a:prstGeom>
          <a:noFill/>
        </p:spPr>
        <p:txBody>
          <a:bodyPr wrap="square" anchor="ctr">
            <a:spAutoFit/>
          </a:bodyPr>
          <a:lstStyle/>
          <a:p>
            <a:pPr algn="ctr" rtl="1"/>
            <a:r>
              <a:rPr sz="1600" b="0" lang="ar-SA">
                <a:solidFill>
                  <a:srgbClr val="595959"/>
                </a:solidFill>
                <a:latin typeface="Sakkal Majalla"/>
                <a:cs typeface="Sakkal Majalla"/>
              </a:rPr>
              <a:t>أدرج صورة: علبة عطر بحواف مشطوفة</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6263640" y="1600200"/>
            <a:ext cx="5120640" cy="4389120"/>
          </a:xfrm>
        </p:spPr>
        <p:txBody>
          <a:bodyPr anchor="t">
            <a:normAutofit/>
          </a:bodyPr>
          <a:lstStyle/>
          <a:p>
            <a:pPr marL="0" indent="0">
              <a:buNone/>
            </a:pPr>
            <a:r>
              <a:rPr lang="ar-SA" sz="2000" b="1"/>
              <a:t>قبل اعتماد شكل العبوة نسأل:</a:t>
            </a:r>
          </a:p>
          <a:p>
            <a:pPr/>
            <a:r>
              <a:rPr lang="ar-SA" sz="2000" b="1"/>
              <a:t>هل يناسب المنتج؟ </a:t>
            </a:r>
            <a:r>
              <a:rPr lang="ar-SA" sz="2000"/>
              <a:t>هل يتسع له ويحميه؟ فالقطع واللفّ يقللان المساحة الداخلية.</a:t>
            </a:r>
          </a:p>
          <a:p>
            <a:pPr/>
            <a:r>
              <a:rPr lang="ar-SA" sz="2000" b="1"/>
              <a:t>هل يُرصّ ويُخزَّن؟ </a:t>
            </a:r>
            <a:r>
              <a:rPr lang="ar-SA" sz="2000"/>
              <a:t>الأشكال المائلة أصعب في الرصّ والشحن.</a:t>
            </a:r>
          </a:p>
          <a:p>
            <a:pPr/>
            <a:r>
              <a:rPr lang="ar-SA" sz="2000" b="1"/>
              <a:t>أين الواجهة؟ </a:t>
            </a:r>
            <a:r>
              <a:rPr lang="ar-SA" sz="2000"/>
              <a:t>أي وجه يراه المشتري؟ وأين الشعار؟</a:t>
            </a:r>
          </a:p>
          <a:p>
            <a:pPr/>
            <a:r>
              <a:rPr lang="ar-SA" sz="2000" b="1"/>
              <a:t>من أين يُفتح؟ </a:t>
            </a:r>
            <a:r>
              <a:rPr lang="ar-SA" sz="2000"/>
              <a:t>هل مكان الغطاء منطقي وسهل؟</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
        <p:nvSpPr>
          <p:cNvPr id="16" name="TextBox 15"/>
          <p:cNvSpPr txBox="1"/>
          <p:nvPr/>
        </p:nvSpPr>
        <p:spPr>
          <a:xfrm>
            <a:off x="822960" y="1600200"/>
            <a:ext cx="5120640" cy="4389120"/>
          </a:xfrm>
          <a:prstGeom prst="rect">
            <a:avLst/>
          </a:prstGeom>
          <a:noFill/>
        </p:spPr>
        <p:txBody>
          <a:bodyPr wrap="square" anchor="t">
            <a:normAutofit/>
          </a:bodyPr>
          <a:lstStyle>
            <a:lvl1pPr marL="228600" indent="-228600" algn="r" rtl="1">
              <a:lnSpc>
                <a:spcPct val="90000"/>
              </a:lnSpc>
              <a:spcBef>
                <a:spcPts val="1000"/>
              </a:spcBef>
              <a:buFont typeface="Arial"/>
              <a:buChar char="•"/>
              <a:defRPr sz="2000">
                <a:solidFill>
                  <a:schemeClr val="tx1"/>
                </a:solidFill>
                <a:latin typeface="Sakkal Majalla"/>
                <a:cs typeface="Sakkal Majalla"/>
              </a:defRPr>
            </a:lvl1pPr>
          </a:lstStyle>
          <a:p>
            <a:pPr marL="0" indent="0">
              <a:buNone/>
            </a:pPr>
            <a:r>
              <a:rPr lang="ar-SA" sz="2000"/>
              <a:t> </a:t>
            </a:r>
          </a:p>
          <a:p>
            <a:pPr/>
            <a:r>
              <a:rPr lang="ar-SA" sz="2000" b="1"/>
              <a:t>كيف يُقفل؟ </a:t>
            </a:r>
            <a:r>
              <a:rPr lang="ar-SA" sz="2000"/>
              <a:t>مرة واحدة (لصق) أم مرات متعددة (لسان إدخال)؟</a:t>
            </a:r>
          </a:p>
          <a:p>
            <a:pPr/>
            <a:r>
              <a:rPr lang="ar-SA" sz="2000" b="1"/>
              <a:t>كم يكلّف؟ </a:t>
            </a:r>
            <a:r>
              <a:rPr lang="ar-SA" sz="2000"/>
              <a:t>كمية الورق مقارنة بالمكعّب العادي.</a:t>
            </a:r>
          </a:p>
          <a:p>
            <a:pPr/>
            <a:r>
              <a:rPr lang="ar-SA" sz="2000" b="1"/>
              <a:t>هل يمكن تصنيعه؟ </a:t>
            </a:r>
            <a:r>
              <a:rPr lang="ar-SA" sz="2000"/>
              <a:t>هل يصلح الدايلاين لقالب القص والتكسير؟</a:t>
            </a:r>
          </a:p>
          <a:p>
            <a:pPr/>
            <a:r>
              <a:rPr lang="ar-SA" sz="2000" b="1"/>
              <a:t>هل يعبّر عن العلامة؟ </a:t>
            </a:r>
            <a:r>
              <a:rPr lang="ar-SA" sz="2000"/>
              <a:t>هندسي حاد، أم منحنٍ ناعم، أم مائل حيوي؟</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6263640" y="1600200"/>
            <a:ext cx="5120640" cy="4389120"/>
          </a:xfrm>
        </p:spPr>
        <p:txBody>
          <a:bodyPr anchor="t">
            <a:normAutofit/>
          </a:bodyPr>
          <a:lstStyle/>
          <a:p>
            <a:pPr marL="0" indent="0">
              <a:buNone/>
            </a:pPr>
            <a:r>
              <a:rPr lang="ar-SA" sz="2000" b="1"/>
              <a:t>الخلاصة: أهم ما ينبغي للطالب معرفته</a:t>
            </a:r>
          </a:p>
          <a:p>
            <a:pPr/>
            <a:r>
              <a:rPr lang="ar-SA" sz="2000"/>
              <a:t>خط الطي يُضغط بظهر الشفرة ولا يُقطع.</a:t>
            </a:r>
          </a:p>
          <a:p>
            <a:pPr/>
            <a:r>
              <a:rPr lang="ar-SA" sz="2000"/>
              <a:t>المسطرة المعدنية فوق التصميم، والشفرة من جهة الورق الزائد.</a:t>
            </a:r>
          </a:p>
          <a:p>
            <a:pPr/>
            <a:r>
              <a:rPr lang="ar-SA" sz="2000"/>
              <a:t>الدايلاين هو العبوة مفرودة: خط متصل للقص، وخط متقطع للطي.</a:t>
            </a:r>
          </a:p>
          <a:p>
            <a:pPr/>
            <a:r>
              <a:rPr lang="ar-SA" sz="2000"/>
              <a:t>المكعّب: ٦ أوجه، ١٢ حافة، ٨ زوايا.</a:t>
            </a:r>
          </a:p>
          <a:p>
            <a:pPr/>
            <a:r>
              <a:rPr lang="ar-SA" sz="2000"/>
              <a:t>ثلاث طرق لتغيير شكل المكعّب: القطع، والشدّ والضغط واللفّ، وتقويس الحواف.</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
        <p:nvSpPr>
          <p:cNvPr id="16" name="TextBox 15"/>
          <p:cNvSpPr txBox="1"/>
          <p:nvPr/>
        </p:nvSpPr>
        <p:spPr>
          <a:xfrm>
            <a:off x="822960" y="1600200"/>
            <a:ext cx="5120640" cy="4389120"/>
          </a:xfrm>
          <a:prstGeom prst="rect">
            <a:avLst/>
          </a:prstGeom>
          <a:noFill/>
        </p:spPr>
        <p:txBody>
          <a:bodyPr wrap="square" anchor="t">
            <a:normAutofit/>
          </a:bodyPr>
          <a:lstStyle>
            <a:lvl1pPr marL="228600" indent="-228600" algn="r" rtl="1">
              <a:lnSpc>
                <a:spcPct val="90000"/>
              </a:lnSpc>
              <a:spcBef>
                <a:spcPts val="1000"/>
              </a:spcBef>
              <a:buFont typeface="Arial"/>
              <a:buChar char="•"/>
              <a:defRPr sz="2000">
                <a:solidFill>
                  <a:schemeClr val="tx1"/>
                </a:solidFill>
                <a:latin typeface="Sakkal Majalla"/>
                <a:cs typeface="Sakkal Majalla"/>
              </a:defRPr>
            </a:lvl1pPr>
          </a:lstStyle>
          <a:p>
            <a:pPr marL="0" indent="0">
              <a:buNone/>
            </a:pPr>
            <a:r>
              <a:rPr lang="ar-SA" sz="2000"/>
              <a:t> </a:t>
            </a:r>
          </a:p>
          <a:p>
            <a:pPr/>
            <a:r>
              <a:rPr lang="ar-SA" sz="2000"/>
              <a:t>شطف الحافة أو الزاوية يضيف وجهًا جديدًا.</a:t>
            </a:r>
          </a:p>
          <a:p>
            <a:pPr/>
            <a:r>
              <a:rPr lang="ar-SA" sz="2000"/>
              <a:t>أفضل ميل في اللفّ ٨٠°، ولا يُنصح بأقل من ٧٠°.</a:t>
            </a:r>
          </a:p>
          <a:p>
            <a:pPr/>
            <a:r>
              <a:rPr lang="ar-SA" sz="2000"/>
              <a:t>نصف قطر المنحنى = طول الحافة × ١٫٠٥.</a:t>
            </a:r>
          </a:p>
          <a:p>
            <a:pPr/>
            <a:r>
              <a:rPr lang="ar-SA" sz="2000"/>
              <a:t>المنحنى المفرد: خطوط رأسية، عدد زوجي، أقواس متعاكسة.</a:t>
            </a:r>
          </a:p>
          <a:p>
            <a:pPr/>
            <a:r>
              <a:rPr lang="ar-SA" sz="2000"/>
              <a:t>الطي المنحني يُنفَّذ بقالب على شكل قطعة الفطيرة.</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1005840" y="1600200"/>
            <a:ext cx="10149840" cy="4389120"/>
          </a:xfrm>
        </p:spPr>
        <p:txBody>
          <a:bodyPr anchor="ctr">
            <a:normAutofit/>
          </a:bodyPr>
          <a:lstStyle/>
          <a:p>
            <a:pPr marL="0" indent="0">
              <a:buNone/>
            </a:pPr>
            <a:r>
              <a:rPr lang="ar-SA" sz="2000" b="1"/>
              <a:t>أسئلة تقويمية:</a:t>
            </a:r>
          </a:p>
          <a:p>
            <a:pPr marL="0" indent="0">
              <a:buNone/>
            </a:pPr>
            <a:r>
              <a:rPr lang="ar-SA" sz="2000" b="1"/>
              <a:t>١. </a:t>
            </a:r>
            <a:r>
              <a:rPr lang="ar-SA" sz="2000"/>
              <a:t>كيف يُجهَّز خط الطي؟ ولماذا لا يُستخدم طرف الشفرة الحاد؟</a:t>
            </a:r>
          </a:p>
          <a:p>
            <a:pPr marL="0" indent="0">
              <a:buNone/>
            </a:pPr>
            <a:r>
              <a:rPr lang="ar-SA" sz="2000" b="1"/>
              <a:t>٢. </a:t>
            </a:r>
            <a:r>
              <a:rPr lang="ar-SA" sz="2000"/>
              <a:t>أين توضع المسطرة أثناء القص؟ ولماذا؟</a:t>
            </a:r>
          </a:p>
          <a:p>
            <a:pPr marL="0" indent="0">
              <a:buNone/>
            </a:pPr>
            <a:r>
              <a:rPr lang="ar-SA" sz="2000" b="1"/>
              <a:t>٣. </a:t>
            </a:r>
            <a:r>
              <a:rPr lang="ar-SA" sz="2000"/>
              <a:t>كم يصبح عدد أوجه المكعّب بعد شطف إحدى زواياه؟</a:t>
            </a:r>
          </a:p>
          <a:p>
            <a:pPr marL="0" indent="0">
              <a:buNone/>
            </a:pPr>
            <a:r>
              <a:rPr lang="ar-SA" sz="2000" b="1"/>
              <a:t>٤. </a:t>
            </a:r>
            <a:r>
              <a:rPr lang="ar-SA" sz="2000"/>
              <a:t>ما أفضل ميل للجدران عند لفّ الغطاء؟ وما الحد الذي لا يُنصح بتجاوزه؟</a:t>
            </a:r>
          </a:p>
          <a:p>
            <a:pPr marL="0" indent="0">
              <a:buNone/>
            </a:pPr>
            <a:r>
              <a:rPr lang="ar-SA" sz="2000" b="1"/>
              <a:t>٥. </a:t>
            </a:r>
            <a:r>
              <a:rPr lang="ar-SA" sz="2000"/>
              <a:t>إذا كان طول الحافة ١٢ سم، فكم تكون فتحة الفرجار (نصف القطر)؟</a:t>
            </a:r>
          </a:p>
          <a:p>
            <a:pPr marL="0" indent="0">
              <a:buNone/>
            </a:pPr>
            <a:r>
              <a:rPr lang="ar-SA" sz="2000" b="1"/>
              <a:t>٦. </a:t>
            </a:r>
            <a:r>
              <a:rPr lang="ar-SA" sz="2000"/>
              <a:t>لماذا يجب أن يكون عدد الجدران زوجيًا في المنحنى المفرد؟</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1005840" y="1600200"/>
            <a:ext cx="10149840" cy="4389120"/>
          </a:xfrm>
        </p:spPr>
        <p:txBody>
          <a:bodyPr anchor="ctr">
            <a:normAutofit/>
          </a:bodyPr>
          <a:lstStyle/>
          <a:p>
            <a:pPr marL="0" indent="0">
              <a:buNone/>
            </a:pPr>
            <a:r>
              <a:rPr lang="ar-SA" sz="2000" b="1"/>
              <a:t>المشروع التطبيقي: تصميم عبوة مبتكرة</a:t>
            </a:r>
          </a:p>
          <a:p>
            <a:pPr marL="0" indent="0">
              <a:buNone/>
            </a:pPr>
            <a:r>
              <a:rPr lang="ar-SA" sz="2000"/>
              <a:t>يختار الطالب منتجًا (عطرًا، أو شوكولاتة، أو شمعة، أو مستحضر تجميل) ويصمّم له عبوة وفق المتطلبات الآتية:</a:t>
            </a:r>
          </a:p>
          <a:p>
            <a:pPr/>
            <a:r>
              <a:rPr lang="ar-SA" sz="2000" b="1"/>
              <a:t>الدمج: </a:t>
            </a:r>
            <a:r>
              <a:rPr lang="ar-SA" sz="2000"/>
              <a:t>بين تقنيتين من تقنيات المحاضرة في تصميم واحد.</a:t>
            </a:r>
          </a:p>
          <a:p>
            <a:pPr/>
            <a:r>
              <a:rPr lang="ar-SA" sz="2000" b="1"/>
              <a:t>الدايلاين: </a:t>
            </a:r>
            <a:r>
              <a:rPr lang="ar-SA" sz="2000"/>
              <a:t>رسمه كاملًا بألسنته، بخط متصل للقص وخط متقطع للطي.</a:t>
            </a:r>
          </a:p>
          <a:p>
            <a:pPr/>
            <a:r>
              <a:rPr lang="ar-SA" sz="2000" b="1"/>
              <a:t>الغطاء والإغلاق: </a:t>
            </a:r>
            <a:r>
              <a:rPr lang="ar-SA" sz="2000"/>
              <a:t>تحديد مكان الغطاء وطريقة الإغلاق مع ذكر السبب.</a:t>
            </a:r>
          </a:p>
          <a:p>
            <a:pPr/>
            <a:r>
              <a:rPr lang="ar-SA" sz="2000" b="1"/>
              <a:t>النموذج: </a:t>
            </a:r>
            <a:r>
              <a:rPr lang="ar-SA" sz="2000"/>
              <a:t>تنفيذه بالورق المقوّى بالأدوات والطرق الصحيحة.</a:t>
            </a:r>
          </a:p>
          <a:p>
            <a:pPr/>
            <a:r>
              <a:rPr lang="ar-SA" sz="2000" b="1"/>
              <a:t>التقرير: </a:t>
            </a:r>
            <a:r>
              <a:rPr lang="ar-SA" sz="2000"/>
              <a:t>صفحة توضّح مناسبة الشكل للمنتج وهويته، وكيف عولجت الحماية والرصّ والعرض.</a:t>
            </a:r>
          </a:p>
          <a:p>
            <a:pPr marL="0" indent="0">
              <a:buNone/>
            </a:pPr>
            <a:r>
              <a:rPr lang="ar-SA" sz="2000" b="1"/>
              <a:t>أمثلة: </a:t>
            </a:r>
            <a:r>
              <a:rPr lang="ar-SA" sz="2000"/>
              <a:t>عبوة عطر بشطف زاوية يُطبع الشعار على مثلثها، أو علبة شوكولاتة باللفّ المُضلَّع غطاؤها بلسان إدخال.</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1005840" y="1600200"/>
            <a:ext cx="10149840" cy="4389120"/>
          </a:xfrm>
        </p:spPr>
        <p:txBody>
          <a:bodyPr anchor="ctr">
            <a:normAutofit/>
          </a:bodyPr>
          <a:lstStyle/>
          <a:p>
            <a:pPr marL="0" indent="0">
              <a:buNone/>
            </a:pPr>
            <a:r>
              <a:rPr lang="ar-SA" sz="2000" b="1"/>
              <a:t>المصدر:</a:t>
            </a:r>
          </a:p>
          <a:p>
            <a:pPr marL="0" indent="0">
              <a:buNone/>
            </a:pPr>
            <a:r>
              <a:rPr lang="ar-SA" sz="2000"/>
              <a:t>الفصل الرابع «Deforming a Cube» والقسم ١٫٢ «How to Cut and Fold» من الكتاب المرجعي للمقرر، والصور مأخوذة منه.</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8406</TotalTime>
  <Words>530</Words>
  <Application>Microsoft Macintosh PowerPoint</Application>
  <PresentationFormat>Widescreen</PresentationFormat>
  <Paragraphs>43</Paragraphs>
  <Slides>8</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8</vt:i4>
      </vt:variant>
    </vt:vector>
  </HeadingPairs>
  <TitlesOfParts>
    <vt:vector size="15" baseType="lpstr">
      <vt:lpstr>Aptos</vt:lpstr>
      <vt:lpstr>Arial</vt:lpstr>
      <vt:lpstr>Avenir Medium</vt:lpstr>
      <vt:lpstr>Calibri</vt:lpstr>
      <vt:lpstr>GE Dinar One</vt:lpstr>
      <vt:lpstr>Sakkal Majalla</vt:lpstr>
      <vt:lpstr>Office Theme</vt:lpstr>
      <vt:lpstr>أنواع  وخامات التغليف</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InDesign</dc:title>
  <dc:creator>haifa badran alomar</dc:creator>
  <cp:lastModifiedBy>Nourah Alsadoun</cp:lastModifiedBy>
  <cp:revision>154</cp:revision>
  <dcterms:created xsi:type="dcterms:W3CDTF">2024-04-17T13:12:11Z</dcterms:created>
  <dcterms:modified xsi:type="dcterms:W3CDTF">2026-08-29T02:33:55Z</dcterms:modified>
</cp:coreProperties>
</file>