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10"/>
  </p:notesMasterIdLst>
  <p:handoutMasterIdLst>
    <p:handoutMasterId r:id="rId11"/>
  </p:handoutMasterIdLst>
  <p:sldIdLst>
    <p:sldId id="256" r:id="rId2"/>
    <p:sldId id="257" r:id="rId3"/>
    <p:sldId id="258" r:id="rId9"/>
    <p:sldId id="259" r:id="rId8"/>
    <p:sldId id="260" r:id="rId7"/>
    <p:sldId id="261" r:id="rId6"/>
    <p:sldId id="262" r:id="rId5"/>
    <p:sldId id="263" r:id="rId4"/>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0579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2244"/>
    <p:restoredTop sz="94491"/>
  </p:normalViewPr>
  <p:slideViewPr>
    <p:cSldViewPr snapToGrid="0" snapToObjects="1">
      <p:cViewPr varScale="1">
        <p:scale>
          <a:sx n="117" d="100"/>
          <a:sy n="117" d="100"/>
        </p:scale>
        <p:origin x="208" y="184"/>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notesViewPr>
    <p:cSldViewPr snapToGrid="0" snapToObjects="1">
      <p:cViewPr varScale="1">
        <p:scale>
          <a:sx n="94" d="100"/>
          <a:sy n="94" d="100"/>
        </p:scale>
        <p:origin x="4040" y="208"/>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8.xml"/><Relationship Id="rId5" Type="http://schemas.openxmlformats.org/officeDocument/2006/relationships/slide" Target="slides/slide7.xml"/><Relationship Id="rId6" Type="http://schemas.openxmlformats.org/officeDocument/2006/relationships/slide" Target="slides/slide6.xml"/><Relationship Id="rId7" Type="http://schemas.openxmlformats.org/officeDocument/2006/relationships/slide" Target="slides/slide5.xml"/><Relationship Id="rId8" Type="http://schemas.openxmlformats.org/officeDocument/2006/relationships/slide" Target="slides/slide4.xml"/><Relationship Id="rId9" Type="http://schemas.openxmlformats.org/officeDocument/2006/relationships/slide" Target="slides/slide3.xml"/><Relationship Id="rId10" Type="http://schemas.openxmlformats.org/officeDocument/2006/relationships/notesMaster" Target="notesMasters/notesMaster1.xml"/><Relationship Id="rId11" Type="http://schemas.openxmlformats.org/officeDocument/2006/relationships/handoutMaster" Target="handoutMasters/handout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DAD3ED4-A725-1124-7268-C714085C651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A"/>
          </a:p>
        </p:txBody>
      </p:sp>
      <p:sp>
        <p:nvSpPr>
          <p:cNvPr id="3" name="Date Placeholder 2">
            <a:extLst>
              <a:ext uri="{FF2B5EF4-FFF2-40B4-BE49-F238E27FC236}">
                <a16:creationId xmlns:a16="http://schemas.microsoft.com/office/drawing/2014/main" id="{A4EC01CD-5443-69BE-3D14-B6D3605B22A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EAF1E98-5F94-224A-A21F-D0A6E573F1EA}" type="datetimeFigureOut">
              <a:rPr lang="en-SA" smtClean="0"/>
              <a:t>29/08/2026 R</a:t>
            </a:fld>
            <a:endParaRPr lang="en-SA"/>
          </a:p>
        </p:txBody>
      </p:sp>
      <p:sp>
        <p:nvSpPr>
          <p:cNvPr id="4" name="Footer Placeholder 3">
            <a:extLst>
              <a:ext uri="{FF2B5EF4-FFF2-40B4-BE49-F238E27FC236}">
                <a16:creationId xmlns:a16="http://schemas.microsoft.com/office/drawing/2014/main" id="{194BE99D-1939-059B-3CE5-F0B1570E6A8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SA"/>
          </a:p>
        </p:txBody>
      </p:sp>
      <p:sp>
        <p:nvSpPr>
          <p:cNvPr id="5" name="Slide Number Placeholder 4">
            <a:extLst>
              <a:ext uri="{FF2B5EF4-FFF2-40B4-BE49-F238E27FC236}">
                <a16:creationId xmlns:a16="http://schemas.microsoft.com/office/drawing/2014/main" id="{CB01E896-DE12-37E6-A645-B8103536BB5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87B7EF7-468D-8441-A410-28F9516067E8}" type="slidenum">
              <a:rPr lang="en-SA" smtClean="0"/>
              <a:t>‹#›</a:t>
            </a:fld>
            <a:endParaRPr lang="en-SA"/>
          </a:p>
        </p:txBody>
      </p:sp>
    </p:spTree>
    <p:extLst>
      <p:ext uri="{BB962C8B-B14F-4D97-AF65-F5344CB8AC3E}">
        <p14:creationId xmlns:p14="http://schemas.microsoft.com/office/powerpoint/2010/main" val="386761661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AD55F2-279C-D647-95BA-2741FBF6F3F1}" type="datetimeFigureOut">
              <a:rPr lang="en-US" smtClean="0"/>
              <a:t>8/29/26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E352315-EC8F-7049-AB74-0E6986D6A890}" type="slidenum">
              <a:rPr lang="en-US" smtClean="0"/>
              <a:t>‹#›</a:t>
            </a:fld>
            <a:endParaRPr lang="en-US"/>
          </a:p>
        </p:txBody>
      </p:sp>
    </p:spTree>
    <p:extLst>
      <p:ext uri="{BB962C8B-B14F-4D97-AF65-F5344CB8AC3E}">
        <p14:creationId xmlns:p14="http://schemas.microsoft.com/office/powerpoint/2010/main" val="2293898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الشفرة الكالّة تحتاج ضغطًا أكبر فيزداد احتمال انزلاقها.</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اختبار الاتجاه: تُثنى قطعة صغيرة من الورق في الاتجاهين؛ الاتجاه الأسهل انثناءً هو اتجاه الألياف. أو تُمزَّق القطعة: التمزق مع الألياف أكثر استقامة.</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قاعدة عملية: كلما زادت سماكة الورق زادت الحاجة إلى التعويض. ويُختبر المِفرَد دائمًا بنموذج أولي قبل اعتماده.</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في تقنية الضغط (٤.٨) يُطوى خط المنتصف الأفقي باتجاه معاكس لخطوط الطي العمودية، وهذا ما يجعل الجدار ينثني.</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كشط وجه (Shaving a Face): يُكشط أحد الأوجه بزاوية مائلة فينتج سطح منحدر، ويمكن التحكم في درجة الميل أو إمالته إلى الأمام أو الخلف.</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كشط حافة (Shaving an Edge): تُكشط إحدى الحواف فينشأ مكانها وجه جديد، ويمكن التحكم في مقدار الكشط واتجاه ميله.</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كشط ركن (Shaving a Corner): يُكشط أحد الأركان فينشأ وجه على هيئة مثلث متساوي الأضلاع (زواياه ٦٠°)، لأن القطع يمر بثلاث حواف متساوية؛ وباختلاف مسافات القطع ينتج مثلث مختلف الأضلاع.</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المطّ من حافة إلى حافة (Stretching Edge-to-edge): تُشدّ حافتان متقابلتان في اتجاهين متعاكسين، فينتج صندوق مائل (Leaning Box).</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المطّ من ركن إلى ركن (Stretching Corner-to-corner): يُشدّ ركنان متقابلان فينتج شكل معيّني يُعرف بمتوازي السطوح المعيّني (Rhombohedron).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ليّ الوجهين المتقابلين (Twisting Opposite Faces): يُلوى الوجهان العلوي والسفلي ليًّا خفيفًا في اتجاهين متعاكسين، فتتحوّل الجوانب إلى متوازيات أضلاع. وزاوية الميل المثلى ٨٠°، والزوايا الأقل من ٧٠° نادرًا ما تنجح.</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الليّ: النسخة المُضلَّعة (Twisting: Faceted Version): يُزاد الليّ حتى تقع أركان المربع العلوي فوق منتصفات حواف المربع السفلي، ثم تُوصل الأركان الثمانية بخطوط طي.</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الضغط من وجه إلى وجه (Compressing Face-to-face): يُضغط وجهان متقابلان باتجاه بعضهما، والشكل المعروض تبسيط تصميمي (Stylization) لشكل هلامي منحنٍ أكثر تعقيدًا. ورغم مظهره المضغوط تساوي مساحة الورق مساحة المكعّب الأصلي.</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يمكن عرض العبوات الحقيقية في القاعة إن توفرت، وسؤال الطلاب: أي تقنية من تقنيات المحاضرة تفسّر هذا الشكل؟</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الإجابات: ١) ضغط الخط بأداة طي لا قطعه. ٢) فوق الرسم كي تتجه الشفرة إن انزلقت نحو الورق الزائد. ٣) سبعة أوجه. ٤) ٨٠°، ولا يُنصح بما دون ٧٠°. ٥) ١٢٫٦ سم. ٦) لأنها تعمل في أزواج متعاكسة.</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395B1D-719A-CF4F-92FF-162875E97953}"/>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1C30851-694D-F543-9CA3-5D3D9CC9D062}"/>
              </a:ext>
            </a:extLst>
          </p:cNvPr>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EB75FB5-0BB6-2843-9EFC-989F05E8D9A9}"/>
              </a:ext>
            </a:extLst>
          </p:cNvPr>
          <p:cNvSpPr>
            <a:spLocks noGrp="1"/>
          </p:cNvSpPr>
          <p:nvPr>
            <p:ph type="dt" sz="half" idx="10"/>
          </p:nvPr>
        </p:nvSpPr>
        <p:spPr>
          <a:xfrm>
            <a:off x="838200" y="6356350"/>
            <a:ext cx="2743200" cy="365125"/>
          </a:xfrm>
          <a:prstGeom prst="rect">
            <a:avLst/>
          </a:prstGeom>
        </p:spPr>
        <p:txBody>
          <a:bodyPr/>
          <a:lstStyle/>
          <a:p>
            <a:fld id="{8BA932CB-382F-4B55-8C01-EB744FF02002}" type="datetime1">
              <a:rPr lang="en-US" smtClean="0"/>
              <a:t>8/29/26</a:t>
            </a:fld>
            <a:endParaRPr lang="en-US"/>
          </a:p>
        </p:txBody>
      </p:sp>
      <p:sp>
        <p:nvSpPr>
          <p:cNvPr id="5" name="Footer Placeholder 4">
            <a:extLst>
              <a:ext uri="{FF2B5EF4-FFF2-40B4-BE49-F238E27FC236}">
                <a16:creationId xmlns:a16="http://schemas.microsoft.com/office/drawing/2014/main" id="{E5C1ECF2-D22D-8947-9222-E1B3916639C8}"/>
              </a:ext>
            </a:extLst>
          </p:cNvPr>
          <p:cNvSpPr>
            <a:spLocks noGrp="1"/>
          </p:cNvSpPr>
          <p:nvPr>
            <p:ph type="ftr" sz="quarter" idx="11"/>
          </p:nvPr>
        </p:nvSpPr>
        <p:spPr>
          <a:xfrm>
            <a:off x="4038600" y="6356350"/>
            <a:ext cx="4114800" cy="365125"/>
          </a:xfrm>
          <a:prstGeom prst="rect">
            <a:avLst/>
          </a:prstGeom>
        </p:spPr>
        <p:txBody>
          <a:bodyPr/>
          <a:lstStyle/>
          <a:p>
            <a:r>
              <a:rPr lang="ar-SA"/>
              <a:t>برنامج التصميم الجرافيكي - المستوى الخامس</a:t>
            </a:r>
            <a:endParaRPr lang="en-US"/>
          </a:p>
        </p:txBody>
      </p:sp>
      <p:sp>
        <p:nvSpPr>
          <p:cNvPr id="6" name="Slide Number Placeholder 5">
            <a:extLst>
              <a:ext uri="{FF2B5EF4-FFF2-40B4-BE49-F238E27FC236}">
                <a16:creationId xmlns:a16="http://schemas.microsoft.com/office/drawing/2014/main" id="{8D4D2911-EE2E-D84D-9A62-8FEEF522D599}"/>
              </a:ext>
            </a:extLst>
          </p:cNvPr>
          <p:cNvSpPr>
            <a:spLocks noGrp="1"/>
          </p:cNvSpPr>
          <p:nvPr>
            <p:ph type="sldNum" sz="quarter" idx="12"/>
          </p:nvPr>
        </p:nvSpPr>
        <p:spPr>
          <a:xfrm>
            <a:off x="8610600" y="6356350"/>
            <a:ext cx="2743200" cy="365125"/>
          </a:xfrm>
          <a:prstGeom prst="rect">
            <a:avLst/>
          </a:prstGeom>
        </p:spPr>
        <p:txBody>
          <a:bodyPr/>
          <a:lstStyle>
            <a:lvl1pPr marL="228600" indent="-228600" algn="l" rtl="1">
              <a:buFont typeface="+mj-lt"/>
              <a:buAutoNum type="arabicPeriod"/>
              <a:defRPr/>
            </a:lvl1pPr>
          </a:lstStyle>
          <a:p>
            <a:pPr algn="r"/>
            <a:endParaRPr lang="en-US" dirty="0"/>
          </a:p>
        </p:txBody>
      </p:sp>
    </p:spTree>
    <p:extLst>
      <p:ext uri="{BB962C8B-B14F-4D97-AF65-F5344CB8AC3E}">
        <p14:creationId xmlns:p14="http://schemas.microsoft.com/office/powerpoint/2010/main" val="36350669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8CC063-0CF1-EC48-81D1-35B818B1D6BE}"/>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BCFB4FE0-2CE3-F14A-A915-58BB58A3ADB4}"/>
              </a:ext>
            </a:extLst>
          </p:cNvPr>
          <p:cNvSpPr>
            <a:spLocks noGrp="1"/>
          </p:cNvSpPr>
          <p:nvPr>
            <p:ph idx="1"/>
          </p:nvPr>
        </p:nvSpPr>
        <p:spPr>
          <a:xfrm>
            <a:off x="838200" y="1825625"/>
            <a:ext cx="10515600" cy="435133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5BA1504-DA7E-384B-976C-D6302E486157}"/>
              </a:ext>
            </a:extLst>
          </p:cNvPr>
          <p:cNvSpPr>
            <a:spLocks noGrp="1"/>
          </p:cNvSpPr>
          <p:nvPr>
            <p:ph type="dt" sz="half" idx="10"/>
          </p:nvPr>
        </p:nvSpPr>
        <p:spPr>
          <a:xfrm>
            <a:off x="838200" y="6356350"/>
            <a:ext cx="2743200" cy="365125"/>
          </a:xfrm>
          <a:prstGeom prst="rect">
            <a:avLst/>
          </a:prstGeom>
        </p:spPr>
        <p:txBody>
          <a:bodyPr/>
          <a:lstStyle/>
          <a:p>
            <a:fld id="{6DEADBA5-6346-4B36-B068-0CCAF43B940A}" type="datetime1">
              <a:rPr lang="en-US" smtClean="0"/>
              <a:t>8/29/26</a:t>
            </a:fld>
            <a:endParaRPr lang="en-US"/>
          </a:p>
        </p:txBody>
      </p:sp>
      <p:sp>
        <p:nvSpPr>
          <p:cNvPr id="5" name="Footer Placeholder 4">
            <a:extLst>
              <a:ext uri="{FF2B5EF4-FFF2-40B4-BE49-F238E27FC236}">
                <a16:creationId xmlns:a16="http://schemas.microsoft.com/office/drawing/2014/main" id="{0B77A406-9FA9-3E4A-BBEF-A2B1113E1127}"/>
              </a:ext>
            </a:extLst>
          </p:cNvPr>
          <p:cNvSpPr>
            <a:spLocks noGrp="1"/>
          </p:cNvSpPr>
          <p:nvPr>
            <p:ph type="ftr" sz="quarter" idx="11"/>
          </p:nvPr>
        </p:nvSpPr>
        <p:spPr>
          <a:xfrm>
            <a:off x="4038600" y="6356350"/>
            <a:ext cx="4114800" cy="365125"/>
          </a:xfrm>
          <a:prstGeom prst="rect">
            <a:avLst/>
          </a:prstGeom>
        </p:spPr>
        <p:txBody>
          <a:bodyPr/>
          <a:lstStyle/>
          <a:p>
            <a:r>
              <a:rPr lang="ar-SA"/>
              <a:t>برنامج التصميم الجرافيكي - المستوى الخامس</a:t>
            </a:r>
            <a:endParaRPr lang="en-US"/>
          </a:p>
        </p:txBody>
      </p:sp>
      <p:sp>
        <p:nvSpPr>
          <p:cNvPr id="6" name="Slide Number Placeholder 5">
            <a:extLst>
              <a:ext uri="{FF2B5EF4-FFF2-40B4-BE49-F238E27FC236}">
                <a16:creationId xmlns:a16="http://schemas.microsoft.com/office/drawing/2014/main" id="{C7D281EC-403D-314E-A6D2-6343BAF449A7}"/>
              </a:ext>
            </a:extLst>
          </p:cNvPr>
          <p:cNvSpPr>
            <a:spLocks noGrp="1"/>
          </p:cNvSpPr>
          <p:nvPr>
            <p:ph type="sldNum" sz="quarter" idx="12"/>
          </p:nvPr>
        </p:nvSpPr>
        <p:spPr>
          <a:xfrm>
            <a:off x="8610600" y="6356350"/>
            <a:ext cx="2743200" cy="365125"/>
          </a:xfrm>
          <a:prstGeom prst="rect">
            <a:avLst/>
          </a:prstGeom>
        </p:spPr>
        <p:txBody>
          <a:bodyPr/>
          <a:lstStyle/>
          <a:p>
            <a:fld id="{581E6A32-401E-CF4D-886B-1F343C82E98B}" type="slidenum">
              <a:rPr lang="en-US" smtClean="0"/>
              <a:t>‹#›</a:t>
            </a:fld>
            <a:endParaRPr lang="en-US"/>
          </a:p>
        </p:txBody>
      </p:sp>
    </p:spTree>
    <p:extLst>
      <p:ext uri="{BB962C8B-B14F-4D97-AF65-F5344CB8AC3E}">
        <p14:creationId xmlns:p14="http://schemas.microsoft.com/office/powerpoint/2010/main" val="19816519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2D03C-7784-F045-A002-1F918E04A1C4}"/>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ACBDC39-B769-3243-9924-9522E0969232}"/>
              </a:ext>
            </a:extLst>
          </p:cNvPr>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3EA62A36-1213-FF4B-BF7F-4645AD71D1A8}"/>
              </a:ext>
            </a:extLst>
          </p:cNvPr>
          <p:cNvSpPr>
            <a:spLocks noGrp="1"/>
          </p:cNvSpPr>
          <p:nvPr>
            <p:ph type="dt" sz="half" idx="10"/>
          </p:nvPr>
        </p:nvSpPr>
        <p:spPr>
          <a:xfrm>
            <a:off x="838200" y="6356350"/>
            <a:ext cx="2743200" cy="365125"/>
          </a:xfrm>
          <a:prstGeom prst="rect">
            <a:avLst/>
          </a:prstGeom>
        </p:spPr>
        <p:txBody>
          <a:bodyPr/>
          <a:lstStyle/>
          <a:p>
            <a:fld id="{FB0297A9-FD26-487D-BF7C-39F0BFEDAE3A}" type="datetime1">
              <a:rPr lang="en-US" smtClean="0"/>
              <a:t>8/29/26</a:t>
            </a:fld>
            <a:endParaRPr lang="en-US"/>
          </a:p>
        </p:txBody>
      </p:sp>
      <p:sp>
        <p:nvSpPr>
          <p:cNvPr id="5" name="Footer Placeholder 4">
            <a:extLst>
              <a:ext uri="{FF2B5EF4-FFF2-40B4-BE49-F238E27FC236}">
                <a16:creationId xmlns:a16="http://schemas.microsoft.com/office/drawing/2014/main" id="{263E88B2-7F8B-714B-B041-612AE5DF16B5}"/>
              </a:ext>
            </a:extLst>
          </p:cNvPr>
          <p:cNvSpPr>
            <a:spLocks noGrp="1"/>
          </p:cNvSpPr>
          <p:nvPr>
            <p:ph type="ftr" sz="quarter" idx="11"/>
          </p:nvPr>
        </p:nvSpPr>
        <p:spPr>
          <a:xfrm>
            <a:off x="4038600" y="6356350"/>
            <a:ext cx="4114800" cy="365125"/>
          </a:xfrm>
          <a:prstGeom prst="rect">
            <a:avLst/>
          </a:prstGeom>
        </p:spPr>
        <p:txBody>
          <a:bodyPr/>
          <a:lstStyle/>
          <a:p>
            <a:r>
              <a:rPr lang="ar-SA"/>
              <a:t>برنامج التصميم الجرافيكي - المستوى الخامس</a:t>
            </a:r>
            <a:endParaRPr lang="en-US"/>
          </a:p>
        </p:txBody>
      </p:sp>
      <p:sp>
        <p:nvSpPr>
          <p:cNvPr id="6" name="Slide Number Placeholder 5">
            <a:extLst>
              <a:ext uri="{FF2B5EF4-FFF2-40B4-BE49-F238E27FC236}">
                <a16:creationId xmlns:a16="http://schemas.microsoft.com/office/drawing/2014/main" id="{9CC4B896-2ECF-694E-A27F-F43BC08ACBE8}"/>
              </a:ext>
            </a:extLst>
          </p:cNvPr>
          <p:cNvSpPr>
            <a:spLocks noGrp="1"/>
          </p:cNvSpPr>
          <p:nvPr>
            <p:ph type="sldNum" sz="quarter" idx="12"/>
          </p:nvPr>
        </p:nvSpPr>
        <p:spPr>
          <a:xfrm>
            <a:off x="8610600" y="6356350"/>
            <a:ext cx="2743200" cy="365125"/>
          </a:xfrm>
          <a:prstGeom prst="rect">
            <a:avLst/>
          </a:prstGeom>
        </p:spPr>
        <p:txBody>
          <a:bodyPr/>
          <a:lstStyle/>
          <a:p>
            <a:fld id="{581E6A32-401E-CF4D-886B-1F343C82E98B}" type="slidenum">
              <a:rPr lang="en-US" smtClean="0"/>
              <a:t>‹#›</a:t>
            </a:fld>
            <a:endParaRPr lang="en-US"/>
          </a:p>
        </p:txBody>
      </p:sp>
    </p:spTree>
    <p:extLst>
      <p:ext uri="{BB962C8B-B14F-4D97-AF65-F5344CB8AC3E}">
        <p14:creationId xmlns:p14="http://schemas.microsoft.com/office/powerpoint/2010/main" val="9449689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F96D4E-C006-8D45-9771-C77F3362EC37}"/>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35DE6859-C198-CE4A-9141-C652BA7066FD}"/>
              </a:ext>
            </a:extLst>
          </p:cNvPr>
          <p:cNvSpPr>
            <a:spLocks noGrp="1"/>
          </p:cNvSpPr>
          <p:nvPr>
            <p:ph sz="half" idx="1"/>
          </p:nvPr>
        </p:nvSpPr>
        <p:spPr>
          <a:xfrm>
            <a:off x="838200" y="1825625"/>
            <a:ext cx="5181600" cy="435133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261CD53-E384-244B-BE3B-FFBBE38E08C6}"/>
              </a:ext>
            </a:extLst>
          </p:cNvPr>
          <p:cNvSpPr>
            <a:spLocks noGrp="1"/>
          </p:cNvSpPr>
          <p:nvPr>
            <p:ph sz="half" idx="2"/>
          </p:nvPr>
        </p:nvSpPr>
        <p:spPr>
          <a:xfrm>
            <a:off x="6172200" y="1825625"/>
            <a:ext cx="5181600" cy="435133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D9622CB-E528-5947-A85B-F3F5E2C5F547}"/>
              </a:ext>
            </a:extLst>
          </p:cNvPr>
          <p:cNvSpPr>
            <a:spLocks noGrp="1"/>
          </p:cNvSpPr>
          <p:nvPr>
            <p:ph type="dt" sz="half" idx="10"/>
          </p:nvPr>
        </p:nvSpPr>
        <p:spPr>
          <a:xfrm>
            <a:off x="838200" y="6356350"/>
            <a:ext cx="2743200" cy="365125"/>
          </a:xfrm>
          <a:prstGeom prst="rect">
            <a:avLst/>
          </a:prstGeom>
        </p:spPr>
        <p:txBody>
          <a:bodyPr/>
          <a:lstStyle/>
          <a:p>
            <a:fld id="{6BE6DAA6-6496-4381-A216-D2E192C84EDB}" type="datetime1">
              <a:rPr lang="en-US" smtClean="0"/>
              <a:t>8/29/26</a:t>
            </a:fld>
            <a:endParaRPr lang="en-US"/>
          </a:p>
        </p:txBody>
      </p:sp>
      <p:sp>
        <p:nvSpPr>
          <p:cNvPr id="6" name="Footer Placeholder 5">
            <a:extLst>
              <a:ext uri="{FF2B5EF4-FFF2-40B4-BE49-F238E27FC236}">
                <a16:creationId xmlns:a16="http://schemas.microsoft.com/office/drawing/2014/main" id="{3C9DD693-0C22-3C4D-BF84-1CDC54FF1F6A}"/>
              </a:ext>
            </a:extLst>
          </p:cNvPr>
          <p:cNvSpPr>
            <a:spLocks noGrp="1"/>
          </p:cNvSpPr>
          <p:nvPr>
            <p:ph type="ftr" sz="quarter" idx="11"/>
          </p:nvPr>
        </p:nvSpPr>
        <p:spPr>
          <a:xfrm>
            <a:off x="4038600" y="6356350"/>
            <a:ext cx="4114800" cy="365125"/>
          </a:xfrm>
          <a:prstGeom prst="rect">
            <a:avLst/>
          </a:prstGeom>
        </p:spPr>
        <p:txBody>
          <a:bodyPr/>
          <a:lstStyle/>
          <a:p>
            <a:r>
              <a:rPr lang="ar-SA"/>
              <a:t>برنامج التصميم الجرافيكي - المستوى الخامس</a:t>
            </a:r>
            <a:endParaRPr lang="en-US"/>
          </a:p>
        </p:txBody>
      </p:sp>
      <p:sp>
        <p:nvSpPr>
          <p:cNvPr id="7" name="Slide Number Placeholder 6">
            <a:extLst>
              <a:ext uri="{FF2B5EF4-FFF2-40B4-BE49-F238E27FC236}">
                <a16:creationId xmlns:a16="http://schemas.microsoft.com/office/drawing/2014/main" id="{D560C669-0EE1-3549-AA32-0CF2A935F366}"/>
              </a:ext>
            </a:extLst>
          </p:cNvPr>
          <p:cNvSpPr>
            <a:spLocks noGrp="1"/>
          </p:cNvSpPr>
          <p:nvPr>
            <p:ph type="sldNum" sz="quarter" idx="12"/>
          </p:nvPr>
        </p:nvSpPr>
        <p:spPr>
          <a:xfrm>
            <a:off x="8610600" y="6356350"/>
            <a:ext cx="2743200" cy="365125"/>
          </a:xfrm>
          <a:prstGeom prst="rect">
            <a:avLst/>
          </a:prstGeom>
        </p:spPr>
        <p:txBody>
          <a:bodyPr/>
          <a:lstStyle/>
          <a:p>
            <a:fld id="{581E6A32-401E-CF4D-886B-1F343C82E98B}" type="slidenum">
              <a:rPr lang="en-US" smtClean="0"/>
              <a:t>‹#›</a:t>
            </a:fld>
            <a:endParaRPr lang="en-US"/>
          </a:p>
        </p:txBody>
      </p:sp>
    </p:spTree>
    <p:extLst>
      <p:ext uri="{BB962C8B-B14F-4D97-AF65-F5344CB8AC3E}">
        <p14:creationId xmlns:p14="http://schemas.microsoft.com/office/powerpoint/2010/main" val="17504631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CF22C6-D053-D143-809F-54C40B7E1AF7}"/>
              </a:ext>
            </a:extLst>
          </p:cNvPr>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A03CC6D9-EA3C-4C4D-8E87-E77AF3223D01}"/>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EBD73C27-06DF-9F43-92C1-1B9E85122D3C}"/>
              </a:ext>
            </a:extLst>
          </p:cNvPr>
          <p:cNvSpPr>
            <a:spLocks noGrp="1"/>
          </p:cNvSpPr>
          <p:nvPr>
            <p:ph sz="half" idx="2"/>
          </p:nvPr>
        </p:nvSpPr>
        <p:spPr>
          <a:xfrm>
            <a:off x="839788" y="2505075"/>
            <a:ext cx="5157787" cy="368458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560B757-C458-9E45-9662-D43535C4FE44}"/>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9C3000C6-E367-9048-9ECC-CC9D94459762}"/>
              </a:ext>
            </a:extLst>
          </p:cNvPr>
          <p:cNvSpPr>
            <a:spLocks noGrp="1"/>
          </p:cNvSpPr>
          <p:nvPr>
            <p:ph sz="quarter" idx="4"/>
          </p:nvPr>
        </p:nvSpPr>
        <p:spPr>
          <a:xfrm>
            <a:off x="6172200" y="2505075"/>
            <a:ext cx="5183188" cy="368458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CFF696B-0A9F-6943-BDDB-F15E36B79809}"/>
              </a:ext>
            </a:extLst>
          </p:cNvPr>
          <p:cNvSpPr>
            <a:spLocks noGrp="1"/>
          </p:cNvSpPr>
          <p:nvPr>
            <p:ph type="dt" sz="half" idx="10"/>
          </p:nvPr>
        </p:nvSpPr>
        <p:spPr>
          <a:xfrm>
            <a:off x="838200" y="6356350"/>
            <a:ext cx="2743200" cy="365125"/>
          </a:xfrm>
          <a:prstGeom prst="rect">
            <a:avLst/>
          </a:prstGeom>
        </p:spPr>
        <p:txBody>
          <a:bodyPr/>
          <a:lstStyle/>
          <a:p>
            <a:fld id="{1A84317A-23C7-43CF-84C0-E7949A0EEEC1}" type="datetime1">
              <a:rPr lang="en-US" smtClean="0"/>
              <a:t>8/29/26</a:t>
            </a:fld>
            <a:endParaRPr lang="en-US"/>
          </a:p>
        </p:txBody>
      </p:sp>
      <p:sp>
        <p:nvSpPr>
          <p:cNvPr id="8" name="Footer Placeholder 7">
            <a:extLst>
              <a:ext uri="{FF2B5EF4-FFF2-40B4-BE49-F238E27FC236}">
                <a16:creationId xmlns:a16="http://schemas.microsoft.com/office/drawing/2014/main" id="{81C31820-BF02-4248-BC1F-4295A75AA6BE}"/>
              </a:ext>
            </a:extLst>
          </p:cNvPr>
          <p:cNvSpPr>
            <a:spLocks noGrp="1"/>
          </p:cNvSpPr>
          <p:nvPr>
            <p:ph type="ftr" sz="quarter" idx="11"/>
          </p:nvPr>
        </p:nvSpPr>
        <p:spPr>
          <a:xfrm>
            <a:off x="4038600" y="6356350"/>
            <a:ext cx="4114800" cy="365125"/>
          </a:xfrm>
          <a:prstGeom prst="rect">
            <a:avLst/>
          </a:prstGeom>
        </p:spPr>
        <p:txBody>
          <a:bodyPr/>
          <a:lstStyle/>
          <a:p>
            <a:r>
              <a:rPr lang="ar-SA"/>
              <a:t>برنامج التصميم الجرافيكي - المستوى الخامس</a:t>
            </a:r>
            <a:endParaRPr lang="en-US"/>
          </a:p>
        </p:txBody>
      </p:sp>
      <p:sp>
        <p:nvSpPr>
          <p:cNvPr id="9" name="Slide Number Placeholder 8">
            <a:extLst>
              <a:ext uri="{FF2B5EF4-FFF2-40B4-BE49-F238E27FC236}">
                <a16:creationId xmlns:a16="http://schemas.microsoft.com/office/drawing/2014/main" id="{4EB86F3B-68E8-5C4B-90C1-FAC02EB2A12E}"/>
              </a:ext>
            </a:extLst>
          </p:cNvPr>
          <p:cNvSpPr>
            <a:spLocks noGrp="1"/>
          </p:cNvSpPr>
          <p:nvPr>
            <p:ph type="sldNum" sz="quarter" idx="12"/>
          </p:nvPr>
        </p:nvSpPr>
        <p:spPr>
          <a:xfrm>
            <a:off x="8610600" y="6356350"/>
            <a:ext cx="2743200" cy="365125"/>
          </a:xfrm>
          <a:prstGeom prst="rect">
            <a:avLst/>
          </a:prstGeom>
        </p:spPr>
        <p:txBody>
          <a:bodyPr/>
          <a:lstStyle/>
          <a:p>
            <a:fld id="{581E6A32-401E-CF4D-886B-1F343C82E98B}" type="slidenum">
              <a:rPr lang="en-US" smtClean="0"/>
              <a:t>‹#›</a:t>
            </a:fld>
            <a:endParaRPr lang="en-US"/>
          </a:p>
        </p:txBody>
      </p:sp>
    </p:spTree>
    <p:extLst>
      <p:ext uri="{BB962C8B-B14F-4D97-AF65-F5344CB8AC3E}">
        <p14:creationId xmlns:p14="http://schemas.microsoft.com/office/powerpoint/2010/main" val="559219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114EBE-511D-A14D-A485-F2D099AB4846}"/>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a:extLst>
              <a:ext uri="{FF2B5EF4-FFF2-40B4-BE49-F238E27FC236}">
                <a16:creationId xmlns:a16="http://schemas.microsoft.com/office/drawing/2014/main" id="{49F9DAD5-D1DB-EE45-A2CF-C16477BC6224}"/>
              </a:ext>
            </a:extLst>
          </p:cNvPr>
          <p:cNvSpPr>
            <a:spLocks noGrp="1"/>
          </p:cNvSpPr>
          <p:nvPr>
            <p:ph type="dt" sz="half" idx="10"/>
          </p:nvPr>
        </p:nvSpPr>
        <p:spPr>
          <a:xfrm>
            <a:off x="838200" y="6356350"/>
            <a:ext cx="2743200" cy="365125"/>
          </a:xfrm>
          <a:prstGeom prst="rect">
            <a:avLst/>
          </a:prstGeom>
        </p:spPr>
        <p:txBody>
          <a:bodyPr/>
          <a:lstStyle/>
          <a:p>
            <a:fld id="{E61B70F4-2ADC-4968-894A-168A515CD00F}" type="datetime1">
              <a:rPr lang="en-US" smtClean="0"/>
              <a:t>8/29/26</a:t>
            </a:fld>
            <a:endParaRPr lang="en-US"/>
          </a:p>
        </p:txBody>
      </p:sp>
      <p:sp>
        <p:nvSpPr>
          <p:cNvPr id="4" name="Footer Placeholder 3">
            <a:extLst>
              <a:ext uri="{FF2B5EF4-FFF2-40B4-BE49-F238E27FC236}">
                <a16:creationId xmlns:a16="http://schemas.microsoft.com/office/drawing/2014/main" id="{1A9B2BBE-A804-6A4F-9EA0-9AFD447876EE}"/>
              </a:ext>
            </a:extLst>
          </p:cNvPr>
          <p:cNvSpPr>
            <a:spLocks noGrp="1"/>
          </p:cNvSpPr>
          <p:nvPr>
            <p:ph type="ftr" sz="quarter" idx="11"/>
          </p:nvPr>
        </p:nvSpPr>
        <p:spPr>
          <a:xfrm>
            <a:off x="4038600" y="6356350"/>
            <a:ext cx="4114800" cy="365125"/>
          </a:xfrm>
          <a:prstGeom prst="rect">
            <a:avLst/>
          </a:prstGeom>
        </p:spPr>
        <p:txBody>
          <a:bodyPr/>
          <a:lstStyle/>
          <a:p>
            <a:r>
              <a:rPr lang="ar-SA"/>
              <a:t>برنامج التصميم الجرافيكي - المستوى الخامس</a:t>
            </a:r>
            <a:endParaRPr lang="en-US"/>
          </a:p>
        </p:txBody>
      </p:sp>
      <p:sp>
        <p:nvSpPr>
          <p:cNvPr id="5" name="Slide Number Placeholder 4">
            <a:extLst>
              <a:ext uri="{FF2B5EF4-FFF2-40B4-BE49-F238E27FC236}">
                <a16:creationId xmlns:a16="http://schemas.microsoft.com/office/drawing/2014/main" id="{B1EE21E9-C4E6-4F44-AE67-862133FBE8D6}"/>
              </a:ext>
            </a:extLst>
          </p:cNvPr>
          <p:cNvSpPr>
            <a:spLocks noGrp="1"/>
          </p:cNvSpPr>
          <p:nvPr>
            <p:ph type="sldNum" sz="quarter" idx="12"/>
          </p:nvPr>
        </p:nvSpPr>
        <p:spPr>
          <a:xfrm>
            <a:off x="8610600" y="6356350"/>
            <a:ext cx="2743200" cy="365125"/>
          </a:xfrm>
          <a:prstGeom prst="rect">
            <a:avLst/>
          </a:prstGeom>
        </p:spPr>
        <p:txBody>
          <a:bodyPr/>
          <a:lstStyle/>
          <a:p>
            <a:fld id="{581E6A32-401E-CF4D-886B-1F343C82E98B}" type="slidenum">
              <a:rPr lang="en-US" smtClean="0"/>
              <a:t>‹#›</a:t>
            </a:fld>
            <a:endParaRPr lang="en-US"/>
          </a:p>
        </p:txBody>
      </p:sp>
    </p:spTree>
    <p:extLst>
      <p:ext uri="{BB962C8B-B14F-4D97-AF65-F5344CB8AC3E}">
        <p14:creationId xmlns:p14="http://schemas.microsoft.com/office/powerpoint/2010/main" val="2600045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38EA237-DB10-6343-9513-6F6F466CECDC}"/>
              </a:ext>
            </a:extLst>
          </p:cNvPr>
          <p:cNvSpPr>
            <a:spLocks noGrp="1"/>
          </p:cNvSpPr>
          <p:nvPr>
            <p:ph type="dt" sz="half" idx="10"/>
          </p:nvPr>
        </p:nvSpPr>
        <p:spPr>
          <a:xfrm>
            <a:off x="838200" y="6356350"/>
            <a:ext cx="2743200" cy="365125"/>
          </a:xfrm>
          <a:prstGeom prst="rect">
            <a:avLst/>
          </a:prstGeom>
        </p:spPr>
        <p:txBody>
          <a:bodyPr/>
          <a:lstStyle/>
          <a:p>
            <a:fld id="{80527E97-0D0F-4F25-94B2-511CFB784A61}" type="datetime1">
              <a:rPr lang="en-US" smtClean="0"/>
              <a:t>8/29/26</a:t>
            </a:fld>
            <a:endParaRPr lang="en-US"/>
          </a:p>
        </p:txBody>
      </p:sp>
      <p:sp>
        <p:nvSpPr>
          <p:cNvPr id="3" name="Footer Placeholder 2">
            <a:extLst>
              <a:ext uri="{FF2B5EF4-FFF2-40B4-BE49-F238E27FC236}">
                <a16:creationId xmlns:a16="http://schemas.microsoft.com/office/drawing/2014/main" id="{3BC2839F-65CA-EA47-91F3-FA59AF2F327B}"/>
              </a:ext>
            </a:extLst>
          </p:cNvPr>
          <p:cNvSpPr>
            <a:spLocks noGrp="1"/>
          </p:cNvSpPr>
          <p:nvPr>
            <p:ph type="ftr" sz="quarter" idx="11"/>
          </p:nvPr>
        </p:nvSpPr>
        <p:spPr>
          <a:xfrm>
            <a:off x="4038600" y="6356350"/>
            <a:ext cx="4114800" cy="365125"/>
          </a:xfrm>
          <a:prstGeom prst="rect">
            <a:avLst/>
          </a:prstGeom>
        </p:spPr>
        <p:txBody>
          <a:bodyPr/>
          <a:lstStyle/>
          <a:p>
            <a:r>
              <a:rPr lang="ar-SA"/>
              <a:t>برنامج التصميم الجرافيكي - المستوى الخامس</a:t>
            </a:r>
            <a:endParaRPr lang="en-US"/>
          </a:p>
        </p:txBody>
      </p:sp>
      <p:sp>
        <p:nvSpPr>
          <p:cNvPr id="4" name="Slide Number Placeholder 3">
            <a:extLst>
              <a:ext uri="{FF2B5EF4-FFF2-40B4-BE49-F238E27FC236}">
                <a16:creationId xmlns:a16="http://schemas.microsoft.com/office/drawing/2014/main" id="{711568A4-56E2-6746-B167-BC75B74B1F15}"/>
              </a:ext>
            </a:extLst>
          </p:cNvPr>
          <p:cNvSpPr>
            <a:spLocks noGrp="1"/>
          </p:cNvSpPr>
          <p:nvPr>
            <p:ph type="sldNum" sz="quarter" idx="12"/>
          </p:nvPr>
        </p:nvSpPr>
        <p:spPr>
          <a:xfrm>
            <a:off x="8610600" y="6356350"/>
            <a:ext cx="2743200" cy="365125"/>
          </a:xfrm>
          <a:prstGeom prst="rect">
            <a:avLst/>
          </a:prstGeom>
        </p:spPr>
        <p:txBody>
          <a:bodyPr/>
          <a:lstStyle/>
          <a:p>
            <a:fld id="{581E6A32-401E-CF4D-886B-1F343C82E98B}" type="slidenum">
              <a:rPr lang="en-US" smtClean="0"/>
              <a:t>‹#›</a:t>
            </a:fld>
            <a:endParaRPr lang="en-US"/>
          </a:p>
        </p:txBody>
      </p:sp>
    </p:spTree>
    <p:extLst>
      <p:ext uri="{BB962C8B-B14F-4D97-AF65-F5344CB8AC3E}">
        <p14:creationId xmlns:p14="http://schemas.microsoft.com/office/powerpoint/2010/main" val="11552278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ACBE66-AAC5-D249-B7D9-2C06C9249FAE}"/>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F94C034-F466-BC44-8CB8-F94D2C1CC40B}"/>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A1AE357-EE97-C745-821A-899A56D338F4}"/>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3490B094-318C-5C4D-9217-21257B60E346}"/>
              </a:ext>
            </a:extLst>
          </p:cNvPr>
          <p:cNvSpPr>
            <a:spLocks noGrp="1"/>
          </p:cNvSpPr>
          <p:nvPr>
            <p:ph type="dt" sz="half" idx="10"/>
          </p:nvPr>
        </p:nvSpPr>
        <p:spPr>
          <a:xfrm>
            <a:off x="838200" y="6356350"/>
            <a:ext cx="2743200" cy="365125"/>
          </a:xfrm>
          <a:prstGeom prst="rect">
            <a:avLst/>
          </a:prstGeom>
        </p:spPr>
        <p:txBody>
          <a:bodyPr/>
          <a:lstStyle/>
          <a:p>
            <a:fld id="{CE1A1EED-5468-4662-9116-EA324E72E27D}" type="datetime1">
              <a:rPr lang="en-US" smtClean="0"/>
              <a:t>8/29/26</a:t>
            </a:fld>
            <a:endParaRPr lang="en-US"/>
          </a:p>
        </p:txBody>
      </p:sp>
      <p:sp>
        <p:nvSpPr>
          <p:cNvPr id="6" name="Footer Placeholder 5">
            <a:extLst>
              <a:ext uri="{FF2B5EF4-FFF2-40B4-BE49-F238E27FC236}">
                <a16:creationId xmlns:a16="http://schemas.microsoft.com/office/drawing/2014/main" id="{53659FD8-B6EE-4846-A5E7-E6113CD88110}"/>
              </a:ext>
            </a:extLst>
          </p:cNvPr>
          <p:cNvSpPr>
            <a:spLocks noGrp="1"/>
          </p:cNvSpPr>
          <p:nvPr>
            <p:ph type="ftr" sz="quarter" idx="11"/>
          </p:nvPr>
        </p:nvSpPr>
        <p:spPr>
          <a:xfrm>
            <a:off x="4038600" y="6356350"/>
            <a:ext cx="4114800" cy="365125"/>
          </a:xfrm>
          <a:prstGeom prst="rect">
            <a:avLst/>
          </a:prstGeom>
        </p:spPr>
        <p:txBody>
          <a:bodyPr/>
          <a:lstStyle/>
          <a:p>
            <a:r>
              <a:rPr lang="ar-SA"/>
              <a:t>برنامج التصميم الجرافيكي - المستوى الخامس</a:t>
            </a:r>
            <a:endParaRPr lang="en-US"/>
          </a:p>
        </p:txBody>
      </p:sp>
      <p:sp>
        <p:nvSpPr>
          <p:cNvPr id="7" name="Slide Number Placeholder 6">
            <a:extLst>
              <a:ext uri="{FF2B5EF4-FFF2-40B4-BE49-F238E27FC236}">
                <a16:creationId xmlns:a16="http://schemas.microsoft.com/office/drawing/2014/main" id="{6F246591-DE00-4D4A-9B41-813AEA448918}"/>
              </a:ext>
            </a:extLst>
          </p:cNvPr>
          <p:cNvSpPr>
            <a:spLocks noGrp="1"/>
          </p:cNvSpPr>
          <p:nvPr>
            <p:ph type="sldNum" sz="quarter" idx="12"/>
          </p:nvPr>
        </p:nvSpPr>
        <p:spPr>
          <a:xfrm>
            <a:off x="8610600" y="6356350"/>
            <a:ext cx="2743200" cy="365125"/>
          </a:xfrm>
          <a:prstGeom prst="rect">
            <a:avLst/>
          </a:prstGeom>
        </p:spPr>
        <p:txBody>
          <a:bodyPr/>
          <a:lstStyle/>
          <a:p>
            <a:fld id="{581E6A32-401E-CF4D-886B-1F343C82E98B}" type="slidenum">
              <a:rPr lang="en-US" smtClean="0"/>
              <a:t>‹#›</a:t>
            </a:fld>
            <a:endParaRPr lang="en-US"/>
          </a:p>
        </p:txBody>
      </p:sp>
    </p:spTree>
    <p:extLst>
      <p:ext uri="{BB962C8B-B14F-4D97-AF65-F5344CB8AC3E}">
        <p14:creationId xmlns:p14="http://schemas.microsoft.com/office/powerpoint/2010/main" val="14551376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8B65E9-0D75-2845-89B4-31BEEF76F611}"/>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BC22A3C-F646-514E-83DC-4E923202CFC6}"/>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263BC2D-5DAE-6640-9824-650C4BE7739D}"/>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2BA8E1E5-B4EE-C24A-9234-35BBFF0BCCB6}"/>
              </a:ext>
            </a:extLst>
          </p:cNvPr>
          <p:cNvSpPr>
            <a:spLocks noGrp="1"/>
          </p:cNvSpPr>
          <p:nvPr>
            <p:ph type="dt" sz="half" idx="10"/>
          </p:nvPr>
        </p:nvSpPr>
        <p:spPr>
          <a:xfrm>
            <a:off x="838200" y="6356350"/>
            <a:ext cx="2743200" cy="365125"/>
          </a:xfrm>
          <a:prstGeom prst="rect">
            <a:avLst/>
          </a:prstGeom>
        </p:spPr>
        <p:txBody>
          <a:bodyPr/>
          <a:lstStyle/>
          <a:p>
            <a:fld id="{87D82976-136B-45A3-BE74-AF47A0873794}" type="datetime1">
              <a:rPr lang="en-US" smtClean="0"/>
              <a:t>8/29/26</a:t>
            </a:fld>
            <a:endParaRPr lang="en-US"/>
          </a:p>
        </p:txBody>
      </p:sp>
      <p:sp>
        <p:nvSpPr>
          <p:cNvPr id="6" name="Footer Placeholder 5">
            <a:extLst>
              <a:ext uri="{FF2B5EF4-FFF2-40B4-BE49-F238E27FC236}">
                <a16:creationId xmlns:a16="http://schemas.microsoft.com/office/drawing/2014/main" id="{B843CD61-1855-064B-8C88-185ECE7B1C59}"/>
              </a:ext>
            </a:extLst>
          </p:cNvPr>
          <p:cNvSpPr>
            <a:spLocks noGrp="1"/>
          </p:cNvSpPr>
          <p:nvPr>
            <p:ph type="ftr" sz="quarter" idx="11"/>
          </p:nvPr>
        </p:nvSpPr>
        <p:spPr>
          <a:xfrm>
            <a:off x="4038600" y="6356350"/>
            <a:ext cx="4114800" cy="365125"/>
          </a:xfrm>
          <a:prstGeom prst="rect">
            <a:avLst/>
          </a:prstGeom>
        </p:spPr>
        <p:txBody>
          <a:bodyPr/>
          <a:lstStyle/>
          <a:p>
            <a:r>
              <a:rPr lang="ar-SA"/>
              <a:t>برنامج التصميم الجرافيكي - المستوى الخامس</a:t>
            </a:r>
            <a:endParaRPr lang="en-US"/>
          </a:p>
        </p:txBody>
      </p:sp>
      <p:sp>
        <p:nvSpPr>
          <p:cNvPr id="7" name="Slide Number Placeholder 6">
            <a:extLst>
              <a:ext uri="{FF2B5EF4-FFF2-40B4-BE49-F238E27FC236}">
                <a16:creationId xmlns:a16="http://schemas.microsoft.com/office/drawing/2014/main" id="{3246B2A3-DACB-994E-A6F9-896A62735539}"/>
              </a:ext>
            </a:extLst>
          </p:cNvPr>
          <p:cNvSpPr>
            <a:spLocks noGrp="1"/>
          </p:cNvSpPr>
          <p:nvPr>
            <p:ph type="sldNum" sz="quarter" idx="12"/>
          </p:nvPr>
        </p:nvSpPr>
        <p:spPr>
          <a:xfrm>
            <a:off x="8610600" y="6356350"/>
            <a:ext cx="2743200" cy="365125"/>
          </a:xfrm>
          <a:prstGeom prst="rect">
            <a:avLst/>
          </a:prstGeom>
        </p:spPr>
        <p:txBody>
          <a:bodyPr/>
          <a:lstStyle/>
          <a:p>
            <a:fld id="{581E6A32-401E-CF4D-886B-1F343C82E98B}" type="slidenum">
              <a:rPr lang="en-US" smtClean="0"/>
              <a:t>‹#›</a:t>
            </a:fld>
            <a:endParaRPr lang="en-US"/>
          </a:p>
        </p:txBody>
      </p:sp>
    </p:spTree>
    <p:extLst>
      <p:ext uri="{BB962C8B-B14F-4D97-AF65-F5344CB8AC3E}">
        <p14:creationId xmlns:p14="http://schemas.microsoft.com/office/powerpoint/2010/main" val="20254912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D9FF93-C82F-3441-A9FD-C3DAF66513F4}"/>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AA9E963-5C99-9440-A23E-5DF26D5F5C90}"/>
              </a:ext>
            </a:extLst>
          </p:cNvPr>
          <p:cNvSpPr>
            <a:spLocks noGrp="1"/>
          </p:cNvSpPr>
          <p:nvPr>
            <p:ph type="body" orient="vert" idx="1"/>
          </p:nvPr>
        </p:nvSpPr>
        <p:spPr>
          <a:xfrm>
            <a:off x="838200" y="1825625"/>
            <a:ext cx="10515600" cy="4351338"/>
          </a:xfrm>
          <a:prstGeom prst="rect">
            <a:avLst/>
          </a:prstGeo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4937B26-4382-A648-9F91-4C61986B009F}"/>
              </a:ext>
            </a:extLst>
          </p:cNvPr>
          <p:cNvSpPr>
            <a:spLocks noGrp="1"/>
          </p:cNvSpPr>
          <p:nvPr>
            <p:ph type="dt" sz="half" idx="10"/>
          </p:nvPr>
        </p:nvSpPr>
        <p:spPr>
          <a:xfrm>
            <a:off x="838200" y="6356350"/>
            <a:ext cx="2743200" cy="365125"/>
          </a:xfrm>
          <a:prstGeom prst="rect">
            <a:avLst/>
          </a:prstGeom>
        </p:spPr>
        <p:txBody>
          <a:bodyPr/>
          <a:lstStyle/>
          <a:p>
            <a:fld id="{25B967AB-6CBB-4FFA-80BE-668735DAF57C}" type="datetime1">
              <a:rPr lang="en-US" smtClean="0"/>
              <a:t>8/29/26</a:t>
            </a:fld>
            <a:endParaRPr lang="en-US"/>
          </a:p>
        </p:txBody>
      </p:sp>
      <p:sp>
        <p:nvSpPr>
          <p:cNvPr id="5" name="Footer Placeholder 4">
            <a:extLst>
              <a:ext uri="{FF2B5EF4-FFF2-40B4-BE49-F238E27FC236}">
                <a16:creationId xmlns:a16="http://schemas.microsoft.com/office/drawing/2014/main" id="{F34F3DC5-9E54-7C4C-85B5-4E83289C8125}"/>
              </a:ext>
            </a:extLst>
          </p:cNvPr>
          <p:cNvSpPr>
            <a:spLocks noGrp="1"/>
          </p:cNvSpPr>
          <p:nvPr>
            <p:ph type="ftr" sz="quarter" idx="11"/>
          </p:nvPr>
        </p:nvSpPr>
        <p:spPr>
          <a:xfrm>
            <a:off x="4038600" y="6356350"/>
            <a:ext cx="4114800" cy="365125"/>
          </a:xfrm>
          <a:prstGeom prst="rect">
            <a:avLst/>
          </a:prstGeom>
        </p:spPr>
        <p:txBody>
          <a:bodyPr/>
          <a:lstStyle/>
          <a:p>
            <a:r>
              <a:rPr lang="ar-SA"/>
              <a:t>برنامج التصميم الجرافيكي - المستوى الخامس</a:t>
            </a:r>
            <a:endParaRPr lang="en-US"/>
          </a:p>
        </p:txBody>
      </p:sp>
      <p:sp>
        <p:nvSpPr>
          <p:cNvPr id="6" name="Slide Number Placeholder 5">
            <a:extLst>
              <a:ext uri="{FF2B5EF4-FFF2-40B4-BE49-F238E27FC236}">
                <a16:creationId xmlns:a16="http://schemas.microsoft.com/office/drawing/2014/main" id="{8B2E6178-F519-1E48-92C6-D0E47439138B}"/>
              </a:ext>
            </a:extLst>
          </p:cNvPr>
          <p:cNvSpPr>
            <a:spLocks noGrp="1"/>
          </p:cNvSpPr>
          <p:nvPr>
            <p:ph type="sldNum" sz="quarter" idx="12"/>
          </p:nvPr>
        </p:nvSpPr>
        <p:spPr>
          <a:xfrm>
            <a:off x="8610600" y="6356350"/>
            <a:ext cx="2743200" cy="365125"/>
          </a:xfrm>
          <a:prstGeom prst="rect">
            <a:avLst/>
          </a:prstGeom>
        </p:spPr>
        <p:txBody>
          <a:bodyPr/>
          <a:lstStyle/>
          <a:p>
            <a:fld id="{581E6A32-401E-CF4D-886B-1F343C82E98B}" type="slidenum">
              <a:rPr lang="en-US" smtClean="0"/>
              <a:t>‹#›</a:t>
            </a:fld>
            <a:endParaRPr lang="en-US"/>
          </a:p>
        </p:txBody>
      </p:sp>
    </p:spTree>
    <p:extLst>
      <p:ext uri="{BB962C8B-B14F-4D97-AF65-F5344CB8AC3E}">
        <p14:creationId xmlns:p14="http://schemas.microsoft.com/office/powerpoint/2010/main" val="21601545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912978B-FCD2-2045-85F0-1A14DE5CB5E0}"/>
              </a:ext>
            </a:extLst>
          </p:cNvPr>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9FB10E8-067B-2C48-B702-967E01DD84B6}"/>
              </a:ext>
            </a:extLst>
          </p:cNvPr>
          <p:cNvSpPr>
            <a:spLocks noGrp="1"/>
          </p:cNvSpPr>
          <p:nvPr>
            <p:ph type="body" orient="vert" idx="1"/>
          </p:nvPr>
        </p:nvSpPr>
        <p:spPr>
          <a:xfrm>
            <a:off x="838200" y="365125"/>
            <a:ext cx="7734300" cy="5811838"/>
          </a:xfrm>
          <a:prstGeom prst="rect">
            <a:avLst/>
          </a:prstGeo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E5F7474-7BF7-8848-8A5E-943CAEF7B509}"/>
              </a:ext>
            </a:extLst>
          </p:cNvPr>
          <p:cNvSpPr>
            <a:spLocks noGrp="1"/>
          </p:cNvSpPr>
          <p:nvPr>
            <p:ph type="dt" sz="half" idx="10"/>
          </p:nvPr>
        </p:nvSpPr>
        <p:spPr>
          <a:xfrm>
            <a:off x="838200" y="6356350"/>
            <a:ext cx="2743200" cy="365125"/>
          </a:xfrm>
          <a:prstGeom prst="rect">
            <a:avLst/>
          </a:prstGeom>
        </p:spPr>
        <p:txBody>
          <a:bodyPr/>
          <a:lstStyle/>
          <a:p>
            <a:fld id="{B7B49DCA-0B0C-490D-9170-2EBC047E1017}" type="datetime1">
              <a:rPr lang="en-US" smtClean="0"/>
              <a:t>8/29/26</a:t>
            </a:fld>
            <a:endParaRPr lang="en-US"/>
          </a:p>
        </p:txBody>
      </p:sp>
      <p:sp>
        <p:nvSpPr>
          <p:cNvPr id="5" name="Footer Placeholder 4">
            <a:extLst>
              <a:ext uri="{FF2B5EF4-FFF2-40B4-BE49-F238E27FC236}">
                <a16:creationId xmlns:a16="http://schemas.microsoft.com/office/drawing/2014/main" id="{BAFEE781-F8D4-3A47-B4CF-BE796E445F0C}"/>
              </a:ext>
            </a:extLst>
          </p:cNvPr>
          <p:cNvSpPr>
            <a:spLocks noGrp="1"/>
          </p:cNvSpPr>
          <p:nvPr>
            <p:ph type="ftr" sz="quarter" idx="11"/>
          </p:nvPr>
        </p:nvSpPr>
        <p:spPr>
          <a:xfrm>
            <a:off x="4038600" y="6356350"/>
            <a:ext cx="4114800" cy="365125"/>
          </a:xfrm>
          <a:prstGeom prst="rect">
            <a:avLst/>
          </a:prstGeom>
        </p:spPr>
        <p:txBody>
          <a:bodyPr/>
          <a:lstStyle/>
          <a:p>
            <a:r>
              <a:rPr lang="ar-SA"/>
              <a:t>برنامج التصميم الجرافيكي - المستوى الخامس</a:t>
            </a:r>
            <a:endParaRPr lang="en-US"/>
          </a:p>
        </p:txBody>
      </p:sp>
      <p:sp>
        <p:nvSpPr>
          <p:cNvPr id="6" name="Slide Number Placeholder 5">
            <a:extLst>
              <a:ext uri="{FF2B5EF4-FFF2-40B4-BE49-F238E27FC236}">
                <a16:creationId xmlns:a16="http://schemas.microsoft.com/office/drawing/2014/main" id="{AF7C0E21-9A27-AB48-A677-0FCAD06A0459}"/>
              </a:ext>
            </a:extLst>
          </p:cNvPr>
          <p:cNvSpPr>
            <a:spLocks noGrp="1"/>
          </p:cNvSpPr>
          <p:nvPr>
            <p:ph type="sldNum" sz="quarter" idx="12"/>
          </p:nvPr>
        </p:nvSpPr>
        <p:spPr>
          <a:xfrm>
            <a:off x="8610600" y="6356350"/>
            <a:ext cx="2743200" cy="365125"/>
          </a:xfrm>
          <a:prstGeom prst="rect">
            <a:avLst/>
          </a:prstGeom>
        </p:spPr>
        <p:txBody>
          <a:bodyPr/>
          <a:lstStyle/>
          <a:p>
            <a:fld id="{581E6A32-401E-CF4D-886B-1F343C82E98B}" type="slidenum">
              <a:rPr lang="en-US" smtClean="0"/>
              <a:t>‹#›</a:t>
            </a:fld>
            <a:endParaRPr lang="en-US"/>
          </a:p>
        </p:txBody>
      </p:sp>
    </p:spTree>
    <p:extLst>
      <p:ext uri="{BB962C8B-B14F-4D97-AF65-F5344CB8AC3E}">
        <p14:creationId xmlns:p14="http://schemas.microsoft.com/office/powerpoint/2010/main" val="146180736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Title Placeholder 1">
            <a:extLst>
              <a:ext uri="{FF2B5EF4-FFF2-40B4-BE49-F238E27FC236}">
                <a16:creationId xmlns:a16="http://schemas.microsoft.com/office/drawing/2014/main" id="{50CBAF2A-1BA4-EDEB-C3AE-3FCA48001454}"/>
              </a:ext>
            </a:extLst>
          </p:cNvPr>
          <p:cNvSpPr>
            <a:spLocks noGrp="1"/>
          </p:cNvSpPr>
          <p:nvPr>
            <p:ph type="title"/>
          </p:nvPr>
        </p:nvSpPr>
        <p:spPr>
          <a:xfrm>
            <a:off x="838200" y="1504950"/>
            <a:ext cx="10515600" cy="976312"/>
          </a:xfrm>
          <a:prstGeom prst="rect">
            <a:avLst/>
          </a:prstGeom>
        </p:spPr>
        <p:txBody>
          <a:bodyPr vert="horz" lIns="91440" tIns="45720" rIns="91440" bIns="45720" rtlCol="0" anchor="ctr">
            <a:normAutofit/>
          </a:bodyPr>
          <a:lstStyle/>
          <a:p>
            <a:r>
              <a:rPr lang="en-US" dirty="0"/>
              <a:t>Click to edit Master title style</a:t>
            </a:r>
          </a:p>
        </p:txBody>
      </p:sp>
      <p:sp>
        <p:nvSpPr>
          <p:cNvPr id="8" name="Text Placeholder 2">
            <a:extLst>
              <a:ext uri="{FF2B5EF4-FFF2-40B4-BE49-F238E27FC236}">
                <a16:creationId xmlns:a16="http://schemas.microsoft.com/office/drawing/2014/main" id="{D9BAD7FB-C18B-8746-EE3B-F73AC891F639}"/>
              </a:ext>
            </a:extLst>
          </p:cNvPr>
          <p:cNvSpPr>
            <a:spLocks noGrp="1"/>
          </p:cNvSpPr>
          <p:nvPr>
            <p:ph type="body" idx="1"/>
          </p:nvPr>
        </p:nvSpPr>
        <p:spPr>
          <a:xfrm>
            <a:off x="838200" y="2711449"/>
            <a:ext cx="10515600" cy="3236913"/>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Date Placeholder 3">
            <a:extLst>
              <a:ext uri="{FF2B5EF4-FFF2-40B4-BE49-F238E27FC236}">
                <a16:creationId xmlns:a16="http://schemas.microsoft.com/office/drawing/2014/main" id="{DF8C289F-6F88-6C1A-E408-749908346D8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47403A2-7C00-4E7B-9B12-0162AA911228}" type="datetime1">
              <a:rPr lang="en-US" smtClean="0"/>
              <a:t>8/29/26</a:t>
            </a:fld>
            <a:endParaRPr lang="en-US"/>
          </a:p>
        </p:txBody>
      </p:sp>
      <p:sp>
        <p:nvSpPr>
          <p:cNvPr id="10" name="Footer Placeholder 4">
            <a:extLst>
              <a:ext uri="{FF2B5EF4-FFF2-40B4-BE49-F238E27FC236}">
                <a16:creationId xmlns:a16="http://schemas.microsoft.com/office/drawing/2014/main" id="{0C2AA6E4-D910-BEBC-BBF3-DF05934FC0D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000">
                <a:solidFill>
                  <a:schemeClr val="tx1">
                    <a:tint val="75000"/>
                  </a:schemeClr>
                </a:solidFill>
                <a:latin typeface="GE Dinar One" panose="020A0503020102020204" pitchFamily="18" charset="-78"/>
                <a:ea typeface="GE Dinar One" panose="020A0503020102020204" pitchFamily="18" charset="-78"/>
                <a:cs typeface="GE Dinar One" panose="020A0503020102020204" pitchFamily="18" charset="-78"/>
              </a:defRPr>
            </a:lvl1pPr>
          </a:lstStyle>
          <a:p>
            <a:r>
              <a:rPr lang="ar-SA" dirty="0"/>
              <a:t>برنامج التصميم الجرافيكي - المستوى السابع</a:t>
            </a:r>
            <a:endParaRPr lang="en-US" dirty="0"/>
          </a:p>
        </p:txBody>
      </p:sp>
      <p:sp>
        <p:nvSpPr>
          <p:cNvPr id="11" name="Slide Number Placeholder 5">
            <a:extLst>
              <a:ext uri="{FF2B5EF4-FFF2-40B4-BE49-F238E27FC236}">
                <a16:creationId xmlns:a16="http://schemas.microsoft.com/office/drawing/2014/main" id="{8F3F3AF2-D3E0-15A1-2C5A-A79ECC8B509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r>
              <a:rPr lang="en-US" dirty="0"/>
              <a:t>334 GPC –Advertising Design</a:t>
            </a:r>
          </a:p>
        </p:txBody>
      </p:sp>
      <p:pic>
        <p:nvPicPr>
          <p:cNvPr id="12" name="Picture 11" descr="A black background with a black square&#10;&#10;Description automatically generated with medium confidence">
            <a:extLst>
              <a:ext uri="{FF2B5EF4-FFF2-40B4-BE49-F238E27FC236}">
                <a16:creationId xmlns:a16="http://schemas.microsoft.com/office/drawing/2014/main" id="{CCF9A999-8AEC-9C77-D955-F69D61AD288B}"/>
              </a:ext>
            </a:extLst>
          </p:cNvPr>
          <p:cNvPicPr>
            <a:picLocks noChangeAspect="1"/>
          </p:cNvPicPr>
          <p:nvPr userDrawn="1"/>
        </p:nvPicPr>
        <p:blipFill>
          <a:blip r:embed="rId13"/>
          <a:stretch>
            <a:fillRect/>
          </a:stretch>
        </p:blipFill>
        <p:spPr>
          <a:xfrm>
            <a:off x="11123785" y="402363"/>
            <a:ext cx="460030" cy="720000"/>
          </a:xfrm>
          <a:prstGeom prst="rect">
            <a:avLst/>
          </a:prstGeom>
        </p:spPr>
      </p:pic>
      <p:cxnSp>
        <p:nvCxnSpPr>
          <p:cNvPr id="13" name="Straight Connector 12">
            <a:extLst>
              <a:ext uri="{FF2B5EF4-FFF2-40B4-BE49-F238E27FC236}">
                <a16:creationId xmlns:a16="http://schemas.microsoft.com/office/drawing/2014/main" id="{5E392E98-9E2E-F723-EDD1-6E661E95F3B0}"/>
              </a:ext>
            </a:extLst>
          </p:cNvPr>
          <p:cNvCxnSpPr>
            <a:cxnSpLocks/>
          </p:cNvCxnSpPr>
          <p:nvPr userDrawn="1"/>
        </p:nvCxnSpPr>
        <p:spPr>
          <a:xfrm flipH="1">
            <a:off x="419100" y="6296025"/>
            <a:ext cx="11353800" cy="0"/>
          </a:xfrm>
          <a:prstGeom prst="line">
            <a:avLst/>
          </a:prstGeom>
        </p:spPr>
        <p:style>
          <a:lnRef idx="1">
            <a:schemeClr val="dk1"/>
          </a:lnRef>
          <a:fillRef idx="0">
            <a:schemeClr val="dk1"/>
          </a:fillRef>
          <a:effectRef idx="0">
            <a:schemeClr val="dk1"/>
          </a:effectRef>
          <a:fontRef idx="minor">
            <a:schemeClr val="tx1"/>
          </a:fontRef>
        </p:style>
      </p:cxnSp>
      <p:sp>
        <p:nvSpPr>
          <p:cNvPr id="14" name="TextBox 13">
            <a:extLst>
              <a:ext uri="{FF2B5EF4-FFF2-40B4-BE49-F238E27FC236}">
                <a16:creationId xmlns:a16="http://schemas.microsoft.com/office/drawing/2014/main" id="{BA59E9B4-2072-7E36-C73D-F228C5C765F9}"/>
              </a:ext>
            </a:extLst>
          </p:cNvPr>
          <p:cNvSpPr txBox="1"/>
          <p:nvPr userDrawn="1"/>
        </p:nvSpPr>
        <p:spPr>
          <a:xfrm>
            <a:off x="10001828" y="536723"/>
            <a:ext cx="1074332" cy="461665"/>
          </a:xfrm>
          <a:prstGeom prst="rect">
            <a:avLst/>
          </a:prstGeom>
          <a:noFill/>
        </p:spPr>
        <p:txBody>
          <a:bodyPr wrap="none" rtlCol="0">
            <a:spAutoFit/>
          </a:bodyPr>
          <a:lstStyle/>
          <a:p>
            <a:pPr algn="r" rtl="1"/>
            <a:r>
              <a:rPr lang="ar-SA" sz="1200" dirty="0">
                <a:latin typeface="GE Dinar One" panose="020A0503020102020204" pitchFamily="18" charset="-78"/>
                <a:ea typeface="GE Dinar One" panose="020A0503020102020204" pitchFamily="18" charset="-78"/>
                <a:cs typeface="GE Dinar One" panose="020A0503020102020204" pitchFamily="18" charset="-78"/>
              </a:rPr>
              <a:t>كلية الفنون</a:t>
            </a:r>
          </a:p>
          <a:p>
            <a:pPr algn="r" rtl="1"/>
            <a:r>
              <a:rPr lang="ar-SA" sz="1200" dirty="0">
                <a:latin typeface="GE Dinar One" panose="020A0503020102020204" pitchFamily="18" charset="-78"/>
                <a:ea typeface="GE Dinar One" panose="020A0503020102020204" pitchFamily="18" charset="-78"/>
                <a:cs typeface="GE Dinar One" panose="020A0503020102020204" pitchFamily="18" charset="-78"/>
              </a:rPr>
              <a:t>قسم التصميم</a:t>
            </a:r>
            <a:endParaRPr lang="en-GB" sz="1200" dirty="0">
              <a:latin typeface="GE Dinar One" panose="020A0503020102020204" pitchFamily="18" charset="-78"/>
              <a:ea typeface="GE Dinar One" panose="020A0503020102020204" pitchFamily="18" charset="-78"/>
              <a:cs typeface="GE Dinar One" panose="020A0503020102020204" pitchFamily="18" charset="-78"/>
            </a:endParaRPr>
          </a:p>
        </p:txBody>
      </p:sp>
      <p:sp>
        <p:nvSpPr>
          <p:cNvPr id="2" name="TextBox 1">
            <a:extLst>
              <a:ext uri="{FF2B5EF4-FFF2-40B4-BE49-F238E27FC236}">
                <a16:creationId xmlns:a16="http://schemas.microsoft.com/office/drawing/2014/main" id="{927FB34A-3019-4A0D-6648-F86EAC55AD6C}"/>
              </a:ext>
            </a:extLst>
          </p:cNvPr>
          <p:cNvSpPr txBox="1"/>
          <p:nvPr userDrawn="1"/>
        </p:nvSpPr>
        <p:spPr>
          <a:xfrm>
            <a:off x="696285" y="493278"/>
            <a:ext cx="1456365" cy="338554"/>
          </a:xfrm>
          <a:prstGeom prst="rect">
            <a:avLst/>
          </a:prstGeom>
          <a:noFill/>
        </p:spPr>
        <p:txBody>
          <a:bodyPr wrap="square">
            <a:spAutoFit/>
          </a:bodyPr>
          <a:lstStyle/>
          <a:p>
            <a:pPr algn="ctr" rtl="1"/>
            <a:r>
              <a:rPr lang="ar-SA" sz="800" dirty="0">
                <a:solidFill>
                  <a:schemeClr val="tx1">
                    <a:lumMod val="50000"/>
                    <a:lumOff val="50000"/>
                  </a:schemeClr>
                </a:solidFill>
                <a:latin typeface="GE Dinar One" panose="020A0503020102020204" pitchFamily="18" charset="-78"/>
                <a:ea typeface="GE Dinar One" panose="020A0503020102020204" pitchFamily="18" charset="-78"/>
                <a:cs typeface="GE Dinar One" panose="020A0503020102020204" pitchFamily="18" charset="-78"/>
              </a:rPr>
              <a:t>٣٣٠ جفك تصميم المغلفات</a:t>
            </a:r>
          </a:p>
          <a:p>
            <a:pPr marL="0" marR="0" lvl="0" indent="0" algn="ctr" defTabSz="914400" rtl="1" eaLnBrk="1" fontAlgn="auto" latinLnBrk="0" hangingPunct="1">
              <a:lnSpc>
                <a:spcPct val="100000"/>
              </a:lnSpc>
              <a:spcBef>
                <a:spcPts val="0"/>
              </a:spcBef>
              <a:spcAft>
                <a:spcPts val="0"/>
              </a:spcAft>
              <a:buClrTx/>
              <a:buSzTx/>
              <a:buFontTx/>
              <a:buNone/>
              <a:tabLst/>
              <a:defRPr/>
            </a:pPr>
            <a:r>
              <a:rPr lang="en-US" sz="800" dirty="0">
                <a:solidFill>
                  <a:schemeClr val="tx1">
                    <a:lumMod val="50000"/>
                    <a:lumOff val="50000"/>
                  </a:schemeClr>
                </a:solidFill>
                <a:latin typeface="+mn-lt"/>
                <a:ea typeface="GE Dinar One" panose="020A0503020102020204" pitchFamily="18" charset="-78"/>
                <a:cs typeface="GE Dinar One" panose="020A0503020102020204" pitchFamily="18" charset="-78"/>
              </a:rPr>
              <a:t>330 GPC Packaging Design</a:t>
            </a:r>
            <a:endParaRPr lang="ar-SA" sz="800" dirty="0">
              <a:solidFill>
                <a:schemeClr val="tx1">
                  <a:lumMod val="50000"/>
                  <a:lumOff val="50000"/>
                </a:schemeClr>
              </a:solidFill>
              <a:latin typeface="+mn-lt"/>
              <a:ea typeface="GE Dinar One" panose="020A0503020102020204" pitchFamily="18" charset="-78"/>
              <a:cs typeface="GE Dinar One" panose="020A0503020102020204" pitchFamily="18" charset="-78"/>
            </a:endParaRPr>
          </a:p>
        </p:txBody>
      </p:sp>
      <p:sp>
        <p:nvSpPr>
          <p:cNvPr id="3" name="TextBox 2">
            <a:extLst>
              <a:ext uri="{FF2B5EF4-FFF2-40B4-BE49-F238E27FC236}">
                <a16:creationId xmlns:a16="http://schemas.microsoft.com/office/drawing/2014/main" id="{A4DEF6D6-B38C-E645-34D6-5A26D793929E}"/>
              </a:ext>
            </a:extLst>
          </p:cNvPr>
          <p:cNvSpPr txBox="1"/>
          <p:nvPr userDrawn="1"/>
        </p:nvSpPr>
        <p:spPr>
          <a:xfrm>
            <a:off x="456139" y="400945"/>
            <a:ext cx="385042" cy="523220"/>
          </a:xfrm>
          <a:prstGeom prst="rect">
            <a:avLst/>
          </a:prstGeom>
          <a:noFill/>
        </p:spPr>
        <p:txBody>
          <a:bodyPr wrap="none" rtlCol="0">
            <a:spAutoFit/>
          </a:bodyPr>
          <a:lstStyle/>
          <a:p>
            <a:pPr marL="0" algn="l" defTabSz="914400" rtl="0" eaLnBrk="1" latinLnBrk="0" hangingPunct="1"/>
            <a:r>
              <a:rPr lang="en-US" sz="2800" b="0" i="0" dirty="0">
                <a:solidFill>
                  <a:schemeClr val="tx1">
                    <a:lumMod val="50000"/>
                    <a:lumOff val="50000"/>
                  </a:schemeClr>
                </a:solidFill>
                <a:latin typeface="Avenir Medium" panose="02000503020000020003" pitchFamily="2" charset="0"/>
                <a:cs typeface="+mj-cs"/>
              </a:rPr>
              <a:t>6</a:t>
            </a:r>
            <a:endParaRPr lang="en-SA" sz="2800" b="0" i="0" dirty="0">
              <a:solidFill>
                <a:schemeClr val="tx1">
                  <a:lumMod val="50000"/>
                  <a:lumOff val="50000"/>
                </a:schemeClr>
              </a:solidFill>
              <a:latin typeface="Avenir Medium" panose="02000503020000020003" pitchFamily="2" charset="0"/>
              <a:cs typeface="+mj-cs"/>
            </a:endParaRPr>
          </a:p>
        </p:txBody>
      </p:sp>
    </p:spTree>
    <p:extLst>
      <p:ext uri="{BB962C8B-B14F-4D97-AF65-F5344CB8AC3E}">
        <p14:creationId xmlns:p14="http://schemas.microsoft.com/office/powerpoint/2010/main" val="207540959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r" defTabSz="914400" rtl="1" eaLnBrk="1" latinLnBrk="0" hangingPunct="1">
        <a:lnSpc>
          <a:spcPct val="90000"/>
        </a:lnSpc>
        <a:spcBef>
          <a:spcPct val="0"/>
        </a:spcBef>
        <a:buNone/>
        <a:defRPr sz="4400" kern="1200">
          <a:solidFill>
            <a:schemeClr val="tx1"/>
          </a:solidFill>
          <a:latin typeface="Sakkal Majalla" panose="02000000000000000000" pitchFamily="2" charset="-78"/>
          <a:ea typeface="+mj-ea"/>
          <a:cs typeface="Sakkal Majalla" panose="02000000000000000000" pitchFamily="2" charset="-78"/>
        </a:defRPr>
      </a:lvl1pPr>
    </p:titleStyle>
    <p:body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Sakkal Majalla" panose="02000000000000000000" pitchFamily="2" charset="-78"/>
          <a:ea typeface="+mn-ea"/>
          <a:cs typeface="Sakkal Majalla" panose="02000000000000000000" pitchFamily="2" charset="-78"/>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Sakkal Majalla" panose="02000000000000000000" pitchFamily="2" charset="-78"/>
          <a:ea typeface="+mn-ea"/>
          <a:cs typeface="Sakkal Majalla" panose="02000000000000000000" pitchFamily="2" charset="-78"/>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Sakkal Majalla" panose="02000000000000000000" pitchFamily="2" charset="-78"/>
          <a:ea typeface="+mn-ea"/>
          <a:cs typeface="Sakkal Majalla" panose="02000000000000000000" pitchFamily="2" charset="-78"/>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Sakkal Majalla" panose="02000000000000000000" pitchFamily="2" charset="-78"/>
          <a:ea typeface="+mn-ea"/>
          <a:cs typeface="Sakkal Majalla" panose="02000000000000000000" pitchFamily="2" charset="-78"/>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Sakkal Majalla" panose="02000000000000000000" pitchFamily="2" charset="-78"/>
          <a:ea typeface="+mn-ea"/>
          <a:cs typeface="Sakkal Majalla" panose="02000000000000000000" pitchFamily="2" charset="-78"/>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jpeg"/><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7.png"/><Relationship Id="rId3" Type="http://schemas.openxmlformats.org/officeDocument/2006/relationships/image" Target="../media/image1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9.png"/><Relationship Id="rId3" Type="http://schemas.openxmlformats.org/officeDocument/2006/relationships/image" Target="../media/image2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695A86-478A-71C3-B781-91B8C540C0E2}"/>
              </a:ext>
            </a:extLst>
          </p:cNvPr>
          <p:cNvSpPr>
            <a:spLocks noGrp="1"/>
          </p:cNvSpPr>
          <p:nvPr>
            <p:ph type="ctrTitle"/>
          </p:nvPr>
        </p:nvSpPr>
        <p:spPr>
          <a:xfrm>
            <a:off x="5181600" y="1302658"/>
            <a:ext cx="4604657" cy="2387600"/>
          </a:xfrm>
        </p:spPr>
        <p:txBody>
          <a:bodyPr>
            <a:normAutofit/>
          </a:bodyPr>
          <a:lstStyle/>
          <a:p>
            <a:r>
              <a:rPr lang="ar-SA" sz="4000" b="1" dirty="0"/>
              <a:t>من المكعّب إلى العبوة</a:t>
            </a:r>
            <a:r>
              <a:rPr lang="en-US" sz="4000" b="1" dirty="0"/>
              <a:t/>
            </a:r>
            <a:r>
              <a:rPr lang="ar-SA" sz="4000" b="1" dirty="0"/>
              <a:t/>
            </a:r>
            <a:endParaRPr lang="en-GB" sz="4000" dirty="0"/>
          </a:p>
        </p:txBody>
      </p:sp>
      <p:sp>
        <p:nvSpPr>
          <p:cNvPr id="3" name="Subtitle 2">
            <a:extLst>
              <a:ext uri="{FF2B5EF4-FFF2-40B4-BE49-F238E27FC236}">
                <a16:creationId xmlns:a16="http://schemas.microsoft.com/office/drawing/2014/main" id="{3976FDC2-234A-44A1-C967-179A0C8EFCC8}"/>
              </a:ext>
            </a:extLst>
          </p:cNvPr>
          <p:cNvSpPr>
            <a:spLocks noGrp="1"/>
          </p:cNvSpPr>
          <p:nvPr>
            <p:ph type="subTitle" idx="1"/>
          </p:nvPr>
        </p:nvSpPr>
        <p:spPr>
          <a:xfrm>
            <a:off x="3135085" y="3678237"/>
            <a:ext cx="9144000" cy="1655762"/>
          </a:xfrm>
        </p:spPr>
        <p:txBody>
          <a:bodyPr anchor="t">
            <a:normAutofit/>
          </a:bodyPr>
          <a:lstStyle/>
          <a:p>
            <a:pPr marL="0" indent="0" algn="ctr" defTabSz="914400" rtl="1" eaLnBrk="1" latinLnBrk="0" hangingPunct="1">
              <a:lnSpc>
                <a:spcPct val="90000"/>
              </a:lnSpc>
              <a:spcBef>
                <a:spcPts val="1000"/>
              </a:spcBef>
              <a:buFont typeface="Arial" panose="020B0604020202020204" pitchFamily="34" charset="0"/>
              <a:buNone/>
            </a:pPr>
            <a:r>
              <a:rPr lang="ar-SA" sz="2000" b="1" dirty="0">
                <a:solidFill>
                  <a:schemeClr val="bg1">
                    <a:lumMod val="50000"/>
                  </a:schemeClr>
                </a:solidFill>
              </a:rPr>
              <a:t>أعداد: أنوره السعدون</a:t>
            </a:r>
          </a:p>
        </p:txBody>
      </p:sp>
      <p:sp>
        <p:nvSpPr>
          <p:cNvPr id="4" name="Footer Placeholder 3">
            <a:extLst>
              <a:ext uri="{FF2B5EF4-FFF2-40B4-BE49-F238E27FC236}">
                <a16:creationId xmlns:a16="http://schemas.microsoft.com/office/drawing/2014/main" id="{714C6116-B646-777F-65B1-F0C3109564C4}"/>
              </a:ext>
            </a:extLst>
          </p:cNvPr>
          <p:cNvSpPr>
            <a:spLocks noGrp="1"/>
          </p:cNvSpPr>
          <p:nvPr>
            <p:ph type="ftr" sz="quarter" idx="11"/>
          </p:nvPr>
        </p:nvSpPr>
        <p:spPr>
          <a:xfrm>
            <a:off x="4038600" y="6356350"/>
            <a:ext cx="4114800" cy="365125"/>
          </a:xfrm>
        </p:spPr>
        <p:txBody>
          <a:bodyPr/>
          <a:lstStyle/>
          <a:p>
            <a:r>
              <a:rPr lang="ar-SA" dirty="0"/>
              <a:t>برنامج التصميم الجرافيكي - المستوى السادس</a:t>
            </a:r>
            <a:endParaRPr lang="en-US" dirty="0"/>
          </a:p>
        </p:txBody>
      </p:sp>
      <p:pic>
        <p:nvPicPr>
          <p:cNvPr id="5" name="Picture 4" descr="cover_portrait.png"/>
          <p:cNvPicPr>
            <a:picLocks noChangeAspect="1"/>
          </p:cNvPicPr>
          <p:nvPr/>
        </p:nvPicPr>
        <p:blipFill>
          <a:blip r:embed="rId3"/>
          <a:stretch>
            <a:fillRect/>
          </a:stretch>
        </p:blipFill>
        <p:spPr>
          <a:xfrm>
            <a:off x="2608970" y="1524001"/>
            <a:ext cx="2859259" cy="4332514"/>
          </a:xfrm>
          <a:prstGeom prst="rect">
            <a:avLst/>
          </a:prstGeom>
        </p:spPr>
      </p:pic>
    </p:spTree>
    <p:extLst>
      <p:ext uri="{BB962C8B-B14F-4D97-AF65-F5344CB8AC3E}">
        <p14:creationId xmlns:p14="http://schemas.microsoft.com/office/powerpoint/2010/main" val="31645199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435C85B-1FE3-EB4E-BB0D-284564032382}"/>
              </a:ext>
            </a:extLst>
          </p:cNvPr>
          <p:cNvSpPr>
            <a:spLocks noGrp="1"/>
          </p:cNvSpPr>
          <p:nvPr>
            <p:ph idx="1"/>
          </p:nvPr>
        </p:nvSpPr>
        <p:spPr>
          <a:xfrm>
            <a:off x="1040344" y="1600200"/>
            <a:ext cx="9873205" cy="4389120"/>
          </a:xfrm>
        </p:spPr>
        <p:txBody>
          <a:bodyPr anchor="ctr">
            <a:normAutofit/>
          </a:bodyPr>
          <a:lstStyle/>
          <a:p>
            <a:pPr marL="0" indent="0">
              <a:buNone/>
            </a:pPr>
            <a:r>
              <a:rPr lang="ar-SA" sz="2000" b="1"/>
              <a:t>مقدمة:</a:t>
            </a:r>
          </a:p>
          <a:p>
            <a:pPr marL="0" indent="0">
              <a:buNone/>
            </a:pPr>
            <a:r>
              <a:rPr lang="ar-SA" sz="2000"/>
              <a:t>يُعدّ المكعّب الشكل الأساسي الذي تنطلق منه معظم العبوات المتداولة في الأسواق. وتتناول هذه المحاضرة منهجية تحويل المكعّب، عبر عمليات القص والطي والتشكيل، إلى أشكال تغليف مبتكرة تحقق التميّز البصري على رفوف العرض، دون الحاجة إلى معرفة متقدمة بالهندسة الفراغية.</a:t>
            </a:r>
          </a:p>
        </p:txBody>
      </p:sp>
      <p:sp>
        <p:nvSpPr>
          <p:cNvPr id="15" name="Footer Placeholder 3">
            <a:extLst>
              <a:ext uri="{FF2B5EF4-FFF2-40B4-BE49-F238E27FC236}">
                <a16:creationId xmlns:a16="http://schemas.microsoft.com/office/drawing/2014/main" id="{CFE48E32-A7F6-E621-F2A2-8E8D30A65EAF}"/>
              </a:ext>
            </a:extLst>
          </p:cNvPr>
          <p:cNvSpPr>
            <a:spLocks noGrp="1"/>
          </p:cNvSpPr>
          <p:nvPr>
            <p:ph type="ftr" sz="quarter" idx="11"/>
          </p:nvPr>
        </p:nvSpPr>
        <p:spPr>
          <a:xfrm>
            <a:off x="4038600" y="6356350"/>
            <a:ext cx="4114800" cy="365125"/>
          </a:xfrm>
        </p:spPr>
        <p:txBody>
          <a:bodyPr/>
          <a:lstStyle/>
          <a:p>
            <a:r>
              <a:rPr lang="ar-SA" dirty="0"/>
              <a:t>برنامج التصميم الجرافيكي - المستوى السادس</a:t>
            </a:r>
            <a:endParaRPr lang="en-US" dirty="0"/>
          </a:p>
        </p:txBody>
      </p:sp>
    </p:spTree>
    <p:extLst>
      <p:ext uri="{BB962C8B-B14F-4D97-AF65-F5344CB8AC3E}">
        <p14:creationId xmlns:p14="http://schemas.microsoft.com/office/powerpoint/2010/main" val="3008581654"/>
      </p:ext>
    </p:extLst>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Content Placeholder 2"/>
          <p:cNvSpPr>
            <a:spLocks noGrp="1"/>
          </p:cNvSpPr>
          <p:nvPr>
            <p:ph idx="1"/>
          </p:nvPr>
        </p:nvSpPr>
        <p:spPr>
          <a:xfrm>
            <a:off x="1005840" y="1600200"/>
            <a:ext cx="10149840" cy="4389120"/>
          </a:xfrm>
        </p:spPr>
        <p:txBody>
          <a:bodyPr anchor="ctr">
            <a:normAutofit/>
          </a:bodyPr>
          <a:lstStyle/>
          <a:p>
            <a:pPr marL="0" indent="0">
              <a:buNone/>
            </a:pPr>
            <a:r>
              <a:rPr lang="ar-SA" sz="2000" b="1"/>
              <a:t>أهداف المحاضرة:</a:t>
            </a:r>
          </a:p>
          <a:p>
            <a:pPr marL="0" indent="0">
              <a:buNone/>
            </a:pPr>
            <a:r>
              <a:rPr lang="ar-SA" sz="2000"/>
              <a:t>يُتوقع من الطالب في نهاية المحاضرة أن يكون قادرًا على:</a:t>
            </a:r>
          </a:p>
          <a:p>
            <a:pPr/>
            <a:r>
              <a:rPr lang="ar-SA" sz="2000"/>
              <a:t>استخدام أدوات القص والطي استخدامًا دقيقًا وآمنًا.</a:t>
            </a:r>
          </a:p>
          <a:p>
            <a:pPr/>
            <a:r>
              <a:rPr lang="ar-SA" sz="2000"/>
              <a:t>تحليل المكعّب ومِفرَده بوصفه أساسًا للعبوة.</a:t>
            </a:r>
          </a:p>
          <a:p>
            <a:pPr/>
            <a:r>
              <a:rPr lang="ar-SA" sz="2000"/>
              <a:t>تطبيق الاستراتيجيات الثلاث لتشويه المكعّب.</a:t>
            </a:r>
          </a:p>
          <a:p>
            <a:pPr/>
            <a:r>
              <a:rPr lang="ar-SA" sz="2000"/>
              <a:t>رسم الطيات المنحنية وتنفيذها بدقة.</a:t>
            </a:r>
          </a:p>
          <a:p>
            <a:pPr/>
            <a:r>
              <a:rPr lang="ar-SA" sz="2000"/>
              <a:t>المواءمة بين الجانبين الجمالي والوظيفي للعبوة.</a:t>
            </a:r>
          </a:p>
        </p:txBody>
      </p:sp>
      <p:sp>
        <p:nvSpPr>
          <p:cNvPr id="15" name="Footer Placeholder 3">
            <a:extLst>
              <a:ext uri="{FF2B5EF4-FFF2-40B4-BE49-F238E27FC236}">
                <a16:creationId xmlns:a16="http://schemas.microsoft.com/office/drawing/2014/main" id="{CFE48E32-A7F6-E621-F2A2-8E8D30A65EAF}"/>
              </a:ext>
            </a:extLst>
          </p:cNvPr>
          <p:cNvSpPr>
            <a:spLocks noGrp="1"/>
          </p:cNvSpPr>
          <p:nvPr>
            <p:ph type="ftr" sz="quarter" idx="11"/>
          </p:nvPr>
        </p:nvSpPr>
        <p:spPr>
          <a:xfrm>
            <a:off x="4038600" y="6356350"/>
            <a:ext cx="4114800" cy="365125"/>
          </a:xfrm>
        </p:spPr>
        <p:txBody>
          <a:bodyPr/>
          <a:lstStyle/>
          <a:p>
            <a:r>
              <a:rPr lang="ar-SA" dirty="0"/>
              <a:t>برنامج التصميم الجرافيكي - المستوى السادس</a:t>
            </a:r>
            <a:endParaRPr lang="en-US" dirty="0"/>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Content Placeholder 2"/>
          <p:cNvSpPr>
            <a:spLocks noGrp="1"/>
          </p:cNvSpPr>
          <p:nvPr>
            <p:ph idx="1"/>
          </p:nvPr>
        </p:nvSpPr>
        <p:spPr>
          <a:xfrm>
            <a:off x="5669280" y="1600200"/>
            <a:ext cx="5852160" cy="4389120"/>
          </a:xfrm>
        </p:spPr>
        <p:txBody>
          <a:bodyPr anchor="ctr">
            <a:normAutofit/>
          </a:bodyPr>
          <a:lstStyle/>
          <a:p>
            <a:pPr marL="0" indent="0">
              <a:buNone/>
            </a:pPr>
            <a:r>
              <a:rPr lang="ar-SA" sz="2000" b="1"/>
              <a:t>أولًا: القص (Cutting):</a:t>
            </a:r>
          </a:p>
          <a:p>
            <a:pPr marL="0" indent="0">
              <a:buNone/>
            </a:pPr>
            <a:r>
              <a:rPr lang="ar-SA" sz="2000"/>
              <a:t>تعتمد جودة النموذج الأولي للعبوة على دقة تنفيذه، ولذلك يُعدّ إتقان أدوات القص شرطًا سابقًا لأي عمل تصميمي.</a:t>
            </a:r>
          </a:p>
          <a:p>
            <a:pPr/>
            <a:r>
              <a:rPr lang="ar-SA" sz="2000" b="1"/>
              <a:t>المشرط: </a:t>
            </a:r>
            <a:r>
              <a:rPr lang="ar-SA" sz="2000"/>
              <a:t>أعلى دقة وأسهل تحكمًا من سكين الحِرف، وشفراته قابلة للاستبدال.</a:t>
            </a:r>
          </a:p>
          <a:p>
            <a:pPr/>
            <a:r>
              <a:rPr lang="ar-SA" sz="2000" b="1"/>
              <a:t>المسطرة المعدنية: </a:t>
            </a:r>
            <a:r>
              <a:rPr lang="ar-SA" sz="2000"/>
              <a:t>تضمن خط قص مستقيمًا، والبلاستيكية الشفافة بديل مقبول.</a:t>
            </a:r>
          </a:p>
          <a:p>
            <a:pPr/>
            <a:r>
              <a:rPr lang="ar-SA" sz="2000" b="1"/>
              <a:t>لوح القص ذاتي الالتئام: </a:t>
            </a:r>
            <a:r>
              <a:rPr lang="ar-SA" sz="2000"/>
              <a:t>يحافظ على سطح مستوٍ بخلاف الخشب والكرتون.</a:t>
            </a:r>
          </a:p>
          <a:p>
            <a:pPr marL="0" indent="0">
              <a:buNone/>
            </a:pPr>
            <a:r>
              <a:rPr lang="ar-SA" sz="2000" b="1"/>
              <a:t>قواعد السلامة: </a:t>
            </a:r>
            <a:r>
              <a:rPr lang="ar-SA" sz="2000"/>
              <a:t>توضع المسطرة فوق الرسم لا فوق الجزء الزائد، وتبقى اليد غير القاطعة أعلى اليد القاطعة، وتُغيَّر الشفرة بانتظام.</a:t>
            </a:r>
          </a:p>
        </p:txBody>
      </p:sp>
      <p:sp>
        <p:nvSpPr>
          <p:cNvPr id="15" name="Footer Placeholder 3">
            <a:extLst>
              <a:ext uri="{FF2B5EF4-FFF2-40B4-BE49-F238E27FC236}">
                <a16:creationId xmlns:a16="http://schemas.microsoft.com/office/drawing/2014/main" id="{CFE48E32-A7F6-E621-F2A2-8E8D30A65EAF}"/>
              </a:ext>
            </a:extLst>
          </p:cNvPr>
          <p:cNvSpPr>
            <a:spLocks noGrp="1"/>
          </p:cNvSpPr>
          <p:nvPr>
            <p:ph type="ftr" sz="quarter" idx="11"/>
          </p:nvPr>
        </p:nvSpPr>
        <p:spPr>
          <a:xfrm>
            <a:off x="4038600" y="6356350"/>
            <a:ext cx="4114800" cy="365125"/>
          </a:xfrm>
        </p:spPr>
        <p:txBody>
          <a:bodyPr/>
          <a:lstStyle/>
          <a:p>
            <a:r>
              <a:rPr lang="ar-SA" dirty="0"/>
              <a:t>برنامج التصميم الجرافيكي - المستوى السادس</a:t>
            </a:r>
            <a:endParaRPr lang="en-US" dirty="0"/>
          </a:p>
        </p:txBody>
      </p:sp>
      <p:pic>
        <p:nvPicPr>
          <p:cNvPr id="16" name="Picture 15" descr="cut.png"/>
          <p:cNvPicPr>
            <a:picLocks noChangeAspect="1"/>
          </p:cNvPicPr>
          <p:nvPr/>
        </p:nvPicPr>
        <p:blipFill>
          <a:blip r:embed="rId3"/>
          <a:stretch>
            <a:fillRect/>
          </a:stretch>
        </p:blipFill>
        <p:spPr>
          <a:xfrm>
            <a:off x="728833" y="1600200"/>
            <a:ext cx="4394492" cy="438912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Content Placeholder 2"/>
          <p:cNvSpPr>
            <a:spLocks noGrp="1"/>
          </p:cNvSpPr>
          <p:nvPr>
            <p:ph idx="1"/>
          </p:nvPr>
        </p:nvSpPr>
        <p:spPr>
          <a:xfrm>
            <a:off x="5669280" y="1600200"/>
            <a:ext cx="5852160" cy="4389120"/>
          </a:xfrm>
        </p:spPr>
        <p:txBody>
          <a:bodyPr anchor="ctr">
            <a:normAutofit/>
          </a:bodyPr>
          <a:lstStyle/>
          <a:p>
            <a:pPr marL="0" indent="0">
              <a:buNone/>
            </a:pPr>
            <a:r>
              <a:rPr lang="ar-SA" sz="2000" b="1"/>
              <a:t>ثانيًا: الطي (Folding):</a:t>
            </a:r>
          </a:p>
          <a:p>
            <a:pPr marL="0" indent="0">
              <a:buNone/>
            </a:pPr>
            <a:r>
              <a:rPr lang="ar-SA" sz="2000" b="1"/>
              <a:t>القاعدة الأساسية: </a:t>
            </a:r>
            <a:r>
              <a:rPr lang="ar-SA" sz="2000"/>
              <a:t>لا يُقطع خط الطي، بل يُضغط؛ أي تُضغط ألياف الورق على امتداد الخط فينثني بسهولة دون أن يضعف.</a:t>
            </a:r>
          </a:p>
          <a:p>
            <a:pPr marL="0" indent="0">
              <a:buNone/>
            </a:pPr>
            <a:r>
              <a:rPr lang="ar-SA" sz="2000" b="1"/>
              <a:t>أدوات الطي:</a:t>
            </a:r>
          </a:p>
          <a:p>
            <a:pPr/>
            <a:r>
              <a:rPr lang="ar-SA" sz="2000" b="1"/>
              <a:t>عظمة الطي (Bone Folder): </a:t>
            </a:r>
            <a:r>
              <a:rPr lang="ar-SA" sz="2000"/>
              <a:t>كفاءة عالية، لكن الخط يبتعد ١–٢ مم عن حافة المسطرة.</a:t>
            </a:r>
          </a:p>
          <a:p>
            <a:pPr/>
            <a:r>
              <a:rPr lang="ar-SA" sz="2000" b="1"/>
              <a:t>القلم الجاف الفارغ: </a:t>
            </a:r>
            <a:r>
              <a:rPr lang="ar-SA" sz="2000"/>
              <a:t>بديل عملي، ويشترك في العيب نفسه.</a:t>
            </a:r>
          </a:p>
          <a:p>
            <a:pPr/>
            <a:r>
              <a:rPr lang="ar-SA" sz="2000" b="1"/>
              <a:t>الشفرة الكالّة المقلوبة: </a:t>
            </a:r>
            <a:r>
              <a:rPr lang="ar-SA" sz="2000"/>
              <a:t>الأعلى دقة؛ إذ يضغط ظهرها الخط ملاصقًا لحافة المسطرة دون أن يقطعه.</a:t>
            </a:r>
          </a:p>
        </p:txBody>
      </p:sp>
      <p:sp>
        <p:nvSpPr>
          <p:cNvPr id="15" name="Footer Placeholder 3">
            <a:extLst>
              <a:ext uri="{FF2B5EF4-FFF2-40B4-BE49-F238E27FC236}">
                <a16:creationId xmlns:a16="http://schemas.microsoft.com/office/drawing/2014/main" id="{CFE48E32-A7F6-E621-F2A2-8E8D30A65EAF}"/>
              </a:ext>
            </a:extLst>
          </p:cNvPr>
          <p:cNvSpPr>
            <a:spLocks noGrp="1"/>
          </p:cNvSpPr>
          <p:nvPr>
            <p:ph type="ftr" sz="quarter" idx="11"/>
          </p:nvPr>
        </p:nvSpPr>
        <p:spPr>
          <a:xfrm>
            <a:off x="4038600" y="6356350"/>
            <a:ext cx="4114800" cy="365125"/>
          </a:xfrm>
        </p:spPr>
        <p:txBody>
          <a:bodyPr/>
          <a:lstStyle/>
          <a:p>
            <a:r>
              <a:rPr lang="ar-SA" dirty="0"/>
              <a:t>برنامج التصميم الجرافيكي - المستوى السادس</a:t>
            </a:r>
            <a:endParaRPr lang="en-US" dirty="0"/>
          </a:p>
        </p:txBody>
      </p:sp>
      <p:pic>
        <p:nvPicPr>
          <p:cNvPr id="16" name="Picture 15" descr="crease.png"/>
          <p:cNvPicPr>
            <a:picLocks noChangeAspect="1"/>
          </p:cNvPicPr>
          <p:nvPr/>
        </p:nvPicPr>
        <p:blipFill>
          <a:blip r:embed="rId2"/>
          <a:stretch>
            <a:fillRect/>
          </a:stretch>
        </p:blipFill>
        <p:spPr>
          <a:xfrm>
            <a:off x="734199" y="1600200"/>
            <a:ext cx="4383760" cy="438912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Content Placeholder 2"/>
          <p:cNvSpPr>
            <a:spLocks noGrp="1"/>
          </p:cNvSpPr>
          <p:nvPr>
            <p:ph idx="1"/>
          </p:nvPr>
        </p:nvSpPr>
        <p:spPr>
          <a:xfrm>
            <a:off x="5669280" y="1600200"/>
            <a:ext cx="5852160" cy="4389120"/>
          </a:xfrm>
        </p:spPr>
        <p:txBody>
          <a:bodyPr anchor="ctr">
            <a:normAutofit/>
          </a:bodyPr>
          <a:lstStyle/>
          <a:p>
            <a:pPr marL="0" indent="0">
              <a:buNone/>
            </a:pPr>
            <a:r>
              <a:rPr lang="ar-SA" sz="2000" b="1"/>
              <a:t>الصلة بالإنتاج الصناعي:</a:t>
            </a:r>
          </a:p>
          <a:p>
            <a:pPr marL="0" indent="0">
              <a:buNone/>
            </a:pPr>
            <a:r>
              <a:rPr lang="ar-SA" sz="2000"/>
              <a:t>تُنتج العبوات صناعيًا بقالب القص والتكسير (Die-cut) الذي يجمع بين شفرات حادة للقص ومساطر معدنية غير حادة للتكسير، وما يُنفَّذ يدويًا بالمشرط والشفرة الكالّة محاكاة لهذه العملية.</a:t>
            </a:r>
          </a:p>
          <a:p>
            <a:pPr marL="0" indent="0">
              <a:buNone/>
            </a:pPr>
            <a:r>
              <a:rPr lang="ar-SA" sz="2000" b="1"/>
              <a:t>خط القص: </a:t>
            </a:r>
            <a:r>
              <a:rPr lang="ar-SA" sz="2000"/>
              <a:t>خط متصل داكن، يفصل العبوة عن الورق الزائد.</a:t>
            </a:r>
          </a:p>
          <a:p>
            <a:pPr marL="0" indent="0">
              <a:buNone/>
            </a:pPr>
            <a:r>
              <a:rPr lang="ar-SA" sz="2000" b="1"/>
              <a:t>خط الطي: </a:t>
            </a:r>
            <a:r>
              <a:rPr lang="ar-SA" sz="2000"/>
              <a:t>خط متقطع أو فاتح، يضغط الورق ليسهل طيّه.</a:t>
            </a:r>
          </a:p>
          <a:p>
            <a:pPr marL="0" indent="0">
              <a:buNone/>
            </a:pPr>
            <a:r>
              <a:rPr lang="ar-SA" sz="2000"/>
              <a:t>ولذلك يجب أن يميّز المِفرَد بوضوح بين نوعَي الخطوط.</a:t>
            </a:r>
          </a:p>
        </p:txBody>
      </p:sp>
      <p:sp>
        <p:nvSpPr>
          <p:cNvPr id="15" name="Footer Placeholder 3">
            <a:extLst>
              <a:ext uri="{FF2B5EF4-FFF2-40B4-BE49-F238E27FC236}">
                <a16:creationId xmlns:a16="http://schemas.microsoft.com/office/drawing/2014/main" id="{CFE48E32-A7F6-E621-F2A2-8E8D30A65EAF}"/>
              </a:ext>
            </a:extLst>
          </p:cNvPr>
          <p:cNvSpPr>
            <a:spLocks noGrp="1"/>
          </p:cNvSpPr>
          <p:nvPr>
            <p:ph type="ftr" sz="quarter" idx="11"/>
          </p:nvPr>
        </p:nvSpPr>
        <p:spPr>
          <a:xfrm>
            <a:off x="4038600" y="6356350"/>
            <a:ext cx="4114800" cy="365125"/>
          </a:xfrm>
        </p:spPr>
        <p:txBody>
          <a:bodyPr/>
          <a:lstStyle/>
          <a:p>
            <a:r>
              <a:rPr lang="ar-SA" dirty="0"/>
              <a:t>برنامج التصميم الجرافيكي - المستوى السادس</a:t>
            </a:r>
            <a:endParaRPr lang="en-US" dirty="0"/>
          </a:p>
        </p:txBody>
      </p:sp>
      <p:pic>
        <p:nvPicPr>
          <p:cNvPr id="16" name="Picture 15" descr="dc1.png"/>
          <p:cNvPicPr>
            <a:picLocks noChangeAspect="1"/>
          </p:cNvPicPr>
          <p:nvPr/>
        </p:nvPicPr>
        <p:blipFill>
          <a:blip r:embed="rId2"/>
          <a:stretch>
            <a:fillRect/>
          </a:stretch>
        </p:blipFill>
        <p:spPr>
          <a:xfrm>
            <a:off x="457200" y="1726320"/>
            <a:ext cx="4937760" cy="4136879"/>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Content Placeholder 2"/>
          <p:cNvSpPr>
            <a:spLocks noGrp="1"/>
          </p:cNvSpPr>
          <p:nvPr>
            <p:ph idx="1"/>
          </p:nvPr>
        </p:nvSpPr>
        <p:spPr>
          <a:xfrm>
            <a:off x="5669280" y="1600200"/>
            <a:ext cx="5852160" cy="4389120"/>
          </a:xfrm>
        </p:spPr>
        <p:txBody>
          <a:bodyPr anchor="ctr">
            <a:normAutofit/>
          </a:bodyPr>
          <a:lstStyle/>
          <a:p>
            <a:pPr marL="0" indent="0">
              <a:buNone/>
            </a:pPr>
            <a:r>
              <a:rPr lang="ar-SA" sz="2000" b="1"/>
              <a:t>اتجاه ألياف الورق (Grain Direction):</a:t>
            </a:r>
          </a:p>
          <a:p>
            <a:pPr marL="0" indent="0">
              <a:buNone/>
            </a:pPr>
            <a:r>
              <a:rPr lang="ar-SA" sz="2000"/>
              <a:t>تُصنَّع الألواح الورقية بحيث تصطف أليافها في اتجاه واحد، ويؤثر هذا الاتجاه مباشرة في جودة الطي:</a:t>
            </a:r>
          </a:p>
          <a:p>
            <a:pPr/>
            <a:r>
              <a:rPr lang="ar-SA" sz="2000" b="1"/>
              <a:t>الطي الموازي للألياف: </a:t>
            </a:r>
            <a:r>
              <a:rPr lang="ar-SA" sz="2000"/>
              <a:t>أسهل وأنظف، ويعطي حافة مستقيمة.</a:t>
            </a:r>
          </a:p>
          <a:p>
            <a:pPr/>
            <a:r>
              <a:rPr lang="ar-SA" sz="2000" b="1"/>
              <a:t>الطي العمودي على الألياف: </a:t>
            </a:r>
            <a:r>
              <a:rPr lang="ar-SA" sz="2000"/>
              <a:t>أصعب، وقد تتشقق الطبقة السطحية عند خط الطي، خاصة في الورق السميك.</a:t>
            </a:r>
          </a:p>
          <a:p>
            <a:pPr marL="0" indent="0">
              <a:buNone/>
            </a:pPr>
            <a:r>
              <a:rPr lang="ar-SA" sz="2000" b="1"/>
              <a:t>طريقة التحقق: </a:t>
            </a:r>
            <a:r>
              <a:rPr lang="ar-SA" sz="2000"/>
              <a:t>تُثنى قطعة صغيرة في الاتجاهين، فالاتجاه الأسهل انثناءً هو اتجاه الألياف.</a:t>
            </a:r>
          </a:p>
          <a:p>
            <a:pPr marL="0" indent="0">
              <a:buNone/>
            </a:pPr>
            <a:r>
              <a:rPr lang="ar-SA" sz="2000" b="1"/>
              <a:t>في التصميم: </a:t>
            </a:r>
            <a:r>
              <a:rPr lang="ar-SA" sz="2000"/>
              <a:t>تُوزَّع المِفرَدات على اللوح بحيث تكون أهم خطوط الطي وأطولها موازية للألياف قدر الإمكان.</a:t>
            </a:r>
          </a:p>
        </p:txBody>
      </p:sp>
      <p:sp>
        <p:nvSpPr>
          <p:cNvPr id="15" name="Footer Placeholder 3">
            <a:extLst>
              <a:ext uri="{FF2B5EF4-FFF2-40B4-BE49-F238E27FC236}">
                <a16:creationId xmlns:a16="http://schemas.microsoft.com/office/drawing/2014/main" id="{CFE48E32-A7F6-E621-F2A2-8E8D30A65EAF}"/>
              </a:ext>
            </a:extLst>
          </p:cNvPr>
          <p:cNvSpPr>
            <a:spLocks noGrp="1"/>
          </p:cNvSpPr>
          <p:nvPr>
            <p:ph type="ftr" sz="quarter" idx="11"/>
          </p:nvPr>
        </p:nvSpPr>
        <p:spPr>
          <a:xfrm>
            <a:off x="4038600" y="6356350"/>
            <a:ext cx="4114800" cy="365125"/>
          </a:xfrm>
        </p:spPr>
        <p:txBody>
          <a:bodyPr/>
          <a:lstStyle/>
          <a:p>
            <a:r>
              <a:rPr lang="ar-SA" dirty="0"/>
              <a:t>برنامج التصميم الجرافيكي - المستوى السادس</a:t>
            </a:r>
            <a:endParaRPr lang="en-US" dirty="0"/>
          </a:p>
        </p:txBody>
      </p:sp>
      <p:sp>
        <p:nvSpPr>
          <p:cNvPr id="16" name="Rectangle 15"/>
          <p:cNvSpPr/>
          <p:nvPr/>
        </p:nvSpPr>
        <p:spPr>
          <a:xfrm>
            <a:off x="731520" y="1965960"/>
            <a:ext cx="4389120" cy="2926080"/>
          </a:xfrm>
          <a:prstGeom prst="rect">
            <a:avLst/>
          </a:prstGeom>
          <a:solidFill>
            <a:srgbClr val="FAFAFA"/>
          </a:solidFill>
          <a:ln w="158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 name="Connector 16"/>
          <p:cNvCxnSpPr/>
          <p:nvPr/>
        </p:nvCxnSpPr>
        <p:spPr>
          <a:xfrm>
            <a:off x="868680" y="2209800"/>
            <a:ext cx="4114800" cy="0"/>
          </a:xfrm>
          <a:prstGeom prst="line">
            <a:avLst/>
          </a:prstGeom>
          <a:ln w="9525">
            <a:solidFill>
              <a:srgbClr val="BFBFBF"/>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868680" y="2453640"/>
            <a:ext cx="4114800" cy="0"/>
          </a:xfrm>
          <a:prstGeom prst="line">
            <a:avLst/>
          </a:prstGeom>
          <a:ln w="9525">
            <a:solidFill>
              <a:srgbClr val="BFBFBF"/>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868680" y="2697480"/>
            <a:ext cx="4114800" cy="0"/>
          </a:xfrm>
          <a:prstGeom prst="line">
            <a:avLst/>
          </a:prstGeom>
          <a:ln w="9525">
            <a:solidFill>
              <a:srgbClr val="BFBFBF"/>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868680" y="2941320"/>
            <a:ext cx="4114800" cy="0"/>
          </a:xfrm>
          <a:prstGeom prst="line">
            <a:avLst/>
          </a:prstGeom>
          <a:ln w="9525">
            <a:solidFill>
              <a:srgbClr val="BFBFBF"/>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868680" y="3185160"/>
            <a:ext cx="4114800" cy="0"/>
          </a:xfrm>
          <a:prstGeom prst="line">
            <a:avLst/>
          </a:prstGeom>
          <a:ln w="9525">
            <a:solidFill>
              <a:srgbClr val="BFBFBF"/>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868680" y="3429000"/>
            <a:ext cx="4114800" cy="0"/>
          </a:xfrm>
          <a:prstGeom prst="line">
            <a:avLst/>
          </a:prstGeom>
          <a:ln w="9525">
            <a:solidFill>
              <a:srgbClr val="BFBFBF"/>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868680" y="3672840"/>
            <a:ext cx="4114800" cy="0"/>
          </a:xfrm>
          <a:prstGeom prst="line">
            <a:avLst/>
          </a:prstGeom>
          <a:ln w="9525">
            <a:solidFill>
              <a:srgbClr val="BFBFBF"/>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868680" y="3916680"/>
            <a:ext cx="4114800" cy="0"/>
          </a:xfrm>
          <a:prstGeom prst="line">
            <a:avLst/>
          </a:prstGeom>
          <a:ln w="9525">
            <a:solidFill>
              <a:srgbClr val="BFBFBF"/>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868680" y="4160520"/>
            <a:ext cx="4114800" cy="0"/>
          </a:xfrm>
          <a:prstGeom prst="line">
            <a:avLst/>
          </a:prstGeom>
          <a:ln w="9525">
            <a:solidFill>
              <a:srgbClr val="BFBFBF"/>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868680" y="4404360"/>
            <a:ext cx="4114800" cy="0"/>
          </a:xfrm>
          <a:prstGeom prst="line">
            <a:avLst/>
          </a:prstGeom>
          <a:ln w="9525">
            <a:solidFill>
              <a:srgbClr val="BFBFBF"/>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868680" y="4648200"/>
            <a:ext cx="4114800" cy="0"/>
          </a:xfrm>
          <a:prstGeom prst="line">
            <a:avLst/>
          </a:prstGeom>
          <a:ln w="9525">
            <a:solidFill>
              <a:srgbClr val="BFBFBF"/>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868680" y="3429000"/>
            <a:ext cx="4114800" cy="0"/>
          </a:xfrm>
          <a:prstGeom prst="line">
            <a:avLst/>
          </a:prstGeom>
          <a:ln w="38100">
            <a:solidFill>
              <a:srgbClr val="2E7D32"/>
            </a:solidFill>
            <a:prstDash val="dash"/>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2926080" y="2103120"/>
            <a:ext cx="0" cy="2651759"/>
          </a:xfrm>
          <a:prstGeom prst="line">
            <a:avLst/>
          </a:prstGeom>
          <a:ln w="38100">
            <a:solidFill>
              <a:srgbClr val="C0392B"/>
            </a:solidFill>
            <a:prstDash val="dash"/>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731520" y="4983479"/>
            <a:ext cx="4389120" cy="365760"/>
          </a:xfrm>
          <a:prstGeom prst="rect">
            <a:avLst/>
          </a:prstGeom>
          <a:noFill/>
        </p:spPr>
        <p:txBody>
          <a:bodyPr wrap="square" anchor="ctr">
            <a:spAutoFit/>
          </a:bodyPr>
          <a:lstStyle/>
          <a:p>
            <a:pPr algn="ctr" rtl="1"/>
            <a:r>
              <a:rPr sz="1500" b="0" lang="ar-SA">
                <a:solidFill>
                  <a:srgbClr val="595959"/>
                </a:solidFill>
                <a:latin typeface="Sakkal Majalla"/>
                <a:cs typeface="Sakkal Majalla"/>
              </a:rPr>
              <a:t>الخطوط الرمادية: اتجاه الألياف</a:t>
            </a:r>
          </a:p>
        </p:txBody>
      </p:sp>
      <p:sp>
        <p:nvSpPr>
          <p:cNvPr id="31" name="TextBox 30"/>
          <p:cNvSpPr txBox="1"/>
          <p:nvPr/>
        </p:nvSpPr>
        <p:spPr>
          <a:xfrm>
            <a:off x="731520" y="5349240"/>
            <a:ext cx="4389120" cy="365760"/>
          </a:xfrm>
          <a:prstGeom prst="rect">
            <a:avLst/>
          </a:prstGeom>
          <a:noFill/>
        </p:spPr>
        <p:txBody>
          <a:bodyPr wrap="square" anchor="ctr">
            <a:spAutoFit/>
          </a:bodyPr>
          <a:lstStyle/>
          <a:p>
            <a:pPr algn="ctr" rtl="1"/>
            <a:r>
              <a:rPr sz="1600" b="1" lang="ar-SA">
                <a:solidFill>
                  <a:srgbClr val="2E7D32"/>
                </a:solidFill>
                <a:latin typeface="Sakkal Majalla"/>
                <a:cs typeface="Sakkal Majalla"/>
              </a:rPr>
              <a:t>طيّ موازٍ للألياف: نظيف ✓</a:t>
            </a:r>
          </a:p>
        </p:txBody>
      </p:sp>
      <p:sp>
        <p:nvSpPr>
          <p:cNvPr id="32" name="TextBox 31"/>
          <p:cNvSpPr txBox="1"/>
          <p:nvPr/>
        </p:nvSpPr>
        <p:spPr>
          <a:xfrm>
            <a:off x="731520" y="5715000"/>
            <a:ext cx="4389120" cy="365760"/>
          </a:xfrm>
          <a:prstGeom prst="rect">
            <a:avLst/>
          </a:prstGeom>
          <a:noFill/>
        </p:spPr>
        <p:txBody>
          <a:bodyPr wrap="square" anchor="ctr">
            <a:spAutoFit/>
          </a:bodyPr>
          <a:lstStyle/>
          <a:p>
            <a:pPr algn="ctr" rtl="1"/>
            <a:r>
              <a:rPr sz="1600" b="1" lang="ar-SA">
                <a:solidFill>
                  <a:srgbClr val="C0392B"/>
                </a:solidFill>
                <a:latin typeface="Sakkal Majalla"/>
                <a:cs typeface="Sakkal Majalla"/>
              </a:rPr>
              <a:t>طيّ عمودي على الألياف: قد يتشقق ✗</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Content Placeholder 2"/>
          <p:cNvSpPr>
            <a:spLocks noGrp="1"/>
          </p:cNvSpPr>
          <p:nvPr>
            <p:ph idx="1"/>
          </p:nvPr>
        </p:nvSpPr>
        <p:spPr>
          <a:xfrm>
            <a:off x="5669280" y="1600200"/>
            <a:ext cx="5852160" cy="4389120"/>
          </a:xfrm>
        </p:spPr>
        <p:txBody>
          <a:bodyPr anchor="ctr">
            <a:normAutofit/>
          </a:bodyPr>
          <a:lstStyle/>
          <a:p>
            <a:pPr marL="0" indent="0">
              <a:buNone/>
            </a:pPr>
            <a:r>
              <a:rPr lang="ar-SA" sz="2000" b="1"/>
              <a:t>سماكة الورق في المِفرَد:</a:t>
            </a:r>
          </a:p>
          <a:p>
            <a:pPr marL="0" indent="0">
              <a:buNone/>
            </a:pPr>
            <a:r>
              <a:rPr lang="ar-SA" sz="2000"/>
              <a:t>للورق المقوّى سماكة فعلية، فإذا رُسم المِفرَد بمقاسات الشكل النظرية تمامًا لم تنطبق الأوجه عند الطي، وظهرت فراغات أو تزاحم عند الحواف.</a:t>
            </a:r>
          </a:p>
          <a:p>
            <a:pPr/>
            <a:r>
              <a:rPr lang="ar-SA" sz="2000" b="1"/>
              <a:t>الألسنة الداخلية: </a:t>
            </a:r>
            <a:r>
              <a:rPr lang="ar-SA" sz="2000"/>
              <a:t>تُصغَّر قليلًا (بمقدار السماكة تقريبًا) كي تدخل دون أن تنتفخ العبوة.</a:t>
            </a:r>
          </a:p>
          <a:p>
            <a:pPr/>
            <a:r>
              <a:rPr lang="ar-SA" sz="2000" b="1"/>
              <a:t>الأوجه التي تلتف على غيرها: </a:t>
            </a:r>
            <a:r>
              <a:rPr lang="ar-SA" sz="2000"/>
              <a:t>تُكبَّر قليلًا لأنها تحيط بسماكة الورق الداخلي.</a:t>
            </a:r>
          </a:p>
          <a:p>
            <a:pPr/>
            <a:r>
              <a:rPr lang="ar-SA" sz="2000" b="1"/>
              <a:t>أطراف الألسنة: </a:t>
            </a:r>
            <a:r>
              <a:rPr lang="ar-SA" sz="2000"/>
              <a:t>تُشطف أو تُميَّل زواياها حتى لا تحتك بخطوط الطي المجاورة.</a:t>
            </a:r>
          </a:p>
          <a:p>
            <a:pPr marL="0" indent="0">
              <a:buNone/>
            </a:pPr>
            <a:r>
              <a:rPr lang="ar-SA" sz="2000" b="1"/>
              <a:t>قاعدة عملية: </a:t>
            </a:r>
            <a:r>
              <a:rPr lang="ar-SA" sz="2000"/>
              <a:t>كلما زادت سماكة الورق زادت الحاجة إلى التعويض، ويُختبر المِفرَد دائمًا بنموذج أولي قبل اعتماده.</a:t>
            </a:r>
          </a:p>
        </p:txBody>
      </p:sp>
      <p:sp>
        <p:nvSpPr>
          <p:cNvPr id="15" name="Footer Placeholder 3">
            <a:extLst>
              <a:ext uri="{FF2B5EF4-FFF2-40B4-BE49-F238E27FC236}">
                <a16:creationId xmlns:a16="http://schemas.microsoft.com/office/drawing/2014/main" id="{CFE48E32-A7F6-E621-F2A2-8E8D30A65EAF}"/>
              </a:ext>
            </a:extLst>
          </p:cNvPr>
          <p:cNvSpPr>
            <a:spLocks noGrp="1"/>
          </p:cNvSpPr>
          <p:nvPr>
            <p:ph type="ftr" sz="quarter" idx="11"/>
          </p:nvPr>
        </p:nvSpPr>
        <p:spPr>
          <a:xfrm>
            <a:off x="4038600" y="6356350"/>
            <a:ext cx="4114800" cy="365125"/>
          </a:xfrm>
        </p:spPr>
        <p:txBody>
          <a:bodyPr/>
          <a:lstStyle/>
          <a:p>
            <a:r>
              <a:rPr lang="ar-SA" dirty="0"/>
              <a:t>برنامج التصميم الجرافيكي - المستوى السادس</a:t>
            </a:r>
            <a:endParaRPr lang="en-US" dirty="0"/>
          </a:p>
        </p:txBody>
      </p:sp>
      <p:pic>
        <p:nvPicPr>
          <p:cNvPr id="16" name="Picture 15" descr="edge.png"/>
          <p:cNvPicPr>
            <a:picLocks noChangeAspect="1"/>
          </p:cNvPicPr>
          <p:nvPr/>
        </p:nvPicPr>
        <p:blipFill>
          <a:blip r:embed="rId3"/>
          <a:stretch>
            <a:fillRect/>
          </a:stretch>
        </p:blipFill>
        <p:spPr>
          <a:xfrm>
            <a:off x="894997" y="1600200"/>
            <a:ext cx="4062165" cy="438912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Content Placeholder 2"/>
          <p:cNvSpPr>
            <a:spLocks noGrp="1"/>
          </p:cNvSpPr>
          <p:nvPr>
            <p:ph idx="1"/>
          </p:nvPr>
        </p:nvSpPr>
        <p:spPr>
          <a:xfrm>
            <a:off x="5669280" y="1600200"/>
            <a:ext cx="5852160" cy="4389120"/>
          </a:xfrm>
        </p:spPr>
        <p:txBody>
          <a:bodyPr anchor="ctr">
            <a:normAutofit/>
          </a:bodyPr>
          <a:lstStyle/>
          <a:p>
            <a:pPr marL="0" indent="0">
              <a:buNone/>
            </a:pPr>
            <a:r>
              <a:rPr lang="ar-SA" sz="2000" b="1"/>
              <a:t>اتجاه الطي: الجبلي والوادي (Mountain and Valley Folds):</a:t>
            </a:r>
          </a:p>
          <a:p>
            <a:pPr/>
            <a:r>
              <a:rPr lang="ar-SA" sz="2000" b="1"/>
              <a:t>طيّة الوادي (Valley Fold): </a:t>
            </a:r>
            <a:r>
              <a:rPr lang="ar-SA" sz="2000"/>
              <a:t>ينثني الورق نحو الناظر فيتشكّل مجرى كالوادي.</a:t>
            </a:r>
          </a:p>
          <a:p>
            <a:pPr/>
            <a:r>
              <a:rPr lang="ar-SA" sz="2000" b="1"/>
              <a:t>طيّة الجبل (Mountain Fold): </a:t>
            </a:r>
            <a:r>
              <a:rPr lang="ar-SA" sz="2000"/>
              <a:t>ينثني الورق بعيدًا عن الناظر فتتشكّل حافة بارزة كقمة الجبل.</a:t>
            </a:r>
          </a:p>
          <a:p>
            <a:pPr marL="0" indent="0">
              <a:buNone/>
            </a:pPr>
            <a:r>
              <a:rPr lang="ar-SA" sz="2000"/>
              <a:t>وتُميَّز الطيتان في المِفرَد برمزين مختلفين يوضَّحان في مفتاح الرسم، وتختلف الرموز بين المصادر.</a:t>
            </a:r>
          </a:p>
          <a:p>
            <a:pPr marL="0" indent="0">
              <a:buNone/>
            </a:pPr>
            <a:r>
              <a:rPr lang="ar-SA" sz="2000" b="1"/>
              <a:t>أهميته: </a:t>
            </a:r>
            <a:r>
              <a:rPr lang="ar-SA" sz="2000"/>
              <a:t>في الأشكال المركّبة، كتقنية الضغط، تُطوى بعض الخطوط باتجاه معاكس لغيرها، والخطأ في الاتجاه يُفسد الشكل.</a:t>
            </a:r>
          </a:p>
        </p:txBody>
      </p:sp>
      <p:sp>
        <p:nvSpPr>
          <p:cNvPr id="15" name="Footer Placeholder 3">
            <a:extLst>
              <a:ext uri="{FF2B5EF4-FFF2-40B4-BE49-F238E27FC236}">
                <a16:creationId xmlns:a16="http://schemas.microsoft.com/office/drawing/2014/main" id="{CFE48E32-A7F6-E621-F2A2-8E8D30A65EAF}"/>
              </a:ext>
            </a:extLst>
          </p:cNvPr>
          <p:cNvSpPr>
            <a:spLocks noGrp="1"/>
          </p:cNvSpPr>
          <p:nvPr>
            <p:ph type="ftr" sz="quarter" idx="11"/>
          </p:nvPr>
        </p:nvSpPr>
        <p:spPr>
          <a:xfrm>
            <a:off x="4038600" y="6356350"/>
            <a:ext cx="4114800" cy="365125"/>
          </a:xfrm>
        </p:spPr>
        <p:txBody>
          <a:bodyPr/>
          <a:lstStyle/>
          <a:p>
            <a:r>
              <a:rPr lang="ar-SA" dirty="0"/>
              <a:t>برنامج التصميم الجرافيكي - المستوى السادس</a:t>
            </a:r>
            <a:endParaRPr lang="en-US" dirty="0"/>
          </a:p>
        </p:txBody>
      </p:sp>
      <p:pic>
        <p:nvPicPr>
          <p:cNvPr id="16" name="Picture 15" descr="compress.png"/>
          <p:cNvPicPr>
            <a:picLocks noChangeAspect="1"/>
          </p:cNvPicPr>
          <p:nvPr/>
        </p:nvPicPr>
        <p:blipFill>
          <a:blip r:embed="rId3"/>
          <a:stretch>
            <a:fillRect/>
          </a:stretch>
        </p:blipFill>
        <p:spPr>
          <a:xfrm>
            <a:off x="1409924" y="1600200"/>
            <a:ext cx="3032311" cy="3017520"/>
          </a:xfrm>
          <a:prstGeom prst="rect">
            <a:avLst/>
          </a:prstGeom>
        </p:spPr>
      </p:pic>
      <p:cxnSp>
        <p:nvCxnSpPr>
          <p:cNvPr id="17" name="Connector 16"/>
          <p:cNvCxnSpPr/>
          <p:nvPr/>
        </p:nvCxnSpPr>
        <p:spPr>
          <a:xfrm>
            <a:off x="1005840" y="5029200"/>
            <a:ext cx="1463040" cy="0"/>
          </a:xfrm>
          <a:prstGeom prst="line">
            <a:avLst/>
          </a:prstGeom>
          <a:ln w="38100">
            <a:solidFill>
              <a:srgbClr val="000000"/>
            </a:solidFill>
            <a:prstDash val="dash"/>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2651760" y="4800600"/>
            <a:ext cx="2560320" cy="457200"/>
          </a:xfrm>
          <a:prstGeom prst="rect">
            <a:avLst/>
          </a:prstGeom>
          <a:noFill/>
        </p:spPr>
        <p:txBody>
          <a:bodyPr wrap="square" anchor="ctr">
            <a:spAutoFit/>
          </a:bodyPr>
          <a:lstStyle/>
          <a:p>
            <a:pPr algn="ctr" rtl="1"/>
            <a:r>
              <a:rPr sz="1600" b="1" lang="ar-SA">
                <a:solidFill>
                  <a:srgbClr val="000000"/>
                </a:solidFill>
                <a:latin typeface="Sakkal Majalla"/>
                <a:cs typeface="Sakkal Majalla"/>
              </a:rPr>
              <a:t>وادٍ (متقطع)</a:t>
            </a:r>
          </a:p>
        </p:txBody>
      </p:sp>
      <p:cxnSp>
        <p:nvCxnSpPr>
          <p:cNvPr id="19" name="Connector 18"/>
          <p:cNvCxnSpPr/>
          <p:nvPr/>
        </p:nvCxnSpPr>
        <p:spPr>
          <a:xfrm>
            <a:off x="1005840" y="5577840"/>
            <a:ext cx="1463040" cy="0"/>
          </a:xfrm>
          <a:prstGeom prst="line">
            <a:avLst/>
          </a:prstGeom>
          <a:ln w="38100">
            <a:solidFill>
              <a:srgbClr val="000000"/>
            </a:solidFill>
            <a:prstDash val="dashDot"/>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2651760" y="5349240"/>
            <a:ext cx="2560320" cy="457200"/>
          </a:xfrm>
          <a:prstGeom prst="rect">
            <a:avLst/>
          </a:prstGeom>
          <a:noFill/>
        </p:spPr>
        <p:txBody>
          <a:bodyPr wrap="square" anchor="ctr">
            <a:spAutoFit/>
          </a:bodyPr>
          <a:lstStyle/>
          <a:p>
            <a:pPr algn="ctr" rtl="1"/>
            <a:r>
              <a:rPr sz="1600" b="1" lang="ar-SA">
                <a:solidFill>
                  <a:srgbClr val="000000"/>
                </a:solidFill>
                <a:latin typeface="Sakkal Majalla"/>
                <a:cs typeface="Sakkal Majalla"/>
              </a:rPr>
              <a:t>جبل (شرطة ونقطة)</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Content Placeholder 2"/>
          <p:cNvSpPr>
            <a:spLocks noGrp="1"/>
          </p:cNvSpPr>
          <p:nvPr>
            <p:ph idx="1"/>
          </p:nvPr>
        </p:nvSpPr>
        <p:spPr>
          <a:xfrm>
            <a:off x="5669280" y="1600200"/>
            <a:ext cx="5852160" cy="4389120"/>
          </a:xfrm>
        </p:spPr>
        <p:txBody>
          <a:bodyPr anchor="ctr">
            <a:normAutofit/>
          </a:bodyPr>
          <a:lstStyle/>
          <a:p>
            <a:pPr marL="0" indent="0">
              <a:buNone/>
            </a:pPr>
            <a:r>
              <a:rPr lang="ar-SA" sz="2000" b="1"/>
              <a:t>عناصر المكعّب الثلاثة:</a:t>
            </a:r>
          </a:p>
          <a:p>
            <a:pPr marL="0" indent="0">
              <a:buNone/>
            </a:pPr>
            <a:r>
              <a:rPr lang="ar-SA" sz="2000"/>
              <a:t>يتكوّن المكعّب، شأنه شأن معظم تصاميم التغليف الإنشائي، من ثلاثة عناصر، وكل تشويه للمكعّب تعديل على عنصر منها أو أكثر:</a:t>
            </a:r>
          </a:p>
          <a:p>
            <a:pPr/>
            <a:r>
              <a:rPr lang="ar-SA" sz="2000" b="1"/>
              <a:t>الأوجه (Faces): </a:t>
            </a:r>
            <a:r>
              <a:rPr lang="ar-SA" sz="2000"/>
              <a:t>الأسطح المستوية، وتمثّل مساحات الطباعة والهوية البصرية.</a:t>
            </a:r>
          </a:p>
          <a:p>
            <a:pPr/>
            <a:r>
              <a:rPr lang="ar-SA" sz="2000" b="1"/>
              <a:t>الحواف (Edges): </a:t>
            </a:r>
            <a:r>
              <a:rPr lang="ar-SA" sz="2000"/>
              <a:t>خطوط التقاء وجهين، وتمثّل خطوط الطي.</a:t>
            </a:r>
          </a:p>
          <a:p>
            <a:pPr/>
            <a:r>
              <a:rPr lang="ar-SA" sz="2000" b="1"/>
              <a:t>الأركان (Corners): </a:t>
            </a:r>
            <a:r>
              <a:rPr lang="ar-SA" sz="2000"/>
              <a:t>نقاط التقاء الحواف، وهي أكثر مواضع العبوة عرضة للتلف.</a:t>
            </a:r>
          </a:p>
        </p:txBody>
      </p:sp>
      <p:sp>
        <p:nvSpPr>
          <p:cNvPr id="15" name="Footer Placeholder 3">
            <a:extLst>
              <a:ext uri="{FF2B5EF4-FFF2-40B4-BE49-F238E27FC236}">
                <a16:creationId xmlns:a16="http://schemas.microsoft.com/office/drawing/2014/main" id="{CFE48E32-A7F6-E621-F2A2-8E8D30A65EAF}"/>
              </a:ext>
            </a:extLst>
          </p:cNvPr>
          <p:cNvSpPr>
            <a:spLocks noGrp="1"/>
          </p:cNvSpPr>
          <p:nvPr>
            <p:ph type="ftr" sz="quarter" idx="11"/>
          </p:nvPr>
        </p:nvSpPr>
        <p:spPr>
          <a:xfrm>
            <a:off x="4038600" y="6356350"/>
            <a:ext cx="4114800" cy="365125"/>
          </a:xfrm>
        </p:spPr>
        <p:txBody>
          <a:bodyPr/>
          <a:lstStyle/>
          <a:p>
            <a:r>
              <a:rPr lang="ar-SA" dirty="0"/>
              <a:t>برنامج التصميم الجرافيكي - المستوى السادس</a:t>
            </a:r>
            <a:endParaRPr lang="en-US" dirty="0"/>
          </a:p>
        </p:txBody>
      </p:sp>
      <p:pic>
        <p:nvPicPr>
          <p:cNvPr id="16" name="Picture 15" descr="cover.png"/>
          <p:cNvPicPr>
            <a:picLocks noChangeAspect="1"/>
          </p:cNvPicPr>
          <p:nvPr/>
        </p:nvPicPr>
        <p:blipFill>
          <a:blip r:embed="rId2"/>
          <a:stretch>
            <a:fillRect/>
          </a:stretch>
        </p:blipFill>
        <p:spPr>
          <a:xfrm>
            <a:off x="457200" y="2220096"/>
            <a:ext cx="4937760" cy="3149327"/>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Content Placeholder 2"/>
          <p:cNvSpPr>
            <a:spLocks noGrp="1"/>
          </p:cNvSpPr>
          <p:nvPr>
            <p:ph idx="1"/>
          </p:nvPr>
        </p:nvSpPr>
        <p:spPr>
          <a:xfrm>
            <a:off x="5669280" y="1600200"/>
            <a:ext cx="5852160" cy="4389120"/>
          </a:xfrm>
        </p:spPr>
        <p:txBody>
          <a:bodyPr anchor="ctr">
            <a:normAutofit/>
          </a:bodyPr>
          <a:lstStyle/>
          <a:p>
            <a:pPr marL="0" indent="0">
              <a:buNone/>
            </a:pPr>
            <a:r>
              <a:rPr lang="ar-SA" sz="2000" b="1"/>
              <a:t>المِفرَد (Net):</a:t>
            </a:r>
          </a:p>
          <a:p>
            <a:pPr marL="0" indent="0">
              <a:buNone/>
            </a:pPr>
            <a:r>
              <a:rPr lang="ar-SA" sz="2000"/>
              <a:t>المِفرَد هو الصورة المسطحة للعبوة قبل طيّها، ويتطلب تصميمه مراعاة ما يلي:</a:t>
            </a:r>
          </a:p>
          <a:p>
            <a:pPr/>
            <a:r>
              <a:rPr lang="ar-SA" sz="2000" b="1"/>
              <a:t>ترتيب الأوجه: </a:t>
            </a:r>
            <a:r>
              <a:rPr lang="ar-SA" sz="2000"/>
              <a:t>بما يضمن انغلاق الشكل انغلاقًا صحيحًا.</a:t>
            </a:r>
          </a:p>
          <a:p>
            <a:pPr/>
            <a:r>
              <a:rPr lang="ar-SA" sz="2000" b="1"/>
              <a:t>الألسنة (Tabs): </a:t>
            </a:r>
            <a:r>
              <a:rPr lang="ar-SA" sz="2000"/>
              <a:t>أشكالها ومواضعها، لأنها أداة الربط بين الأوجه.</a:t>
            </a:r>
          </a:p>
          <a:p>
            <a:pPr/>
            <a:r>
              <a:rPr lang="ar-SA" sz="2000" b="1"/>
              <a:t>آلية الإغلاق: </a:t>
            </a:r>
            <a:r>
              <a:rPr lang="ar-SA" sz="2000"/>
              <a:t>لسان اللصق (Glue Tab) للإغلاق الدائم، وقفل النقر (Click Lock) للإغلاق السريع، وقفل اللسان (Tongue Lock) للفتح والإغلاق المتكرر.</a:t>
            </a:r>
          </a:p>
          <a:p>
            <a:pPr marL="0" indent="0">
              <a:buNone/>
            </a:pPr>
            <a:r>
              <a:rPr lang="ar-SA" sz="2000" b="1"/>
              <a:t>موضع الغطاء: </a:t>
            </a:r>
            <a:r>
              <a:rPr lang="ar-SA" sz="2000"/>
              <a:t>غير ثابت؛ يمكن وضعه على أي وجه وبأي اتجاه وفق طريقة عرض المنتج واستخدامه.</a:t>
            </a:r>
          </a:p>
        </p:txBody>
      </p:sp>
      <p:sp>
        <p:nvSpPr>
          <p:cNvPr id="15" name="Footer Placeholder 3">
            <a:extLst>
              <a:ext uri="{FF2B5EF4-FFF2-40B4-BE49-F238E27FC236}">
                <a16:creationId xmlns:a16="http://schemas.microsoft.com/office/drawing/2014/main" id="{CFE48E32-A7F6-E621-F2A2-8E8D30A65EAF}"/>
              </a:ext>
            </a:extLst>
          </p:cNvPr>
          <p:cNvSpPr>
            <a:spLocks noGrp="1"/>
          </p:cNvSpPr>
          <p:nvPr>
            <p:ph type="ftr" sz="quarter" idx="11"/>
          </p:nvPr>
        </p:nvSpPr>
        <p:spPr>
          <a:xfrm>
            <a:off x="4038600" y="6356350"/>
            <a:ext cx="4114800" cy="365125"/>
          </a:xfrm>
        </p:spPr>
        <p:txBody>
          <a:bodyPr/>
          <a:lstStyle/>
          <a:p>
            <a:r>
              <a:rPr lang="ar-SA" dirty="0"/>
              <a:t>برنامج التصميم الجرافيكي - المستوى السادس</a:t>
            </a:r>
            <a:endParaRPr lang="en-US" dirty="0"/>
          </a:p>
        </p:txBody>
      </p:sp>
      <p:pic>
        <p:nvPicPr>
          <p:cNvPr id="16" name="Picture 15" descr="dc1.png"/>
          <p:cNvPicPr>
            <a:picLocks noChangeAspect="1"/>
          </p:cNvPicPr>
          <p:nvPr/>
        </p:nvPicPr>
        <p:blipFill>
          <a:blip r:embed="rId2"/>
          <a:stretch>
            <a:fillRect/>
          </a:stretch>
        </p:blipFill>
        <p:spPr>
          <a:xfrm>
            <a:off x="457200" y="1726320"/>
            <a:ext cx="4937760" cy="4136879"/>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Content Placeholder 2"/>
          <p:cNvSpPr>
            <a:spLocks noGrp="1"/>
          </p:cNvSpPr>
          <p:nvPr>
            <p:ph idx="1"/>
          </p:nvPr>
        </p:nvSpPr>
        <p:spPr>
          <a:xfrm>
            <a:off x="5669280" y="1600200"/>
            <a:ext cx="5852160" cy="4389120"/>
          </a:xfrm>
        </p:spPr>
        <p:txBody>
          <a:bodyPr anchor="ctr">
            <a:normAutofit/>
          </a:bodyPr>
          <a:lstStyle/>
          <a:p>
            <a:pPr marL="0" indent="0">
              <a:buNone/>
            </a:pPr>
            <a:r>
              <a:rPr lang="ar-SA" sz="2000" b="1"/>
              <a:t>استراتيجيات تشويه المكعّب:</a:t>
            </a:r>
          </a:p>
          <a:p>
            <a:pPr marL="0" indent="0">
              <a:buNone/>
            </a:pPr>
            <a:r>
              <a:rPr lang="ar-SA" sz="2000" b="1"/>
              <a:t>١. النحت: </a:t>
            </a:r>
            <a:r>
              <a:rPr lang="ar-SA" sz="2000"/>
              <a:t>يُتخيّل المكعّب كتلة صلبة يُكشط منها جزء من وجه أو حافة أو ركن، بمقدار قليل أو كبير، بصورة متماثلة أو غير متماثلة.</a:t>
            </a:r>
          </a:p>
          <a:p>
            <a:pPr marL="0" indent="0">
              <a:buNone/>
            </a:pPr>
            <a:r>
              <a:rPr lang="ar-SA" sz="2000" b="1"/>
              <a:t>٢. المرونة: </a:t>
            </a:r>
            <a:r>
              <a:rPr lang="ar-SA" sz="2000"/>
              <a:t>يُتخيّل المكعّب كتلة مطاطية تُشدّ أو تُضغط أو تُلوى على محاور تصل بين أوجه أو حواف أو أركان متقابلة.</a:t>
            </a:r>
          </a:p>
          <a:p>
            <a:pPr marL="0" indent="0">
              <a:buNone/>
            </a:pPr>
            <a:r>
              <a:rPr lang="ar-SA" sz="2000" b="1"/>
              <a:t>٣. التقويس: </a:t>
            </a:r>
            <a:r>
              <a:rPr lang="ar-SA" sz="2000"/>
              <a:t>تُستبدل الحواف المستقيمة بحواف منحنية، فتتقوّس الأوجه المستوية.</a:t>
            </a:r>
          </a:p>
          <a:p>
            <a:pPr marL="0" indent="0">
              <a:buNone/>
            </a:pPr>
            <a:r>
              <a:rPr lang="ar-SA" sz="2000"/>
              <a:t>ومتى استوعب المصمم هذه الاستراتيجيات، أصبح ابتكار أشكال تغليف جديدة ميسورًا حتى مع معرفة محدودة بالهندسة الفراغية.</a:t>
            </a:r>
          </a:p>
        </p:txBody>
      </p:sp>
      <p:sp>
        <p:nvSpPr>
          <p:cNvPr id="15" name="Footer Placeholder 3">
            <a:extLst>
              <a:ext uri="{FF2B5EF4-FFF2-40B4-BE49-F238E27FC236}">
                <a16:creationId xmlns:a16="http://schemas.microsoft.com/office/drawing/2014/main" id="{CFE48E32-A7F6-E621-F2A2-8E8D30A65EAF}"/>
              </a:ext>
            </a:extLst>
          </p:cNvPr>
          <p:cNvSpPr>
            <a:spLocks noGrp="1"/>
          </p:cNvSpPr>
          <p:nvPr>
            <p:ph type="ftr" sz="quarter" idx="11"/>
          </p:nvPr>
        </p:nvSpPr>
        <p:spPr>
          <a:xfrm>
            <a:off x="4038600" y="6356350"/>
            <a:ext cx="4114800" cy="365125"/>
          </a:xfrm>
        </p:spPr>
        <p:txBody>
          <a:bodyPr/>
          <a:lstStyle/>
          <a:p>
            <a:r>
              <a:rPr lang="ar-SA" dirty="0"/>
              <a:t>برنامج التصميم الجرافيكي - المستوى السادس</a:t>
            </a:r>
            <a:endParaRPr lang="en-US" dirty="0"/>
          </a:p>
        </p:txBody>
      </p:sp>
      <p:pic>
        <p:nvPicPr>
          <p:cNvPr id="16" name="Picture 15" descr="face.png"/>
          <p:cNvPicPr>
            <a:picLocks noChangeAspect="1"/>
          </p:cNvPicPr>
          <p:nvPr/>
        </p:nvPicPr>
        <p:blipFill>
          <a:blip r:embed="rId2"/>
          <a:stretch>
            <a:fillRect/>
          </a:stretch>
        </p:blipFill>
        <p:spPr>
          <a:xfrm>
            <a:off x="1872699" y="1600200"/>
            <a:ext cx="2106761" cy="2322576"/>
          </a:xfrm>
          <a:prstGeom prst="rect">
            <a:avLst/>
          </a:prstGeom>
        </p:spPr>
      </p:pic>
      <p:pic>
        <p:nvPicPr>
          <p:cNvPr id="17" name="Picture 16" descr="stretch-edge.png"/>
          <p:cNvPicPr>
            <a:picLocks noChangeAspect="1"/>
          </p:cNvPicPr>
          <p:nvPr/>
        </p:nvPicPr>
        <p:blipFill>
          <a:blip r:embed="rId3"/>
          <a:stretch>
            <a:fillRect/>
          </a:stretch>
        </p:blipFill>
        <p:spPr>
          <a:xfrm>
            <a:off x="783975" y="4105656"/>
            <a:ext cx="1723888" cy="1883664"/>
          </a:xfrm>
          <a:prstGeom prst="rect">
            <a:avLst/>
          </a:prstGeom>
        </p:spPr>
      </p:pic>
      <p:pic>
        <p:nvPicPr>
          <p:cNvPr id="18" name="Picture 17" descr="single.png"/>
          <p:cNvPicPr>
            <a:picLocks noChangeAspect="1"/>
          </p:cNvPicPr>
          <p:nvPr/>
        </p:nvPicPr>
        <p:blipFill>
          <a:blip r:embed="rId4"/>
          <a:stretch>
            <a:fillRect/>
          </a:stretch>
        </p:blipFill>
        <p:spPr>
          <a:xfrm>
            <a:off x="3017520" y="4108109"/>
            <a:ext cx="2377440" cy="1878757"/>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Content Placeholder 2"/>
          <p:cNvSpPr>
            <a:spLocks noGrp="1"/>
          </p:cNvSpPr>
          <p:nvPr>
            <p:ph idx="1"/>
          </p:nvPr>
        </p:nvSpPr>
        <p:spPr>
          <a:xfrm>
            <a:off x="5669280" y="1600200"/>
            <a:ext cx="5852160" cy="4389120"/>
          </a:xfrm>
        </p:spPr>
        <p:txBody>
          <a:bodyPr anchor="ctr">
            <a:normAutofit/>
          </a:bodyPr>
          <a:lstStyle/>
          <a:p>
            <a:pPr marL="0" indent="0">
              <a:buNone/>
            </a:pPr>
            <a:r>
              <a:rPr lang="ar-SA" sz="2000" b="1"/>
              <a:t>كشط وجه (Shaving a Face):</a:t>
            </a:r>
          </a:p>
          <a:p>
            <a:pPr marL="0" indent="0">
              <a:buNone/>
            </a:pPr>
            <a:r>
              <a:rPr lang="ar-SA" sz="2000" b="1"/>
              <a:t>الاستراتيجية وعدد الأوجه: </a:t>
            </a:r>
            <a:r>
              <a:rPr lang="ar-SA" sz="2000"/>
              <a:t>النحت، ٦ أوجه</a:t>
            </a:r>
          </a:p>
          <a:p>
            <a:pPr marL="0" indent="0">
              <a:buNone/>
            </a:pPr>
            <a:r>
              <a:rPr lang="ar-SA" sz="2000" b="1"/>
              <a:t>المفهوم: </a:t>
            </a:r>
            <a:r>
              <a:rPr lang="ar-SA" sz="2000"/>
              <a:t>يُكشط أحد الأوجه بزاوية مائلة فينتج سطح منحدر، ويمكن التحكم في درجة الميل أو إمالته إلى الأمام أو الخلف.</a:t>
            </a:r>
          </a:p>
          <a:p>
            <a:pPr marL="0" indent="0">
              <a:buNone/>
            </a:pPr>
            <a:r>
              <a:rPr lang="ar-SA" sz="2000" b="1"/>
              <a:t>التحليل الشكلي: </a:t>
            </a:r>
            <a:r>
              <a:rPr lang="ar-SA" sz="2000"/>
              <a:t>يتحوّل الوجهان الجانبيان إلى شبهي منحرف، ويصبح الوجه العلوي مستطيلًا مائلًا أطول من القاعدة.</a:t>
            </a:r>
          </a:p>
          <a:p>
            <a:pPr marL="0" indent="0">
              <a:buNone/>
            </a:pPr>
            <a:r>
              <a:rPr lang="ar-SA" sz="2000" b="1"/>
              <a:t>التوظيف في التغليف: </a:t>
            </a:r>
            <a:r>
              <a:rPr lang="ar-SA" sz="2000"/>
              <a:t>يؤدي السطح المائل دور واجهة عرض للشعار أو المنتج، تُقرأ بسهولة من زاوية نظر المستهلك أمام الرف.</a:t>
            </a:r>
          </a:p>
        </p:txBody>
      </p:sp>
      <p:sp>
        <p:nvSpPr>
          <p:cNvPr id="15" name="Footer Placeholder 3">
            <a:extLst>
              <a:ext uri="{FF2B5EF4-FFF2-40B4-BE49-F238E27FC236}">
                <a16:creationId xmlns:a16="http://schemas.microsoft.com/office/drawing/2014/main" id="{CFE48E32-A7F6-E621-F2A2-8E8D30A65EAF}"/>
              </a:ext>
            </a:extLst>
          </p:cNvPr>
          <p:cNvSpPr>
            <a:spLocks noGrp="1"/>
          </p:cNvSpPr>
          <p:nvPr>
            <p:ph type="ftr" sz="quarter" idx="11"/>
          </p:nvPr>
        </p:nvSpPr>
        <p:spPr>
          <a:xfrm>
            <a:off x="4038600" y="6356350"/>
            <a:ext cx="4114800" cy="365125"/>
          </a:xfrm>
        </p:spPr>
        <p:txBody>
          <a:bodyPr/>
          <a:lstStyle/>
          <a:p>
            <a:r>
              <a:rPr lang="ar-SA" dirty="0"/>
              <a:t>برنامج التصميم الجرافيكي - المستوى السادس</a:t>
            </a:r>
            <a:endParaRPr lang="en-US" dirty="0"/>
          </a:p>
        </p:txBody>
      </p:sp>
      <p:pic>
        <p:nvPicPr>
          <p:cNvPr id="16" name="Picture 15" descr="face.png"/>
          <p:cNvPicPr>
            <a:picLocks noChangeAspect="1"/>
          </p:cNvPicPr>
          <p:nvPr/>
        </p:nvPicPr>
        <p:blipFill>
          <a:blip r:embed="rId3"/>
          <a:stretch>
            <a:fillRect/>
          </a:stretch>
        </p:blipFill>
        <p:spPr>
          <a:xfrm>
            <a:off x="935439" y="1600200"/>
            <a:ext cx="3981281" cy="438912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Content Placeholder 2"/>
          <p:cNvSpPr>
            <a:spLocks noGrp="1"/>
          </p:cNvSpPr>
          <p:nvPr>
            <p:ph idx="1"/>
          </p:nvPr>
        </p:nvSpPr>
        <p:spPr>
          <a:xfrm>
            <a:off x="5669280" y="1600200"/>
            <a:ext cx="5852160" cy="4389120"/>
          </a:xfrm>
        </p:spPr>
        <p:txBody>
          <a:bodyPr anchor="ctr">
            <a:normAutofit/>
          </a:bodyPr>
          <a:lstStyle/>
          <a:p>
            <a:pPr marL="0" indent="0">
              <a:buNone/>
            </a:pPr>
            <a:r>
              <a:rPr lang="ar-SA" sz="2000" b="1"/>
              <a:t>كشط حافة (Shaving an Edge):</a:t>
            </a:r>
          </a:p>
          <a:p>
            <a:pPr marL="0" indent="0">
              <a:buNone/>
            </a:pPr>
            <a:r>
              <a:rPr lang="ar-SA" sz="2000" b="1"/>
              <a:t>الاستراتيجية وعدد الأوجه: </a:t>
            </a:r>
            <a:r>
              <a:rPr lang="ar-SA" sz="2000"/>
              <a:t>النحت، ٧ أوجه</a:t>
            </a:r>
          </a:p>
          <a:p>
            <a:pPr marL="0" indent="0">
              <a:buNone/>
            </a:pPr>
            <a:r>
              <a:rPr lang="ar-SA" sz="2000" b="1"/>
              <a:t>المفهوم: </a:t>
            </a:r>
            <a:r>
              <a:rPr lang="ar-SA" sz="2000"/>
              <a:t>تُكشط إحدى الحواف فينشأ مكانها وجه جديد، ويمكن التحكم في مقدار الكشط واتجاه ميله.</a:t>
            </a:r>
          </a:p>
          <a:p>
            <a:pPr marL="0" indent="0">
              <a:buNone/>
            </a:pPr>
            <a:r>
              <a:rPr lang="ar-SA" sz="2000" b="1"/>
              <a:t>التحليل الشكلي: </a:t>
            </a:r>
            <a:r>
              <a:rPr lang="ar-SA" sz="2000"/>
              <a:t>يزيد عدد الأوجه وجهًا واحدًا، ويتحوّل الوجهان الجانبيان إلى شكلين خماسيين.</a:t>
            </a:r>
          </a:p>
          <a:p>
            <a:pPr marL="0" indent="0">
              <a:buNone/>
            </a:pPr>
            <a:r>
              <a:rPr lang="ar-SA" sz="2000" b="1"/>
              <a:t>التوظيف في التغليف: </a:t>
            </a:r>
            <a:r>
              <a:rPr lang="ar-SA" sz="2000"/>
              <a:t>يوفّر الوجه الإضافي مساحة لمعلومة أو عنصر بصري، ويمنح العبوة طابعًا أنعم يلائم علب الهدايا والعطور.</a:t>
            </a:r>
          </a:p>
        </p:txBody>
      </p:sp>
      <p:sp>
        <p:nvSpPr>
          <p:cNvPr id="15" name="Footer Placeholder 3">
            <a:extLst>
              <a:ext uri="{FF2B5EF4-FFF2-40B4-BE49-F238E27FC236}">
                <a16:creationId xmlns:a16="http://schemas.microsoft.com/office/drawing/2014/main" id="{CFE48E32-A7F6-E621-F2A2-8E8D30A65EAF}"/>
              </a:ext>
            </a:extLst>
          </p:cNvPr>
          <p:cNvSpPr>
            <a:spLocks noGrp="1"/>
          </p:cNvSpPr>
          <p:nvPr>
            <p:ph type="ftr" sz="quarter" idx="11"/>
          </p:nvPr>
        </p:nvSpPr>
        <p:spPr>
          <a:xfrm>
            <a:off x="4038600" y="6356350"/>
            <a:ext cx="4114800" cy="365125"/>
          </a:xfrm>
        </p:spPr>
        <p:txBody>
          <a:bodyPr/>
          <a:lstStyle/>
          <a:p>
            <a:r>
              <a:rPr lang="ar-SA" dirty="0"/>
              <a:t>برنامج التصميم الجرافيكي - المستوى السادس</a:t>
            </a:r>
            <a:endParaRPr lang="en-US" dirty="0"/>
          </a:p>
        </p:txBody>
      </p:sp>
      <p:pic>
        <p:nvPicPr>
          <p:cNvPr id="16" name="Picture 15" descr="edge.png"/>
          <p:cNvPicPr>
            <a:picLocks noChangeAspect="1"/>
          </p:cNvPicPr>
          <p:nvPr/>
        </p:nvPicPr>
        <p:blipFill>
          <a:blip r:embed="rId3"/>
          <a:stretch>
            <a:fillRect/>
          </a:stretch>
        </p:blipFill>
        <p:spPr>
          <a:xfrm>
            <a:off x="894997" y="1600200"/>
            <a:ext cx="4062165" cy="438912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Content Placeholder 2"/>
          <p:cNvSpPr>
            <a:spLocks noGrp="1"/>
          </p:cNvSpPr>
          <p:nvPr>
            <p:ph idx="1"/>
          </p:nvPr>
        </p:nvSpPr>
        <p:spPr>
          <a:xfrm>
            <a:off x="5669280" y="1600200"/>
            <a:ext cx="5852160" cy="4389120"/>
          </a:xfrm>
        </p:spPr>
        <p:txBody>
          <a:bodyPr anchor="ctr">
            <a:normAutofit/>
          </a:bodyPr>
          <a:lstStyle/>
          <a:p>
            <a:pPr marL="0" indent="0">
              <a:buNone/>
            </a:pPr>
            <a:r>
              <a:rPr lang="ar-SA" sz="2000" b="1"/>
              <a:t>كشط ركن (Shaving a Corner):</a:t>
            </a:r>
          </a:p>
          <a:p>
            <a:pPr marL="0" indent="0">
              <a:buNone/>
            </a:pPr>
            <a:r>
              <a:rPr lang="ar-SA" sz="2000" b="1"/>
              <a:t>الاستراتيجية وعدد الأوجه: </a:t>
            </a:r>
            <a:r>
              <a:rPr lang="ar-SA" sz="2000"/>
              <a:t>النحت، ٧ أوجه</a:t>
            </a:r>
          </a:p>
          <a:p>
            <a:pPr marL="0" indent="0">
              <a:buNone/>
            </a:pPr>
            <a:r>
              <a:rPr lang="ar-SA" sz="2000" b="1"/>
              <a:t>المفهوم: </a:t>
            </a:r>
            <a:r>
              <a:rPr lang="ar-SA" sz="2000"/>
              <a:t>يُكشط أحد الأركان فينشأ وجه على هيئة مثلث متساوي الأضلاع (زواياه ٦٠°)، لأن القطع يمر بثلاث حواف متساوية؛ وباختلاف مسافات القطع ينتج مثلث مختلف الأضلاع.</a:t>
            </a:r>
          </a:p>
          <a:p>
            <a:pPr marL="0" indent="0">
              <a:buNone/>
            </a:pPr>
            <a:r>
              <a:rPr lang="ar-SA" sz="2000" b="1"/>
              <a:t>التحليل الشكلي: </a:t>
            </a:r>
            <a:r>
              <a:rPr lang="ar-SA" sz="2000"/>
              <a:t>تتحوّل الأوجه الثلاثة الملتقية عند الركن إلى أشكال خماسية.</a:t>
            </a:r>
          </a:p>
          <a:p>
            <a:pPr marL="0" indent="0">
              <a:buNone/>
            </a:pPr>
            <a:r>
              <a:rPr lang="ar-SA" sz="2000" b="1"/>
              <a:t>التوظيف في التغليف: </a:t>
            </a:r>
            <a:r>
              <a:rPr lang="ar-SA" sz="2000"/>
              <a:t>المثلث موضع مميز للشعار، وإيقاف العبوة عليه يمنحها أثرًا نحتيًا يلائم الإصدارات الخاصة.</a:t>
            </a:r>
          </a:p>
        </p:txBody>
      </p:sp>
      <p:sp>
        <p:nvSpPr>
          <p:cNvPr id="15" name="Footer Placeholder 3">
            <a:extLst>
              <a:ext uri="{FF2B5EF4-FFF2-40B4-BE49-F238E27FC236}">
                <a16:creationId xmlns:a16="http://schemas.microsoft.com/office/drawing/2014/main" id="{CFE48E32-A7F6-E621-F2A2-8E8D30A65EAF}"/>
              </a:ext>
            </a:extLst>
          </p:cNvPr>
          <p:cNvSpPr>
            <a:spLocks noGrp="1"/>
          </p:cNvSpPr>
          <p:nvPr>
            <p:ph type="ftr" sz="quarter" idx="11"/>
          </p:nvPr>
        </p:nvSpPr>
        <p:spPr>
          <a:xfrm>
            <a:off x="4038600" y="6356350"/>
            <a:ext cx="4114800" cy="365125"/>
          </a:xfrm>
        </p:spPr>
        <p:txBody>
          <a:bodyPr/>
          <a:lstStyle/>
          <a:p>
            <a:r>
              <a:rPr lang="ar-SA" dirty="0"/>
              <a:t>برنامج التصميم الجرافيكي - المستوى السادس</a:t>
            </a:r>
            <a:endParaRPr lang="en-US" dirty="0"/>
          </a:p>
        </p:txBody>
      </p:sp>
      <p:pic>
        <p:nvPicPr>
          <p:cNvPr id="16" name="Picture 15" descr="corner.png"/>
          <p:cNvPicPr>
            <a:picLocks noChangeAspect="1"/>
          </p:cNvPicPr>
          <p:nvPr/>
        </p:nvPicPr>
        <p:blipFill>
          <a:blip r:embed="rId3"/>
          <a:stretch>
            <a:fillRect/>
          </a:stretch>
        </p:blipFill>
        <p:spPr>
          <a:xfrm>
            <a:off x="457200" y="1834710"/>
            <a:ext cx="4937760" cy="3920099"/>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Content Placeholder 2"/>
          <p:cNvSpPr>
            <a:spLocks noGrp="1"/>
          </p:cNvSpPr>
          <p:nvPr>
            <p:ph idx="1"/>
          </p:nvPr>
        </p:nvSpPr>
        <p:spPr>
          <a:xfrm>
            <a:off x="5669280" y="1600200"/>
            <a:ext cx="5852160" cy="4389120"/>
          </a:xfrm>
        </p:spPr>
        <p:txBody>
          <a:bodyPr anchor="ctr">
            <a:normAutofit/>
          </a:bodyPr>
          <a:lstStyle/>
          <a:p>
            <a:pPr marL="0" indent="0">
              <a:buNone/>
            </a:pPr>
            <a:r>
              <a:rPr lang="ar-SA" sz="2000" b="1"/>
              <a:t>المطّ من حافة إلى حافة (Stretching Edge-to-edge):</a:t>
            </a:r>
          </a:p>
          <a:p>
            <a:pPr marL="0" indent="0">
              <a:buNone/>
            </a:pPr>
            <a:r>
              <a:rPr lang="ar-SA" sz="2000" b="1"/>
              <a:t>الاستراتيجية وعدد الأوجه: </a:t>
            </a:r>
            <a:r>
              <a:rPr lang="ar-SA" sz="2000"/>
              <a:t>المرونة، ٦ أوجه</a:t>
            </a:r>
          </a:p>
          <a:p>
            <a:pPr marL="0" indent="0">
              <a:buNone/>
            </a:pPr>
            <a:r>
              <a:rPr lang="ar-SA" sz="2000" b="1"/>
              <a:t>المفهوم: </a:t>
            </a:r>
            <a:r>
              <a:rPr lang="ar-SA" sz="2000"/>
              <a:t>تُشدّ حافتان متقابلتان في اتجاهين متعاكسين، فينتج صندوق مائل (Leaning Box).</a:t>
            </a:r>
          </a:p>
          <a:p>
            <a:pPr marL="0" indent="0">
              <a:buNone/>
            </a:pPr>
            <a:r>
              <a:rPr lang="ar-SA" sz="2000" b="1"/>
              <a:t>التحليل الشكلي: </a:t>
            </a:r>
            <a:r>
              <a:rPr lang="ar-SA" sz="2000"/>
              <a:t>يتحوّل وجهان متقابلان إلى متوازيي أضلاع، وتبقى الأوجه الأربعة الأخرى مستطيلات.</a:t>
            </a:r>
          </a:p>
          <a:p>
            <a:pPr marL="0" indent="0">
              <a:buNone/>
            </a:pPr>
            <a:r>
              <a:rPr lang="ar-SA" sz="2000" b="1"/>
              <a:t>التوظيف في التغليف: </a:t>
            </a:r>
            <a:r>
              <a:rPr lang="ar-SA" sz="2000"/>
              <a:t>يوحي الشكل بالحركة والديناميكية، ويلائم المنتجات الشبابية والرياضية.</a:t>
            </a:r>
          </a:p>
        </p:txBody>
      </p:sp>
      <p:sp>
        <p:nvSpPr>
          <p:cNvPr id="15" name="Footer Placeholder 3">
            <a:extLst>
              <a:ext uri="{FF2B5EF4-FFF2-40B4-BE49-F238E27FC236}">
                <a16:creationId xmlns:a16="http://schemas.microsoft.com/office/drawing/2014/main" id="{CFE48E32-A7F6-E621-F2A2-8E8D30A65EAF}"/>
              </a:ext>
            </a:extLst>
          </p:cNvPr>
          <p:cNvSpPr>
            <a:spLocks noGrp="1"/>
          </p:cNvSpPr>
          <p:nvPr>
            <p:ph type="ftr" sz="quarter" idx="11"/>
          </p:nvPr>
        </p:nvSpPr>
        <p:spPr>
          <a:xfrm>
            <a:off x="4038600" y="6356350"/>
            <a:ext cx="4114800" cy="365125"/>
          </a:xfrm>
        </p:spPr>
        <p:txBody>
          <a:bodyPr/>
          <a:lstStyle/>
          <a:p>
            <a:r>
              <a:rPr lang="ar-SA" dirty="0"/>
              <a:t>برنامج التصميم الجرافيكي - المستوى السادس</a:t>
            </a:r>
            <a:endParaRPr lang="en-US" dirty="0"/>
          </a:p>
        </p:txBody>
      </p:sp>
      <p:pic>
        <p:nvPicPr>
          <p:cNvPr id="16" name="Picture 15" descr="stretch-edge.png"/>
          <p:cNvPicPr>
            <a:picLocks noChangeAspect="1"/>
          </p:cNvPicPr>
          <p:nvPr/>
        </p:nvPicPr>
        <p:blipFill>
          <a:blip r:embed="rId3"/>
          <a:stretch>
            <a:fillRect/>
          </a:stretch>
        </p:blipFill>
        <p:spPr>
          <a:xfrm>
            <a:off x="917665" y="1600200"/>
            <a:ext cx="4016828" cy="438912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Content Placeholder 2"/>
          <p:cNvSpPr>
            <a:spLocks noGrp="1"/>
          </p:cNvSpPr>
          <p:nvPr>
            <p:ph idx="1"/>
          </p:nvPr>
        </p:nvSpPr>
        <p:spPr>
          <a:xfrm>
            <a:off x="5669280" y="1600200"/>
            <a:ext cx="5852160" cy="4389120"/>
          </a:xfrm>
        </p:spPr>
        <p:txBody>
          <a:bodyPr anchor="ctr">
            <a:normAutofit/>
          </a:bodyPr>
          <a:lstStyle/>
          <a:p>
            <a:pPr marL="0" indent="0">
              <a:buNone/>
            </a:pPr>
            <a:r>
              <a:rPr lang="ar-SA" sz="2000" b="1"/>
              <a:t>المطّ من ركن إلى ركن (Stretching Corner-to-corner):</a:t>
            </a:r>
          </a:p>
          <a:p>
            <a:pPr marL="0" indent="0">
              <a:buNone/>
            </a:pPr>
            <a:r>
              <a:rPr lang="ar-SA" sz="2000" b="1"/>
              <a:t>الاستراتيجية وعدد الأوجه: </a:t>
            </a:r>
            <a:r>
              <a:rPr lang="ar-SA" sz="2000"/>
              <a:t>المرونة، ٦ أوجه</a:t>
            </a:r>
          </a:p>
          <a:p>
            <a:pPr marL="0" indent="0">
              <a:buNone/>
            </a:pPr>
            <a:r>
              <a:rPr lang="ar-SA" sz="2000" b="1"/>
              <a:t>المفهوم: </a:t>
            </a:r>
            <a:r>
              <a:rPr lang="ar-SA" sz="2000"/>
              <a:t>يُشدّ ركنان متقابلان فينتج شكل معيّني يُعرف بمتوازي السطوح المعيّني (Rhombohedron).</a:t>
            </a:r>
          </a:p>
          <a:p>
            <a:pPr marL="0" indent="0">
              <a:buNone/>
            </a:pPr>
            <a:r>
              <a:rPr lang="ar-SA" sz="2000" b="1"/>
              <a:t>التحليل الشكلي: </a:t>
            </a:r>
            <a:r>
              <a:rPr lang="ar-SA" sz="2000"/>
              <a:t>تتحوّل الأوجه الستة جميعها إلى معيّنات، ولا تبقى أي زاوية قائمة.</a:t>
            </a:r>
          </a:p>
          <a:p>
            <a:pPr marL="0" indent="0">
              <a:buNone/>
            </a:pPr>
            <a:r>
              <a:rPr lang="ar-SA" sz="2000" b="1"/>
              <a:t>التوظيف في التغليف: </a:t>
            </a:r>
            <a:r>
              <a:rPr lang="ar-SA" sz="2000"/>
              <a:t>يبدو الشكل كأنه يخالف قوانين المنظور لغياب الزوايا القائمة، فيلائم المنتجات الفاخرة والفنية.</a:t>
            </a:r>
          </a:p>
        </p:txBody>
      </p:sp>
      <p:sp>
        <p:nvSpPr>
          <p:cNvPr id="15" name="Footer Placeholder 3">
            <a:extLst>
              <a:ext uri="{FF2B5EF4-FFF2-40B4-BE49-F238E27FC236}">
                <a16:creationId xmlns:a16="http://schemas.microsoft.com/office/drawing/2014/main" id="{CFE48E32-A7F6-E621-F2A2-8E8D30A65EAF}"/>
              </a:ext>
            </a:extLst>
          </p:cNvPr>
          <p:cNvSpPr>
            <a:spLocks noGrp="1"/>
          </p:cNvSpPr>
          <p:nvPr>
            <p:ph type="ftr" sz="quarter" idx="11"/>
          </p:nvPr>
        </p:nvSpPr>
        <p:spPr>
          <a:xfrm>
            <a:off x="4038600" y="6356350"/>
            <a:ext cx="4114800" cy="365125"/>
          </a:xfrm>
        </p:spPr>
        <p:txBody>
          <a:bodyPr/>
          <a:lstStyle/>
          <a:p>
            <a:r>
              <a:rPr lang="ar-SA" dirty="0"/>
              <a:t>برنامج التصميم الجرافيكي - المستوى السادس</a:t>
            </a:r>
            <a:endParaRPr lang="en-US" dirty="0"/>
          </a:p>
        </p:txBody>
      </p:sp>
      <p:pic>
        <p:nvPicPr>
          <p:cNvPr id="16" name="Picture 15" descr="stretch-corner.png"/>
          <p:cNvPicPr>
            <a:picLocks noChangeAspect="1"/>
          </p:cNvPicPr>
          <p:nvPr/>
        </p:nvPicPr>
        <p:blipFill>
          <a:blip r:embed="rId3"/>
          <a:stretch>
            <a:fillRect/>
          </a:stretch>
        </p:blipFill>
        <p:spPr>
          <a:xfrm>
            <a:off x="457200" y="1605887"/>
            <a:ext cx="4937760" cy="4377745"/>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Content Placeholder 2"/>
          <p:cNvSpPr>
            <a:spLocks noGrp="1"/>
          </p:cNvSpPr>
          <p:nvPr>
            <p:ph idx="1"/>
          </p:nvPr>
        </p:nvSpPr>
        <p:spPr>
          <a:xfrm>
            <a:off x="5669280" y="1600200"/>
            <a:ext cx="5852160" cy="4389120"/>
          </a:xfrm>
        </p:spPr>
        <p:txBody>
          <a:bodyPr anchor="ctr">
            <a:normAutofit/>
          </a:bodyPr>
          <a:lstStyle/>
          <a:p>
            <a:pPr marL="0" indent="0">
              <a:buNone/>
            </a:pPr>
            <a:r>
              <a:rPr lang="ar-SA" sz="2000" b="1"/>
              <a:t>ليّ الوجهين المتقابلين (Twisting Opposite Faces):</a:t>
            </a:r>
          </a:p>
          <a:p>
            <a:pPr marL="0" indent="0">
              <a:buNone/>
            </a:pPr>
            <a:r>
              <a:rPr lang="ar-SA" sz="2000" b="1"/>
              <a:t>الاستراتيجية وعدد الأوجه: </a:t>
            </a:r>
            <a:r>
              <a:rPr lang="ar-SA" sz="2000"/>
              <a:t>المرونة، ٦ أوجه</a:t>
            </a:r>
          </a:p>
          <a:p>
            <a:pPr marL="0" indent="0">
              <a:buNone/>
            </a:pPr>
            <a:r>
              <a:rPr lang="ar-SA" sz="2000" b="1"/>
              <a:t>المفهوم: </a:t>
            </a:r>
            <a:r>
              <a:rPr lang="ar-SA" sz="2000"/>
              <a:t>يُلوى الوجهان العلوي والسفلي ليًّا خفيفًا في اتجاهين متعاكسين، فتتحوّل الجوانب إلى متوازيات أضلاع. وزاوية الميل المثلى ٨٠°، والزوايا الأقل من ٧٠° نادرًا ما تنجح.</a:t>
            </a:r>
          </a:p>
          <a:p>
            <a:pPr marL="0" indent="0">
              <a:buNone/>
            </a:pPr>
            <a:r>
              <a:rPr lang="ar-SA" sz="2000" b="1"/>
              <a:t>التحليل الشكلي: </a:t>
            </a:r>
            <a:r>
              <a:rPr lang="ar-SA" sz="2000"/>
              <a:t>يبقى الوجهان العلوي والسفلي مربعين، وتميل الأوجه الجانبية الأربعة في الاتجاه نفسه.</a:t>
            </a:r>
          </a:p>
          <a:p>
            <a:pPr marL="0" indent="0">
              <a:buNone/>
            </a:pPr>
            <a:r>
              <a:rPr lang="ar-SA" sz="2000" b="1"/>
              <a:t>التوظيف في التغليف: </a:t>
            </a:r>
            <a:r>
              <a:rPr lang="ar-SA" sz="2000"/>
              <a:t>تشويه دقيق لا يُلحظ من النظرة الأولى ثم يكتشفه المستهلك عند التأمل، فيلائم العلامات الراقية.</a:t>
            </a:r>
          </a:p>
        </p:txBody>
      </p:sp>
      <p:sp>
        <p:nvSpPr>
          <p:cNvPr id="15" name="Footer Placeholder 3">
            <a:extLst>
              <a:ext uri="{FF2B5EF4-FFF2-40B4-BE49-F238E27FC236}">
                <a16:creationId xmlns:a16="http://schemas.microsoft.com/office/drawing/2014/main" id="{CFE48E32-A7F6-E621-F2A2-8E8D30A65EAF}"/>
              </a:ext>
            </a:extLst>
          </p:cNvPr>
          <p:cNvSpPr>
            <a:spLocks noGrp="1"/>
          </p:cNvSpPr>
          <p:nvPr>
            <p:ph type="ftr" sz="quarter" idx="11"/>
          </p:nvPr>
        </p:nvSpPr>
        <p:spPr>
          <a:xfrm>
            <a:off x="4038600" y="6356350"/>
            <a:ext cx="4114800" cy="365125"/>
          </a:xfrm>
        </p:spPr>
        <p:txBody>
          <a:bodyPr/>
          <a:lstStyle/>
          <a:p>
            <a:r>
              <a:rPr lang="ar-SA" dirty="0"/>
              <a:t>برنامج التصميم الجرافيكي - المستوى السادس</a:t>
            </a:r>
            <a:endParaRPr lang="en-US" dirty="0"/>
          </a:p>
        </p:txBody>
      </p:sp>
      <p:pic>
        <p:nvPicPr>
          <p:cNvPr id="16" name="Picture 15" descr="twist.png"/>
          <p:cNvPicPr>
            <a:picLocks noChangeAspect="1"/>
          </p:cNvPicPr>
          <p:nvPr/>
        </p:nvPicPr>
        <p:blipFill>
          <a:blip r:embed="rId3"/>
          <a:stretch>
            <a:fillRect/>
          </a:stretch>
        </p:blipFill>
        <p:spPr>
          <a:xfrm>
            <a:off x="712624" y="1600200"/>
            <a:ext cx="4426910" cy="438912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Content Placeholder 2"/>
          <p:cNvSpPr>
            <a:spLocks noGrp="1"/>
          </p:cNvSpPr>
          <p:nvPr>
            <p:ph idx="1"/>
          </p:nvPr>
        </p:nvSpPr>
        <p:spPr>
          <a:xfrm>
            <a:off x="5669280" y="1600200"/>
            <a:ext cx="5852160" cy="4389120"/>
          </a:xfrm>
        </p:spPr>
        <p:txBody>
          <a:bodyPr anchor="ctr">
            <a:normAutofit/>
          </a:bodyPr>
          <a:lstStyle/>
          <a:p>
            <a:pPr marL="0" indent="0">
              <a:buNone/>
            </a:pPr>
            <a:r>
              <a:rPr lang="ar-SA" sz="2000" b="1"/>
              <a:t>الليّ: النسخة المُضلَّعة (Twisting: Faceted Version):</a:t>
            </a:r>
          </a:p>
          <a:p>
            <a:pPr marL="0" indent="0">
              <a:buNone/>
            </a:pPr>
            <a:r>
              <a:rPr lang="ar-SA" sz="2000" b="1"/>
              <a:t>الاستراتيجية وعدد الأوجه: </a:t>
            </a:r>
            <a:r>
              <a:rPr lang="ar-SA" sz="2000"/>
              <a:t>المرونة، ١٠ أوجه</a:t>
            </a:r>
          </a:p>
          <a:p>
            <a:pPr marL="0" indent="0">
              <a:buNone/>
            </a:pPr>
            <a:r>
              <a:rPr lang="ar-SA" sz="2000" b="1"/>
              <a:t>المفهوم: </a:t>
            </a:r>
            <a:r>
              <a:rPr lang="ar-SA" sz="2000"/>
              <a:t>يُزاد الليّ حتى تقع أركان المربع العلوي فوق منتصفات حواف المربع السفلي، ثم تُوصل الأركان الثمانية بخطوط طي.</a:t>
            </a:r>
          </a:p>
          <a:p>
            <a:pPr marL="0" indent="0">
              <a:buNone/>
            </a:pPr>
            <a:r>
              <a:rPr lang="ar-SA" sz="2000" b="1"/>
              <a:t>التحليل الشكلي: </a:t>
            </a:r>
            <a:r>
              <a:rPr lang="ar-SA" sz="2000"/>
              <a:t>مربعان وثمانية مثلثات متساوية الساقين (Antiprism)، ويتطلب ألسنة ذات حافة مثنية (Flanged Tabs).</a:t>
            </a:r>
          </a:p>
          <a:p>
            <a:pPr marL="0" indent="0">
              <a:buNone/>
            </a:pPr>
            <a:r>
              <a:rPr lang="ar-SA" sz="2000" b="1"/>
              <a:t>التوظيف في التغليف: </a:t>
            </a:r>
            <a:r>
              <a:rPr lang="ar-SA" sz="2000"/>
              <a:t>شكل بلوري يحاكي الأحجار الكريمة، يلائم المجوهرات والشوكولاتة الفاخرة والشموع.</a:t>
            </a:r>
          </a:p>
        </p:txBody>
      </p:sp>
      <p:sp>
        <p:nvSpPr>
          <p:cNvPr id="15" name="Footer Placeholder 3">
            <a:extLst>
              <a:ext uri="{FF2B5EF4-FFF2-40B4-BE49-F238E27FC236}">
                <a16:creationId xmlns:a16="http://schemas.microsoft.com/office/drawing/2014/main" id="{CFE48E32-A7F6-E621-F2A2-8E8D30A65EAF}"/>
              </a:ext>
            </a:extLst>
          </p:cNvPr>
          <p:cNvSpPr>
            <a:spLocks noGrp="1"/>
          </p:cNvSpPr>
          <p:nvPr>
            <p:ph type="ftr" sz="quarter" idx="11"/>
          </p:nvPr>
        </p:nvSpPr>
        <p:spPr>
          <a:xfrm>
            <a:off x="4038600" y="6356350"/>
            <a:ext cx="4114800" cy="365125"/>
          </a:xfrm>
        </p:spPr>
        <p:txBody>
          <a:bodyPr/>
          <a:lstStyle/>
          <a:p>
            <a:r>
              <a:rPr lang="ar-SA" dirty="0"/>
              <a:t>برنامج التصميم الجرافيكي - المستوى السادس</a:t>
            </a:r>
            <a:endParaRPr lang="en-US" dirty="0"/>
          </a:p>
        </p:txBody>
      </p:sp>
      <p:pic>
        <p:nvPicPr>
          <p:cNvPr id="16" name="Picture 15" descr="twist-facet.png"/>
          <p:cNvPicPr>
            <a:picLocks noChangeAspect="1"/>
          </p:cNvPicPr>
          <p:nvPr/>
        </p:nvPicPr>
        <p:blipFill>
          <a:blip r:embed="rId3"/>
          <a:stretch>
            <a:fillRect/>
          </a:stretch>
        </p:blipFill>
        <p:spPr>
          <a:xfrm>
            <a:off x="457200" y="1732341"/>
            <a:ext cx="4937760" cy="4124836"/>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Content Placeholder 2"/>
          <p:cNvSpPr>
            <a:spLocks noGrp="1"/>
          </p:cNvSpPr>
          <p:nvPr>
            <p:ph idx="1"/>
          </p:nvPr>
        </p:nvSpPr>
        <p:spPr>
          <a:xfrm>
            <a:off x="5669280" y="1600200"/>
            <a:ext cx="5852160" cy="4389120"/>
          </a:xfrm>
        </p:spPr>
        <p:txBody>
          <a:bodyPr anchor="ctr">
            <a:normAutofit/>
          </a:bodyPr>
          <a:lstStyle/>
          <a:p>
            <a:pPr marL="0" indent="0">
              <a:buNone/>
            </a:pPr>
            <a:r>
              <a:rPr lang="ar-SA" sz="2000" b="1"/>
              <a:t>الضغط من وجه إلى وجه (Compressing Face-to-face):</a:t>
            </a:r>
          </a:p>
          <a:p>
            <a:pPr marL="0" indent="0">
              <a:buNone/>
            </a:pPr>
            <a:r>
              <a:rPr lang="ar-SA" sz="2000" b="1"/>
              <a:t>الاستراتيجية وعدد الأوجه: </a:t>
            </a:r>
            <a:r>
              <a:rPr lang="ar-SA" sz="2000"/>
              <a:t>المرونة، ٦ أوجه</a:t>
            </a:r>
          </a:p>
          <a:p>
            <a:pPr marL="0" indent="0">
              <a:buNone/>
            </a:pPr>
            <a:r>
              <a:rPr lang="ar-SA" sz="2000" b="1"/>
              <a:t>المفهوم: </a:t>
            </a:r>
            <a:r>
              <a:rPr lang="ar-SA" sz="2000"/>
              <a:t>يُضغط وجهان متقابلان باتجاه بعضهما، والشكل المعروض تبسيط تصميمي (Stylization) لشكل هلامي منحنٍ أكثر تعقيدًا. ورغم مظهره المضغوط تساوي مساحة الورق مساحة المكعّب الأصلي.</a:t>
            </a:r>
          </a:p>
          <a:p>
            <a:pPr marL="0" indent="0">
              <a:buNone/>
            </a:pPr>
            <a:r>
              <a:rPr lang="ar-SA" sz="2000" b="1"/>
              <a:t>التحليل الشكلي: </a:t>
            </a:r>
            <a:r>
              <a:rPr lang="ar-SA" sz="2000"/>
              <a:t>ينقسم كل جدار بخط طي أفقي في منتصفه فينثني عنده.</a:t>
            </a:r>
          </a:p>
          <a:p>
            <a:pPr marL="0" indent="0">
              <a:buNone/>
            </a:pPr>
            <a:r>
              <a:rPr lang="ar-SA" sz="2000" b="1"/>
              <a:t>التوظيف في التغليف: </a:t>
            </a:r>
            <a:r>
              <a:rPr lang="ar-SA" sz="2000"/>
              <a:t>شكل يوحي بالمرونة والطرافة، ويلائم المنتجات اللينة ومنتجات الأطفال.</a:t>
            </a:r>
          </a:p>
        </p:txBody>
      </p:sp>
      <p:sp>
        <p:nvSpPr>
          <p:cNvPr id="15" name="Footer Placeholder 3">
            <a:extLst>
              <a:ext uri="{FF2B5EF4-FFF2-40B4-BE49-F238E27FC236}">
                <a16:creationId xmlns:a16="http://schemas.microsoft.com/office/drawing/2014/main" id="{CFE48E32-A7F6-E621-F2A2-8E8D30A65EAF}"/>
              </a:ext>
            </a:extLst>
          </p:cNvPr>
          <p:cNvSpPr>
            <a:spLocks noGrp="1"/>
          </p:cNvSpPr>
          <p:nvPr>
            <p:ph type="ftr" sz="quarter" idx="11"/>
          </p:nvPr>
        </p:nvSpPr>
        <p:spPr>
          <a:xfrm>
            <a:off x="4038600" y="6356350"/>
            <a:ext cx="4114800" cy="365125"/>
          </a:xfrm>
        </p:spPr>
        <p:txBody>
          <a:bodyPr/>
          <a:lstStyle/>
          <a:p>
            <a:r>
              <a:rPr lang="ar-SA" dirty="0"/>
              <a:t>برنامج التصميم الجرافيكي - المستوى السادس</a:t>
            </a:r>
            <a:endParaRPr lang="en-US" dirty="0"/>
          </a:p>
        </p:txBody>
      </p:sp>
      <p:pic>
        <p:nvPicPr>
          <p:cNvPr id="16" name="Picture 15" descr="compress.png"/>
          <p:cNvPicPr>
            <a:picLocks noChangeAspect="1"/>
          </p:cNvPicPr>
          <p:nvPr/>
        </p:nvPicPr>
        <p:blipFill>
          <a:blip r:embed="rId3"/>
          <a:stretch>
            <a:fillRect/>
          </a:stretch>
        </p:blipFill>
        <p:spPr>
          <a:xfrm>
            <a:off x="720762" y="1600200"/>
            <a:ext cx="4410635" cy="438912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Content Placeholder 2"/>
          <p:cNvSpPr>
            <a:spLocks noGrp="1"/>
          </p:cNvSpPr>
          <p:nvPr>
            <p:ph idx="1"/>
          </p:nvPr>
        </p:nvSpPr>
        <p:spPr>
          <a:xfrm>
            <a:off x="1005840" y="1600200"/>
            <a:ext cx="10149840" cy="4389120"/>
          </a:xfrm>
        </p:spPr>
        <p:txBody>
          <a:bodyPr anchor="ctr">
            <a:normAutofit/>
          </a:bodyPr>
          <a:lstStyle/>
          <a:p>
            <a:pPr marL="0" indent="0">
              <a:buNone/>
            </a:pPr>
            <a:r>
              <a:rPr lang="ar-SA" sz="2000" b="1"/>
              <a:t>مقارنة شاملة بين التقنيات:</a:t>
            </a:r>
          </a:p>
          <a:p>
            <a:pPr/>
            <a:r>
              <a:rPr lang="ar-SA" sz="2000" b="1"/>
              <a:t>كشط وجه (النحت، ٦ أوجه): </a:t>
            </a:r>
            <a:r>
              <a:rPr lang="ar-SA" sz="2000"/>
              <a:t>سطح علوي منحدر، وجانبان شبه منحرفين.</a:t>
            </a:r>
          </a:p>
          <a:p>
            <a:pPr/>
            <a:r>
              <a:rPr lang="ar-SA" sz="2000" b="1"/>
              <a:t>كشط حافة (النحت، ٧ أوجه): </a:t>
            </a:r>
            <a:r>
              <a:rPr lang="ar-SA" sz="2000"/>
              <a:t>وجه مستطيل جديد، وجانبان خماسيان.</a:t>
            </a:r>
          </a:p>
          <a:p>
            <a:pPr/>
            <a:r>
              <a:rPr lang="ar-SA" sz="2000" b="1"/>
              <a:t>كشط ركن (النحت، ٧ أوجه): </a:t>
            </a:r>
            <a:r>
              <a:rPr lang="ar-SA" sz="2000"/>
              <a:t>وجه مثلث جديد، وثلاثة أوجه خماسية.</a:t>
            </a:r>
          </a:p>
          <a:p>
            <a:pPr/>
            <a:r>
              <a:rPr lang="ar-SA" sz="2000" b="1"/>
              <a:t>مطّ حافة لحافة (المرونة، ٦ أوجه): </a:t>
            </a:r>
            <a:r>
              <a:rPr lang="ar-SA" sz="2000"/>
              <a:t>وجهان متوازيا أضلاع، وصندوق مائل.</a:t>
            </a:r>
          </a:p>
          <a:p>
            <a:pPr/>
            <a:r>
              <a:rPr lang="ar-SA" sz="2000" b="1"/>
              <a:t>مطّ ركن لركن (المرونة، ٦ أوجه): </a:t>
            </a:r>
            <a:r>
              <a:rPr lang="ar-SA" sz="2000"/>
              <a:t>جميع الأوجه معيّنات.</a:t>
            </a:r>
          </a:p>
          <a:p>
            <a:pPr/>
            <a:r>
              <a:rPr lang="ar-SA" sz="2000" b="1"/>
              <a:t>ليّ بسيط (المرونة، ٦ أوجه): </a:t>
            </a:r>
            <a:r>
              <a:rPr lang="ar-SA" sz="2000"/>
              <a:t>جوانب متوازيات أضلاع بزاوية ٨٠°.</a:t>
            </a:r>
          </a:p>
          <a:p>
            <a:pPr/>
            <a:r>
              <a:rPr lang="ar-SA" sz="2000" b="1"/>
              <a:t>ليّ مُضلَّع (المرونة، ١٠ أوجه): </a:t>
            </a:r>
            <a:r>
              <a:rPr lang="ar-SA" sz="2000"/>
              <a:t>مربعان وثمانية مثلثات.</a:t>
            </a:r>
          </a:p>
          <a:p>
            <a:pPr/>
            <a:r>
              <a:rPr lang="ar-SA" sz="2000" b="1"/>
              <a:t>ضغط وجه لوجه (المرونة، ٦ أوجه): </a:t>
            </a:r>
            <a:r>
              <a:rPr lang="ar-SA" sz="2000"/>
              <a:t>جدران منثنية عند منتصفها.</a:t>
            </a:r>
          </a:p>
        </p:txBody>
      </p:sp>
      <p:sp>
        <p:nvSpPr>
          <p:cNvPr id="15" name="Footer Placeholder 3">
            <a:extLst>
              <a:ext uri="{FF2B5EF4-FFF2-40B4-BE49-F238E27FC236}">
                <a16:creationId xmlns:a16="http://schemas.microsoft.com/office/drawing/2014/main" id="{CFE48E32-A7F6-E621-F2A2-8E8D30A65EAF}"/>
              </a:ext>
            </a:extLst>
          </p:cNvPr>
          <p:cNvSpPr>
            <a:spLocks noGrp="1"/>
          </p:cNvSpPr>
          <p:nvPr>
            <p:ph type="ftr" sz="quarter" idx="11"/>
          </p:nvPr>
        </p:nvSpPr>
        <p:spPr>
          <a:xfrm>
            <a:off x="4038600" y="6356350"/>
            <a:ext cx="4114800" cy="365125"/>
          </a:xfrm>
        </p:spPr>
        <p:txBody>
          <a:bodyPr/>
          <a:lstStyle/>
          <a:p>
            <a:r>
              <a:rPr lang="ar-SA" dirty="0"/>
              <a:t>برنامج التصميم الجرافيكي - المستوى السادس</a:t>
            </a:r>
            <a:endParaRPr lang="en-US" dirty="0"/>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Content Placeholder 2"/>
          <p:cNvSpPr>
            <a:spLocks noGrp="1"/>
          </p:cNvSpPr>
          <p:nvPr>
            <p:ph idx="1"/>
          </p:nvPr>
        </p:nvSpPr>
        <p:spPr>
          <a:xfrm>
            <a:off x="5669280" y="1600200"/>
            <a:ext cx="5852160" cy="4389120"/>
          </a:xfrm>
        </p:spPr>
        <p:txBody>
          <a:bodyPr anchor="ctr">
            <a:normAutofit/>
          </a:bodyPr>
          <a:lstStyle/>
          <a:p>
            <a:pPr marL="0" indent="0">
              <a:buNone/>
            </a:pPr>
            <a:r>
              <a:rPr lang="ar-SA" sz="2000" b="1"/>
              <a:t>استراتيجية التقويس: المنحنيات المزدوجة (Double Curves):</a:t>
            </a:r>
          </a:p>
          <a:p>
            <a:pPr marL="0" indent="0">
              <a:buNone/>
            </a:pPr>
            <a:r>
              <a:rPr lang="ar-SA" sz="2000"/>
              <a:t>يمكن استبدال أي حافة طي مستقيمة تقريبًا بمنحنى مزدوج، فتتحول العبوة الحادة إلى عبوة أنعم وأكثر زخرفة. ولأنها تتطلب دقة عالية تُرسم وفق الخطوات الآتية:</a:t>
            </a:r>
          </a:p>
          <a:p>
            <a:pPr marL="0" indent="0">
              <a:buNone/>
            </a:pPr>
            <a:r>
              <a:rPr lang="ar-SA" sz="2000" b="1"/>
              <a:t>١. إعداد المِفرَد: </a:t>
            </a:r>
            <a:r>
              <a:rPr lang="ar-SA" sz="2000"/>
              <a:t>يُرسم مِفرَد قياسي بألسنته، وتُضاف خطوط إنشاء تمر بمراكز المربعات: خطّان طويلان وخطّان قصيران.</a:t>
            </a:r>
          </a:p>
          <a:p>
            <a:pPr marL="0" indent="0">
              <a:buNone/>
            </a:pPr>
            <a:r>
              <a:rPr lang="ar-SA" sz="2000" b="1"/>
              <a:t>٢. القوس الأول: </a:t>
            </a:r>
            <a:r>
              <a:rPr lang="ar-SA" sz="2000"/>
              <a:t>يُقاس طول الحافة ويُضاف إليه ٥٪ ليكون نصف القطر، ويُرسم قوس يمر بطرفي الحافة ومركزه على خط الإنشاء يمينها.</a:t>
            </a:r>
          </a:p>
          <a:p>
            <a:pPr marL="0" indent="0">
              <a:buNone/>
            </a:pPr>
            <a:r>
              <a:rPr lang="ar-SA" sz="2000" b="1"/>
              <a:t>٣. القوس الثاني: </a:t>
            </a:r>
            <a:r>
              <a:rPr lang="ar-SA" sz="2000"/>
              <a:t>تُكرَّر الخطوة السابقة على أن يقع المركز يسار الحافة.</a:t>
            </a:r>
          </a:p>
        </p:txBody>
      </p:sp>
      <p:sp>
        <p:nvSpPr>
          <p:cNvPr id="15" name="Footer Placeholder 3">
            <a:extLst>
              <a:ext uri="{FF2B5EF4-FFF2-40B4-BE49-F238E27FC236}">
                <a16:creationId xmlns:a16="http://schemas.microsoft.com/office/drawing/2014/main" id="{CFE48E32-A7F6-E621-F2A2-8E8D30A65EAF}"/>
              </a:ext>
            </a:extLst>
          </p:cNvPr>
          <p:cNvSpPr>
            <a:spLocks noGrp="1"/>
          </p:cNvSpPr>
          <p:nvPr>
            <p:ph type="ftr" sz="quarter" idx="11"/>
          </p:nvPr>
        </p:nvSpPr>
        <p:spPr>
          <a:xfrm>
            <a:off x="4038600" y="6356350"/>
            <a:ext cx="4114800" cy="365125"/>
          </a:xfrm>
        </p:spPr>
        <p:txBody>
          <a:bodyPr/>
          <a:lstStyle/>
          <a:p>
            <a:r>
              <a:rPr lang="ar-SA" dirty="0"/>
              <a:t>برنامج التصميم الجرافيكي - المستوى السادس</a:t>
            </a:r>
            <a:endParaRPr lang="en-US" dirty="0"/>
          </a:p>
        </p:txBody>
      </p:sp>
      <p:pic>
        <p:nvPicPr>
          <p:cNvPr id="16" name="Picture 15" descr="dc2.png"/>
          <p:cNvPicPr>
            <a:picLocks noChangeAspect="1"/>
          </p:cNvPicPr>
          <p:nvPr/>
        </p:nvPicPr>
        <p:blipFill>
          <a:blip r:embed="rId2"/>
          <a:stretch>
            <a:fillRect/>
          </a:stretch>
        </p:blipFill>
        <p:spPr>
          <a:xfrm>
            <a:off x="1696009" y="1600200"/>
            <a:ext cx="2460140" cy="2103120"/>
          </a:xfrm>
          <a:prstGeom prst="rect">
            <a:avLst/>
          </a:prstGeom>
        </p:spPr>
      </p:pic>
      <p:pic>
        <p:nvPicPr>
          <p:cNvPr id="17" name="Picture 16" descr="dc3.png"/>
          <p:cNvPicPr>
            <a:picLocks noChangeAspect="1"/>
          </p:cNvPicPr>
          <p:nvPr/>
        </p:nvPicPr>
        <p:blipFill>
          <a:blip r:embed="rId3"/>
          <a:stretch>
            <a:fillRect/>
          </a:stretch>
        </p:blipFill>
        <p:spPr>
          <a:xfrm>
            <a:off x="1514821" y="3886200"/>
            <a:ext cx="2822517" cy="210312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Content Placeholder 2"/>
          <p:cNvSpPr>
            <a:spLocks noGrp="1"/>
          </p:cNvSpPr>
          <p:nvPr>
            <p:ph idx="1"/>
          </p:nvPr>
        </p:nvSpPr>
        <p:spPr>
          <a:xfrm>
            <a:off x="5669280" y="1600200"/>
            <a:ext cx="5852160" cy="4389120"/>
          </a:xfrm>
        </p:spPr>
        <p:txBody>
          <a:bodyPr anchor="ctr">
            <a:normAutofit/>
          </a:bodyPr>
          <a:lstStyle/>
          <a:p>
            <a:pPr marL="0" indent="0">
              <a:buNone/>
            </a:pPr>
            <a:r>
              <a:rPr lang="ar-SA" sz="2000" b="1"/>
              <a:t>المنحنيات المزدوجة: استكمال الخطوات</a:t>
            </a:r>
          </a:p>
          <a:p>
            <a:pPr marL="0" indent="0">
              <a:buNone/>
            </a:pPr>
            <a:r>
              <a:rPr lang="ar-SA" sz="2000" b="1"/>
              <a:t>٤. اكتمال المنحنى: </a:t>
            </a:r>
            <a:r>
              <a:rPr lang="ar-SA" sz="2000"/>
              <a:t>يلتقي القوسان عند طرفي الحافة ويشكّلان هيئة عدسية، هي المنحنى المزدوج.</a:t>
            </a:r>
          </a:p>
          <a:p>
            <a:pPr marL="0" indent="0">
              <a:buNone/>
            </a:pPr>
            <a:r>
              <a:rPr lang="ar-SA" sz="2000" b="1"/>
              <a:t>٥. تعميم المنحنيات: </a:t>
            </a:r>
            <a:r>
              <a:rPr lang="ar-SA" sz="2000"/>
              <a:t>تُضاف ثلاثة منحنيات أخرى بخطوط الإنشاء الطويلة، وتُرسم منحنيات مفردة قصيرة على الألسنة الأربعة بالخطوط القصيرة.</a:t>
            </a:r>
          </a:p>
          <a:p>
            <a:pPr marL="0" indent="0">
              <a:buNone/>
            </a:pPr>
            <a:r>
              <a:rPr lang="ar-SA" sz="2000" b="1"/>
              <a:t>٦. الشكل النهائي: </a:t>
            </a:r>
            <a:r>
              <a:rPr lang="ar-SA" sz="2000"/>
              <a:t>مكعّب تبدو حواف وجهه العلوي مقعّرة ولينة.</a:t>
            </a:r>
          </a:p>
        </p:txBody>
      </p:sp>
      <p:sp>
        <p:nvSpPr>
          <p:cNvPr id="15" name="Footer Placeholder 3">
            <a:extLst>
              <a:ext uri="{FF2B5EF4-FFF2-40B4-BE49-F238E27FC236}">
                <a16:creationId xmlns:a16="http://schemas.microsoft.com/office/drawing/2014/main" id="{CFE48E32-A7F6-E621-F2A2-8E8D30A65EAF}"/>
              </a:ext>
            </a:extLst>
          </p:cNvPr>
          <p:cNvSpPr>
            <a:spLocks noGrp="1"/>
          </p:cNvSpPr>
          <p:nvPr>
            <p:ph type="ftr" sz="quarter" idx="11"/>
          </p:nvPr>
        </p:nvSpPr>
        <p:spPr>
          <a:xfrm>
            <a:off x="4038600" y="6356350"/>
            <a:ext cx="4114800" cy="365125"/>
          </a:xfrm>
        </p:spPr>
        <p:txBody>
          <a:bodyPr/>
          <a:lstStyle/>
          <a:p>
            <a:r>
              <a:rPr lang="ar-SA" dirty="0"/>
              <a:t>برنامج التصميم الجرافيكي - المستوى السادس</a:t>
            </a:r>
            <a:endParaRPr lang="en-US" dirty="0"/>
          </a:p>
        </p:txBody>
      </p:sp>
      <p:pic>
        <p:nvPicPr>
          <p:cNvPr id="16" name="Picture 15" descr="dc4b.png"/>
          <p:cNvPicPr>
            <a:picLocks noChangeAspect="1"/>
          </p:cNvPicPr>
          <p:nvPr/>
        </p:nvPicPr>
        <p:blipFill>
          <a:blip r:embed="rId2"/>
          <a:stretch>
            <a:fillRect/>
          </a:stretch>
        </p:blipFill>
        <p:spPr>
          <a:xfrm>
            <a:off x="457200" y="1658186"/>
            <a:ext cx="4937760" cy="1987147"/>
          </a:xfrm>
          <a:prstGeom prst="rect">
            <a:avLst/>
          </a:prstGeom>
        </p:spPr>
      </p:pic>
      <p:pic>
        <p:nvPicPr>
          <p:cNvPr id="17" name="Picture 16" descr="dc5.png"/>
          <p:cNvPicPr>
            <a:picLocks noChangeAspect="1"/>
          </p:cNvPicPr>
          <p:nvPr/>
        </p:nvPicPr>
        <p:blipFill>
          <a:blip r:embed="rId3"/>
          <a:stretch>
            <a:fillRect/>
          </a:stretch>
        </p:blipFill>
        <p:spPr>
          <a:xfrm>
            <a:off x="1871639" y="3886200"/>
            <a:ext cx="2108881" cy="2103120"/>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Content Placeholder 2"/>
          <p:cNvSpPr>
            <a:spLocks noGrp="1"/>
          </p:cNvSpPr>
          <p:nvPr>
            <p:ph idx="1"/>
          </p:nvPr>
        </p:nvSpPr>
        <p:spPr>
          <a:xfrm>
            <a:off x="5669280" y="1600200"/>
            <a:ext cx="5852160" cy="4389120"/>
          </a:xfrm>
        </p:spPr>
        <p:txBody>
          <a:bodyPr anchor="ctr">
            <a:normAutofit/>
          </a:bodyPr>
          <a:lstStyle/>
          <a:p>
            <a:pPr marL="0" indent="0">
              <a:buNone/>
            </a:pPr>
            <a:r>
              <a:rPr lang="ar-SA" sz="2000" b="1"/>
              <a:t>حساب نصف قطر المنحنى:</a:t>
            </a:r>
          </a:p>
          <a:p>
            <a:pPr marL="0" indent="0">
              <a:buNone/>
            </a:pPr>
            <a:r>
              <a:rPr lang="ar-SA" sz="2000" b="1"/>
              <a:t>القاعدة: </a:t>
            </a:r>
            <a:r>
              <a:rPr lang="ar-SA" sz="2000"/>
              <a:t>نصف القطر = طول الحافة + ٥٪</a:t>
            </a:r>
          </a:p>
          <a:p>
            <a:pPr/>
            <a:r>
              <a:rPr lang="ar-SA" sz="2000"/>
              <a:t>حافة طولها ١٠ سم ← نصف القطر ١٠٫٥ سم.</a:t>
            </a:r>
          </a:p>
          <a:p>
            <a:pPr/>
            <a:r>
              <a:rPr lang="ar-SA" sz="2000"/>
              <a:t>حافة طولها ٨ سم ← نصف القطر ٨٫٤ سم.</a:t>
            </a:r>
          </a:p>
          <a:p>
            <a:pPr/>
            <a:r>
              <a:rPr lang="ar-SA" sz="2000"/>
              <a:t>حافة طولها ١٢ سم ← نصف القطر ١٢٫٦ سم.</a:t>
            </a:r>
          </a:p>
          <a:p>
            <a:pPr marL="0" indent="0">
              <a:buNone/>
            </a:pPr>
            <a:r>
              <a:rPr lang="ar-SA" sz="2000" b="1"/>
              <a:t>علّة النسبة: </a:t>
            </a:r>
            <a:r>
              <a:rPr lang="ar-SA" sz="2000"/>
              <a:t>نصف القطر الكبير نسبيًا يعطي قوسًا لطيف الانحناء يسهل طيّه، في حين يؤدي نصف القطر الصغير إلى منحنى حاد يصعب تنفيذه على الورق.</a:t>
            </a:r>
          </a:p>
        </p:txBody>
      </p:sp>
      <p:sp>
        <p:nvSpPr>
          <p:cNvPr id="15" name="Footer Placeholder 3">
            <a:extLst>
              <a:ext uri="{FF2B5EF4-FFF2-40B4-BE49-F238E27FC236}">
                <a16:creationId xmlns:a16="http://schemas.microsoft.com/office/drawing/2014/main" id="{CFE48E32-A7F6-E621-F2A2-8E8D30A65EAF}"/>
              </a:ext>
            </a:extLst>
          </p:cNvPr>
          <p:cNvSpPr>
            <a:spLocks noGrp="1"/>
          </p:cNvSpPr>
          <p:nvPr>
            <p:ph type="ftr" sz="quarter" idx="11"/>
          </p:nvPr>
        </p:nvSpPr>
        <p:spPr>
          <a:xfrm>
            <a:off x="4038600" y="6356350"/>
            <a:ext cx="4114800" cy="365125"/>
          </a:xfrm>
        </p:spPr>
        <p:txBody>
          <a:bodyPr/>
          <a:lstStyle/>
          <a:p>
            <a:r>
              <a:rPr lang="ar-SA" dirty="0"/>
              <a:t>برنامج التصميم الجرافيكي - المستوى السادس</a:t>
            </a:r>
            <a:endParaRPr lang="en-US" dirty="0"/>
          </a:p>
        </p:txBody>
      </p:sp>
      <p:pic>
        <p:nvPicPr>
          <p:cNvPr id="16" name="Picture 15" descr="dc2.png"/>
          <p:cNvPicPr>
            <a:picLocks noChangeAspect="1"/>
          </p:cNvPicPr>
          <p:nvPr/>
        </p:nvPicPr>
        <p:blipFill>
          <a:blip r:embed="rId2"/>
          <a:stretch>
            <a:fillRect/>
          </a:stretch>
        </p:blipFill>
        <p:spPr>
          <a:xfrm>
            <a:off x="457200" y="1684168"/>
            <a:ext cx="4937760" cy="4221182"/>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Content Placeholder 2"/>
          <p:cNvSpPr>
            <a:spLocks noGrp="1"/>
          </p:cNvSpPr>
          <p:nvPr>
            <p:ph idx="1"/>
          </p:nvPr>
        </p:nvSpPr>
        <p:spPr>
          <a:xfrm>
            <a:off x="5669280" y="1600200"/>
            <a:ext cx="5852160" cy="4389120"/>
          </a:xfrm>
        </p:spPr>
        <p:txBody>
          <a:bodyPr anchor="ctr">
            <a:normAutofit/>
          </a:bodyPr>
          <a:lstStyle/>
          <a:p>
            <a:pPr marL="0" indent="0">
              <a:buNone/>
            </a:pPr>
            <a:r>
              <a:rPr lang="ar-SA" sz="2000" b="1"/>
              <a:t>تنفيذ الطيات المنحنية بالقالب:</a:t>
            </a:r>
          </a:p>
          <a:p>
            <a:pPr marL="0" indent="0">
              <a:buNone/>
            </a:pPr>
            <a:r>
              <a:rPr lang="ar-SA" sz="2000"/>
              <a:t>يتعذّر تنفيذ طيّة منحنية دقيقة باليد الحرة، لأن أداة الطي تحتاج إلى دليل تسير عليه، والحل استخدام قالب:</a:t>
            </a:r>
          </a:p>
          <a:p>
            <a:pPr marL="0" indent="0">
              <a:buNone/>
            </a:pPr>
            <a:r>
              <a:rPr lang="ar-SA" sz="2000" b="1"/>
              <a:t>١. </a:t>
            </a:r>
            <a:r>
              <a:rPr lang="ar-SA" sz="2000"/>
              <a:t>يُرسم على ورق مقوّى زائد قطاع دائري يشبه «قطعة الفطيرة» بنصف قطر المنحنى المطلوب نفسه.</a:t>
            </a:r>
          </a:p>
          <a:p>
            <a:pPr marL="0" indent="0">
              <a:buNone/>
            </a:pPr>
            <a:r>
              <a:rPr lang="ar-SA" sz="2000" b="1"/>
              <a:t>٢. </a:t>
            </a:r>
            <a:r>
              <a:rPr lang="ar-SA" sz="2000"/>
              <a:t>يُقص القالب بدقة عالية، لأن أي عيب في حافته ينتقل إلى الطيّة.</a:t>
            </a:r>
          </a:p>
          <a:p>
            <a:pPr marL="0" indent="0">
              <a:buNone/>
            </a:pPr>
            <a:r>
              <a:rPr lang="ar-SA" sz="2000" b="1"/>
              <a:t>٣. </a:t>
            </a:r>
            <a:r>
              <a:rPr lang="ar-SA" sz="2000"/>
              <a:t>يوضع القالب على المِفرَد في موضع المنحنى تمامًا.</a:t>
            </a:r>
          </a:p>
          <a:p>
            <a:pPr marL="0" indent="0">
              <a:buNone/>
            </a:pPr>
            <a:r>
              <a:rPr lang="ar-SA" sz="2000" b="1"/>
              <a:t>٤. </a:t>
            </a:r>
            <a:r>
              <a:rPr lang="ar-SA" sz="2000"/>
              <a:t>تُنفّذ الطيّة باستخدام حافة القالب دليلًا لأداة الطي، ويُفضَّل استخدام الشفرة الكالّة المقلوبة.</a:t>
            </a:r>
          </a:p>
        </p:txBody>
      </p:sp>
      <p:sp>
        <p:nvSpPr>
          <p:cNvPr id="15" name="Footer Placeholder 3">
            <a:extLst>
              <a:ext uri="{FF2B5EF4-FFF2-40B4-BE49-F238E27FC236}">
                <a16:creationId xmlns:a16="http://schemas.microsoft.com/office/drawing/2014/main" id="{CFE48E32-A7F6-E621-F2A2-8E8D30A65EAF}"/>
              </a:ext>
            </a:extLst>
          </p:cNvPr>
          <p:cNvSpPr>
            <a:spLocks noGrp="1"/>
          </p:cNvSpPr>
          <p:nvPr>
            <p:ph type="ftr" sz="quarter" idx="11"/>
          </p:nvPr>
        </p:nvSpPr>
        <p:spPr>
          <a:xfrm>
            <a:off x="4038600" y="6356350"/>
            <a:ext cx="4114800" cy="365125"/>
          </a:xfrm>
        </p:spPr>
        <p:txBody>
          <a:bodyPr/>
          <a:lstStyle/>
          <a:p>
            <a:r>
              <a:rPr lang="ar-SA" dirty="0"/>
              <a:t>برنامج التصميم الجرافيكي - المستوى السادس</a:t>
            </a:r>
            <a:endParaRPr lang="en-US" dirty="0"/>
          </a:p>
        </p:txBody>
      </p:sp>
      <p:pic>
        <p:nvPicPr>
          <p:cNvPr id="16" name="Picture 15" descr="wedge.png"/>
          <p:cNvPicPr>
            <a:picLocks noChangeAspect="1"/>
          </p:cNvPicPr>
          <p:nvPr/>
        </p:nvPicPr>
        <p:blipFill>
          <a:blip r:embed="rId2"/>
          <a:stretch>
            <a:fillRect/>
          </a:stretch>
        </p:blipFill>
        <p:spPr>
          <a:xfrm>
            <a:off x="575462" y="1600200"/>
            <a:ext cx="4701235" cy="4389120"/>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Content Placeholder 2"/>
          <p:cNvSpPr>
            <a:spLocks noGrp="1"/>
          </p:cNvSpPr>
          <p:nvPr>
            <p:ph idx="1"/>
          </p:nvPr>
        </p:nvSpPr>
        <p:spPr>
          <a:xfrm>
            <a:off x="5669280" y="1600200"/>
            <a:ext cx="5852160" cy="4389120"/>
          </a:xfrm>
        </p:spPr>
        <p:txBody>
          <a:bodyPr anchor="ctr">
            <a:normAutofit/>
          </a:bodyPr>
          <a:lstStyle/>
          <a:p>
            <a:pPr marL="0" indent="0">
              <a:buNone/>
            </a:pPr>
            <a:r>
              <a:rPr lang="ar-SA" sz="2000" b="1"/>
              <a:t>المنحنيات المفردة (Single Curves):</a:t>
            </a:r>
          </a:p>
          <a:p>
            <a:pPr marL="0" indent="0">
              <a:buNone/>
            </a:pPr>
            <a:r>
              <a:rPr lang="ar-SA" sz="2000"/>
              <a:t>يُستبدل خط الطي المستقيم بقوس واحد فتتقوّس الجدران، غير أن قواعدها أكثر صرامة من المنحنيات المزدوجة:</a:t>
            </a:r>
          </a:p>
          <a:p>
            <a:pPr/>
            <a:r>
              <a:rPr lang="ar-SA" sz="2000" b="1"/>
              <a:t>الموضع: </a:t>
            </a:r>
            <a:r>
              <a:rPr lang="ar-SA" sz="2000"/>
              <a:t>الحواف العمودية فقط.</a:t>
            </a:r>
          </a:p>
          <a:p>
            <a:pPr/>
            <a:r>
              <a:rPr lang="ar-SA" sz="2000" b="1"/>
              <a:t>الترتيب: </a:t>
            </a:r>
            <a:r>
              <a:rPr lang="ar-SA" sz="2000"/>
              <a:t>انعكاسي؛ كل منحنى صورة مرآة للمجاور له.</a:t>
            </a:r>
          </a:p>
          <a:p>
            <a:pPr/>
            <a:r>
              <a:rPr lang="ar-SA" sz="2000" b="1"/>
              <a:t>عدد الحواف: </a:t>
            </a:r>
            <a:r>
              <a:rPr lang="ar-SA" sz="2000"/>
              <a:t>زوجي (٤ أو ٦ أو ٨)، لأنها تعمل في أزواج متعاكسة.</a:t>
            </a:r>
          </a:p>
          <a:p>
            <a:pPr/>
            <a:r>
              <a:rPr lang="ar-SA" sz="2000" b="1"/>
              <a:t>نصف القطر: </a:t>
            </a:r>
            <a:r>
              <a:rPr lang="ar-SA" sz="2000"/>
              <a:t>طول الحافة + ٥٪.</a:t>
            </a:r>
          </a:p>
          <a:p>
            <a:pPr marL="0" indent="0">
              <a:buNone/>
            </a:pPr>
            <a:r>
              <a:rPr lang="ar-SA" sz="2000" b="1"/>
              <a:t>التوظيف في التغليف: </a:t>
            </a:r>
            <a:r>
              <a:rPr lang="ar-SA" sz="2000"/>
              <a:t>تجعل الجدران المقعّرة الإمساك بالعبوة أيسر، وتلائم مستحضرات التجميل والعطور والهدايا.</a:t>
            </a:r>
          </a:p>
        </p:txBody>
      </p:sp>
      <p:sp>
        <p:nvSpPr>
          <p:cNvPr id="15" name="Footer Placeholder 3">
            <a:extLst>
              <a:ext uri="{FF2B5EF4-FFF2-40B4-BE49-F238E27FC236}">
                <a16:creationId xmlns:a16="http://schemas.microsoft.com/office/drawing/2014/main" id="{CFE48E32-A7F6-E621-F2A2-8E8D30A65EAF}"/>
              </a:ext>
            </a:extLst>
          </p:cNvPr>
          <p:cNvSpPr>
            <a:spLocks noGrp="1"/>
          </p:cNvSpPr>
          <p:nvPr>
            <p:ph type="ftr" sz="quarter" idx="11"/>
          </p:nvPr>
        </p:nvSpPr>
        <p:spPr>
          <a:xfrm>
            <a:off x="4038600" y="6356350"/>
            <a:ext cx="4114800" cy="365125"/>
          </a:xfrm>
        </p:spPr>
        <p:txBody>
          <a:bodyPr/>
          <a:lstStyle/>
          <a:p>
            <a:r>
              <a:rPr lang="ar-SA" dirty="0"/>
              <a:t>برنامج التصميم الجرافيكي - المستوى السادس</a:t>
            </a:r>
            <a:endParaRPr lang="en-US" dirty="0"/>
          </a:p>
        </p:txBody>
      </p:sp>
      <p:pic>
        <p:nvPicPr>
          <p:cNvPr id="16" name="Picture 15" descr="single.png"/>
          <p:cNvPicPr>
            <a:picLocks noChangeAspect="1"/>
          </p:cNvPicPr>
          <p:nvPr/>
        </p:nvPicPr>
        <p:blipFill>
          <a:blip r:embed="rId2"/>
          <a:stretch>
            <a:fillRect/>
          </a:stretch>
        </p:blipFill>
        <p:spPr>
          <a:xfrm>
            <a:off x="457200" y="1843742"/>
            <a:ext cx="4937760" cy="3902034"/>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Content Placeholder 2"/>
          <p:cNvSpPr>
            <a:spLocks noGrp="1"/>
          </p:cNvSpPr>
          <p:nvPr>
            <p:ph idx="1"/>
          </p:nvPr>
        </p:nvSpPr>
        <p:spPr>
          <a:xfrm>
            <a:off x="5669280" y="1600200"/>
            <a:ext cx="5852160" cy="4389120"/>
          </a:xfrm>
        </p:spPr>
        <p:txBody>
          <a:bodyPr anchor="ctr">
            <a:normAutofit/>
          </a:bodyPr>
          <a:lstStyle/>
          <a:p>
            <a:pPr marL="0" indent="0">
              <a:buNone/>
            </a:pPr>
            <a:r>
              <a:rPr lang="ar-SA" sz="2000" b="1"/>
              <a:t>عبوات من السوق: من المكعّب إلى الشكل المميز</a:t>
            </a:r>
          </a:p>
          <a:p>
            <a:pPr marL="0" indent="0">
              <a:buNone/>
            </a:pPr>
            <a:r>
              <a:rPr lang="ar-SA" sz="2000" b="1"/>
              <a:t>توبليرون (Toblerone): </a:t>
            </a:r>
            <a:r>
              <a:rPr lang="ar-SA" sz="2000"/>
              <a:t>علبة على هيئة منشور ثلاثي بدل الصندوق المستطيل، وقد أصبح شكلها جزءًا من هوية العلامة يُعرف حتى دون قراءة الاسم؛ وهي تطبيق متطرف لفكرة كشط الحواف.</a:t>
            </a:r>
          </a:p>
          <a:p>
            <a:pPr marL="0" indent="0">
              <a:buNone/>
            </a:pPr>
            <a:r>
              <a:rPr lang="ar-SA" sz="2000" b="1"/>
              <a:t>تترا باك الهرمية (Tetra Classic): </a:t>
            </a:r>
            <a:r>
              <a:rPr lang="ar-SA" sz="2000"/>
              <a:t>عبوة حليب رباعية الأوجه ظهرت في خمسينيات القرن العشرين، تُشكَّل من أنبوب ورقي يُغلق طرفاه في اتجاهين متعامدين، فتستهلك مادة أقل من الصندوق.</a:t>
            </a:r>
          </a:p>
          <a:p>
            <a:pPr marL="0" indent="0">
              <a:buNone/>
            </a:pPr>
            <a:r>
              <a:rPr lang="ar-SA" sz="2000" b="1"/>
              <a:t>الدرس المستفاد: </a:t>
            </a:r>
            <a:r>
              <a:rPr lang="ar-SA" sz="2000"/>
              <a:t>تشويه الشكل الأساسي قد يحقق التميّز البصري والكفاءة في المادة معًا.</a:t>
            </a:r>
          </a:p>
        </p:txBody>
      </p:sp>
      <p:sp>
        <p:nvSpPr>
          <p:cNvPr id="15" name="Footer Placeholder 3">
            <a:extLst>
              <a:ext uri="{FF2B5EF4-FFF2-40B4-BE49-F238E27FC236}">
                <a16:creationId xmlns:a16="http://schemas.microsoft.com/office/drawing/2014/main" id="{CFE48E32-A7F6-E621-F2A2-8E8D30A65EAF}"/>
              </a:ext>
            </a:extLst>
          </p:cNvPr>
          <p:cNvSpPr>
            <a:spLocks noGrp="1"/>
          </p:cNvSpPr>
          <p:nvPr>
            <p:ph type="ftr" sz="quarter" idx="11"/>
          </p:nvPr>
        </p:nvSpPr>
        <p:spPr>
          <a:xfrm>
            <a:off x="4038600" y="6356350"/>
            <a:ext cx="4114800" cy="365125"/>
          </a:xfrm>
        </p:spPr>
        <p:txBody>
          <a:bodyPr/>
          <a:lstStyle/>
          <a:p>
            <a:r>
              <a:rPr lang="ar-SA" dirty="0"/>
              <a:t>برنامج التصميم الجرافيكي - المستوى السادس</a:t>
            </a:r>
            <a:endParaRPr lang="en-US" dirty="0"/>
          </a:p>
        </p:txBody>
      </p:sp>
      <p:sp>
        <p:nvSpPr>
          <p:cNvPr id="16" name="Photo slot"/>
          <p:cNvSpPr/>
          <p:nvPr/>
        </p:nvSpPr>
        <p:spPr>
          <a:xfrm>
            <a:off x="457200" y="1600200"/>
            <a:ext cx="4937760" cy="2322576"/>
          </a:xfrm>
          <a:prstGeom prst="rect">
            <a:avLst/>
          </a:prstGeom>
          <a:solidFill>
            <a:srgbClr val="F2F2F2"/>
          </a:solidFill>
          <a:ln w="12700">
            <a:solidFill>
              <a:srgbClr val="A6A6A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94360" y="1600200"/>
            <a:ext cx="4663440" cy="2322576"/>
          </a:xfrm>
          <a:prstGeom prst="rect">
            <a:avLst/>
          </a:prstGeom>
          <a:noFill/>
        </p:spPr>
        <p:txBody>
          <a:bodyPr wrap="square" anchor="ctr">
            <a:spAutoFit/>
          </a:bodyPr>
          <a:lstStyle/>
          <a:p>
            <a:pPr algn="ctr" rtl="1"/>
            <a:r>
              <a:rPr sz="1600" b="0" lang="ar-SA">
                <a:solidFill>
                  <a:srgbClr val="595959"/>
                </a:solidFill>
                <a:latin typeface="Sakkal Majalla"/>
                <a:cs typeface="Sakkal Majalla"/>
              </a:rPr>
              <a:t>أدرج صورة: علبة شوكولاتة توبليرون</a:t>
            </a:r>
          </a:p>
        </p:txBody>
      </p:sp>
      <p:sp>
        <p:nvSpPr>
          <p:cNvPr id="18" name="Photo slot"/>
          <p:cNvSpPr/>
          <p:nvPr/>
        </p:nvSpPr>
        <p:spPr>
          <a:xfrm>
            <a:off x="457200" y="4105656"/>
            <a:ext cx="2377440" cy="1883664"/>
          </a:xfrm>
          <a:prstGeom prst="rect">
            <a:avLst/>
          </a:prstGeom>
          <a:solidFill>
            <a:srgbClr val="F2F2F2"/>
          </a:solidFill>
          <a:ln w="12700">
            <a:solidFill>
              <a:srgbClr val="A6A6A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94360" y="4105656"/>
            <a:ext cx="2103120" cy="1883664"/>
          </a:xfrm>
          <a:prstGeom prst="rect">
            <a:avLst/>
          </a:prstGeom>
          <a:noFill/>
        </p:spPr>
        <p:txBody>
          <a:bodyPr wrap="square" anchor="ctr">
            <a:spAutoFit/>
          </a:bodyPr>
          <a:lstStyle/>
          <a:p>
            <a:pPr algn="ctr" rtl="1"/>
            <a:r>
              <a:rPr sz="1600" b="0" lang="ar-SA">
                <a:solidFill>
                  <a:srgbClr val="595959"/>
                </a:solidFill>
                <a:latin typeface="Sakkal Majalla"/>
                <a:cs typeface="Sakkal Majalla"/>
              </a:rPr>
              <a:t>أدرج صورة: عبوة تترا باك هرمية</a:t>
            </a:r>
          </a:p>
        </p:txBody>
      </p:sp>
      <p:sp>
        <p:nvSpPr>
          <p:cNvPr id="20" name="Photo slot"/>
          <p:cNvSpPr/>
          <p:nvPr/>
        </p:nvSpPr>
        <p:spPr>
          <a:xfrm>
            <a:off x="3017520" y="4105656"/>
            <a:ext cx="2377440" cy="1883664"/>
          </a:xfrm>
          <a:prstGeom prst="rect">
            <a:avLst/>
          </a:prstGeom>
          <a:solidFill>
            <a:srgbClr val="F2F2F2"/>
          </a:solidFill>
          <a:ln w="12700">
            <a:solidFill>
              <a:srgbClr val="A6A6A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154680" y="4105656"/>
            <a:ext cx="2103120" cy="1883664"/>
          </a:xfrm>
          <a:prstGeom prst="rect">
            <a:avLst/>
          </a:prstGeom>
          <a:noFill/>
        </p:spPr>
        <p:txBody>
          <a:bodyPr wrap="square" anchor="ctr">
            <a:spAutoFit/>
          </a:bodyPr>
          <a:lstStyle/>
          <a:p>
            <a:pPr algn="ctr" rtl="1"/>
            <a:r>
              <a:rPr sz="1600" b="0" lang="ar-SA">
                <a:solidFill>
                  <a:srgbClr val="595959"/>
                </a:solidFill>
                <a:latin typeface="Sakkal Majalla"/>
                <a:cs typeface="Sakkal Majalla"/>
              </a:rPr>
              <a:t>أدرج صورة: مِفرَد أو مقطع للعبوة</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Content Placeholder 2"/>
          <p:cNvSpPr>
            <a:spLocks noGrp="1"/>
          </p:cNvSpPr>
          <p:nvPr>
            <p:ph idx="1"/>
          </p:nvPr>
        </p:nvSpPr>
        <p:spPr>
          <a:xfrm>
            <a:off x="5669280" y="1600200"/>
            <a:ext cx="5852160" cy="4389120"/>
          </a:xfrm>
        </p:spPr>
        <p:txBody>
          <a:bodyPr anchor="ctr">
            <a:normAutofit/>
          </a:bodyPr>
          <a:lstStyle/>
          <a:p>
            <a:pPr marL="0" indent="0">
              <a:buNone/>
            </a:pPr>
            <a:r>
              <a:rPr lang="ar-SA" sz="2000" b="1"/>
              <a:t>عبوات من السوق: الأسطح المائلة والجدران المستدقة</a:t>
            </a:r>
          </a:p>
          <a:p>
            <a:pPr marL="0" indent="0">
              <a:buNone/>
            </a:pPr>
            <a:r>
              <a:rPr lang="ar-SA" sz="2000" b="1"/>
              <a:t>علبة البطاطس المقلية في مطاعم الوجبات السريعة: </a:t>
            </a:r>
            <a:r>
              <a:rPr lang="ar-SA" sz="2000"/>
              <a:t>جدارها الأمامي أقصر من الخلفي وحافتها العلوية مائلة أو منحنية، فتُظهر المنتج وتسهّل تناوله؛ وهي تطبيق لفكرة كشط الوجه والتقويس.</a:t>
            </a:r>
          </a:p>
          <a:p>
            <a:pPr marL="0" indent="0">
              <a:buNone/>
            </a:pPr>
            <a:r>
              <a:rPr lang="ar-SA" sz="2000" b="1"/>
              <a:t>علبة الطعام الصينية (Oyster Pail): </a:t>
            </a:r>
            <a:r>
              <a:rPr lang="ar-SA" sz="2000"/>
              <a:t>تُطوى من لوح واحد دون لصق، وجدرانها مائلة تتسع نحو الأعلى، وتُغلق بألسنة متداخلة؛ وهي قريبة من فكرة المطّ.</a:t>
            </a:r>
          </a:p>
          <a:p>
            <a:pPr marL="0" indent="0">
              <a:buNone/>
            </a:pPr>
            <a:r>
              <a:rPr lang="ar-SA" sz="2000" b="1"/>
              <a:t>علب العرض المائلة لمستحضرات التجميل: </a:t>
            </a:r>
            <a:r>
              <a:rPr lang="ar-SA" sz="2000"/>
              <a:t>سطحها العلوي المنحدر يعمل واجهة عرض على الرف.</a:t>
            </a:r>
          </a:p>
        </p:txBody>
      </p:sp>
      <p:sp>
        <p:nvSpPr>
          <p:cNvPr id="15" name="Footer Placeholder 3">
            <a:extLst>
              <a:ext uri="{FF2B5EF4-FFF2-40B4-BE49-F238E27FC236}">
                <a16:creationId xmlns:a16="http://schemas.microsoft.com/office/drawing/2014/main" id="{CFE48E32-A7F6-E621-F2A2-8E8D30A65EAF}"/>
              </a:ext>
            </a:extLst>
          </p:cNvPr>
          <p:cNvSpPr>
            <a:spLocks noGrp="1"/>
          </p:cNvSpPr>
          <p:nvPr>
            <p:ph type="ftr" sz="quarter" idx="11"/>
          </p:nvPr>
        </p:nvSpPr>
        <p:spPr>
          <a:xfrm>
            <a:off x="4038600" y="6356350"/>
            <a:ext cx="4114800" cy="365125"/>
          </a:xfrm>
        </p:spPr>
        <p:txBody>
          <a:bodyPr/>
          <a:lstStyle/>
          <a:p>
            <a:r>
              <a:rPr lang="ar-SA" dirty="0"/>
              <a:t>برنامج التصميم الجرافيكي - المستوى السادس</a:t>
            </a:r>
            <a:endParaRPr lang="en-US" dirty="0"/>
          </a:p>
        </p:txBody>
      </p:sp>
      <p:sp>
        <p:nvSpPr>
          <p:cNvPr id="16" name="Photo slot"/>
          <p:cNvSpPr/>
          <p:nvPr/>
        </p:nvSpPr>
        <p:spPr>
          <a:xfrm>
            <a:off x="457200" y="1600200"/>
            <a:ext cx="4937760" cy="2322576"/>
          </a:xfrm>
          <a:prstGeom prst="rect">
            <a:avLst/>
          </a:prstGeom>
          <a:solidFill>
            <a:srgbClr val="F2F2F2"/>
          </a:solidFill>
          <a:ln w="12700">
            <a:solidFill>
              <a:srgbClr val="A6A6A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94360" y="1600200"/>
            <a:ext cx="4663440" cy="2322576"/>
          </a:xfrm>
          <a:prstGeom prst="rect">
            <a:avLst/>
          </a:prstGeom>
          <a:noFill/>
        </p:spPr>
        <p:txBody>
          <a:bodyPr wrap="square" anchor="ctr">
            <a:spAutoFit/>
          </a:bodyPr>
          <a:lstStyle/>
          <a:p>
            <a:pPr algn="ctr" rtl="1"/>
            <a:r>
              <a:rPr sz="1600" b="0" lang="ar-SA">
                <a:solidFill>
                  <a:srgbClr val="595959"/>
                </a:solidFill>
                <a:latin typeface="Sakkal Majalla"/>
                <a:cs typeface="Sakkal Majalla"/>
              </a:rPr>
              <a:t>أدرج صورة: علبة بطاطس مقلية</a:t>
            </a:r>
          </a:p>
        </p:txBody>
      </p:sp>
      <p:sp>
        <p:nvSpPr>
          <p:cNvPr id="18" name="Photo slot"/>
          <p:cNvSpPr/>
          <p:nvPr/>
        </p:nvSpPr>
        <p:spPr>
          <a:xfrm>
            <a:off x="457200" y="4105656"/>
            <a:ext cx="2377440" cy="1883664"/>
          </a:xfrm>
          <a:prstGeom prst="rect">
            <a:avLst/>
          </a:prstGeom>
          <a:solidFill>
            <a:srgbClr val="F2F2F2"/>
          </a:solidFill>
          <a:ln w="12700">
            <a:solidFill>
              <a:srgbClr val="A6A6A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94360" y="4105656"/>
            <a:ext cx="2103120" cy="1883664"/>
          </a:xfrm>
          <a:prstGeom prst="rect">
            <a:avLst/>
          </a:prstGeom>
          <a:noFill/>
        </p:spPr>
        <p:txBody>
          <a:bodyPr wrap="square" anchor="ctr">
            <a:spAutoFit/>
          </a:bodyPr>
          <a:lstStyle/>
          <a:p>
            <a:pPr algn="ctr" rtl="1"/>
            <a:r>
              <a:rPr sz="1600" b="0" lang="ar-SA">
                <a:solidFill>
                  <a:srgbClr val="595959"/>
                </a:solidFill>
                <a:latin typeface="Sakkal Majalla"/>
                <a:cs typeface="Sakkal Majalla"/>
              </a:rPr>
              <a:t>أدرج صورة: علبة طعام صينية</a:t>
            </a:r>
          </a:p>
        </p:txBody>
      </p:sp>
      <p:sp>
        <p:nvSpPr>
          <p:cNvPr id="20" name="Photo slot"/>
          <p:cNvSpPr/>
          <p:nvPr/>
        </p:nvSpPr>
        <p:spPr>
          <a:xfrm>
            <a:off x="3017520" y="4105656"/>
            <a:ext cx="2377440" cy="1883664"/>
          </a:xfrm>
          <a:prstGeom prst="rect">
            <a:avLst/>
          </a:prstGeom>
          <a:solidFill>
            <a:srgbClr val="F2F2F2"/>
          </a:solidFill>
          <a:ln w="12700">
            <a:solidFill>
              <a:srgbClr val="A6A6A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154680" y="4105656"/>
            <a:ext cx="2103120" cy="1883664"/>
          </a:xfrm>
          <a:prstGeom prst="rect">
            <a:avLst/>
          </a:prstGeom>
          <a:noFill/>
        </p:spPr>
        <p:txBody>
          <a:bodyPr wrap="square" anchor="ctr">
            <a:spAutoFit/>
          </a:bodyPr>
          <a:lstStyle/>
          <a:p>
            <a:pPr algn="ctr" rtl="1"/>
            <a:r>
              <a:rPr sz="1600" b="0" lang="ar-SA">
                <a:solidFill>
                  <a:srgbClr val="595959"/>
                </a:solidFill>
                <a:latin typeface="Sakkal Majalla"/>
                <a:cs typeface="Sakkal Majalla"/>
              </a:rPr>
              <a:t>أدرج صورة: علبة عرض بسطح مائل</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Content Placeholder 2"/>
          <p:cNvSpPr>
            <a:spLocks noGrp="1"/>
          </p:cNvSpPr>
          <p:nvPr>
            <p:ph idx="1"/>
          </p:nvPr>
        </p:nvSpPr>
        <p:spPr>
          <a:xfrm>
            <a:off x="5669280" y="1600200"/>
            <a:ext cx="5852160" cy="4389120"/>
          </a:xfrm>
        </p:spPr>
        <p:txBody>
          <a:bodyPr anchor="ctr">
            <a:normAutofit/>
          </a:bodyPr>
          <a:lstStyle/>
          <a:p>
            <a:pPr marL="0" indent="0">
              <a:buNone/>
            </a:pPr>
            <a:r>
              <a:rPr lang="ar-SA" sz="2000" b="1"/>
              <a:t>عبوات من السوق: المنحنيات والأشكال البلورية</a:t>
            </a:r>
          </a:p>
          <a:p>
            <a:pPr marL="0" indent="0">
              <a:buNone/>
            </a:pPr>
            <a:r>
              <a:rPr lang="ar-SA" sz="2000" b="1"/>
              <a:t>علبة الوسادة (Pillow Box): </a:t>
            </a:r>
            <a:r>
              <a:rPr lang="ar-SA" sz="2000"/>
              <a:t>تُصنع من لوح واحد بطيّات منحنية على طرفيها، وتُغلق بالضغط على الأقواس دون لصق؛ وهي مثال مباشر على المنحنيات المفردة، وتُستخدم للهدايا والمجوهرات والإكسسوارات.</a:t>
            </a:r>
          </a:p>
          <a:p>
            <a:pPr marL="0" indent="0">
              <a:buNone/>
            </a:pPr>
            <a:r>
              <a:rPr lang="ar-SA" sz="2000" b="1"/>
              <a:t>علب الهدايا والشوكولاتة المُضلَّعة: </a:t>
            </a:r>
            <a:r>
              <a:rPr lang="ar-SA" sz="2000"/>
              <a:t>أشكال سداسية أو بلورية بأوجه مثلثة تحاكي الأحجار الكريمة، قريبة من تقنية الليّ المُضلَّع.</a:t>
            </a:r>
          </a:p>
          <a:p>
            <a:pPr marL="0" indent="0">
              <a:buNone/>
            </a:pPr>
            <a:r>
              <a:rPr lang="ar-SA" sz="2000" b="1"/>
              <a:t>علب العطور ذات الحواف المشطوفة: </a:t>
            </a:r>
            <a:r>
              <a:rPr lang="ar-SA" sz="2000"/>
              <a:t>تطبيق لكشط الحافة يمنح العلبة طابعًا ناعمًا وفاخرًا.</a:t>
            </a:r>
          </a:p>
        </p:txBody>
      </p:sp>
      <p:sp>
        <p:nvSpPr>
          <p:cNvPr id="15" name="Footer Placeholder 3">
            <a:extLst>
              <a:ext uri="{FF2B5EF4-FFF2-40B4-BE49-F238E27FC236}">
                <a16:creationId xmlns:a16="http://schemas.microsoft.com/office/drawing/2014/main" id="{CFE48E32-A7F6-E621-F2A2-8E8D30A65EAF}"/>
              </a:ext>
            </a:extLst>
          </p:cNvPr>
          <p:cNvSpPr>
            <a:spLocks noGrp="1"/>
          </p:cNvSpPr>
          <p:nvPr>
            <p:ph type="ftr" sz="quarter" idx="11"/>
          </p:nvPr>
        </p:nvSpPr>
        <p:spPr>
          <a:xfrm>
            <a:off x="4038600" y="6356350"/>
            <a:ext cx="4114800" cy="365125"/>
          </a:xfrm>
        </p:spPr>
        <p:txBody>
          <a:bodyPr/>
          <a:lstStyle/>
          <a:p>
            <a:r>
              <a:rPr lang="ar-SA" dirty="0"/>
              <a:t>برنامج التصميم الجرافيكي - المستوى السادس</a:t>
            </a:r>
            <a:endParaRPr lang="en-US" dirty="0"/>
          </a:p>
        </p:txBody>
      </p:sp>
      <p:sp>
        <p:nvSpPr>
          <p:cNvPr id="16" name="Photo slot"/>
          <p:cNvSpPr/>
          <p:nvPr/>
        </p:nvSpPr>
        <p:spPr>
          <a:xfrm>
            <a:off x="457200" y="1600200"/>
            <a:ext cx="4937760" cy="2322576"/>
          </a:xfrm>
          <a:prstGeom prst="rect">
            <a:avLst/>
          </a:prstGeom>
          <a:solidFill>
            <a:srgbClr val="F2F2F2"/>
          </a:solidFill>
          <a:ln w="12700">
            <a:solidFill>
              <a:srgbClr val="A6A6A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94360" y="1600200"/>
            <a:ext cx="4663440" cy="2322576"/>
          </a:xfrm>
          <a:prstGeom prst="rect">
            <a:avLst/>
          </a:prstGeom>
          <a:noFill/>
        </p:spPr>
        <p:txBody>
          <a:bodyPr wrap="square" anchor="ctr">
            <a:spAutoFit/>
          </a:bodyPr>
          <a:lstStyle/>
          <a:p>
            <a:pPr algn="ctr" rtl="1"/>
            <a:r>
              <a:rPr sz="1600" b="0" lang="ar-SA">
                <a:solidFill>
                  <a:srgbClr val="595959"/>
                </a:solidFill>
                <a:latin typeface="Sakkal Majalla"/>
                <a:cs typeface="Sakkal Majalla"/>
              </a:rPr>
              <a:t>أدرج صورة: علبة وسادة (Pillow Box)</a:t>
            </a:r>
          </a:p>
        </p:txBody>
      </p:sp>
      <p:sp>
        <p:nvSpPr>
          <p:cNvPr id="18" name="Photo slot"/>
          <p:cNvSpPr/>
          <p:nvPr/>
        </p:nvSpPr>
        <p:spPr>
          <a:xfrm>
            <a:off x="457200" y="4105656"/>
            <a:ext cx="2377440" cy="1883664"/>
          </a:xfrm>
          <a:prstGeom prst="rect">
            <a:avLst/>
          </a:prstGeom>
          <a:solidFill>
            <a:srgbClr val="F2F2F2"/>
          </a:solidFill>
          <a:ln w="12700">
            <a:solidFill>
              <a:srgbClr val="A6A6A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94360" y="4105656"/>
            <a:ext cx="2103120" cy="1883664"/>
          </a:xfrm>
          <a:prstGeom prst="rect">
            <a:avLst/>
          </a:prstGeom>
          <a:noFill/>
        </p:spPr>
        <p:txBody>
          <a:bodyPr wrap="square" anchor="ctr">
            <a:spAutoFit/>
          </a:bodyPr>
          <a:lstStyle/>
          <a:p>
            <a:pPr algn="ctr" rtl="1"/>
            <a:r>
              <a:rPr sz="1600" b="0" lang="ar-SA">
                <a:solidFill>
                  <a:srgbClr val="595959"/>
                </a:solidFill>
                <a:latin typeface="Sakkal Majalla"/>
                <a:cs typeface="Sakkal Majalla"/>
              </a:rPr>
              <a:t>أدرج صورة: علبة هدايا مُضلَّعة</a:t>
            </a:r>
          </a:p>
        </p:txBody>
      </p:sp>
      <p:sp>
        <p:nvSpPr>
          <p:cNvPr id="20" name="Photo slot"/>
          <p:cNvSpPr/>
          <p:nvPr/>
        </p:nvSpPr>
        <p:spPr>
          <a:xfrm>
            <a:off x="3017520" y="4105656"/>
            <a:ext cx="2377440" cy="1883664"/>
          </a:xfrm>
          <a:prstGeom prst="rect">
            <a:avLst/>
          </a:prstGeom>
          <a:solidFill>
            <a:srgbClr val="F2F2F2"/>
          </a:solidFill>
          <a:ln w="12700">
            <a:solidFill>
              <a:srgbClr val="A6A6A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154680" y="4105656"/>
            <a:ext cx="2103120" cy="1883664"/>
          </a:xfrm>
          <a:prstGeom prst="rect">
            <a:avLst/>
          </a:prstGeom>
          <a:noFill/>
        </p:spPr>
        <p:txBody>
          <a:bodyPr wrap="square" anchor="ctr">
            <a:spAutoFit/>
          </a:bodyPr>
          <a:lstStyle/>
          <a:p>
            <a:pPr algn="ctr" rtl="1"/>
            <a:r>
              <a:rPr sz="1600" b="0" lang="ar-SA">
                <a:solidFill>
                  <a:srgbClr val="595959"/>
                </a:solidFill>
                <a:latin typeface="Sakkal Majalla"/>
                <a:cs typeface="Sakkal Majalla"/>
              </a:rPr>
              <a:t>أدرج صورة: علبة عطر بحواف مشطوفة</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Content Placeholder 2"/>
          <p:cNvSpPr>
            <a:spLocks noGrp="1"/>
          </p:cNvSpPr>
          <p:nvPr>
            <p:ph idx="1"/>
          </p:nvPr>
        </p:nvSpPr>
        <p:spPr>
          <a:xfrm>
            <a:off x="6263640" y="1600200"/>
            <a:ext cx="5120640" cy="4389120"/>
          </a:xfrm>
        </p:spPr>
        <p:txBody>
          <a:bodyPr anchor="t">
            <a:normAutofit/>
          </a:bodyPr>
          <a:lstStyle/>
          <a:p>
            <a:pPr marL="0" indent="0">
              <a:buNone/>
            </a:pPr>
            <a:r>
              <a:rPr lang="ar-SA" sz="2000" b="1"/>
              <a:t>الاعتبارات التصميمية والوظيفية:</a:t>
            </a:r>
          </a:p>
          <a:p>
            <a:pPr/>
            <a:r>
              <a:rPr lang="ar-SA" sz="2000" b="1"/>
              <a:t>ملاءمة المنتج: </a:t>
            </a:r>
            <a:r>
              <a:rPr lang="ar-SA" sz="2000"/>
              <a:t>هل يستوعب الشكل المنتج ويحميه؟</a:t>
            </a:r>
          </a:p>
          <a:p>
            <a:pPr/>
            <a:r>
              <a:rPr lang="ar-SA" sz="2000" b="1"/>
              <a:t>الرصّ والتخزين: </a:t>
            </a:r>
            <a:r>
              <a:rPr lang="ar-SA" sz="2000"/>
              <a:t>الأشكال المائلة أصعب في الرصّ والشحن.</a:t>
            </a:r>
          </a:p>
          <a:p>
            <a:pPr/>
            <a:r>
              <a:rPr lang="ar-SA" sz="2000" b="1"/>
              <a:t>واجهة العرض: </a:t>
            </a:r>
            <a:r>
              <a:rPr lang="ar-SA" sz="2000"/>
              <a:t>أي الأوجه يواجه المستهلك؟ وأين الشعار؟</a:t>
            </a:r>
          </a:p>
          <a:p>
            <a:pPr/>
            <a:r>
              <a:rPr lang="ar-SA" sz="2000" b="1"/>
              <a:t>موضع الغطاء: </a:t>
            </a:r>
            <a:r>
              <a:rPr lang="ar-SA" sz="2000"/>
              <a:t>هل موضع الفتح منطقي وسهل؟</a:t>
            </a:r>
          </a:p>
        </p:txBody>
      </p:sp>
      <p:sp>
        <p:nvSpPr>
          <p:cNvPr id="15" name="Footer Placeholder 3">
            <a:extLst>
              <a:ext uri="{FF2B5EF4-FFF2-40B4-BE49-F238E27FC236}">
                <a16:creationId xmlns:a16="http://schemas.microsoft.com/office/drawing/2014/main" id="{CFE48E32-A7F6-E621-F2A2-8E8D30A65EAF}"/>
              </a:ext>
            </a:extLst>
          </p:cNvPr>
          <p:cNvSpPr>
            <a:spLocks noGrp="1"/>
          </p:cNvSpPr>
          <p:nvPr>
            <p:ph type="ftr" sz="quarter" idx="11"/>
          </p:nvPr>
        </p:nvSpPr>
        <p:spPr>
          <a:xfrm>
            <a:off x="4038600" y="6356350"/>
            <a:ext cx="4114800" cy="365125"/>
          </a:xfrm>
        </p:spPr>
        <p:txBody>
          <a:bodyPr/>
          <a:lstStyle/>
          <a:p>
            <a:r>
              <a:rPr lang="ar-SA" dirty="0"/>
              <a:t>برنامج التصميم الجرافيكي - المستوى السادس</a:t>
            </a:r>
            <a:endParaRPr lang="en-US" dirty="0"/>
          </a:p>
        </p:txBody>
      </p:sp>
      <p:sp>
        <p:nvSpPr>
          <p:cNvPr id="16" name="TextBox 15"/>
          <p:cNvSpPr txBox="1"/>
          <p:nvPr/>
        </p:nvSpPr>
        <p:spPr>
          <a:xfrm>
            <a:off x="822960" y="1600200"/>
            <a:ext cx="5120640" cy="4389120"/>
          </a:xfrm>
          <a:prstGeom prst="rect">
            <a:avLst/>
          </a:prstGeom>
          <a:noFill/>
        </p:spPr>
        <p:txBody>
          <a:bodyPr wrap="square" anchor="t">
            <a:normAutofit/>
          </a:bodyPr>
          <a:lstStyle>
            <a:lvl1pPr marL="228600" indent="-228600" algn="r" rtl="1">
              <a:lnSpc>
                <a:spcPct val="90000"/>
              </a:lnSpc>
              <a:spcBef>
                <a:spcPts val="1000"/>
              </a:spcBef>
              <a:buFont typeface="Arial"/>
              <a:buChar char="•"/>
              <a:defRPr sz="2000">
                <a:solidFill>
                  <a:schemeClr val="tx1"/>
                </a:solidFill>
                <a:latin typeface="Sakkal Majalla"/>
                <a:cs typeface="Sakkal Majalla"/>
              </a:defRPr>
            </a:lvl1pPr>
          </a:lstStyle>
          <a:p>
            <a:pPr marL="0" indent="0">
              <a:buNone/>
            </a:pPr>
            <a:r>
              <a:rPr lang="ar-SA" sz="2000"/>
              <a:t> </a:t>
            </a:r>
          </a:p>
          <a:p>
            <a:pPr/>
            <a:r>
              <a:rPr lang="ar-SA" sz="2000" b="1"/>
              <a:t>آلية الإغلاق: </a:t>
            </a:r>
            <a:r>
              <a:rPr lang="ar-SA" sz="2000"/>
              <a:t>فتح لمرة واحدة أم متكرر؟</a:t>
            </a:r>
          </a:p>
          <a:p>
            <a:pPr/>
            <a:r>
              <a:rPr lang="ar-SA" sz="2000" b="1"/>
              <a:t>تكلفة المادة: </a:t>
            </a:r>
            <a:r>
              <a:rPr lang="ar-SA" sz="2000"/>
              <a:t>مساحة الورق مقارنة بالمكعّب الأصلي.</a:t>
            </a:r>
          </a:p>
          <a:p>
            <a:pPr/>
            <a:r>
              <a:rPr lang="ar-SA" sz="2000" b="1"/>
              <a:t>قابلية التصنيع: </a:t>
            </a:r>
            <a:r>
              <a:rPr lang="ar-SA" sz="2000"/>
              <a:t>هل يصلح المِفرَد لقالب القص والتكسير؟</a:t>
            </a:r>
          </a:p>
          <a:p>
            <a:pPr/>
            <a:r>
              <a:rPr lang="ar-SA" sz="2000" b="1"/>
              <a:t>الهوية البصرية: </a:t>
            </a:r>
            <a:r>
              <a:rPr lang="ar-SA" sz="2000"/>
              <a:t>هندسي حاد، أم منحنٍ ناعم، أم مائل ديناميكي؟</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Content Placeholder 2"/>
          <p:cNvSpPr>
            <a:spLocks noGrp="1"/>
          </p:cNvSpPr>
          <p:nvPr>
            <p:ph idx="1"/>
          </p:nvPr>
        </p:nvSpPr>
        <p:spPr>
          <a:xfrm>
            <a:off x="6263640" y="1600200"/>
            <a:ext cx="5120640" cy="4389120"/>
          </a:xfrm>
        </p:spPr>
        <p:txBody>
          <a:bodyPr anchor="t">
            <a:normAutofit/>
          </a:bodyPr>
          <a:lstStyle/>
          <a:p>
            <a:pPr marL="0" indent="0">
              <a:buNone/>
            </a:pPr>
            <a:r>
              <a:rPr lang="ar-SA" sz="2000" b="1"/>
              <a:t>الخلاصة: أهم ما ينبغي للطالب معرفته</a:t>
            </a:r>
          </a:p>
          <a:p>
            <a:pPr/>
            <a:r>
              <a:rPr lang="ar-SA" sz="2000"/>
              <a:t>الطي عملية ضغط لا قطع، والشفرة الكالّة المقلوبة أدق أدواته.</a:t>
            </a:r>
          </a:p>
          <a:p>
            <a:pPr/>
            <a:r>
              <a:rPr lang="ar-SA" sz="2000"/>
              <a:t>توضع المسطرة فوق الرسم، وتبقى اليد غير القاطعة أعلى اليد القاطعة.</a:t>
            </a:r>
          </a:p>
          <a:p>
            <a:pPr/>
            <a:r>
              <a:rPr lang="ar-SA" sz="2000"/>
              <a:t>يتكوّن المكعّب من أوجه وحواف وأركان، وكل تشويه تعديل على أحدها.</a:t>
            </a:r>
          </a:p>
          <a:p>
            <a:pPr/>
            <a:r>
              <a:rPr lang="ar-SA" sz="2000"/>
              <a:t>استراتيجيات التشويه ثلاث: النحت والمرونة والتقويس.</a:t>
            </a:r>
          </a:p>
          <a:p>
            <a:pPr/>
            <a:r>
              <a:rPr lang="ar-SA" sz="2000"/>
              <a:t>كشط الحافة أو الركن يضيف وجهًا، بخلاف المطّ والليّ البسيط والضغط.</a:t>
            </a:r>
          </a:p>
        </p:txBody>
      </p:sp>
      <p:sp>
        <p:nvSpPr>
          <p:cNvPr id="15" name="Footer Placeholder 3">
            <a:extLst>
              <a:ext uri="{FF2B5EF4-FFF2-40B4-BE49-F238E27FC236}">
                <a16:creationId xmlns:a16="http://schemas.microsoft.com/office/drawing/2014/main" id="{CFE48E32-A7F6-E621-F2A2-8E8D30A65EAF}"/>
              </a:ext>
            </a:extLst>
          </p:cNvPr>
          <p:cNvSpPr>
            <a:spLocks noGrp="1"/>
          </p:cNvSpPr>
          <p:nvPr>
            <p:ph type="ftr" sz="quarter" idx="11"/>
          </p:nvPr>
        </p:nvSpPr>
        <p:spPr>
          <a:xfrm>
            <a:off x="4038600" y="6356350"/>
            <a:ext cx="4114800" cy="365125"/>
          </a:xfrm>
        </p:spPr>
        <p:txBody>
          <a:bodyPr/>
          <a:lstStyle/>
          <a:p>
            <a:r>
              <a:rPr lang="ar-SA" dirty="0"/>
              <a:t>برنامج التصميم الجرافيكي - المستوى السادس</a:t>
            </a:r>
            <a:endParaRPr lang="en-US" dirty="0"/>
          </a:p>
        </p:txBody>
      </p:sp>
      <p:sp>
        <p:nvSpPr>
          <p:cNvPr id="16" name="TextBox 15"/>
          <p:cNvSpPr txBox="1"/>
          <p:nvPr/>
        </p:nvSpPr>
        <p:spPr>
          <a:xfrm>
            <a:off x="822960" y="1600200"/>
            <a:ext cx="5120640" cy="4389120"/>
          </a:xfrm>
          <a:prstGeom prst="rect">
            <a:avLst/>
          </a:prstGeom>
          <a:noFill/>
        </p:spPr>
        <p:txBody>
          <a:bodyPr wrap="square" anchor="t">
            <a:normAutofit/>
          </a:bodyPr>
          <a:lstStyle>
            <a:lvl1pPr marL="228600" indent="-228600" algn="r" rtl="1">
              <a:lnSpc>
                <a:spcPct val="90000"/>
              </a:lnSpc>
              <a:spcBef>
                <a:spcPts val="1000"/>
              </a:spcBef>
              <a:buFont typeface="Arial"/>
              <a:buChar char="•"/>
              <a:defRPr sz="2000">
                <a:solidFill>
                  <a:schemeClr val="tx1"/>
                </a:solidFill>
                <a:latin typeface="Sakkal Majalla"/>
                <a:cs typeface="Sakkal Majalla"/>
              </a:defRPr>
            </a:lvl1pPr>
          </a:lstStyle>
          <a:p>
            <a:pPr marL="0" indent="0">
              <a:buNone/>
            </a:pPr>
            <a:r>
              <a:rPr lang="ar-SA" sz="2000"/>
              <a:t> </a:t>
            </a:r>
          </a:p>
          <a:p>
            <a:pPr/>
            <a:r>
              <a:rPr lang="ar-SA" sz="2000"/>
              <a:t>زاوية الليّ المثلى ٨٠°، ولا يُنصح بما دون ٧٠°.</a:t>
            </a:r>
          </a:p>
          <a:p>
            <a:pPr/>
            <a:r>
              <a:rPr lang="ar-SA" sz="2000"/>
              <a:t>شكل الضغط يحتفظ بمساحة الورق نفسها رغم مظهره المضغوط.</a:t>
            </a:r>
          </a:p>
          <a:p>
            <a:pPr/>
            <a:r>
              <a:rPr lang="ar-SA" sz="2000"/>
              <a:t>نصف قطر المنحنى = طول الحافة + ٥٪.</a:t>
            </a:r>
          </a:p>
          <a:p>
            <a:pPr/>
            <a:r>
              <a:rPr lang="ar-SA" sz="2000"/>
              <a:t>المنحنيات المفردة: حواف عمودية، عدد زوجي، ترتيب انعكاسي.</a:t>
            </a:r>
          </a:p>
          <a:p>
            <a:pPr/>
            <a:r>
              <a:rPr lang="ar-SA" sz="2000"/>
              <a:t>تُنفّذ الطيات المنحنية بقالب قطاع دائري لا باليد الحرة.</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Content Placeholder 2"/>
          <p:cNvSpPr>
            <a:spLocks noGrp="1"/>
          </p:cNvSpPr>
          <p:nvPr>
            <p:ph idx="1"/>
          </p:nvPr>
        </p:nvSpPr>
        <p:spPr>
          <a:xfrm>
            <a:off x="1005840" y="1600200"/>
            <a:ext cx="10149840" cy="4389120"/>
          </a:xfrm>
        </p:spPr>
        <p:txBody>
          <a:bodyPr anchor="ctr">
            <a:normAutofit/>
          </a:bodyPr>
          <a:lstStyle/>
          <a:p>
            <a:pPr marL="0" indent="0">
              <a:buNone/>
            </a:pPr>
            <a:r>
              <a:rPr lang="ar-SA" sz="2000" b="1"/>
              <a:t>أسئلة تقويمية:</a:t>
            </a:r>
          </a:p>
          <a:p>
            <a:pPr marL="0" indent="0">
              <a:buNone/>
            </a:pPr>
            <a:r>
              <a:rPr lang="ar-SA" sz="2000" b="1"/>
              <a:t>١. </a:t>
            </a:r>
            <a:r>
              <a:rPr lang="ar-SA" sz="2000"/>
              <a:t>ما الأسلوب الصحيح لإعداد خط الطي؟ ولماذا؟</a:t>
            </a:r>
          </a:p>
          <a:p>
            <a:pPr marL="0" indent="0">
              <a:buNone/>
            </a:pPr>
            <a:r>
              <a:rPr lang="ar-SA" sz="2000" b="1"/>
              <a:t>٢. </a:t>
            </a:r>
            <a:r>
              <a:rPr lang="ar-SA" sz="2000"/>
              <a:t>أين توضع المسطرة أثناء القص؟ علّل.</a:t>
            </a:r>
          </a:p>
          <a:p>
            <a:pPr marL="0" indent="0">
              <a:buNone/>
            </a:pPr>
            <a:r>
              <a:rPr lang="ar-SA" sz="2000" b="1"/>
              <a:t>٣. </a:t>
            </a:r>
            <a:r>
              <a:rPr lang="ar-SA" sz="2000"/>
              <a:t>كم يصبح عدد أوجه المكعّب بعد كشط أحد أركانه؟</a:t>
            </a:r>
          </a:p>
          <a:p>
            <a:pPr marL="0" indent="0">
              <a:buNone/>
            </a:pPr>
            <a:r>
              <a:rPr lang="ar-SA" sz="2000" b="1"/>
              <a:t>٤. </a:t>
            </a:r>
            <a:r>
              <a:rPr lang="ar-SA" sz="2000"/>
              <a:t>ما زاوية الليّ المثلى؟ وما الحد الذي لا يُنصح بتجاوزه؟</a:t>
            </a:r>
          </a:p>
          <a:p>
            <a:pPr marL="0" indent="0">
              <a:buNone/>
            </a:pPr>
            <a:r>
              <a:rPr lang="ar-SA" sz="2000" b="1"/>
              <a:t>٥. </a:t>
            </a:r>
            <a:r>
              <a:rPr lang="ar-SA" sz="2000"/>
              <a:t>إذا كان طول الحافة ١٢ سم، فكم يكون نصف قطر المنحنى؟</a:t>
            </a:r>
          </a:p>
          <a:p>
            <a:pPr marL="0" indent="0">
              <a:buNone/>
            </a:pPr>
            <a:r>
              <a:rPr lang="ar-SA" sz="2000" b="1"/>
              <a:t>٦. </a:t>
            </a:r>
            <a:r>
              <a:rPr lang="ar-SA" sz="2000"/>
              <a:t>لماذا يُشترط عدد زوجي من الحواف في المنحنيات المفردة؟</a:t>
            </a:r>
          </a:p>
        </p:txBody>
      </p:sp>
      <p:sp>
        <p:nvSpPr>
          <p:cNvPr id="15" name="Footer Placeholder 3">
            <a:extLst>
              <a:ext uri="{FF2B5EF4-FFF2-40B4-BE49-F238E27FC236}">
                <a16:creationId xmlns:a16="http://schemas.microsoft.com/office/drawing/2014/main" id="{CFE48E32-A7F6-E621-F2A2-8E8D30A65EAF}"/>
              </a:ext>
            </a:extLst>
          </p:cNvPr>
          <p:cNvSpPr>
            <a:spLocks noGrp="1"/>
          </p:cNvSpPr>
          <p:nvPr>
            <p:ph type="ftr" sz="quarter" idx="11"/>
          </p:nvPr>
        </p:nvSpPr>
        <p:spPr>
          <a:xfrm>
            <a:off x="4038600" y="6356350"/>
            <a:ext cx="4114800" cy="365125"/>
          </a:xfrm>
        </p:spPr>
        <p:txBody>
          <a:bodyPr/>
          <a:lstStyle/>
          <a:p>
            <a:r>
              <a:rPr lang="ar-SA" dirty="0"/>
              <a:t>برنامج التصميم الجرافيكي - المستوى السادس</a:t>
            </a:r>
            <a:endParaRPr lang="en-US" dirty="0"/>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Content Placeholder 2"/>
          <p:cNvSpPr>
            <a:spLocks noGrp="1"/>
          </p:cNvSpPr>
          <p:nvPr>
            <p:ph idx="1"/>
          </p:nvPr>
        </p:nvSpPr>
        <p:spPr>
          <a:xfrm>
            <a:off x="1005840" y="1600200"/>
            <a:ext cx="10149840" cy="4389120"/>
          </a:xfrm>
        </p:spPr>
        <p:txBody>
          <a:bodyPr anchor="ctr">
            <a:normAutofit/>
          </a:bodyPr>
          <a:lstStyle/>
          <a:p>
            <a:pPr marL="0" indent="0">
              <a:buNone/>
            </a:pPr>
            <a:r>
              <a:rPr lang="ar-SA" sz="2000" b="1"/>
              <a:t>المشروع التطبيقي: تصميم عبوة مبتكرة</a:t>
            </a:r>
          </a:p>
          <a:p>
            <a:pPr marL="0" indent="0">
              <a:buNone/>
            </a:pPr>
            <a:r>
              <a:rPr lang="ar-SA" sz="2000"/>
              <a:t>يختار الطالب منتجًا (عطرًا، أو شوكولاتة، أو شمعة، أو مستحضر تجميل) ويصمّم له عبوة وفق المتطلبات الآتية:</a:t>
            </a:r>
          </a:p>
          <a:p>
            <a:pPr/>
            <a:r>
              <a:rPr lang="ar-SA" sz="2000" b="1"/>
              <a:t>الدمج: </a:t>
            </a:r>
            <a:r>
              <a:rPr lang="ar-SA" sz="2000"/>
              <a:t>بين تقنيتين من تقنيات المحاضرة في تصميم واحد.</a:t>
            </a:r>
          </a:p>
          <a:p>
            <a:pPr/>
            <a:r>
              <a:rPr lang="ar-SA" sz="2000" b="1"/>
              <a:t>المِفرَد: </a:t>
            </a:r>
            <a:r>
              <a:rPr lang="ar-SA" sz="2000"/>
              <a:t>رسمه كاملًا بألسنته مع التمييز بين خطوط القص والطي.</a:t>
            </a:r>
          </a:p>
          <a:p>
            <a:pPr/>
            <a:r>
              <a:rPr lang="ar-SA" sz="2000" b="1"/>
              <a:t>الغطاء والإغلاق: </a:t>
            </a:r>
            <a:r>
              <a:rPr lang="ar-SA" sz="2000"/>
              <a:t>تحديد موضع الغطاء وآلية الإغلاق مع المسوّغات.</a:t>
            </a:r>
          </a:p>
          <a:p>
            <a:pPr/>
            <a:r>
              <a:rPr lang="ar-SA" sz="2000" b="1"/>
              <a:t>النموذج: </a:t>
            </a:r>
            <a:r>
              <a:rPr lang="ar-SA" sz="2000"/>
              <a:t>تنفيذه بالورق المقوّى بالأدوات والطرق الصحيحة.</a:t>
            </a:r>
          </a:p>
          <a:p>
            <a:pPr/>
            <a:r>
              <a:rPr lang="ar-SA" sz="2000" b="1"/>
              <a:t>التقرير: </a:t>
            </a:r>
            <a:r>
              <a:rPr lang="ar-SA" sz="2000"/>
              <a:t>صفحة توضّح ملاءمة الشكل للمنتج وهويته، ومعالجة متطلبات الحماية والرصّ والعرض.</a:t>
            </a:r>
          </a:p>
          <a:p>
            <a:pPr marL="0" indent="0">
              <a:buNone/>
            </a:pPr>
            <a:r>
              <a:rPr lang="ar-SA" sz="2000" b="1"/>
              <a:t>أمثلة استرشادية: </a:t>
            </a:r>
            <a:r>
              <a:rPr lang="ar-SA" sz="2000"/>
              <a:t>عبوة عطر بكشط الركن يُطبع الشعار على مثلثها، أو علبة شوكولاتة بالليّ المُضلَّع غطاؤها المربع العلوي بقفل لسان.</a:t>
            </a:r>
          </a:p>
        </p:txBody>
      </p:sp>
      <p:sp>
        <p:nvSpPr>
          <p:cNvPr id="15" name="Footer Placeholder 3">
            <a:extLst>
              <a:ext uri="{FF2B5EF4-FFF2-40B4-BE49-F238E27FC236}">
                <a16:creationId xmlns:a16="http://schemas.microsoft.com/office/drawing/2014/main" id="{CFE48E32-A7F6-E621-F2A2-8E8D30A65EAF}"/>
              </a:ext>
            </a:extLst>
          </p:cNvPr>
          <p:cNvSpPr>
            <a:spLocks noGrp="1"/>
          </p:cNvSpPr>
          <p:nvPr>
            <p:ph type="ftr" sz="quarter" idx="11"/>
          </p:nvPr>
        </p:nvSpPr>
        <p:spPr>
          <a:xfrm>
            <a:off x="4038600" y="6356350"/>
            <a:ext cx="4114800" cy="365125"/>
          </a:xfrm>
        </p:spPr>
        <p:txBody>
          <a:bodyPr/>
          <a:lstStyle/>
          <a:p>
            <a:r>
              <a:rPr lang="ar-SA" dirty="0"/>
              <a:t>برنامج التصميم الجرافيكي - المستوى السادس</a:t>
            </a:r>
            <a:endParaRPr lang="en-US" dirty="0"/>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Content Placeholder 2"/>
          <p:cNvSpPr>
            <a:spLocks noGrp="1"/>
          </p:cNvSpPr>
          <p:nvPr>
            <p:ph idx="1"/>
          </p:nvPr>
        </p:nvSpPr>
        <p:spPr>
          <a:xfrm>
            <a:off x="1005840" y="1600200"/>
            <a:ext cx="10149840" cy="4389120"/>
          </a:xfrm>
        </p:spPr>
        <p:txBody>
          <a:bodyPr anchor="ctr">
            <a:normAutofit/>
          </a:bodyPr>
          <a:lstStyle/>
          <a:p>
            <a:pPr marL="0" indent="0">
              <a:buNone/>
            </a:pPr>
            <a:r>
              <a:rPr lang="ar-SA" sz="2000" b="1"/>
              <a:t>المصدر:</a:t>
            </a:r>
          </a:p>
          <a:p>
            <a:pPr marL="0" indent="0">
              <a:buNone/>
            </a:pPr>
            <a:r>
              <a:rPr lang="ar-SA" sz="2000"/>
              <a:t>الفصل الرابع «Deforming a Cube» والقسم ١٫٢ «How to Cut and Fold» من الكتاب المرجعي للمقرر، والصور مأخوذة منه.</a:t>
            </a:r>
          </a:p>
        </p:txBody>
      </p:sp>
      <p:sp>
        <p:nvSpPr>
          <p:cNvPr id="15" name="Footer Placeholder 3">
            <a:extLst>
              <a:ext uri="{FF2B5EF4-FFF2-40B4-BE49-F238E27FC236}">
                <a16:creationId xmlns:a16="http://schemas.microsoft.com/office/drawing/2014/main" id="{CFE48E32-A7F6-E621-F2A2-8E8D30A65EAF}"/>
              </a:ext>
            </a:extLst>
          </p:cNvPr>
          <p:cNvSpPr>
            <a:spLocks noGrp="1"/>
          </p:cNvSpPr>
          <p:nvPr>
            <p:ph type="ftr" sz="quarter" idx="11"/>
          </p:nvPr>
        </p:nvSpPr>
        <p:spPr>
          <a:xfrm>
            <a:off x="4038600" y="6356350"/>
            <a:ext cx="4114800" cy="365125"/>
          </a:xfrm>
        </p:spPr>
        <p:txBody>
          <a:bodyPr/>
          <a:lstStyle/>
          <a:p>
            <a:r>
              <a:rPr lang="ar-SA" dirty="0"/>
              <a:t>برنامج التصميم الجرافيكي - المستوى السادس</a:t>
            </a:r>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8406</TotalTime>
  <Words>530</Words>
  <Application>Microsoft Macintosh PowerPoint</Application>
  <PresentationFormat>Widescreen</PresentationFormat>
  <Paragraphs>43</Paragraphs>
  <Slides>8</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8</vt:i4>
      </vt:variant>
    </vt:vector>
  </HeadingPairs>
  <TitlesOfParts>
    <vt:vector size="15" baseType="lpstr">
      <vt:lpstr>Aptos</vt:lpstr>
      <vt:lpstr>Arial</vt:lpstr>
      <vt:lpstr>Avenir Medium</vt:lpstr>
      <vt:lpstr>Calibri</vt:lpstr>
      <vt:lpstr>GE Dinar One</vt:lpstr>
      <vt:lpstr>Sakkal Majalla</vt:lpstr>
      <vt:lpstr>Office Theme</vt:lpstr>
      <vt:lpstr>أنواع  وخامات التغليف</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InDesign</dc:title>
  <dc:creator>haifa badran alomar</dc:creator>
  <cp:lastModifiedBy>Nourah Alsadoun</cp:lastModifiedBy>
  <cp:revision>154</cp:revision>
  <dcterms:created xsi:type="dcterms:W3CDTF">2024-04-17T13:12:11Z</dcterms:created>
  <dcterms:modified xsi:type="dcterms:W3CDTF">2026-08-29T02:33:55Z</dcterms:modified>
</cp:coreProperties>
</file>