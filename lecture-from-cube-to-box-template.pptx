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10"/>
  </p:notesMasterIdLst>
  <p:handoutMasterIdLst>
    <p:handoutMasterId r:id="rId11"/>
  </p:handoutMasterIdLst>
  <p:sldIdLst>
    <p:sldId id="256" r:id="rId2"/>
    <p:sldId id="257" r:id="rId3"/>
    <p:sldId id="258" r:id="rId9"/>
    <p:sldId id="259" r:id="rId8"/>
    <p:sldId id="260" r:id="rId7"/>
    <p:sldId id="261" r:id="rId6"/>
    <p:sldId id="262" r:id="rId5"/>
    <p:sldId id="263" r:id="rId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057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244"/>
    <p:restoredTop sz="94491"/>
  </p:normalViewPr>
  <p:slideViewPr>
    <p:cSldViewPr snapToGrid="0" snapToObjects="1">
      <p:cViewPr varScale="1">
        <p:scale>
          <a:sx n="117" d="100"/>
          <a:sy n="117" d="100"/>
        </p:scale>
        <p:origin x="208" y="1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94" d="100"/>
          <a:sy n="94" d="100"/>
        </p:scale>
        <p:origin x="4040" y="20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8.xml"/><Relationship Id="rId5" Type="http://schemas.openxmlformats.org/officeDocument/2006/relationships/slide" Target="slides/slide7.xml"/><Relationship Id="rId6" Type="http://schemas.openxmlformats.org/officeDocument/2006/relationships/slide" Target="slides/slide6.xml"/><Relationship Id="rId7" Type="http://schemas.openxmlformats.org/officeDocument/2006/relationships/slide" Target="slides/slide5.xml"/><Relationship Id="rId8" Type="http://schemas.openxmlformats.org/officeDocument/2006/relationships/slide" Target="slides/slide4.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handoutMaster" Target="handoutMasters/handout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DAD3ED4-A725-1124-7268-C714085C651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A"/>
          </a:p>
        </p:txBody>
      </p:sp>
      <p:sp>
        <p:nvSpPr>
          <p:cNvPr id="3" name="Date Placeholder 2">
            <a:extLst>
              <a:ext uri="{FF2B5EF4-FFF2-40B4-BE49-F238E27FC236}">
                <a16:creationId xmlns:a16="http://schemas.microsoft.com/office/drawing/2014/main" id="{A4EC01CD-5443-69BE-3D14-B6D3605B22A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EAF1E98-5F94-224A-A21F-D0A6E573F1EA}" type="datetimeFigureOut">
              <a:rPr lang="en-SA" smtClean="0"/>
              <a:t>29/08/2026 R</a:t>
            </a:fld>
            <a:endParaRPr lang="en-SA"/>
          </a:p>
        </p:txBody>
      </p:sp>
      <p:sp>
        <p:nvSpPr>
          <p:cNvPr id="4" name="Footer Placeholder 3">
            <a:extLst>
              <a:ext uri="{FF2B5EF4-FFF2-40B4-BE49-F238E27FC236}">
                <a16:creationId xmlns:a16="http://schemas.microsoft.com/office/drawing/2014/main" id="{194BE99D-1939-059B-3CE5-F0B1570E6A8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SA"/>
          </a:p>
        </p:txBody>
      </p:sp>
      <p:sp>
        <p:nvSpPr>
          <p:cNvPr id="5" name="Slide Number Placeholder 4">
            <a:extLst>
              <a:ext uri="{FF2B5EF4-FFF2-40B4-BE49-F238E27FC236}">
                <a16:creationId xmlns:a16="http://schemas.microsoft.com/office/drawing/2014/main" id="{CB01E896-DE12-37E6-A645-B8103536BB5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7B7EF7-468D-8441-A410-28F9516067E8}" type="slidenum">
              <a:rPr lang="en-SA" smtClean="0"/>
              <a:t>‹#›</a:t>
            </a:fld>
            <a:endParaRPr lang="en-SA"/>
          </a:p>
        </p:txBody>
      </p:sp>
    </p:spTree>
    <p:extLst>
      <p:ext uri="{BB962C8B-B14F-4D97-AF65-F5344CB8AC3E}">
        <p14:creationId xmlns:p14="http://schemas.microsoft.com/office/powerpoint/2010/main" val="38676166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AD55F2-279C-D647-95BA-2741FBF6F3F1}" type="datetimeFigureOut">
              <a:rPr lang="en-US" smtClean="0"/>
              <a:t>8/29/26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352315-EC8F-7049-AB74-0E6986D6A890}" type="slidenum">
              <a:rPr lang="en-US" smtClean="0"/>
              <a:t>‹#›</a:t>
            </a:fld>
            <a:endParaRPr lang="en-US"/>
          </a:p>
        </p:txBody>
      </p:sp>
    </p:spTree>
    <p:extLst>
      <p:ext uri="{BB962C8B-B14F-4D97-AF65-F5344CB8AC3E}">
        <p14:creationId xmlns:p14="http://schemas.microsoft.com/office/powerpoint/2010/main" val="229389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الشفرة الكالّة تحتاج ضغطًا أكبر فيزداد احتمال انزلاقها.</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كشط وجه (Shaving a Face): يُكشط أحد الأوجه بزاوية مائلة فينتج سطح منحدر، ويمكن التحكم في درجة الميل أو إمالته إلى الأمام أو الخلف.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كشط حافة (Shaving an Edge): تُكشط إحدى الحواف فينشأ مكانها وجه جديد، ويمكن التحكم في مقدار الكشط واتجاه ميله.</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كشط ركن (Shaving a Corner): يُكشط أحد الأركان فينشأ وجه على هيئة مثلث متساوي الأضلاع (زواياه ٦٠°)، لأن القطع يمر بثلاث حواف متساوية؛ وباختلاف مسافات القطع ينتج مثلث مختلف الأضلاع.</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المطّ من حافة إلى حافة (Stretching Edge-to-edge): تُشدّ حافتان متقابلتان في اتجاهين متعاكسين، فينتج صندوق مائل (Leaning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المطّ من ركن إلى ركن (Stretching Corner-to-corner): يُشدّ ركنان متقابلان فينتج شكل معيّني يُعرف بمتوازي السطوح المعيّني (Rhombohedron).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ليّ الوجهين المتقابلين (Twisting Opposite Faces): يُلوى الوجهان العلوي والسفلي ليًّا خفيفًا في اتجاهين متعاكسين، فتتحوّل الجوانب إلى متوازيات أضلاع. وزاوية الميل المثلى ٨٠°، والزوايا الأقل من ٧٠° نادرًا ما تنجح.</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الليّ: النسخة المُضلَّعة (Twisting: Faceted Version): يُزاد الليّ حتى تقع أركان المربع العلوي فوق منتصفات حواف المربع السفلي، ثم تُوصل الأركان الثمانية بخطوط طي.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الضغط من وجه إلى وجه (Compressing Face-to-face): يُضغط وجهان متقابلان باتجاه بعضهما، والشكل المعروض تبسيط تصميمي (Stylization) لشكل هلامي منحنٍ أكثر تعقيدًا. ورغم مظهره المضغوط تساوي مساحة الورق مساحة المكعّب الأصلي.</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الإجابات: ١) ضغط الخط بأداة طي لا قطعه. ٢) فوق الرسم كي تتجه الشفرة إن انزلقت نحو الورق الزائد. ٣) سبعة أوجه. ٤) ٨٠°، ولا يُنصح بما دون ٧٠°. ٥) ١٢٫٦ سم. ٦) لأنها تعمل في أزواج متعاكسة.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395B1D-719A-CF4F-92FF-162875E9795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1C30851-694D-F543-9CA3-5D3D9CC9D06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EB75FB5-0BB6-2843-9EFC-989F05E8D9A9}"/>
              </a:ext>
            </a:extLst>
          </p:cNvPr>
          <p:cNvSpPr>
            <a:spLocks noGrp="1"/>
          </p:cNvSpPr>
          <p:nvPr>
            <p:ph type="dt" sz="half" idx="10"/>
          </p:nvPr>
        </p:nvSpPr>
        <p:spPr>
          <a:xfrm>
            <a:off x="838200" y="6356350"/>
            <a:ext cx="2743200" cy="365125"/>
          </a:xfrm>
          <a:prstGeom prst="rect">
            <a:avLst/>
          </a:prstGeom>
        </p:spPr>
        <p:txBody>
          <a:bodyPr/>
          <a:lstStyle/>
          <a:p>
            <a:fld id="{8BA932CB-382F-4B55-8C01-EB744FF02002}" type="datetime1">
              <a:rPr lang="en-US" smtClean="0"/>
              <a:t>8/29/26</a:t>
            </a:fld>
            <a:endParaRPr lang="en-US"/>
          </a:p>
        </p:txBody>
      </p:sp>
      <p:sp>
        <p:nvSpPr>
          <p:cNvPr id="5" name="Footer Placeholder 4">
            <a:extLst>
              <a:ext uri="{FF2B5EF4-FFF2-40B4-BE49-F238E27FC236}">
                <a16:creationId xmlns:a16="http://schemas.microsoft.com/office/drawing/2014/main" id="{E5C1ECF2-D22D-8947-9222-E1B3916639C8}"/>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D4D2911-EE2E-D84D-9A62-8FEEF522D599}"/>
              </a:ext>
            </a:extLst>
          </p:cNvPr>
          <p:cNvSpPr>
            <a:spLocks noGrp="1"/>
          </p:cNvSpPr>
          <p:nvPr>
            <p:ph type="sldNum" sz="quarter" idx="12"/>
          </p:nvPr>
        </p:nvSpPr>
        <p:spPr>
          <a:xfrm>
            <a:off x="8610600" y="6356350"/>
            <a:ext cx="2743200" cy="365125"/>
          </a:xfrm>
          <a:prstGeom prst="rect">
            <a:avLst/>
          </a:prstGeom>
        </p:spPr>
        <p:txBody>
          <a:bodyPr/>
          <a:lstStyle>
            <a:lvl1pPr marL="228600" indent="-228600" algn="l" rtl="1">
              <a:buFont typeface="+mj-lt"/>
              <a:buAutoNum type="arabicPeriod"/>
              <a:defRPr/>
            </a:lvl1pPr>
          </a:lstStyle>
          <a:p>
            <a:pPr algn="r"/>
            <a:endParaRPr lang="en-US" dirty="0"/>
          </a:p>
        </p:txBody>
      </p:sp>
    </p:spTree>
    <p:extLst>
      <p:ext uri="{BB962C8B-B14F-4D97-AF65-F5344CB8AC3E}">
        <p14:creationId xmlns:p14="http://schemas.microsoft.com/office/powerpoint/2010/main" val="3635066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CC063-0CF1-EC48-81D1-35B818B1D6BE}"/>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BCFB4FE0-2CE3-F14A-A915-58BB58A3ADB4}"/>
              </a:ext>
            </a:extLst>
          </p:cNvPr>
          <p:cNvSpPr>
            <a:spLocks noGrp="1"/>
          </p:cNvSpPr>
          <p:nvPr>
            <p:ph idx="1"/>
          </p:nvPr>
        </p:nvSpPr>
        <p:spPr>
          <a:xfrm>
            <a:off x="838200" y="1825625"/>
            <a:ext cx="10515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BA1504-DA7E-384B-976C-D6302E486157}"/>
              </a:ext>
            </a:extLst>
          </p:cNvPr>
          <p:cNvSpPr>
            <a:spLocks noGrp="1"/>
          </p:cNvSpPr>
          <p:nvPr>
            <p:ph type="dt" sz="half" idx="10"/>
          </p:nvPr>
        </p:nvSpPr>
        <p:spPr>
          <a:xfrm>
            <a:off x="838200" y="6356350"/>
            <a:ext cx="2743200" cy="365125"/>
          </a:xfrm>
          <a:prstGeom prst="rect">
            <a:avLst/>
          </a:prstGeom>
        </p:spPr>
        <p:txBody>
          <a:bodyPr/>
          <a:lstStyle/>
          <a:p>
            <a:fld id="{6DEADBA5-6346-4B36-B068-0CCAF43B940A}" type="datetime1">
              <a:rPr lang="en-US" smtClean="0"/>
              <a:t>8/29/26</a:t>
            </a:fld>
            <a:endParaRPr lang="en-US"/>
          </a:p>
        </p:txBody>
      </p:sp>
      <p:sp>
        <p:nvSpPr>
          <p:cNvPr id="5" name="Footer Placeholder 4">
            <a:extLst>
              <a:ext uri="{FF2B5EF4-FFF2-40B4-BE49-F238E27FC236}">
                <a16:creationId xmlns:a16="http://schemas.microsoft.com/office/drawing/2014/main" id="{0B77A406-9FA9-3E4A-BBEF-A2B1113E1127}"/>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C7D281EC-403D-314E-A6D2-6343BAF449A7}"/>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981651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2D03C-7784-F045-A002-1F918E04A1C4}"/>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ACBDC39-B769-3243-9924-9522E0969232}"/>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EA62A36-1213-FF4B-BF7F-4645AD71D1A8}"/>
              </a:ext>
            </a:extLst>
          </p:cNvPr>
          <p:cNvSpPr>
            <a:spLocks noGrp="1"/>
          </p:cNvSpPr>
          <p:nvPr>
            <p:ph type="dt" sz="half" idx="10"/>
          </p:nvPr>
        </p:nvSpPr>
        <p:spPr>
          <a:xfrm>
            <a:off x="838200" y="6356350"/>
            <a:ext cx="2743200" cy="365125"/>
          </a:xfrm>
          <a:prstGeom prst="rect">
            <a:avLst/>
          </a:prstGeom>
        </p:spPr>
        <p:txBody>
          <a:bodyPr/>
          <a:lstStyle/>
          <a:p>
            <a:fld id="{FB0297A9-FD26-487D-BF7C-39F0BFEDAE3A}" type="datetime1">
              <a:rPr lang="en-US" smtClean="0"/>
              <a:t>8/29/26</a:t>
            </a:fld>
            <a:endParaRPr lang="en-US"/>
          </a:p>
        </p:txBody>
      </p:sp>
      <p:sp>
        <p:nvSpPr>
          <p:cNvPr id="5" name="Footer Placeholder 4">
            <a:extLst>
              <a:ext uri="{FF2B5EF4-FFF2-40B4-BE49-F238E27FC236}">
                <a16:creationId xmlns:a16="http://schemas.microsoft.com/office/drawing/2014/main" id="{263E88B2-7F8B-714B-B041-612AE5DF16B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9CC4B896-2ECF-694E-A27F-F43BC08ACBE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9449689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F96D4E-C006-8D45-9771-C77F3362EC37}"/>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5DE6859-C198-CE4A-9141-C652BA7066FD}"/>
              </a:ext>
            </a:extLst>
          </p:cNvPr>
          <p:cNvSpPr>
            <a:spLocks noGrp="1"/>
          </p:cNvSpPr>
          <p:nvPr>
            <p:ph sz="half" idx="1"/>
          </p:nvPr>
        </p:nvSpPr>
        <p:spPr>
          <a:xfrm>
            <a:off x="838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61CD53-E384-244B-BE3B-FFBBE38E08C6}"/>
              </a:ext>
            </a:extLst>
          </p:cNvPr>
          <p:cNvSpPr>
            <a:spLocks noGrp="1"/>
          </p:cNvSpPr>
          <p:nvPr>
            <p:ph sz="half" idx="2"/>
          </p:nvPr>
        </p:nvSpPr>
        <p:spPr>
          <a:xfrm>
            <a:off x="6172200" y="1825625"/>
            <a:ext cx="5181600"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D9622CB-E528-5947-A85B-F3F5E2C5F547}"/>
              </a:ext>
            </a:extLst>
          </p:cNvPr>
          <p:cNvSpPr>
            <a:spLocks noGrp="1"/>
          </p:cNvSpPr>
          <p:nvPr>
            <p:ph type="dt" sz="half" idx="10"/>
          </p:nvPr>
        </p:nvSpPr>
        <p:spPr>
          <a:xfrm>
            <a:off x="838200" y="6356350"/>
            <a:ext cx="2743200" cy="365125"/>
          </a:xfrm>
          <a:prstGeom prst="rect">
            <a:avLst/>
          </a:prstGeom>
        </p:spPr>
        <p:txBody>
          <a:bodyPr/>
          <a:lstStyle/>
          <a:p>
            <a:fld id="{6BE6DAA6-6496-4381-A216-D2E192C84EDB}" type="datetime1">
              <a:rPr lang="en-US" smtClean="0"/>
              <a:t>8/29/26</a:t>
            </a:fld>
            <a:endParaRPr lang="en-US"/>
          </a:p>
        </p:txBody>
      </p:sp>
      <p:sp>
        <p:nvSpPr>
          <p:cNvPr id="6" name="Footer Placeholder 5">
            <a:extLst>
              <a:ext uri="{FF2B5EF4-FFF2-40B4-BE49-F238E27FC236}">
                <a16:creationId xmlns:a16="http://schemas.microsoft.com/office/drawing/2014/main" id="{3C9DD693-0C22-3C4D-BF84-1CDC54FF1F6A}"/>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D560C669-0EE1-3549-AA32-0CF2A935F36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7504631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F22C6-D053-D143-809F-54C40B7E1AF7}"/>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03CC6D9-EA3C-4C4D-8E87-E77AF3223D0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BD73C27-06DF-9F43-92C1-1B9E85122D3C}"/>
              </a:ext>
            </a:extLst>
          </p:cNvPr>
          <p:cNvSpPr>
            <a:spLocks noGrp="1"/>
          </p:cNvSpPr>
          <p:nvPr>
            <p:ph sz="half" idx="2"/>
          </p:nvPr>
        </p:nvSpPr>
        <p:spPr>
          <a:xfrm>
            <a:off x="839788" y="2505075"/>
            <a:ext cx="5157787"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560B757-C458-9E45-9662-D43535C4FE44}"/>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9C3000C6-E367-9048-9ECC-CC9D94459762}"/>
              </a:ext>
            </a:extLst>
          </p:cNvPr>
          <p:cNvSpPr>
            <a:spLocks noGrp="1"/>
          </p:cNvSpPr>
          <p:nvPr>
            <p:ph sz="quarter" idx="4"/>
          </p:nvPr>
        </p:nvSpPr>
        <p:spPr>
          <a:xfrm>
            <a:off x="6172200" y="2505075"/>
            <a:ext cx="5183188" cy="368458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CFF696B-0A9F-6943-BDDB-F15E36B79809}"/>
              </a:ext>
            </a:extLst>
          </p:cNvPr>
          <p:cNvSpPr>
            <a:spLocks noGrp="1"/>
          </p:cNvSpPr>
          <p:nvPr>
            <p:ph type="dt" sz="half" idx="10"/>
          </p:nvPr>
        </p:nvSpPr>
        <p:spPr>
          <a:xfrm>
            <a:off x="838200" y="6356350"/>
            <a:ext cx="2743200" cy="365125"/>
          </a:xfrm>
          <a:prstGeom prst="rect">
            <a:avLst/>
          </a:prstGeom>
        </p:spPr>
        <p:txBody>
          <a:bodyPr/>
          <a:lstStyle/>
          <a:p>
            <a:fld id="{1A84317A-23C7-43CF-84C0-E7949A0EEEC1}" type="datetime1">
              <a:rPr lang="en-US" smtClean="0"/>
              <a:t>8/29/26</a:t>
            </a:fld>
            <a:endParaRPr lang="en-US"/>
          </a:p>
        </p:txBody>
      </p:sp>
      <p:sp>
        <p:nvSpPr>
          <p:cNvPr id="8" name="Footer Placeholder 7">
            <a:extLst>
              <a:ext uri="{FF2B5EF4-FFF2-40B4-BE49-F238E27FC236}">
                <a16:creationId xmlns:a16="http://schemas.microsoft.com/office/drawing/2014/main" id="{81C31820-BF02-4248-BC1F-4295A75AA6B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9" name="Slide Number Placeholder 8">
            <a:extLst>
              <a:ext uri="{FF2B5EF4-FFF2-40B4-BE49-F238E27FC236}">
                <a16:creationId xmlns:a16="http://schemas.microsoft.com/office/drawing/2014/main" id="{4EB86F3B-68E8-5C4B-90C1-FAC02EB2A12E}"/>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559219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14EBE-511D-A14D-A485-F2D099AB4846}"/>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Date Placeholder 2">
            <a:extLst>
              <a:ext uri="{FF2B5EF4-FFF2-40B4-BE49-F238E27FC236}">
                <a16:creationId xmlns:a16="http://schemas.microsoft.com/office/drawing/2014/main" id="{49F9DAD5-D1DB-EE45-A2CF-C16477BC6224}"/>
              </a:ext>
            </a:extLst>
          </p:cNvPr>
          <p:cNvSpPr>
            <a:spLocks noGrp="1"/>
          </p:cNvSpPr>
          <p:nvPr>
            <p:ph type="dt" sz="half" idx="10"/>
          </p:nvPr>
        </p:nvSpPr>
        <p:spPr>
          <a:xfrm>
            <a:off x="838200" y="6356350"/>
            <a:ext cx="2743200" cy="365125"/>
          </a:xfrm>
          <a:prstGeom prst="rect">
            <a:avLst/>
          </a:prstGeom>
        </p:spPr>
        <p:txBody>
          <a:bodyPr/>
          <a:lstStyle/>
          <a:p>
            <a:fld id="{E61B70F4-2ADC-4968-894A-168A515CD00F}" type="datetime1">
              <a:rPr lang="en-US" smtClean="0"/>
              <a:t>8/29/26</a:t>
            </a:fld>
            <a:endParaRPr lang="en-US"/>
          </a:p>
        </p:txBody>
      </p:sp>
      <p:sp>
        <p:nvSpPr>
          <p:cNvPr id="4" name="Footer Placeholder 3">
            <a:extLst>
              <a:ext uri="{FF2B5EF4-FFF2-40B4-BE49-F238E27FC236}">
                <a16:creationId xmlns:a16="http://schemas.microsoft.com/office/drawing/2014/main" id="{1A9B2BBE-A804-6A4F-9EA0-9AFD447876EE}"/>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5" name="Slide Number Placeholder 4">
            <a:extLst>
              <a:ext uri="{FF2B5EF4-FFF2-40B4-BE49-F238E27FC236}">
                <a16:creationId xmlns:a16="http://schemas.microsoft.com/office/drawing/2014/main" id="{B1EE21E9-C4E6-4F44-AE67-862133FBE8D6}"/>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600045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38EA237-DB10-6343-9513-6F6F466CECDC}"/>
              </a:ext>
            </a:extLst>
          </p:cNvPr>
          <p:cNvSpPr>
            <a:spLocks noGrp="1"/>
          </p:cNvSpPr>
          <p:nvPr>
            <p:ph type="dt" sz="half" idx="10"/>
          </p:nvPr>
        </p:nvSpPr>
        <p:spPr>
          <a:xfrm>
            <a:off x="838200" y="6356350"/>
            <a:ext cx="2743200" cy="365125"/>
          </a:xfrm>
          <a:prstGeom prst="rect">
            <a:avLst/>
          </a:prstGeom>
        </p:spPr>
        <p:txBody>
          <a:bodyPr/>
          <a:lstStyle/>
          <a:p>
            <a:fld id="{80527E97-0D0F-4F25-94B2-511CFB784A61}" type="datetime1">
              <a:rPr lang="en-US" smtClean="0"/>
              <a:t>8/29/26</a:t>
            </a:fld>
            <a:endParaRPr lang="en-US"/>
          </a:p>
        </p:txBody>
      </p:sp>
      <p:sp>
        <p:nvSpPr>
          <p:cNvPr id="3" name="Footer Placeholder 2">
            <a:extLst>
              <a:ext uri="{FF2B5EF4-FFF2-40B4-BE49-F238E27FC236}">
                <a16:creationId xmlns:a16="http://schemas.microsoft.com/office/drawing/2014/main" id="{3BC2839F-65CA-EA47-91F3-FA59AF2F327B}"/>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4" name="Slide Number Placeholder 3">
            <a:extLst>
              <a:ext uri="{FF2B5EF4-FFF2-40B4-BE49-F238E27FC236}">
                <a16:creationId xmlns:a16="http://schemas.microsoft.com/office/drawing/2014/main" id="{711568A4-56E2-6746-B167-BC75B74B1F15}"/>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1552278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ACBE66-AAC5-D249-B7D9-2C06C9249FA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F94C034-F466-BC44-8CB8-F94D2C1CC40B}"/>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A1AE357-EE97-C745-821A-899A56D338F4}"/>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90B094-318C-5C4D-9217-21257B60E346}"/>
              </a:ext>
            </a:extLst>
          </p:cNvPr>
          <p:cNvSpPr>
            <a:spLocks noGrp="1"/>
          </p:cNvSpPr>
          <p:nvPr>
            <p:ph type="dt" sz="half" idx="10"/>
          </p:nvPr>
        </p:nvSpPr>
        <p:spPr>
          <a:xfrm>
            <a:off x="838200" y="6356350"/>
            <a:ext cx="2743200" cy="365125"/>
          </a:xfrm>
          <a:prstGeom prst="rect">
            <a:avLst/>
          </a:prstGeom>
        </p:spPr>
        <p:txBody>
          <a:bodyPr/>
          <a:lstStyle/>
          <a:p>
            <a:fld id="{CE1A1EED-5468-4662-9116-EA324E72E27D}" type="datetime1">
              <a:rPr lang="en-US" smtClean="0"/>
              <a:t>8/29/26</a:t>
            </a:fld>
            <a:endParaRPr lang="en-US"/>
          </a:p>
        </p:txBody>
      </p:sp>
      <p:sp>
        <p:nvSpPr>
          <p:cNvPr id="6" name="Footer Placeholder 5">
            <a:extLst>
              <a:ext uri="{FF2B5EF4-FFF2-40B4-BE49-F238E27FC236}">
                <a16:creationId xmlns:a16="http://schemas.microsoft.com/office/drawing/2014/main" id="{53659FD8-B6EE-4846-A5E7-E6113CD88110}"/>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6F246591-DE00-4D4A-9B41-813AEA448918}"/>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55137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B65E9-0D75-2845-89B4-31BEEF76F611}"/>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BC22A3C-F646-514E-83DC-4E923202CFC6}"/>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263BC2D-5DAE-6640-9824-650C4BE7739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2BA8E1E5-B4EE-C24A-9234-35BBFF0BCCB6}"/>
              </a:ext>
            </a:extLst>
          </p:cNvPr>
          <p:cNvSpPr>
            <a:spLocks noGrp="1"/>
          </p:cNvSpPr>
          <p:nvPr>
            <p:ph type="dt" sz="half" idx="10"/>
          </p:nvPr>
        </p:nvSpPr>
        <p:spPr>
          <a:xfrm>
            <a:off x="838200" y="6356350"/>
            <a:ext cx="2743200" cy="365125"/>
          </a:xfrm>
          <a:prstGeom prst="rect">
            <a:avLst/>
          </a:prstGeom>
        </p:spPr>
        <p:txBody>
          <a:bodyPr/>
          <a:lstStyle/>
          <a:p>
            <a:fld id="{87D82976-136B-45A3-BE74-AF47A0873794}" type="datetime1">
              <a:rPr lang="en-US" smtClean="0"/>
              <a:t>8/29/26</a:t>
            </a:fld>
            <a:endParaRPr lang="en-US"/>
          </a:p>
        </p:txBody>
      </p:sp>
      <p:sp>
        <p:nvSpPr>
          <p:cNvPr id="6" name="Footer Placeholder 5">
            <a:extLst>
              <a:ext uri="{FF2B5EF4-FFF2-40B4-BE49-F238E27FC236}">
                <a16:creationId xmlns:a16="http://schemas.microsoft.com/office/drawing/2014/main" id="{B843CD61-1855-064B-8C88-185ECE7B1C59}"/>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7" name="Slide Number Placeholder 6">
            <a:extLst>
              <a:ext uri="{FF2B5EF4-FFF2-40B4-BE49-F238E27FC236}">
                <a16:creationId xmlns:a16="http://schemas.microsoft.com/office/drawing/2014/main" id="{3246B2A3-DACB-994E-A6F9-896A6273553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0254912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9FF93-C82F-3441-A9FD-C3DAF66513F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9E963-5C99-9440-A23E-5DF26D5F5C90}"/>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937B26-4382-A648-9F91-4C61986B009F}"/>
              </a:ext>
            </a:extLst>
          </p:cNvPr>
          <p:cNvSpPr>
            <a:spLocks noGrp="1"/>
          </p:cNvSpPr>
          <p:nvPr>
            <p:ph type="dt" sz="half" idx="10"/>
          </p:nvPr>
        </p:nvSpPr>
        <p:spPr>
          <a:xfrm>
            <a:off x="838200" y="6356350"/>
            <a:ext cx="2743200" cy="365125"/>
          </a:xfrm>
          <a:prstGeom prst="rect">
            <a:avLst/>
          </a:prstGeom>
        </p:spPr>
        <p:txBody>
          <a:bodyPr/>
          <a:lstStyle/>
          <a:p>
            <a:fld id="{25B967AB-6CBB-4FFA-80BE-668735DAF57C}" type="datetime1">
              <a:rPr lang="en-US" smtClean="0"/>
              <a:t>8/29/26</a:t>
            </a:fld>
            <a:endParaRPr lang="en-US"/>
          </a:p>
        </p:txBody>
      </p:sp>
      <p:sp>
        <p:nvSpPr>
          <p:cNvPr id="5" name="Footer Placeholder 4">
            <a:extLst>
              <a:ext uri="{FF2B5EF4-FFF2-40B4-BE49-F238E27FC236}">
                <a16:creationId xmlns:a16="http://schemas.microsoft.com/office/drawing/2014/main" id="{F34F3DC5-9E54-7C4C-85B5-4E83289C8125}"/>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8B2E6178-F519-1E48-92C6-D0E47439138B}"/>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21601545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912978B-FCD2-2045-85F0-1A14DE5CB5E0}"/>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9FB10E8-067B-2C48-B702-967E01DD84B6}"/>
              </a:ext>
            </a:extLst>
          </p:cNvPr>
          <p:cNvSpPr>
            <a:spLocks noGrp="1"/>
          </p:cNvSpPr>
          <p:nvPr>
            <p:ph type="body" orient="vert" idx="1"/>
          </p:nvPr>
        </p:nvSpPr>
        <p:spPr>
          <a:xfrm>
            <a:off x="838200" y="365125"/>
            <a:ext cx="7734300" cy="5811838"/>
          </a:xfrm>
          <a:prstGeom prst="rect">
            <a:avLst/>
          </a:prstGeo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5F7474-7BF7-8848-8A5E-943CAEF7B509}"/>
              </a:ext>
            </a:extLst>
          </p:cNvPr>
          <p:cNvSpPr>
            <a:spLocks noGrp="1"/>
          </p:cNvSpPr>
          <p:nvPr>
            <p:ph type="dt" sz="half" idx="10"/>
          </p:nvPr>
        </p:nvSpPr>
        <p:spPr>
          <a:xfrm>
            <a:off x="838200" y="6356350"/>
            <a:ext cx="2743200" cy="365125"/>
          </a:xfrm>
          <a:prstGeom prst="rect">
            <a:avLst/>
          </a:prstGeom>
        </p:spPr>
        <p:txBody>
          <a:bodyPr/>
          <a:lstStyle/>
          <a:p>
            <a:fld id="{B7B49DCA-0B0C-490D-9170-2EBC047E1017}" type="datetime1">
              <a:rPr lang="en-US" smtClean="0"/>
              <a:t>8/29/26</a:t>
            </a:fld>
            <a:endParaRPr lang="en-US"/>
          </a:p>
        </p:txBody>
      </p:sp>
      <p:sp>
        <p:nvSpPr>
          <p:cNvPr id="5" name="Footer Placeholder 4">
            <a:extLst>
              <a:ext uri="{FF2B5EF4-FFF2-40B4-BE49-F238E27FC236}">
                <a16:creationId xmlns:a16="http://schemas.microsoft.com/office/drawing/2014/main" id="{BAFEE781-F8D4-3A47-B4CF-BE796E445F0C}"/>
              </a:ext>
            </a:extLst>
          </p:cNvPr>
          <p:cNvSpPr>
            <a:spLocks noGrp="1"/>
          </p:cNvSpPr>
          <p:nvPr>
            <p:ph type="ftr" sz="quarter" idx="11"/>
          </p:nvPr>
        </p:nvSpPr>
        <p:spPr>
          <a:xfrm>
            <a:off x="4038600" y="6356350"/>
            <a:ext cx="4114800" cy="365125"/>
          </a:xfrm>
          <a:prstGeom prst="rect">
            <a:avLst/>
          </a:prstGeom>
        </p:spPr>
        <p:txBody>
          <a:bodyPr/>
          <a:lstStyle/>
          <a:p>
            <a:r>
              <a:rPr lang="ar-SA"/>
              <a:t>برنامج التصميم الجرافيكي - المستوى الخامس</a:t>
            </a:r>
            <a:endParaRPr lang="en-US"/>
          </a:p>
        </p:txBody>
      </p:sp>
      <p:sp>
        <p:nvSpPr>
          <p:cNvPr id="6" name="Slide Number Placeholder 5">
            <a:extLst>
              <a:ext uri="{FF2B5EF4-FFF2-40B4-BE49-F238E27FC236}">
                <a16:creationId xmlns:a16="http://schemas.microsoft.com/office/drawing/2014/main" id="{AF7C0E21-9A27-AB48-A677-0FCAD06A0459}"/>
              </a:ext>
            </a:extLst>
          </p:cNvPr>
          <p:cNvSpPr>
            <a:spLocks noGrp="1"/>
          </p:cNvSpPr>
          <p:nvPr>
            <p:ph type="sldNum" sz="quarter" idx="12"/>
          </p:nvPr>
        </p:nvSpPr>
        <p:spPr>
          <a:xfrm>
            <a:off x="8610600" y="6356350"/>
            <a:ext cx="2743200" cy="365125"/>
          </a:xfrm>
          <a:prstGeom prst="rect">
            <a:avLst/>
          </a:prstGeom>
        </p:spPr>
        <p:txBody>
          <a:bodyPr/>
          <a:lstStyle/>
          <a:p>
            <a:fld id="{581E6A32-401E-CF4D-886B-1F343C82E98B}" type="slidenum">
              <a:rPr lang="en-US" smtClean="0"/>
              <a:t>‹#›</a:t>
            </a:fld>
            <a:endParaRPr lang="en-US"/>
          </a:p>
        </p:txBody>
      </p:sp>
    </p:spTree>
    <p:extLst>
      <p:ext uri="{BB962C8B-B14F-4D97-AF65-F5344CB8AC3E}">
        <p14:creationId xmlns:p14="http://schemas.microsoft.com/office/powerpoint/2010/main" val="146180736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50CBAF2A-1BA4-EDEB-C3AE-3FCA48001454}"/>
              </a:ext>
            </a:extLst>
          </p:cNvPr>
          <p:cNvSpPr>
            <a:spLocks noGrp="1"/>
          </p:cNvSpPr>
          <p:nvPr>
            <p:ph type="title"/>
          </p:nvPr>
        </p:nvSpPr>
        <p:spPr>
          <a:xfrm>
            <a:off x="838200" y="1504950"/>
            <a:ext cx="10515600" cy="976312"/>
          </a:xfrm>
          <a:prstGeom prst="rect">
            <a:avLst/>
          </a:prstGeom>
        </p:spPr>
        <p:txBody>
          <a:bodyPr vert="horz" lIns="91440" tIns="45720" rIns="91440" bIns="45720" rtlCol="0" anchor="ctr">
            <a:normAutofit/>
          </a:bodyPr>
          <a:lstStyle/>
          <a:p>
            <a:r>
              <a:rPr lang="en-US" dirty="0"/>
              <a:t>Click to edit Master title style</a:t>
            </a:r>
          </a:p>
        </p:txBody>
      </p:sp>
      <p:sp>
        <p:nvSpPr>
          <p:cNvPr id="8" name="Text Placeholder 2">
            <a:extLst>
              <a:ext uri="{FF2B5EF4-FFF2-40B4-BE49-F238E27FC236}">
                <a16:creationId xmlns:a16="http://schemas.microsoft.com/office/drawing/2014/main" id="{D9BAD7FB-C18B-8746-EE3B-F73AC891F639}"/>
              </a:ext>
            </a:extLst>
          </p:cNvPr>
          <p:cNvSpPr>
            <a:spLocks noGrp="1"/>
          </p:cNvSpPr>
          <p:nvPr>
            <p:ph type="body" idx="1"/>
          </p:nvPr>
        </p:nvSpPr>
        <p:spPr>
          <a:xfrm>
            <a:off x="838200" y="2711449"/>
            <a:ext cx="10515600" cy="323691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Date Placeholder 3">
            <a:extLst>
              <a:ext uri="{FF2B5EF4-FFF2-40B4-BE49-F238E27FC236}">
                <a16:creationId xmlns:a16="http://schemas.microsoft.com/office/drawing/2014/main" id="{DF8C289F-6F88-6C1A-E408-749908346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47403A2-7C00-4E7B-9B12-0162AA911228}" type="datetime1">
              <a:rPr lang="en-US" smtClean="0"/>
              <a:t>8/29/26</a:t>
            </a:fld>
            <a:endParaRPr lang="en-US"/>
          </a:p>
        </p:txBody>
      </p:sp>
      <p:sp>
        <p:nvSpPr>
          <p:cNvPr id="10" name="Footer Placeholder 4">
            <a:extLst>
              <a:ext uri="{FF2B5EF4-FFF2-40B4-BE49-F238E27FC236}">
                <a16:creationId xmlns:a16="http://schemas.microsoft.com/office/drawing/2014/main" id="{0C2AA6E4-D910-BEBC-BBF3-DF05934FC0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latin typeface="GE Dinar One" panose="020A0503020102020204" pitchFamily="18" charset="-78"/>
                <a:ea typeface="GE Dinar One" panose="020A0503020102020204" pitchFamily="18" charset="-78"/>
                <a:cs typeface="GE Dinar One" panose="020A0503020102020204" pitchFamily="18" charset="-78"/>
              </a:defRPr>
            </a:lvl1pPr>
          </a:lstStyle>
          <a:p>
            <a:r>
              <a:rPr lang="ar-SA" dirty="0"/>
              <a:t>برنامج التصميم الجرافيكي - المستوى السابع</a:t>
            </a:r>
            <a:endParaRPr lang="en-US" dirty="0"/>
          </a:p>
        </p:txBody>
      </p:sp>
      <p:sp>
        <p:nvSpPr>
          <p:cNvPr id="11" name="Slide Number Placeholder 5">
            <a:extLst>
              <a:ext uri="{FF2B5EF4-FFF2-40B4-BE49-F238E27FC236}">
                <a16:creationId xmlns:a16="http://schemas.microsoft.com/office/drawing/2014/main" id="{8F3F3AF2-D3E0-15A1-2C5A-A79ECC8B50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r>
              <a:rPr lang="en-US" dirty="0"/>
              <a:t>334 GPC –Advertising Design</a:t>
            </a:r>
          </a:p>
        </p:txBody>
      </p:sp>
      <p:pic>
        <p:nvPicPr>
          <p:cNvPr id="12" name="Picture 11" descr="A black background with a black square&#10;&#10;Description automatically generated with medium confidence">
            <a:extLst>
              <a:ext uri="{FF2B5EF4-FFF2-40B4-BE49-F238E27FC236}">
                <a16:creationId xmlns:a16="http://schemas.microsoft.com/office/drawing/2014/main" id="{CCF9A999-8AEC-9C77-D955-F69D61AD288B}"/>
              </a:ext>
            </a:extLst>
          </p:cNvPr>
          <p:cNvPicPr>
            <a:picLocks noChangeAspect="1"/>
          </p:cNvPicPr>
          <p:nvPr userDrawn="1"/>
        </p:nvPicPr>
        <p:blipFill>
          <a:blip r:embed="rId13"/>
          <a:stretch>
            <a:fillRect/>
          </a:stretch>
        </p:blipFill>
        <p:spPr>
          <a:xfrm>
            <a:off x="11123785" y="402363"/>
            <a:ext cx="460030" cy="720000"/>
          </a:xfrm>
          <a:prstGeom prst="rect">
            <a:avLst/>
          </a:prstGeom>
        </p:spPr>
      </p:pic>
      <p:cxnSp>
        <p:nvCxnSpPr>
          <p:cNvPr id="13" name="Straight Connector 12">
            <a:extLst>
              <a:ext uri="{FF2B5EF4-FFF2-40B4-BE49-F238E27FC236}">
                <a16:creationId xmlns:a16="http://schemas.microsoft.com/office/drawing/2014/main" id="{5E392E98-9E2E-F723-EDD1-6E661E95F3B0}"/>
              </a:ext>
            </a:extLst>
          </p:cNvPr>
          <p:cNvCxnSpPr>
            <a:cxnSpLocks/>
          </p:cNvCxnSpPr>
          <p:nvPr userDrawn="1"/>
        </p:nvCxnSpPr>
        <p:spPr>
          <a:xfrm flipH="1">
            <a:off x="419100" y="6296025"/>
            <a:ext cx="11353800" cy="0"/>
          </a:xfrm>
          <a:prstGeom prst="line">
            <a:avLst/>
          </a:prstGeom>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id="{BA59E9B4-2072-7E36-C73D-F228C5C765F9}"/>
              </a:ext>
            </a:extLst>
          </p:cNvPr>
          <p:cNvSpPr txBox="1"/>
          <p:nvPr userDrawn="1"/>
        </p:nvSpPr>
        <p:spPr>
          <a:xfrm>
            <a:off x="10001828" y="536723"/>
            <a:ext cx="1074332" cy="461665"/>
          </a:xfrm>
          <a:prstGeom prst="rect">
            <a:avLst/>
          </a:prstGeom>
          <a:noFill/>
        </p:spPr>
        <p:txBody>
          <a:bodyPr wrap="none" rtlCol="0">
            <a:spAutoFit/>
          </a:bodyPr>
          <a:lstStyle/>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كلية الفنون</a:t>
            </a:r>
          </a:p>
          <a:p>
            <a:pPr algn="r" rtl="1"/>
            <a:r>
              <a:rPr lang="ar-SA" sz="1200" dirty="0">
                <a:latin typeface="GE Dinar One" panose="020A0503020102020204" pitchFamily="18" charset="-78"/>
                <a:ea typeface="GE Dinar One" panose="020A0503020102020204" pitchFamily="18" charset="-78"/>
                <a:cs typeface="GE Dinar One" panose="020A0503020102020204" pitchFamily="18" charset="-78"/>
              </a:rPr>
              <a:t>قسم التصميم</a:t>
            </a:r>
            <a:endParaRPr lang="en-GB" sz="1200" dirty="0">
              <a:latin typeface="GE Dinar One" panose="020A0503020102020204" pitchFamily="18" charset="-78"/>
              <a:ea typeface="GE Dinar One" panose="020A0503020102020204" pitchFamily="18" charset="-78"/>
              <a:cs typeface="GE Dinar One" panose="020A0503020102020204" pitchFamily="18" charset="-78"/>
            </a:endParaRPr>
          </a:p>
        </p:txBody>
      </p:sp>
      <p:sp>
        <p:nvSpPr>
          <p:cNvPr id="2" name="TextBox 1">
            <a:extLst>
              <a:ext uri="{FF2B5EF4-FFF2-40B4-BE49-F238E27FC236}">
                <a16:creationId xmlns:a16="http://schemas.microsoft.com/office/drawing/2014/main" id="{927FB34A-3019-4A0D-6648-F86EAC55AD6C}"/>
              </a:ext>
            </a:extLst>
          </p:cNvPr>
          <p:cNvSpPr txBox="1"/>
          <p:nvPr userDrawn="1"/>
        </p:nvSpPr>
        <p:spPr>
          <a:xfrm>
            <a:off x="696285" y="493278"/>
            <a:ext cx="1456365" cy="338554"/>
          </a:xfrm>
          <a:prstGeom prst="rect">
            <a:avLst/>
          </a:prstGeom>
          <a:noFill/>
        </p:spPr>
        <p:txBody>
          <a:bodyPr wrap="square">
            <a:spAutoFit/>
          </a:bodyPr>
          <a:lstStyle/>
          <a:p>
            <a:pPr algn="ctr" rtl="1"/>
            <a:r>
              <a:rPr lang="ar-SA" sz="800" dirty="0">
                <a:solidFill>
                  <a:schemeClr val="tx1">
                    <a:lumMod val="50000"/>
                    <a:lumOff val="50000"/>
                  </a:schemeClr>
                </a:solidFill>
                <a:latin typeface="GE Dinar One" panose="020A0503020102020204" pitchFamily="18" charset="-78"/>
                <a:ea typeface="GE Dinar One" panose="020A0503020102020204" pitchFamily="18" charset="-78"/>
                <a:cs typeface="GE Dinar One" panose="020A0503020102020204" pitchFamily="18" charset="-78"/>
              </a:rPr>
              <a:t>٣٣٠ جفك تصميم المغلفات</a:t>
            </a:r>
          </a:p>
          <a:p>
            <a:pPr marL="0" marR="0" lvl="0" indent="0" algn="ctr" defTabSz="914400" rtl="1" eaLnBrk="1" fontAlgn="auto" latinLnBrk="0" hangingPunct="1">
              <a:lnSpc>
                <a:spcPct val="100000"/>
              </a:lnSpc>
              <a:spcBef>
                <a:spcPts val="0"/>
              </a:spcBef>
              <a:spcAft>
                <a:spcPts val="0"/>
              </a:spcAft>
              <a:buClrTx/>
              <a:buSzTx/>
              <a:buFontTx/>
              <a:buNone/>
              <a:tabLst/>
              <a:defRPr/>
            </a:pPr>
            <a:r>
              <a:rPr lang="en-US" sz="800" dirty="0">
                <a:solidFill>
                  <a:schemeClr val="tx1">
                    <a:lumMod val="50000"/>
                    <a:lumOff val="50000"/>
                  </a:schemeClr>
                </a:solidFill>
                <a:latin typeface="+mn-lt"/>
                <a:ea typeface="GE Dinar One" panose="020A0503020102020204" pitchFamily="18" charset="-78"/>
                <a:cs typeface="GE Dinar One" panose="020A0503020102020204" pitchFamily="18" charset="-78"/>
              </a:rPr>
              <a:t>330 GPC Packaging Design</a:t>
            </a:r>
            <a:endParaRPr lang="ar-SA" sz="800" dirty="0">
              <a:solidFill>
                <a:schemeClr val="tx1">
                  <a:lumMod val="50000"/>
                  <a:lumOff val="50000"/>
                </a:schemeClr>
              </a:solidFill>
              <a:latin typeface="+mn-lt"/>
              <a:ea typeface="GE Dinar One" panose="020A0503020102020204" pitchFamily="18" charset="-78"/>
              <a:cs typeface="GE Dinar One" panose="020A0503020102020204" pitchFamily="18" charset="-78"/>
            </a:endParaRPr>
          </a:p>
        </p:txBody>
      </p:sp>
      <p:sp>
        <p:nvSpPr>
          <p:cNvPr id="3" name="TextBox 2">
            <a:extLst>
              <a:ext uri="{FF2B5EF4-FFF2-40B4-BE49-F238E27FC236}">
                <a16:creationId xmlns:a16="http://schemas.microsoft.com/office/drawing/2014/main" id="{A4DEF6D6-B38C-E645-34D6-5A26D793929E}"/>
              </a:ext>
            </a:extLst>
          </p:cNvPr>
          <p:cNvSpPr txBox="1"/>
          <p:nvPr userDrawn="1"/>
        </p:nvSpPr>
        <p:spPr>
          <a:xfrm>
            <a:off x="456139" y="400945"/>
            <a:ext cx="385042" cy="523220"/>
          </a:xfrm>
          <a:prstGeom prst="rect">
            <a:avLst/>
          </a:prstGeom>
          <a:noFill/>
        </p:spPr>
        <p:txBody>
          <a:bodyPr wrap="none" rtlCol="0">
            <a:spAutoFit/>
          </a:bodyPr>
          <a:lstStyle/>
          <a:p>
            <a:pPr marL="0" algn="l" defTabSz="914400" rtl="0" eaLnBrk="1" latinLnBrk="0" hangingPunct="1"/>
            <a:r>
              <a:rPr lang="en-US" sz="2800" b="0" i="0" dirty="0">
                <a:solidFill>
                  <a:schemeClr val="tx1">
                    <a:lumMod val="50000"/>
                    <a:lumOff val="50000"/>
                  </a:schemeClr>
                </a:solidFill>
                <a:latin typeface="Avenir Medium" panose="02000503020000020003" pitchFamily="2" charset="0"/>
                <a:cs typeface="+mj-cs"/>
              </a:rPr>
              <a:t>6</a:t>
            </a:r>
            <a:endParaRPr lang="en-SA" sz="2800" b="0" i="0" dirty="0">
              <a:solidFill>
                <a:schemeClr val="tx1">
                  <a:lumMod val="50000"/>
                  <a:lumOff val="50000"/>
                </a:schemeClr>
              </a:solidFill>
              <a:latin typeface="Avenir Medium" panose="02000503020000020003" pitchFamily="2" charset="0"/>
              <a:cs typeface="+mj-cs"/>
            </a:endParaRPr>
          </a:p>
        </p:txBody>
      </p:sp>
    </p:spTree>
    <p:extLst>
      <p:ext uri="{BB962C8B-B14F-4D97-AF65-F5344CB8AC3E}">
        <p14:creationId xmlns:p14="http://schemas.microsoft.com/office/powerpoint/2010/main" val="20754095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r" defTabSz="914400" rtl="1" eaLnBrk="1" latinLnBrk="0" hangingPunct="1">
        <a:lnSpc>
          <a:spcPct val="90000"/>
        </a:lnSpc>
        <a:spcBef>
          <a:spcPct val="0"/>
        </a:spcBef>
        <a:buNone/>
        <a:defRPr sz="4400" kern="1200">
          <a:solidFill>
            <a:schemeClr val="tx1"/>
          </a:solidFill>
          <a:latin typeface="Sakkal Majalla" panose="02000000000000000000" pitchFamily="2" charset="-78"/>
          <a:ea typeface="+mj-ea"/>
          <a:cs typeface="Sakkal Majalla" panose="02000000000000000000" pitchFamily="2" charset="-78"/>
        </a:defRPr>
      </a:lvl1pPr>
    </p:titleStyle>
    <p:bodyStyle>
      <a:lvl1pPr marL="228600" indent="-228600" algn="r" defTabSz="914400" rtl="1" eaLnBrk="1" latinLnBrk="0" hangingPunct="1">
        <a:lnSpc>
          <a:spcPct val="90000"/>
        </a:lnSpc>
        <a:spcBef>
          <a:spcPts val="1000"/>
        </a:spcBef>
        <a:buFont typeface="Arial" panose="020B0604020202020204" pitchFamily="34" charset="0"/>
        <a:buChar char="•"/>
        <a:defRPr sz="2800" kern="1200">
          <a:solidFill>
            <a:schemeClr val="tx1"/>
          </a:solidFill>
          <a:latin typeface="Sakkal Majalla" panose="02000000000000000000" pitchFamily="2" charset="-78"/>
          <a:ea typeface="+mn-ea"/>
          <a:cs typeface="Sakkal Majalla" panose="02000000000000000000" pitchFamily="2" charset="-78"/>
        </a:defRPr>
      </a:lvl1pPr>
      <a:lvl2pPr marL="685800" indent="-228600" algn="r" defTabSz="914400" rtl="1" eaLnBrk="1" latinLnBrk="0" hangingPunct="1">
        <a:lnSpc>
          <a:spcPct val="90000"/>
        </a:lnSpc>
        <a:spcBef>
          <a:spcPts val="500"/>
        </a:spcBef>
        <a:buFont typeface="Arial" panose="020B0604020202020204" pitchFamily="34" charset="0"/>
        <a:buChar char="•"/>
        <a:defRPr sz="2400" kern="1200">
          <a:solidFill>
            <a:schemeClr val="tx1"/>
          </a:solidFill>
          <a:latin typeface="Sakkal Majalla" panose="02000000000000000000" pitchFamily="2" charset="-78"/>
          <a:ea typeface="+mn-ea"/>
          <a:cs typeface="Sakkal Majalla" panose="02000000000000000000" pitchFamily="2" charset="-78"/>
        </a:defRPr>
      </a:lvl2pPr>
      <a:lvl3pPr marL="1143000" indent="-228600" algn="r" defTabSz="914400" rtl="1" eaLnBrk="1" latinLnBrk="0" hangingPunct="1">
        <a:lnSpc>
          <a:spcPct val="90000"/>
        </a:lnSpc>
        <a:spcBef>
          <a:spcPts val="500"/>
        </a:spcBef>
        <a:buFont typeface="Arial" panose="020B0604020202020204" pitchFamily="34" charset="0"/>
        <a:buChar char="•"/>
        <a:defRPr sz="2000" kern="1200">
          <a:solidFill>
            <a:schemeClr val="tx1"/>
          </a:solidFill>
          <a:latin typeface="Sakkal Majalla" panose="02000000000000000000" pitchFamily="2" charset="-78"/>
          <a:ea typeface="+mn-ea"/>
          <a:cs typeface="Sakkal Majalla" panose="02000000000000000000" pitchFamily="2" charset="-78"/>
        </a:defRPr>
      </a:lvl3pPr>
      <a:lvl4pPr marL="16002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4pPr>
      <a:lvl5pPr marL="2057400" indent="-228600" algn="r" defTabSz="914400" rtl="1" eaLnBrk="1" latinLnBrk="0" hangingPunct="1">
        <a:lnSpc>
          <a:spcPct val="90000"/>
        </a:lnSpc>
        <a:spcBef>
          <a:spcPts val="500"/>
        </a:spcBef>
        <a:buFont typeface="Arial" panose="020B0604020202020204" pitchFamily="34" charset="0"/>
        <a:buChar char="•"/>
        <a:defRPr sz="1800" kern="1200">
          <a:solidFill>
            <a:schemeClr val="tx1"/>
          </a:solidFill>
          <a:latin typeface="Sakkal Majalla" panose="02000000000000000000" pitchFamily="2" charset="-78"/>
          <a:ea typeface="+mn-ea"/>
          <a:cs typeface="Sakkal Majalla" panose="02000000000000000000" pitchFamily="2"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jpeg"/><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95A86-478A-71C3-B781-91B8C540C0E2}"/>
              </a:ext>
            </a:extLst>
          </p:cNvPr>
          <p:cNvSpPr>
            <a:spLocks noGrp="1"/>
          </p:cNvSpPr>
          <p:nvPr>
            <p:ph type="ctrTitle"/>
          </p:nvPr>
        </p:nvSpPr>
        <p:spPr>
          <a:xfrm>
            <a:off x="5181600" y="1302658"/>
            <a:ext cx="4604657" cy="2387600"/>
          </a:xfrm>
        </p:spPr>
        <p:txBody>
          <a:bodyPr>
            <a:normAutofit/>
          </a:bodyPr>
          <a:lstStyle/>
          <a:p>
            <a:r>
              <a:rPr lang="ar-SA" sz="4000" b="1" dirty="0"/>
              <a:t>من المكعّب إلى العبوة</a:t>
            </a:r>
            <a:r>
              <a:rPr lang="en-US" sz="4000" b="1" dirty="0"/>
              <a:t/>
            </a:r>
            <a:r>
              <a:rPr lang="ar-SA" sz="4000" b="1" dirty="0"/>
              <a:t/>
            </a:r>
            <a:endParaRPr lang="en-GB" sz="4000" dirty="0"/>
          </a:p>
        </p:txBody>
      </p:sp>
      <p:sp>
        <p:nvSpPr>
          <p:cNvPr id="3" name="Subtitle 2">
            <a:extLst>
              <a:ext uri="{FF2B5EF4-FFF2-40B4-BE49-F238E27FC236}">
                <a16:creationId xmlns:a16="http://schemas.microsoft.com/office/drawing/2014/main" id="{3976FDC2-234A-44A1-C967-179A0C8EFCC8}"/>
              </a:ext>
            </a:extLst>
          </p:cNvPr>
          <p:cNvSpPr>
            <a:spLocks noGrp="1"/>
          </p:cNvSpPr>
          <p:nvPr>
            <p:ph type="subTitle" idx="1"/>
          </p:nvPr>
        </p:nvSpPr>
        <p:spPr>
          <a:xfrm>
            <a:off x="3135085" y="3678237"/>
            <a:ext cx="9144000" cy="1655762"/>
          </a:xfrm>
        </p:spPr>
        <p:txBody>
          <a:bodyPr anchor="t">
            <a:normAutofit/>
          </a:bodyPr>
          <a:lstStyle/>
          <a:p>
            <a:pPr marL="0" indent="0" algn="ctr" defTabSz="914400" rtl="1" eaLnBrk="1" latinLnBrk="0" hangingPunct="1">
              <a:lnSpc>
                <a:spcPct val="90000"/>
              </a:lnSpc>
              <a:spcBef>
                <a:spcPts val="1000"/>
              </a:spcBef>
              <a:buFont typeface="Arial" panose="020B0604020202020204" pitchFamily="34" charset="0"/>
              <a:buNone/>
            </a:pPr>
            <a:r>
              <a:rPr lang="ar-SA" sz="2000" b="1" dirty="0">
                <a:solidFill>
                  <a:schemeClr val="bg1">
                    <a:lumMod val="50000"/>
                  </a:schemeClr>
                </a:solidFill>
              </a:rPr>
              <a:t>أعداد: أنوره السعدون</a:t>
            </a:r>
          </a:p>
        </p:txBody>
      </p:sp>
      <p:sp>
        <p:nvSpPr>
          <p:cNvPr id="4" name="Footer Placeholder 3">
            <a:extLst>
              <a:ext uri="{FF2B5EF4-FFF2-40B4-BE49-F238E27FC236}">
                <a16:creationId xmlns:a16="http://schemas.microsoft.com/office/drawing/2014/main" id="{714C6116-B646-777F-65B1-F0C3109564C4}"/>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5" name="Picture 4" descr="cover_portrait.png"/>
          <p:cNvPicPr>
            <a:picLocks noChangeAspect="1"/>
          </p:cNvPicPr>
          <p:nvPr/>
        </p:nvPicPr>
        <p:blipFill>
          <a:blip r:embed="rId3"/>
          <a:stretch>
            <a:fillRect/>
          </a:stretch>
        </p:blipFill>
        <p:spPr>
          <a:xfrm>
            <a:off x="2608970" y="1524001"/>
            <a:ext cx="2859259" cy="4332514"/>
          </a:xfrm>
          <a:prstGeom prst="rect">
            <a:avLst/>
          </a:prstGeom>
        </p:spPr>
      </p:pic>
    </p:spTree>
    <p:extLst>
      <p:ext uri="{BB962C8B-B14F-4D97-AF65-F5344CB8AC3E}">
        <p14:creationId xmlns:p14="http://schemas.microsoft.com/office/powerpoint/2010/main" val="31645199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35C85B-1FE3-EB4E-BB0D-284564032382}"/>
              </a:ext>
            </a:extLst>
          </p:cNvPr>
          <p:cNvSpPr>
            <a:spLocks noGrp="1"/>
          </p:cNvSpPr>
          <p:nvPr>
            <p:ph idx="1"/>
          </p:nvPr>
        </p:nvSpPr>
        <p:spPr>
          <a:xfrm>
            <a:off x="1040344" y="1600200"/>
            <a:ext cx="9873205" cy="4389120"/>
          </a:xfrm>
        </p:spPr>
        <p:txBody>
          <a:bodyPr anchor="ctr">
            <a:normAutofit/>
          </a:bodyPr>
          <a:lstStyle/>
          <a:p>
            <a:pPr marL="0" indent="0">
              <a:buNone/>
            </a:pPr>
            <a:r>
              <a:rPr lang="ar-SA" sz="2000" b="1"/>
              <a:t>مقدمة:</a:t>
            </a:r>
          </a:p>
          <a:p>
            <a:pPr marL="0" indent="0">
              <a:buNone/>
            </a:pPr>
            <a:r>
              <a:rPr lang="ar-SA" sz="2000"/>
              <a:t>يُعدّ المكعّب الشكل الأساسي الذي تنطلق منه معظم العبوات المتداولة في الأسواق. وتتناول هذه المحاضرة منهجية تحويل المكعّب، عبر عمليات القص والطي والتشكيل، إلى أشكال تغليف مبتكرة تحقق التميّز البصري على رفوف العرض، دون الحاجة إلى معرفة متقدمة بالهندسة الفراغية.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extLst>
      <p:ext uri="{BB962C8B-B14F-4D97-AF65-F5344CB8AC3E}">
        <p14:creationId xmlns:p14="http://schemas.microsoft.com/office/powerpoint/2010/main" val="3008581654"/>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أهداف المحاضرة:</a:t>
            </a:r>
          </a:p>
          <a:p>
            <a:pPr marL="0" indent="0">
              <a:buNone/>
            </a:pPr>
            <a:r>
              <a:rPr lang="ar-SA" sz="2000"/>
              <a:t>يُتوقع من الطالب في نهاية المحاضرة أن يكون قادرًا على:</a:t>
            </a:r>
          </a:p>
          <a:p>
            <a:pPr/>
            <a:r>
              <a:rPr lang="ar-SA" sz="2000"/>
              <a:t>استخدام أدوات القص والطي استخدامًا دقيقًا وآمنًا.</a:t>
            </a:r>
          </a:p>
          <a:p>
            <a:pPr/>
            <a:r>
              <a:rPr lang="ar-SA" sz="2000"/>
              <a:t>تحليل المكعّب ومِفرَده بوصفه أساسًا للعبوة.</a:t>
            </a:r>
          </a:p>
          <a:p>
            <a:pPr/>
            <a:r>
              <a:rPr lang="ar-SA" sz="2000"/>
              <a:t>تطبيق الاستراتيجيات الثلاث لتشويه المكعّب.</a:t>
            </a:r>
          </a:p>
          <a:p>
            <a:pPr/>
            <a:r>
              <a:rPr lang="ar-SA" sz="2000"/>
              <a:t>رسم الطيات المنحنية وتنفيذها بدقة.</a:t>
            </a:r>
          </a:p>
          <a:p>
            <a:pPr/>
            <a:r>
              <a:rPr lang="ar-SA" sz="2000"/>
              <a:t>المواءمة بين الجانبين الجمالي والوظيفي للعبوة.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أولًا: القص (Cutting):</a:t>
            </a:r>
          </a:p>
          <a:p>
            <a:pPr marL="0" indent="0">
              <a:buNone/>
            </a:pPr>
            <a:r>
              <a:rPr lang="ar-SA" sz="2000"/>
              <a:t>تعتمد جودة النموذج الأولي للعبوة على دقة تنفيذه، ولذلك يُعدّ إتقان أدوات القص شرطًا سابقًا لأي عمل تصميمي.</a:t>
            </a:r>
          </a:p>
          <a:p>
            <a:pPr/>
            <a:r>
              <a:rPr lang="ar-SA" sz="2000" b="1"/>
              <a:t>المشرط: </a:t>
            </a:r>
            <a:r>
              <a:rPr lang="ar-SA" sz="2000"/>
              <a:t>أعلى دقة وأسهل تحكمًا من سكين الحِرف، وشفراته قابلة للاستبدال.</a:t>
            </a:r>
          </a:p>
          <a:p>
            <a:pPr/>
            <a:r>
              <a:rPr lang="ar-SA" sz="2000" b="1"/>
              <a:t>المسطرة المعدنية: </a:t>
            </a:r>
            <a:r>
              <a:rPr lang="ar-SA" sz="2000"/>
              <a:t>تضمن خط قص مستقيمًا، والبلاستيكية الشفافة بديل مقبول.</a:t>
            </a:r>
          </a:p>
          <a:p>
            <a:pPr/>
            <a:r>
              <a:rPr lang="ar-SA" sz="2000" b="1"/>
              <a:t>لوح القص ذاتي الالتئام: </a:t>
            </a:r>
            <a:r>
              <a:rPr lang="ar-SA" sz="2000"/>
              <a:t>يحافظ على سطح مستوٍ بخلاف الخشب والكرتون.</a:t>
            </a:r>
          </a:p>
          <a:p>
            <a:pPr marL="0" indent="0">
              <a:buNone/>
            </a:pPr>
            <a:r>
              <a:rPr lang="ar-SA" sz="2000" b="1"/>
              <a:t>قواعد السلامة: </a:t>
            </a:r>
            <a:r>
              <a:rPr lang="ar-SA" sz="2000"/>
              <a:t>توضع المسطرة فوق الرسم لا فوق الجزء الزائد، وتبقى اليد غير القاطعة أعلى اليد القاطعة، وتُغيَّر الشفرة بانتظام.</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ut.png"/>
          <p:cNvPicPr>
            <a:picLocks noChangeAspect="1"/>
          </p:cNvPicPr>
          <p:nvPr/>
        </p:nvPicPr>
        <p:blipFill>
          <a:blip r:embed="rId3"/>
          <a:stretch>
            <a:fillRect/>
          </a:stretch>
        </p:blipFill>
        <p:spPr>
          <a:xfrm>
            <a:off x="728833" y="1600200"/>
            <a:ext cx="4394492"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ثانيًا: الطي (Folding):</a:t>
            </a:r>
          </a:p>
          <a:p>
            <a:pPr marL="0" indent="0">
              <a:buNone/>
            </a:pPr>
            <a:r>
              <a:rPr lang="ar-SA" sz="2000" b="1"/>
              <a:t>القاعدة الأساسية: </a:t>
            </a:r>
            <a:r>
              <a:rPr lang="ar-SA" sz="2000"/>
              <a:t>لا يُقطع خط الطي، بل يُضغط؛ أي تُضغط ألياف الورق على امتداد الخط فينثني بسهولة دون أن يضعف.</a:t>
            </a:r>
          </a:p>
          <a:p>
            <a:pPr marL="0" indent="0">
              <a:buNone/>
            </a:pPr>
            <a:r>
              <a:rPr lang="ar-SA" sz="2000" b="1"/>
              <a:t>أدوات الطي:</a:t>
            </a:r>
          </a:p>
          <a:p>
            <a:pPr/>
            <a:r>
              <a:rPr lang="ar-SA" sz="2000" b="1"/>
              <a:t>عظمة الطي (Bone Folder): </a:t>
            </a:r>
            <a:r>
              <a:rPr lang="ar-SA" sz="2000"/>
              <a:t>كفاءة عالية، لكن الخط يبتعد ١–٢ مم عن حافة المسطرة.</a:t>
            </a:r>
          </a:p>
          <a:p>
            <a:pPr/>
            <a:r>
              <a:rPr lang="ar-SA" sz="2000" b="1"/>
              <a:t>القلم الجاف الفارغ: </a:t>
            </a:r>
            <a:r>
              <a:rPr lang="ar-SA" sz="2000"/>
              <a:t>بديل عملي، ويشترك في العيب نفسه.</a:t>
            </a:r>
          </a:p>
          <a:p>
            <a:pPr/>
            <a:r>
              <a:rPr lang="ar-SA" sz="2000" b="1"/>
              <a:t>الشفرة الكالّة المقلوبة: </a:t>
            </a:r>
            <a:r>
              <a:rPr lang="ar-SA" sz="2000"/>
              <a:t>الأعلى دقة؛ إذ يضغط ظهرها الخط ملاصقًا لحافة المسطرة دون أن يقطعه.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rease.png"/>
          <p:cNvPicPr>
            <a:picLocks noChangeAspect="1"/>
          </p:cNvPicPr>
          <p:nvPr/>
        </p:nvPicPr>
        <p:blipFill>
          <a:blip r:embed="rId2"/>
          <a:stretch>
            <a:fillRect/>
          </a:stretch>
        </p:blipFill>
        <p:spPr>
          <a:xfrm>
            <a:off x="734199" y="1600200"/>
            <a:ext cx="4383760" cy="43891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الصلة بالإنتاج الصناعي:</a:t>
            </a:r>
          </a:p>
          <a:p>
            <a:pPr marL="0" indent="0">
              <a:buNone/>
            </a:pPr>
            <a:r>
              <a:rPr lang="ar-SA" sz="2000"/>
              <a:t>تُنتج العبوات صناعيًا بقالب القص والتكسير (Die-cut) الذي يجمع بين شفرات حادة للقص ومساطر معدنية غير حادة للتكسير، وما يُنفَّذ يدويًا بالمشرط والشفرة الكالّة محاكاة لهذه العملية.</a:t>
            </a:r>
          </a:p>
          <a:p>
            <a:pPr marL="0" indent="0">
              <a:buNone/>
            </a:pPr>
            <a:r>
              <a:rPr lang="ar-SA" sz="2000" b="1"/>
              <a:t>خط القص: </a:t>
            </a:r>
            <a:r>
              <a:rPr lang="ar-SA" sz="2000"/>
              <a:t>خط متصل داكن، يفصل العبوة عن الورق الزائد.</a:t>
            </a:r>
          </a:p>
          <a:p>
            <a:pPr marL="0" indent="0">
              <a:buNone/>
            </a:pPr>
            <a:r>
              <a:rPr lang="ar-SA" sz="2000" b="1"/>
              <a:t>خط الطي: </a:t>
            </a:r>
            <a:r>
              <a:rPr lang="ar-SA" sz="2000"/>
              <a:t>خط متقطع أو فاتح، يضغط الورق ليسهل طيّه.</a:t>
            </a:r>
          </a:p>
          <a:p>
            <a:pPr marL="0" indent="0">
              <a:buNone/>
            </a:pPr>
            <a:r>
              <a:rPr lang="ar-SA" sz="2000"/>
              <a:t>ولذلك يجب أن يميّز المِفرَد بوضوح بين نوعَي الخطوط.</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2"/>
          <a:stretch>
            <a:fillRect/>
          </a:stretch>
        </p:blipFill>
        <p:spPr>
          <a:xfrm>
            <a:off x="457200" y="1726320"/>
            <a:ext cx="4937760" cy="41368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عناصر المكعّب الثلاثة:</a:t>
            </a:r>
          </a:p>
          <a:p>
            <a:pPr marL="0" indent="0">
              <a:buNone/>
            </a:pPr>
            <a:r>
              <a:rPr lang="ar-SA" sz="2000"/>
              <a:t>يتكوّن المكعّب، شأنه شأن معظم تصاميم التغليف الإنشائي، من ثلاثة عناصر، وكل تشويه للمكعّب تعديل على عنصر منها أو أكثر:</a:t>
            </a:r>
          </a:p>
          <a:p>
            <a:pPr/>
            <a:r>
              <a:rPr lang="ar-SA" sz="2000" b="1"/>
              <a:t>الأوجه (Faces): </a:t>
            </a:r>
            <a:r>
              <a:rPr lang="ar-SA" sz="2000"/>
              <a:t>الأسطح المستوية، وتمثّل مساحات الطباعة والهوية البصرية.</a:t>
            </a:r>
          </a:p>
          <a:p>
            <a:pPr/>
            <a:r>
              <a:rPr lang="ar-SA" sz="2000" b="1"/>
              <a:t>الحواف (Edges): </a:t>
            </a:r>
            <a:r>
              <a:rPr lang="ar-SA" sz="2000"/>
              <a:t>خطوط التقاء وجهين، وتمثّل خطوط الطي.</a:t>
            </a:r>
          </a:p>
          <a:p>
            <a:pPr/>
            <a:r>
              <a:rPr lang="ar-SA" sz="2000" b="1"/>
              <a:t>الأركان (Corners): </a:t>
            </a:r>
            <a:r>
              <a:rPr lang="ar-SA" sz="2000"/>
              <a:t>نقاط التقاء الحواف، وهي أكثر مواضع العبوة عرضة للتلف.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ver.png"/>
          <p:cNvPicPr>
            <a:picLocks noChangeAspect="1"/>
          </p:cNvPicPr>
          <p:nvPr/>
        </p:nvPicPr>
        <p:blipFill>
          <a:blip r:embed="rId2"/>
          <a:stretch>
            <a:fillRect/>
          </a:stretch>
        </p:blipFill>
        <p:spPr>
          <a:xfrm>
            <a:off x="457200" y="2220096"/>
            <a:ext cx="4937760" cy="3149327"/>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المِفرَد (Net):</a:t>
            </a:r>
          </a:p>
          <a:p>
            <a:pPr marL="0" indent="0">
              <a:buNone/>
            </a:pPr>
            <a:r>
              <a:rPr lang="ar-SA" sz="2000"/>
              <a:t>المِفرَد هو الصورة المسطحة للعبوة قبل طيّها، ويتطلب تصميمه مراعاة ما يلي:</a:t>
            </a:r>
          </a:p>
          <a:p>
            <a:pPr/>
            <a:r>
              <a:rPr lang="ar-SA" sz="2000" b="1"/>
              <a:t>ترتيب الأوجه: </a:t>
            </a:r>
            <a:r>
              <a:rPr lang="ar-SA" sz="2000"/>
              <a:t>بما يضمن انغلاق الشكل انغلاقًا صحيحًا.</a:t>
            </a:r>
          </a:p>
          <a:p>
            <a:pPr/>
            <a:r>
              <a:rPr lang="ar-SA" sz="2000" b="1"/>
              <a:t>الألسنة (Tabs): </a:t>
            </a:r>
            <a:r>
              <a:rPr lang="ar-SA" sz="2000"/>
              <a:t>أشكالها ومواضعها، لأنها أداة الربط بين الأوجه.</a:t>
            </a:r>
          </a:p>
          <a:p>
            <a:pPr/>
            <a:r>
              <a:rPr lang="ar-SA" sz="2000" b="1"/>
              <a:t>آلية الإغلاق: </a:t>
            </a:r>
            <a:r>
              <a:rPr lang="ar-SA" sz="2000"/>
              <a:t>لسان اللصق (Glue Tab) للإغلاق الدائم، وقفل النقر (Click Lock) للإغلاق السريع، وقفل اللسان (Tongue Lock) للفتح والإغلاق المتكرر.</a:t>
            </a:r>
          </a:p>
          <a:p>
            <a:pPr marL="0" indent="0">
              <a:buNone/>
            </a:pPr>
            <a:r>
              <a:rPr lang="ar-SA" sz="2000" b="1"/>
              <a:t>موضع الغطاء: </a:t>
            </a:r>
            <a:r>
              <a:rPr lang="ar-SA" sz="2000"/>
              <a:t>غير ثابت؛ يمكن وضعه على أي وجه وبأي اتجاه وفق طريقة عرض المنتج واستخدامه.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1.png"/>
          <p:cNvPicPr>
            <a:picLocks noChangeAspect="1"/>
          </p:cNvPicPr>
          <p:nvPr/>
        </p:nvPicPr>
        <p:blipFill>
          <a:blip r:embed="rId2"/>
          <a:stretch>
            <a:fillRect/>
          </a:stretch>
        </p:blipFill>
        <p:spPr>
          <a:xfrm>
            <a:off x="457200" y="1726320"/>
            <a:ext cx="4937760" cy="41368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استراتيجيات تشويه المكعّب:</a:t>
            </a:r>
          </a:p>
          <a:p>
            <a:pPr marL="0" indent="0">
              <a:buNone/>
            </a:pPr>
            <a:r>
              <a:rPr lang="ar-SA" sz="2000" b="1"/>
              <a:t>١. النحت: </a:t>
            </a:r>
            <a:r>
              <a:rPr lang="ar-SA" sz="2000"/>
              <a:t>يُتخيّل المكعّب كتلة صلبة يُكشط منها جزء من وجه أو حافة أو ركن، بمقدار قليل أو كبير، بصورة متماثلة أو غير متماثلة.</a:t>
            </a:r>
          </a:p>
          <a:p>
            <a:pPr marL="0" indent="0">
              <a:buNone/>
            </a:pPr>
            <a:r>
              <a:rPr lang="ar-SA" sz="2000" b="1"/>
              <a:t>٢. المرونة: </a:t>
            </a:r>
            <a:r>
              <a:rPr lang="ar-SA" sz="2000"/>
              <a:t>يُتخيّل المكعّب كتلة مطاطية تُشدّ أو تُضغط أو تُلوى على محاور تصل بين أوجه أو حواف أو أركان متقابلة.</a:t>
            </a:r>
          </a:p>
          <a:p>
            <a:pPr marL="0" indent="0">
              <a:buNone/>
            </a:pPr>
            <a:r>
              <a:rPr lang="ar-SA" sz="2000" b="1"/>
              <a:t>٣. التقويس: </a:t>
            </a:r>
            <a:r>
              <a:rPr lang="ar-SA" sz="2000"/>
              <a:t>تُستبدل الحواف المستقيمة بحواف منحنية، فتتقوّس الأوجه المستوية.</a:t>
            </a:r>
          </a:p>
          <a:p>
            <a:pPr marL="0" indent="0">
              <a:buNone/>
            </a:pPr>
            <a:r>
              <a:rPr lang="ar-SA" sz="2000"/>
              <a:t>ومتى استوعب المصمم هذه الاستراتيجيات، أصبح ابتكار أشكال تغليف جديدة ميسورًا حتى مع معرفة محدودة بالهندسة الفراغية.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2"/>
          <a:stretch>
            <a:fillRect/>
          </a:stretch>
        </p:blipFill>
        <p:spPr>
          <a:xfrm>
            <a:off x="1872699" y="1600200"/>
            <a:ext cx="2106761" cy="2322576"/>
          </a:xfrm>
          <a:prstGeom prst="rect">
            <a:avLst/>
          </a:prstGeom>
        </p:spPr>
      </p:pic>
      <p:pic>
        <p:nvPicPr>
          <p:cNvPr id="17" name="Picture 16" descr="stretch-edge.png"/>
          <p:cNvPicPr>
            <a:picLocks noChangeAspect="1"/>
          </p:cNvPicPr>
          <p:nvPr/>
        </p:nvPicPr>
        <p:blipFill>
          <a:blip r:embed="rId3"/>
          <a:stretch>
            <a:fillRect/>
          </a:stretch>
        </p:blipFill>
        <p:spPr>
          <a:xfrm>
            <a:off x="783975" y="4105656"/>
            <a:ext cx="1723888" cy="1883664"/>
          </a:xfrm>
          <a:prstGeom prst="rect">
            <a:avLst/>
          </a:prstGeom>
        </p:spPr>
      </p:pic>
      <p:pic>
        <p:nvPicPr>
          <p:cNvPr id="18" name="Picture 17" descr="single.png"/>
          <p:cNvPicPr>
            <a:picLocks noChangeAspect="1"/>
          </p:cNvPicPr>
          <p:nvPr/>
        </p:nvPicPr>
        <p:blipFill>
          <a:blip r:embed="rId4"/>
          <a:stretch>
            <a:fillRect/>
          </a:stretch>
        </p:blipFill>
        <p:spPr>
          <a:xfrm>
            <a:off x="3017520" y="4108109"/>
            <a:ext cx="2377440" cy="1878757"/>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كشط وجه (Shaving a Face):</a:t>
            </a:r>
          </a:p>
          <a:p>
            <a:pPr marL="0" indent="0">
              <a:buNone/>
            </a:pPr>
            <a:r>
              <a:rPr lang="ar-SA" sz="2000" b="1"/>
              <a:t>الاستراتيجية وعدد الأوجه: </a:t>
            </a:r>
            <a:r>
              <a:rPr lang="ar-SA" sz="2000"/>
              <a:t>النحت، ٦ أوجه</a:t>
            </a:r>
          </a:p>
          <a:p>
            <a:pPr marL="0" indent="0">
              <a:buNone/>
            </a:pPr>
            <a:r>
              <a:rPr lang="ar-SA" sz="2000" b="1"/>
              <a:t>المفهوم: </a:t>
            </a:r>
            <a:r>
              <a:rPr lang="ar-SA" sz="2000"/>
              <a:t>يُكشط أحد الأوجه بزاوية مائلة فينتج سطح منحدر، ويمكن التحكم في درجة الميل أو إمالته إلى الأمام أو الخلف.</a:t>
            </a:r>
          </a:p>
          <a:p>
            <a:pPr marL="0" indent="0">
              <a:buNone/>
            </a:pPr>
            <a:r>
              <a:rPr lang="ar-SA" sz="2000" b="1"/>
              <a:t>التحليل الشكلي: </a:t>
            </a:r>
            <a:r>
              <a:rPr lang="ar-SA" sz="2000"/>
              <a:t>يتحوّل الوجهان الجانبيان إلى شبهي منحرف، ويصبح الوجه العلوي مستطيلًا مائلًا أطول من القاعدة.</a:t>
            </a:r>
          </a:p>
          <a:p>
            <a:pPr marL="0" indent="0">
              <a:buNone/>
            </a:pPr>
            <a:r>
              <a:rPr lang="ar-SA" sz="2000" b="1"/>
              <a:t>التوظيف في التغليف: </a:t>
            </a:r>
            <a:r>
              <a:rPr lang="ar-SA" sz="2000"/>
              <a:t>يؤدي السطح المائل دور واجهة عرض للشعار أو المنتج، تُقرأ بسهولة من زاوية نظر المستهلك أمام الرف.</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face.png"/>
          <p:cNvPicPr>
            <a:picLocks noChangeAspect="1"/>
          </p:cNvPicPr>
          <p:nvPr/>
        </p:nvPicPr>
        <p:blipFill>
          <a:blip r:embed="rId3"/>
          <a:stretch>
            <a:fillRect/>
          </a:stretch>
        </p:blipFill>
        <p:spPr>
          <a:xfrm>
            <a:off x="935439" y="1600200"/>
            <a:ext cx="3981281" cy="43891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كشط حافة (Shaving an Edge):</a:t>
            </a:r>
          </a:p>
          <a:p>
            <a:pPr marL="0" indent="0">
              <a:buNone/>
            </a:pPr>
            <a:r>
              <a:rPr lang="ar-SA" sz="2000" b="1"/>
              <a:t>الاستراتيجية وعدد الأوجه: </a:t>
            </a:r>
            <a:r>
              <a:rPr lang="ar-SA" sz="2000"/>
              <a:t>النحت، ٧ أوجه</a:t>
            </a:r>
          </a:p>
          <a:p>
            <a:pPr marL="0" indent="0">
              <a:buNone/>
            </a:pPr>
            <a:r>
              <a:rPr lang="ar-SA" sz="2000" b="1"/>
              <a:t>المفهوم: </a:t>
            </a:r>
            <a:r>
              <a:rPr lang="ar-SA" sz="2000"/>
              <a:t>تُكشط إحدى الحواف فينشأ مكانها وجه جديد، ويمكن التحكم في مقدار الكشط واتجاه ميله.</a:t>
            </a:r>
          </a:p>
          <a:p>
            <a:pPr marL="0" indent="0">
              <a:buNone/>
            </a:pPr>
            <a:r>
              <a:rPr lang="ar-SA" sz="2000" b="1"/>
              <a:t>التحليل الشكلي: </a:t>
            </a:r>
            <a:r>
              <a:rPr lang="ar-SA" sz="2000"/>
              <a:t>يزيد عدد الأوجه وجهًا واحدًا، ويتحوّل الوجهان الجانبيان إلى شكلين خماسيين.</a:t>
            </a:r>
          </a:p>
          <a:p>
            <a:pPr marL="0" indent="0">
              <a:buNone/>
            </a:pPr>
            <a:r>
              <a:rPr lang="ar-SA" sz="2000" b="1"/>
              <a:t>التوظيف في التغليف: </a:t>
            </a:r>
            <a:r>
              <a:rPr lang="ar-SA" sz="2000"/>
              <a:t>يوفّر الوجه الإضافي مساحة لمعلومة أو عنصر بصري، ويمنح العبوة طابعًا أنعم يلائم علب الهدايا والعطور.</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edge.png"/>
          <p:cNvPicPr>
            <a:picLocks noChangeAspect="1"/>
          </p:cNvPicPr>
          <p:nvPr/>
        </p:nvPicPr>
        <p:blipFill>
          <a:blip r:embed="rId3"/>
          <a:stretch>
            <a:fillRect/>
          </a:stretch>
        </p:blipFill>
        <p:spPr>
          <a:xfrm>
            <a:off x="894997" y="1600200"/>
            <a:ext cx="4062165" cy="438912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كشط ركن (Shaving a Corner):</a:t>
            </a:r>
          </a:p>
          <a:p>
            <a:pPr marL="0" indent="0">
              <a:buNone/>
            </a:pPr>
            <a:r>
              <a:rPr lang="ar-SA" sz="2000" b="1"/>
              <a:t>الاستراتيجية وعدد الأوجه: </a:t>
            </a:r>
            <a:r>
              <a:rPr lang="ar-SA" sz="2000"/>
              <a:t>النحت، ٧ أوجه</a:t>
            </a:r>
          </a:p>
          <a:p>
            <a:pPr marL="0" indent="0">
              <a:buNone/>
            </a:pPr>
            <a:r>
              <a:rPr lang="ar-SA" sz="2000" b="1"/>
              <a:t>المفهوم: </a:t>
            </a:r>
            <a:r>
              <a:rPr lang="ar-SA" sz="2000"/>
              <a:t>يُكشط أحد الأركان فينشأ وجه على هيئة مثلث متساوي الأضلاع (زواياه ٦٠°)، لأن القطع يمر بثلاث حواف متساوية؛ وباختلاف مسافات القطع ينتج مثلث مختلف الأضلاع.</a:t>
            </a:r>
          </a:p>
          <a:p>
            <a:pPr marL="0" indent="0">
              <a:buNone/>
            </a:pPr>
            <a:r>
              <a:rPr lang="ar-SA" sz="2000" b="1"/>
              <a:t>التحليل الشكلي: </a:t>
            </a:r>
            <a:r>
              <a:rPr lang="ar-SA" sz="2000"/>
              <a:t>تتحوّل الأوجه الثلاثة الملتقية عند الركن إلى أشكال خماسية.</a:t>
            </a:r>
          </a:p>
          <a:p>
            <a:pPr marL="0" indent="0">
              <a:buNone/>
            </a:pPr>
            <a:r>
              <a:rPr lang="ar-SA" sz="2000" b="1"/>
              <a:t>التوظيف في التغليف: </a:t>
            </a:r>
            <a:r>
              <a:rPr lang="ar-SA" sz="2000"/>
              <a:t>المثلث موضع مميز للشعار، وإيقاف العبوة عليه يمنحها أثرًا نحتيًا يلائم الإصدارات الخاصة.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rner.png"/>
          <p:cNvPicPr>
            <a:picLocks noChangeAspect="1"/>
          </p:cNvPicPr>
          <p:nvPr/>
        </p:nvPicPr>
        <p:blipFill>
          <a:blip r:embed="rId3"/>
          <a:stretch>
            <a:fillRect/>
          </a:stretch>
        </p:blipFill>
        <p:spPr>
          <a:xfrm>
            <a:off x="457200" y="1834710"/>
            <a:ext cx="4937760" cy="392009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المطّ من حافة إلى حافة (Stretching Edge-to-edge):</a:t>
            </a:r>
          </a:p>
          <a:p>
            <a:pPr marL="0" indent="0">
              <a:buNone/>
            </a:pPr>
            <a:r>
              <a:rPr lang="ar-SA" sz="2000" b="1"/>
              <a:t>الاستراتيجية وعدد الأوجه: </a:t>
            </a:r>
            <a:r>
              <a:rPr lang="ar-SA" sz="2000"/>
              <a:t>المرونة، ٦ أوجه</a:t>
            </a:r>
          </a:p>
          <a:p>
            <a:pPr marL="0" indent="0">
              <a:buNone/>
            </a:pPr>
            <a:r>
              <a:rPr lang="ar-SA" sz="2000" b="1"/>
              <a:t>المفهوم: </a:t>
            </a:r>
            <a:r>
              <a:rPr lang="ar-SA" sz="2000"/>
              <a:t>تُشدّ حافتان متقابلتان في اتجاهين متعاكسين، فينتج صندوق مائل (Leaning Box).</a:t>
            </a:r>
          </a:p>
          <a:p>
            <a:pPr marL="0" indent="0">
              <a:buNone/>
            </a:pPr>
            <a:r>
              <a:rPr lang="ar-SA" sz="2000" b="1"/>
              <a:t>التحليل الشكلي: </a:t>
            </a:r>
            <a:r>
              <a:rPr lang="ar-SA" sz="2000"/>
              <a:t>يتحوّل وجهان متقابلان إلى متوازيي أضلاع، وتبقى الأوجه الأربعة الأخرى مستطيلات.</a:t>
            </a:r>
          </a:p>
          <a:p>
            <a:pPr marL="0" indent="0">
              <a:buNone/>
            </a:pPr>
            <a:r>
              <a:rPr lang="ar-SA" sz="2000" b="1"/>
              <a:t>التوظيف في التغليف: </a:t>
            </a:r>
            <a:r>
              <a:rPr lang="ar-SA" sz="2000"/>
              <a:t>يوحي الشكل بالحركة والديناميكية، ويلائم المنتجات الشبابية والرياضية.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edge.png"/>
          <p:cNvPicPr>
            <a:picLocks noChangeAspect="1"/>
          </p:cNvPicPr>
          <p:nvPr/>
        </p:nvPicPr>
        <p:blipFill>
          <a:blip r:embed="rId3"/>
          <a:stretch>
            <a:fillRect/>
          </a:stretch>
        </p:blipFill>
        <p:spPr>
          <a:xfrm>
            <a:off x="917665" y="1600200"/>
            <a:ext cx="4016828" cy="438912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المطّ من ركن إلى ركن (Stretching Corner-to-corner):</a:t>
            </a:r>
          </a:p>
          <a:p>
            <a:pPr marL="0" indent="0">
              <a:buNone/>
            </a:pPr>
            <a:r>
              <a:rPr lang="ar-SA" sz="2000" b="1"/>
              <a:t>الاستراتيجية وعدد الأوجه: </a:t>
            </a:r>
            <a:r>
              <a:rPr lang="ar-SA" sz="2000"/>
              <a:t>المرونة، ٦ أوجه</a:t>
            </a:r>
          </a:p>
          <a:p>
            <a:pPr marL="0" indent="0">
              <a:buNone/>
            </a:pPr>
            <a:r>
              <a:rPr lang="ar-SA" sz="2000" b="1"/>
              <a:t>المفهوم: </a:t>
            </a:r>
            <a:r>
              <a:rPr lang="ar-SA" sz="2000"/>
              <a:t>يُشدّ ركنان متقابلان فينتج شكل معيّني يُعرف بمتوازي السطوح المعيّني (Rhombohedron).</a:t>
            </a:r>
          </a:p>
          <a:p>
            <a:pPr marL="0" indent="0">
              <a:buNone/>
            </a:pPr>
            <a:r>
              <a:rPr lang="ar-SA" sz="2000" b="1"/>
              <a:t>التحليل الشكلي: </a:t>
            </a:r>
            <a:r>
              <a:rPr lang="ar-SA" sz="2000"/>
              <a:t>تتحوّل الأوجه الستة جميعها إلى معيّنات، ولا تبقى أي زاوية قائمة.</a:t>
            </a:r>
          </a:p>
          <a:p>
            <a:pPr marL="0" indent="0">
              <a:buNone/>
            </a:pPr>
            <a:r>
              <a:rPr lang="ar-SA" sz="2000" b="1"/>
              <a:t>التوظيف في التغليف: </a:t>
            </a:r>
            <a:r>
              <a:rPr lang="ar-SA" sz="2000"/>
              <a:t>يبدو الشكل كأنه يخالف قوانين المنظور لغياب الزوايا القائمة، فيلائم المنتجات الفاخرة والفنية.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tretch-corner.png"/>
          <p:cNvPicPr>
            <a:picLocks noChangeAspect="1"/>
          </p:cNvPicPr>
          <p:nvPr/>
        </p:nvPicPr>
        <p:blipFill>
          <a:blip r:embed="rId3"/>
          <a:stretch>
            <a:fillRect/>
          </a:stretch>
        </p:blipFill>
        <p:spPr>
          <a:xfrm>
            <a:off x="457200" y="1605887"/>
            <a:ext cx="4937760" cy="437774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ليّ الوجهين المتقابلين (Twisting Opposite Faces):</a:t>
            </a:r>
          </a:p>
          <a:p>
            <a:pPr marL="0" indent="0">
              <a:buNone/>
            </a:pPr>
            <a:r>
              <a:rPr lang="ar-SA" sz="2000" b="1"/>
              <a:t>الاستراتيجية وعدد الأوجه: </a:t>
            </a:r>
            <a:r>
              <a:rPr lang="ar-SA" sz="2000"/>
              <a:t>المرونة، ٦ أوجه</a:t>
            </a:r>
          </a:p>
          <a:p>
            <a:pPr marL="0" indent="0">
              <a:buNone/>
            </a:pPr>
            <a:r>
              <a:rPr lang="ar-SA" sz="2000" b="1"/>
              <a:t>المفهوم: </a:t>
            </a:r>
            <a:r>
              <a:rPr lang="ar-SA" sz="2000"/>
              <a:t>يُلوى الوجهان العلوي والسفلي ليًّا خفيفًا في اتجاهين متعاكسين، فتتحوّل الجوانب إلى متوازيات أضلاع. وزاوية الميل المثلى ٨٠°، والزوايا الأقل من ٧٠° نادرًا ما تنجح.</a:t>
            </a:r>
          </a:p>
          <a:p>
            <a:pPr marL="0" indent="0">
              <a:buNone/>
            </a:pPr>
            <a:r>
              <a:rPr lang="ar-SA" sz="2000" b="1"/>
              <a:t>التحليل الشكلي: </a:t>
            </a:r>
            <a:r>
              <a:rPr lang="ar-SA" sz="2000"/>
              <a:t>يبقى الوجهان العلوي والسفلي مربعين، وتميل الأوجه الجانبية الأربعة في الاتجاه نفسه.</a:t>
            </a:r>
          </a:p>
          <a:p>
            <a:pPr marL="0" indent="0">
              <a:buNone/>
            </a:pPr>
            <a:r>
              <a:rPr lang="ar-SA" sz="2000" b="1"/>
              <a:t>التوظيف في التغليف: </a:t>
            </a:r>
            <a:r>
              <a:rPr lang="ar-SA" sz="2000"/>
              <a:t>تشويه دقيق لا يُلحظ من النظرة الأولى ثم يكتشفه المستهلك عند التأمل، فيلائم العلامات الراقية.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png"/>
          <p:cNvPicPr>
            <a:picLocks noChangeAspect="1"/>
          </p:cNvPicPr>
          <p:nvPr/>
        </p:nvPicPr>
        <p:blipFill>
          <a:blip r:embed="rId3"/>
          <a:stretch>
            <a:fillRect/>
          </a:stretch>
        </p:blipFill>
        <p:spPr>
          <a:xfrm>
            <a:off x="712624" y="1600200"/>
            <a:ext cx="4426910" cy="43891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الليّ: النسخة المُضلَّعة (Twisting: Faceted Version):</a:t>
            </a:r>
          </a:p>
          <a:p>
            <a:pPr marL="0" indent="0">
              <a:buNone/>
            </a:pPr>
            <a:r>
              <a:rPr lang="ar-SA" sz="2000" b="1"/>
              <a:t>الاستراتيجية وعدد الأوجه: </a:t>
            </a:r>
            <a:r>
              <a:rPr lang="ar-SA" sz="2000"/>
              <a:t>المرونة، ١٠ أوجه</a:t>
            </a:r>
          </a:p>
          <a:p>
            <a:pPr marL="0" indent="0">
              <a:buNone/>
            </a:pPr>
            <a:r>
              <a:rPr lang="ar-SA" sz="2000" b="1"/>
              <a:t>المفهوم: </a:t>
            </a:r>
            <a:r>
              <a:rPr lang="ar-SA" sz="2000"/>
              <a:t>يُزاد الليّ حتى تقع أركان المربع العلوي فوق منتصفات حواف المربع السفلي، ثم تُوصل الأركان الثمانية بخطوط طي.</a:t>
            </a:r>
          </a:p>
          <a:p>
            <a:pPr marL="0" indent="0">
              <a:buNone/>
            </a:pPr>
            <a:r>
              <a:rPr lang="ar-SA" sz="2000" b="1"/>
              <a:t>التحليل الشكلي: </a:t>
            </a:r>
            <a:r>
              <a:rPr lang="ar-SA" sz="2000"/>
              <a:t>مربعان وثمانية مثلثات متساوية الساقين (Antiprism)، ويتطلب ألسنة ذات حافة مثنية (Flanged Tabs).</a:t>
            </a:r>
          </a:p>
          <a:p>
            <a:pPr marL="0" indent="0">
              <a:buNone/>
            </a:pPr>
            <a:r>
              <a:rPr lang="ar-SA" sz="2000" b="1"/>
              <a:t>التوظيف في التغليف: </a:t>
            </a:r>
            <a:r>
              <a:rPr lang="ar-SA" sz="2000"/>
              <a:t>شكل بلوري يحاكي الأحجار الكريمة، يلائم المجوهرات والشوكولاتة الفاخرة والشموع.</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twist-facet.png"/>
          <p:cNvPicPr>
            <a:picLocks noChangeAspect="1"/>
          </p:cNvPicPr>
          <p:nvPr/>
        </p:nvPicPr>
        <p:blipFill>
          <a:blip r:embed="rId3"/>
          <a:stretch>
            <a:fillRect/>
          </a:stretch>
        </p:blipFill>
        <p:spPr>
          <a:xfrm>
            <a:off x="457200" y="1732341"/>
            <a:ext cx="4937760" cy="4124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الضغط من وجه إلى وجه (Compressing Face-to-face):</a:t>
            </a:r>
          </a:p>
          <a:p>
            <a:pPr marL="0" indent="0">
              <a:buNone/>
            </a:pPr>
            <a:r>
              <a:rPr lang="ar-SA" sz="2000" b="1"/>
              <a:t>الاستراتيجية وعدد الأوجه: </a:t>
            </a:r>
            <a:r>
              <a:rPr lang="ar-SA" sz="2000"/>
              <a:t>المرونة، ٦ أوجه</a:t>
            </a:r>
          </a:p>
          <a:p>
            <a:pPr marL="0" indent="0">
              <a:buNone/>
            </a:pPr>
            <a:r>
              <a:rPr lang="ar-SA" sz="2000" b="1"/>
              <a:t>المفهوم: </a:t>
            </a:r>
            <a:r>
              <a:rPr lang="ar-SA" sz="2000"/>
              <a:t>يُضغط وجهان متقابلان باتجاه بعضهما، والشكل المعروض تبسيط تصميمي (Stylization) لشكل هلامي منحنٍ أكثر تعقيدًا. ورغم مظهره المضغوط تساوي مساحة الورق مساحة المكعّب الأصلي.</a:t>
            </a:r>
          </a:p>
          <a:p>
            <a:pPr marL="0" indent="0">
              <a:buNone/>
            </a:pPr>
            <a:r>
              <a:rPr lang="ar-SA" sz="2000" b="1"/>
              <a:t>التحليل الشكلي: </a:t>
            </a:r>
            <a:r>
              <a:rPr lang="ar-SA" sz="2000"/>
              <a:t>ينقسم كل جدار بخط طي أفقي في منتصفه فينثني عنده.</a:t>
            </a:r>
          </a:p>
          <a:p>
            <a:pPr marL="0" indent="0">
              <a:buNone/>
            </a:pPr>
            <a:r>
              <a:rPr lang="ar-SA" sz="2000" b="1"/>
              <a:t>التوظيف في التغليف: </a:t>
            </a:r>
            <a:r>
              <a:rPr lang="ar-SA" sz="2000"/>
              <a:t>شكل يوحي بالمرونة والطرافة، ويلائم المنتجات اللينة ومنتجات الأطفال.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compress.png"/>
          <p:cNvPicPr>
            <a:picLocks noChangeAspect="1"/>
          </p:cNvPicPr>
          <p:nvPr/>
        </p:nvPicPr>
        <p:blipFill>
          <a:blip r:embed="rId3"/>
          <a:stretch>
            <a:fillRect/>
          </a:stretch>
        </p:blipFill>
        <p:spPr>
          <a:xfrm>
            <a:off x="720762" y="1600200"/>
            <a:ext cx="4410635" cy="43891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مقارنة شاملة بين التقنيات:</a:t>
            </a:r>
          </a:p>
          <a:p>
            <a:pPr/>
            <a:r>
              <a:rPr lang="ar-SA" sz="2000" b="1"/>
              <a:t>كشط وجه (النحت، ٦ أوجه): </a:t>
            </a:r>
            <a:r>
              <a:rPr lang="ar-SA" sz="2000"/>
              <a:t>سطح علوي منحدر، وجانبان شبه منحرفين.</a:t>
            </a:r>
          </a:p>
          <a:p>
            <a:pPr/>
            <a:r>
              <a:rPr lang="ar-SA" sz="2000" b="1"/>
              <a:t>كشط حافة (النحت، ٧ أوجه): </a:t>
            </a:r>
            <a:r>
              <a:rPr lang="ar-SA" sz="2000"/>
              <a:t>وجه مستطيل جديد، وجانبان خماسيان.</a:t>
            </a:r>
          </a:p>
          <a:p>
            <a:pPr/>
            <a:r>
              <a:rPr lang="ar-SA" sz="2000" b="1"/>
              <a:t>كشط ركن (النحت، ٧ أوجه): </a:t>
            </a:r>
            <a:r>
              <a:rPr lang="ar-SA" sz="2000"/>
              <a:t>وجه مثلث جديد، وثلاثة أوجه خماسية.</a:t>
            </a:r>
          </a:p>
          <a:p>
            <a:pPr/>
            <a:r>
              <a:rPr lang="ar-SA" sz="2000" b="1"/>
              <a:t>مطّ حافة لحافة (المرونة، ٦ أوجه): </a:t>
            </a:r>
            <a:r>
              <a:rPr lang="ar-SA" sz="2000"/>
              <a:t>وجهان متوازيا أضلاع، وصندوق مائل.</a:t>
            </a:r>
          </a:p>
          <a:p>
            <a:pPr/>
            <a:r>
              <a:rPr lang="ar-SA" sz="2000" b="1"/>
              <a:t>مطّ ركن لركن (المرونة، ٦ أوجه): </a:t>
            </a:r>
            <a:r>
              <a:rPr lang="ar-SA" sz="2000"/>
              <a:t>جميع الأوجه معيّنات.</a:t>
            </a:r>
          </a:p>
          <a:p>
            <a:pPr/>
            <a:r>
              <a:rPr lang="ar-SA" sz="2000" b="1"/>
              <a:t>ليّ بسيط (المرونة، ٦ أوجه): </a:t>
            </a:r>
            <a:r>
              <a:rPr lang="ar-SA" sz="2000"/>
              <a:t>جوانب متوازيات أضلاع بزاوية ٨٠°.</a:t>
            </a:r>
          </a:p>
          <a:p>
            <a:pPr/>
            <a:r>
              <a:rPr lang="ar-SA" sz="2000" b="1"/>
              <a:t>ليّ مُضلَّع (المرونة، ١٠ أوجه): </a:t>
            </a:r>
            <a:r>
              <a:rPr lang="ar-SA" sz="2000"/>
              <a:t>مربعان وثمانية مثلثات.</a:t>
            </a:r>
          </a:p>
          <a:p>
            <a:pPr/>
            <a:r>
              <a:rPr lang="ar-SA" sz="2000" b="1"/>
              <a:t>ضغط وجه لوجه (المرونة، ٦ أوجه): </a:t>
            </a:r>
            <a:r>
              <a:rPr lang="ar-SA" sz="2000"/>
              <a:t>جدران منثنية عند منتصفها.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استراتيجية التقويس: المنحنيات المزدوجة (Double Curves):</a:t>
            </a:r>
          </a:p>
          <a:p>
            <a:pPr marL="0" indent="0">
              <a:buNone/>
            </a:pPr>
            <a:r>
              <a:rPr lang="ar-SA" sz="2000"/>
              <a:t>يمكن استبدال أي حافة طي مستقيمة تقريبًا بمنحنى مزدوج، فتتحول العبوة الحادة إلى عبوة أنعم وأكثر زخرفة. ولأنها تتطلب دقة عالية تُرسم وفق الخطوات الآتية:</a:t>
            </a:r>
          </a:p>
          <a:p>
            <a:pPr marL="0" indent="0">
              <a:buNone/>
            </a:pPr>
            <a:r>
              <a:rPr lang="ar-SA" sz="2000" b="1"/>
              <a:t>١. إعداد المِفرَد: </a:t>
            </a:r>
            <a:r>
              <a:rPr lang="ar-SA" sz="2000"/>
              <a:t>يُرسم مِفرَد قياسي بألسنته، وتُضاف خطوط إنشاء تمر بمراكز المربعات: خطّان طويلان وخطّان قصيران.</a:t>
            </a:r>
          </a:p>
          <a:p>
            <a:pPr marL="0" indent="0">
              <a:buNone/>
            </a:pPr>
            <a:r>
              <a:rPr lang="ar-SA" sz="2000" b="1"/>
              <a:t>٢. القوس الأول: </a:t>
            </a:r>
            <a:r>
              <a:rPr lang="ar-SA" sz="2000"/>
              <a:t>يُقاس طول الحافة ويُضاف إليه ٥٪ ليكون نصف القطر، ويُرسم قوس يمر بطرفي الحافة ومركزه على خط الإنشاء يمينها.</a:t>
            </a:r>
          </a:p>
          <a:p>
            <a:pPr marL="0" indent="0">
              <a:buNone/>
            </a:pPr>
            <a:r>
              <a:rPr lang="ar-SA" sz="2000" b="1"/>
              <a:t>٣. القوس الثاني: </a:t>
            </a:r>
            <a:r>
              <a:rPr lang="ar-SA" sz="2000"/>
              <a:t>تُكرَّر الخطوة السابقة على أن يقع المركز يسار الحافة.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2"/>
          <a:stretch>
            <a:fillRect/>
          </a:stretch>
        </p:blipFill>
        <p:spPr>
          <a:xfrm>
            <a:off x="1696009" y="1600200"/>
            <a:ext cx="2460140" cy="2103120"/>
          </a:xfrm>
          <a:prstGeom prst="rect">
            <a:avLst/>
          </a:prstGeom>
        </p:spPr>
      </p:pic>
      <p:pic>
        <p:nvPicPr>
          <p:cNvPr id="17" name="Picture 16" descr="dc3.png"/>
          <p:cNvPicPr>
            <a:picLocks noChangeAspect="1"/>
          </p:cNvPicPr>
          <p:nvPr/>
        </p:nvPicPr>
        <p:blipFill>
          <a:blip r:embed="rId3"/>
          <a:stretch>
            <a:fillRect/>
          </a:stretch>
        </p:blipFill>
        <p:spPr>
          <a:xfrm>
            <a:off x="1514821" y="3886200"/>
            <a:ext cx="2822517" cy="21031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المنحنيات المزدوجة: استكمال الخطوات</a:t>
            </a:r>
          </a:p>
          <a:p>
            <a:pPr marL="0" indent="0">
              <a:buNone/>
            </a:pPr>
            <a:r>
              <a:rPr lang="ar-SA" sz="2000" b="1"/>
              <a:t>٤. اكتمال المنحنى: </a:t>
            </a:r>
            <a:r>
              <a:rPr lang="ar-SA" sz="2000"/>
              <a:t>يلتقي القوسان عند طرفي الحافة ويشكّلان هيئة عدسية، هي المنحنى المزدوج.</a:t>
            </a:r>
          </a:p>
          <a:p>
            <a:pPr marL="0" indent="0">
              <a:buNone/>
            </a:pPr>
            <a:r>
              <a:rPr lang="ar-SA" sz="2000" b="1"/>
              <a:t>٥. تعميم المنحنيات: </a:t>
            </a:r>
            <a:r>
              <a:rPr lang="ar-SA" sz="2000"/>
              <a:t>تُضاف ثلاثة منحنيات أخرى بخطوط الإنشاء الطويلة، وتُرسم منحنيات مفردة قصيرة على الألسنة الأربعة بالخطوط القصيرة.</a:t>
            </a:r>
          </a:p>
          <a:p>
            <a:pPr marL="0" indent="0">
              <a:buNone/>
            </a:pPr>
            <a:r>
              <a:rPr lang="ar-SA" sz="2000" b="1"/>
              <a:t>٦. الشكل النهائي: </a:t>
            </a:r>
            <a:r>
              <a:rPr lang="ar-SA" sz="2000"/>
              <a:t>مكعّب تبدو حواف وجهه العلوي مقعّرة ولينة.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4b.png"/>
          <p:cNvPicPr>
            <a:picLocks noChangeAspect="1"/>
          </p:cNvPicPr>
          <p:nvPr/>
        </p:nvPicPr>
        <p:blipFill>
          <a:blip r:embed="rId2"/>
          <a:stretch>
            <a:fillRect/>
          </a:stretch>
        </p:blipFill>
        <p:spPr>
          <a:xfrm>
            <a:off x="457200" y="1658186"/>
            <a:ext cx="4937760" cy="1987147"/>
          </a:xfrm>
          <a:prstGeom prst="rect">
            <a:avLst/>
          </a:prstGeom>
        </p:spPr>
      </p:pic>
      <p:pic>
        <p:nvPicPr>
          <p:cNvPr id="17" name="Picture 16" descr="dc5.png"/>
          <p:cNvPicPr>
            <a:picLocks noChangeAspect="1"/>
          </p:cNvPicPr>
          <p:nvPr/>
        </p:nvPicPr>
        <p:blipFill>
          <a:blip r:embed="rId3"/>
          <a:stretch>
            <a:fillRect/>
          </a:stretch>
        </p:blipFill>
        <p:spPr>
          <a:xfrm>
            <a:off x="1871639" y="3886200"/>
            <a:ext cx="2108881" cy="210312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حساب نصف قطر المنحنى:</a:t>
            </a:r>
          </a:p>
          <a:p>
            <a:pPr marL="0" indent="0">
              <a:buNone/>
            </a:pPr>
            <a:r>
              <a:rPr lang="ar-SA" sz="2000" b="1"/>
              <a:t>القاعدة: </a:t>
            </a:r>
            <a:r>
              <a:rPr lang="ar-SA" sz="2000"/>
              <a:t>نصف القطر = طول الحافة + ٥٪</a:t>
            </a:r>
          </a:p>
          <a:p>
            <a:pPr/>
            <a:r>
              <a:rPr lang="ar-SA" sz="2000"/>
              <a:t>حافة طولها ١٠ سم ← نصف القطر ١٠٫٥ سم.</a:t>
            </a:r>
          </a:p>
          <a:p>
            <a:pPr/>
            <a:r>
              <a:rPr lang="ar-SA" sz="2000"/>
              <a:t>حافة طولها ٨ سم ← نصف القطر ٨٫٤ سم.</a:t>
            </a:r>
          </a:p>
          <a:p>
            <a:pPr/>
            <a:r>
              <a:rPr lang="ar-SA" sz="2000"/>
              <a:t>حافة طولها ١٢ سم ← نصف القطر ١٢٫٦ سم.</a:t>
            </a:r>
          </a:p>
          <a:p>
            <a:pPr marL="0" indent="0">
              <a:buNone/>
            </a:pPr>
            <a:r>
              <a:rPr lang="ar-SA" sz="2000" b="1"/>
              <a:t>علّة النسبة: </a:t>
            </a:r>
            <a:r>
              <a:rPr lang="ar-SA" sz="2000"/>
              <a:t>نصف القطر الكبير نسبيًا يعطي قوسًا لطيف الانحناء يسهل طيّه، في حين يؤدي نصف القطر الصغير إلى منحنى حاد يصعب تنفيذه على الورق.</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dc2.png"/>
          <p:cNvPicPr>
            <a:picLocks noChangeAspect="1"/>
          </p:cNvPicPr>
          <p:nvPr/>
        </p:nvPicPr>
        <p:blipFill>
          <a:blip r:embed="rId2"/>
          <a:stretch>
            <a:fillRect/>
          </a:stretch>
        </p:blipFill>
        <p:spPr>
          <a:xfrm>
            <a:off x="457200" y="1684168"/>
            <a:ext cx="4937760" cy="4221182"/>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تنفيذ الطيات المنحنية بالقالب:</a:t>
            </a:r>
          </a:p>
          <a:p>
            <a:pPr marL="0" indent="0">
              <a:buNone/>
            </a:pPr>
            <a:r>
              <a:rPr lang="ar-SA" sz="2000"/>
              <a:t>يتعذّر تنفيذ طيّة منحنية دقيقة باليد الحرة، لأن أداة الطي تحتاج إلى دليل تسير عليه، والحل استخدام قالب:</a:t>
            </a:r>
          </a:p>
          <a:p>
            <a:pPr marL="0" indent="0">
              <a:buNone/>
            </a:pPr>
            <a:r>
              <a:rPr lang="ar-SA" sz="2000" b="1"/>
              <a:t>١. </a:t>
            </a:r>
            <a:r>
              <a:rPr lang="ar-SA" sz="2000"/>
              <a:t>يُرسم على ورق مقوّى زائد قطاع دائري يشبه «قطعة الفطيرة» بنصف قطر المنحنى المطلوب نفسه.</a:t>
            </a:r>
          </a:p>
          <a:p>
            <a:pPr marL="0" indent="0">
              <a:buNone/>
            </a:pPr>
            <a:r>
              <a:rPr lang="ar-SA" sz="2000" b="1"/>
              <a:t>٢. </a:t>
            </a:r>
            <a:r>
              <a:rPr lang="ar-SA" sz="2000"/>
              <a:t>يُقص القالب بدقة عالية، لأن أي عيب في حافته ينتقل إلى الطيّة.</a:t>
            </a:r>
          </a:p>
          <a:p>
            <a:pPr marL="0" indent="0">
              <a:buNone/>
            </a:pPr>
            <a:r>
              <a:rPr lang="ar-SA" sz="2000" b="1"/>
              <a:t>٣. </a:t>
            </a:r>
            <a:r>
              <a:rPr lang="ar-SA" sz="2000"/>
              <a:t>يوضع القالب على المِفرَد في موضع المنحنى تمامًا.</a:t>
            </a:r>
          </a:p>
          <a:p>
            <a:pPr marL="0" indent="0">
              <a:buNone/>
            </a:pPr>
            <a:r>
              <a:rPr lang="ar-SA" sz="2000" b="1"/>
              <a:t>٤. </a:t>
            </a:r>
            <a:r>
              <a:rPr lang="ar-SA" sz="2000"/>
              <a:t>تُنفّذ الطيّة باستخدام حافة القالب دليلًا لأداة الطي، ويُفضَّل استخدام الشفرة الكالّة المقلوبة.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wedge.png"/>
          <p:cNvPicPr>
            <a:picLocks noChangeAspect="1"/>
          </p:cNvPicPr>
          <p:nvPr/>
        </p:nvPicPr>
        <p:blipFill>
          <a:blip r:embed="rId2"/>
          <a:stretch>
            <a:fillRect/>
          </a:stretch>
        </p:blipFill>
        <p:spPr>
          <a:xfrm>
            <a:off x="575462" y="1600200"/>
            <a:ext cx="4701235" cy="43891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5669280" y="1600200"/>
            <a:ext cx="5852160" cy="4389120"/>
          </a:xfrm>
        </p:spPr>
        <p:txBody>
          <a:bodyPr anchor="ctr">
            <a:normAutofit/>
          </a:bodyPr>
          <a:lstStyle/>
          <a:p>
            <a:pPr marL="0" indent="0">
              <a:buNone/>
            </a:pPr>
            <a:r>
              <a:rPr lang="ar-SA" sz="2000" b="1"/>
              <a:t>المنحنيات المفردة (Single Curves):</a:t>
            </a:r>
          </a:p>
          <a:p>
            <a:pPr marL="0" indent="0">
              <a:buNone/>
            </a:pPr>
            <a:r>
              <a:rPr lang="ar-SA" sz="2000"/>
              <a:t>يُستبدل خط الطي المستقيم بقوس واحد فتتقوّس الجدران، غير أن قواعدها أكثر صرامة من المنحنيات المزدوجة:</a:t>
            </a:r>
          </a:p>
          <a:p>
            <a:pPr/>
            <a:r>
              <a:rPr lang="ar-SA" sz="2000" b="1"/>
              <a:t>الموضع: </a:t>
            </a:r>
            <a:r>
              <a:rPr lang="ar-SA" sz="2000"/>
              <a:t>الحواف العمودية فقط.</a:t>
            </a:r>
          </a:p>
          <a:p>
            <a:pPr/>
            <a:r>
              <a:rPr lang="ar-SA" sz="2000" b="1"/>
              <a:t>الترتيب: </a:t>
            </a:r>
            <a:r>
              <a:rPr lang="ar-SA" sz="2000"/>
              <a:t>انعكاسي؛ كل منحنى صورة مرآة للمجاور له.</a:t>
            </a:r>
          </a:p>
          <a:p>
            <a:pPr/>
            <a:r>
              <a:rPr lang="ar-SA" sz="2000" b="1"/>
              <a:t>عدد الحواف: </a:t>
            </a:r>
            <a:r>
              <a:rPr lang="ar-SA" sz="2000"/>
              <a:t>زوجي (٤ أو ٦ أو ٨)، لأنها تعمل في أزواج متعاكسة.</a:t>
            </a:r>
          </a:p>
          <a:p>
            <a:pPr/>
            <a:r>
              <a:rPr lang="ar-SA" sz="2000" b="1"/>
              <a:t>نصف القطر: </a:t>
            </a:r>
            <a:r>
              <a:rPr lang="ar-SA" sz="2000"/>
              <a:t>طول الحافة + ٥٪.</a:t>
            </a:r>
          </a:p>
          <a:p>
            <a:pPr marL="0" indent="0">
              <a:buNone/>
            </a:pPr>
            <a:r>
              <a:rPr lang="ar-SA" sz="2000" b="1"/>
              <a:t>التوظيف في التغليف: </a:t>
            </a:r>
            <a:r>
              <a:rPr lang="ar-SA" sz="2000"/>
              <a:t>تجعل الجدران المقعّرة الإمساك بالعبوة أيسر، وتلائم مستحضرات التجميل والعطور والهدايا.</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pic>
        <p:nvPicPr>
          <p:cNvPr id="16" name="Picture 15" descr="single.png"/>
          <p:cNvPicPr>
            <a:picLocks noChangeAspect="1"/>
          </p:cNvPicPr>
          <p:nvPr/>
        </p:nvPicPr>
        <p:blipFill>
          <a:blip r:embed="rId2"/>
          <a:stretch>
            <a:fillRect/>
          </a:stretch>
        </p:blipFill>
        <p:spPr>
          <a:xfrm>
            <a:off x="457200" y="1843742"/>
            <a:ext cx="4937760" cy="390203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الاعتبارات التصميمية والوظيفية:</a:t>
            </a:r>
          </a:p>
          <a:p>
            <a:pPr/>
            <a:r>
              <a:rPr lang="ar-SA" sz="2000" b="1"/>
              <a:t>ملاءمة المنتج: </a:t>
            </a:r>
            <a:r>
              <a:rPr lang="ar-SA" sz="2000"/>
              <a:t>هل يستوعب الشكل المنتج ويحميه؟</a:t>
            </a:r>
          </a:p>
          <a:p>
            <a:pPr/>
            <a:r>
              <a:rPr lang="ar-SA" sz="2000" b="1"/>
              <a:t>الرصّ والتخزين: </a:t>
            </a:r>
            <a:r>
              <a:rPr lang="ar-SA" sz="2000"/>
              <a:t>الأشكال المائلة أصعب في الرصّ والشحن.</a:t>
            </a:r>
          </a:p>
          <a:p>
            <a:pPr/>
            <a:r>
              <a:rPr lang="ar-SA" sz="2000" b="1"/>
              <a:t>واجهة العرض: </a:t>
            </a:r>
            <a:r>
              <a:rPr lang="ar-SA" sz="2000"/>
              <a:t>أي الأوجه يواجه المستهلك؟ وأين الشعار؟</a:t>
            </a:r>
          </a:p>
          <a:p>
            <a:pPr/>
            <a:r>
              <a:rPr lang="ar-SA" sz="2000" b="1"/>
              <a:t>موضع الغطاء: </a:t>
            </a:r>
            <a:r>
              <a:rPr lang="ar-SA" sz="2000"/>
              <a:t>هل موضع الفتح منطقي وسهل؟</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b="1"/>
              <a:t>آلية الإغلاق: </a:t>
            </a:r>
            <a:r>
              <a:rPr lang="ar-SA" sz="2000"/>
              <a:t>فتح لمرة واحدة أم متكرر؟</a:t>
            </a:r>
          </a:p>
          <a:p>
            <a:pPr/>
            <a:r>
              <a:rPr lang="ar-SA" sz="2000" b="1"/>
              <a:t>تكلفة المادة: </a:t>
            </a:r>
            <a:r>
              <a:rPr lang="ar-SA" sz="2000"/>
              <a:t>مساحة الورق مقارنة بالمكعّب الأصلي.</a:t>
            </a:r>
          </a:p>
          <a:p>
            <a:pPr/>
            <a:r>
              <a:rPr lang="ar-SA" sz="2000" b="1"/>
              <a:t>قابلية التصنيع: </a:t>
            </a:r>
            <a:r>
              <a:rPr lang="ar-SA" sz="2000"/>
              <a:t>هل يصلح المِفرَد لقالب القص والتكسير؟</a:t>
            </a:r>
          </a:p>
          <a:p>
            <a:pPr/>
            <a:r>
              <a:rPr lang="ar-SA" sz="2000" b="1"/>
              <a:t>الهوية البصرية: </a:t>
            </a:r>
            <a:r>
              <a:rPr lang="ar-SA" sz="2000"/>
              <a:t>هندسي حاد، أم منحنٍ ناعم، أم مائل ديناميكي؟</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6263640" y="1600200"/>
            <a:ext cx="5120640" cy="4389120"/>
          </a:xfrm>
        </p:spPr>
        <p:txBody>
          <a:bodyPr anchor="t">
            <a:normAutofit/>
          </a:bodyPr>
          <a:lstStyle/>
          <a:p>
            <a:pPr marL="0" indent="0">
              <a:buNone/>
            </a:pPr>
            <a:r>
              <a:rPr lang="ar-SA" sz="2000" b="1"/>
              <a:t>الخلاصة: أهم ما ينبغي للطالب معرفته</a:t>
            </a:r>
          </a:p>
          <a:p>
            <a:pPr/>
            <a:r>
              <a:rPr lang="ar-SA" sz="2000"/>
              <a:t>الطي عملية ضغط لا قطع، والشفرة الكالّة المقلوبة أدق أدواته.</a:t>
            </a:r>
          </a:p>
          <a:p>
            <a:pPr/>
            <a:r>
              <a:rPr lang="ar-SA" sz="2000"/>
              <a:t>توضع المسطرة فوق الرسم، وتبقى اليد غير القاطعة أعلى اليد القاطعة.</a:t>
            </a:r>
          </a:p>
          <a:p>
            <a:pPr/>
            <a:r>
              <a:rPr lang="ar-SA" sz="2000"/>
              <a:t>يتكوّن المكعّب من أوجه وحواف وأركان، وكل تشويه تعديل على أحدها.</a:t>
            </a:r>
          </a:p>
          <a:p>
            <a:pPr/>
            <a:r>
              <a:rPr lang="ar-SA" sz="2000"/>
              <a:t>استراتيجيات التشويه ثلاث: النحت والمرونة والتقويس.</a:t>
            </a:r>
          </a:p>
          <a:p>
            <a:pPr/>
            <a:r>
              <a:rPr lang="ar-SA" sz="2000"/>
              <a:t>كشط الحافة أو الركن يضيف وجهًا، بخلاف المطّ والليّ البسيط والضغط.</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
        <p:nvSpPr>
          <p:cNvPr id="16" name="TextBox 15"/>
          <p:cNvSpPr txBox="1"/>
          <p:nvPr/>
        </p:nvSpPr>
        <p:spPr>
          <a:xfrm>
            <a:off x="822960" y="1600200"/>
            <a:ext cx="5120640" cy="4389120"/>
          </a:xfrm>
          <a:prstGeom prst="rect">
            <a:avLst/>
          </a:prstGeom>
          <a:noFill/>
        </p:spPr>
        <p:txBody>
          <a:bodyPr wrap="square" anchor="t">
            <a:normAutofit/>
          </a:bodyPr>
          <a:lstStyle>
            <a:lvl1pPr marL="228600" indent="-228600" algn="r" rtl="1">
              <a:lnSpc>
                <a:spcPct val="90000"/>
              </a:lnSpc>
              <a:spcBef>
                <a:spcPts val="1000"/>
              </a:spcBef>
              <a:buFont typeface="Arial"/>
              <a:buChar char="•"/>
              <a:defRPr sz="2000">
                <a:solidFill>
                  <a:schemeClr val="tx1"/>
                </a:solidFill>
                <a:latin typeface="Sakkal Majalla"/>
                <a:cs typeface="Sakkal Majalla"/>
              </a:defRPr>
            </a:lvl1pPr>
          </a:lstStyle>
          <a:p>
            <a:pPr marL="0" indent="0">
              <a:buNone/>
            </a:pPr>
            <a:r>
              <a:rPr lang="ar-SA" sz="2000"/>
              <a:t> </a:t>
            </a:r>
          </a:p>
          <a:p>
            <a:pPr/>
            <a:r>
              <a:rPr lang="ar-SA" sz="2000"/>
              <a:t>زاوية الليّ المثلى ٨٠°، ولا يُنصح بما دون ٧٠°.</a:t>
            </a:r>
          </a:p>
          <a:p>
            <a:pPr/>
            <a:r>
              <a:rPr lang="ar-SA" sz="2000"/>
              <a:t>شكل الضغط يحتفظ بمساحة الورق نفسها رغم مظهره المضغوط.</a:t>
            </a:r>
          </a:p>
          <a:p>
            <a:pPr/>
            <a:r>
              <a:rPr lang="ar-SA" sz="2000"/>
              <a:t>نصف قطر المنحنى = طول الحافة + ٥٪.</a:t>
            </a:r>
          </a:p>
          <a:p>
            <a:pPr/>
            <a:r>
              <a:rPr lang="ar-SA" sz="2000"/>
              <a:t>المنحنيات المفردة: حواف عمودية، عدد زوجي، ترتيب انعكاسي.</a:t>
            </a:r>
          </a:p>
          <a:p>
            <a:pPr/>
            <a:r>
              <a:rPr lang="ar-SA" sz="2000"/>
              <a:t>تُنفّذ الطيات المنحنية بقالب قطاع دائري لا باليد الحرة.</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أسئلة تقويمية:</a:t>
            </a:r>
          </a:p>
          <a:p>
            <a:pPr marL="0" indent="0">
              <a:buNone/>
            </a:pPr>
            <a:r>
              <a:rPr lang="ar-SA" sz="2000" b="1"/>
              <a:t>١. </a:t>
            </a:r>
            <a:r>
              <a:rPr lang="ar-SA" sz="2000"/>
              <a:t>ما الأسلوب الصحيح لإعداد خط الطي؟ ولماذا؟</a:t>
            </a:r>
          </a:p>
          <a:p>
            <a:pPr marL="0" indent="0">
              <a:buNone/>
            </a:pPr>
            <a:r>
              <a:rPr lang="ar-SA" sz="2000" b="1"/>
              <a:t>٢. </a:t>
            </a:r>
            <a:r>
              <a:rPr lang="ar-SA" sz="2000"/>
              <a:t>أين توضع المسطرة أثناء القص؟ علّل.</a:t>
            </a:r>
          </a:p>
          <a:p>
            <a:pPr marL="0" indent="0">
              <a:buNone/>
            </a:pPr>
            <a:r>
              <a:rPr lang="ar-SA" sz="2000" b="1"/>
              <a:t>٣. </a:t>
            </a:r>
            <a:r>
              <a:rPr lang="ar-SA" sz="2000"/>
              <a:t>كم يصبح عدد أوجه المكعّب بعد كشط أحد أركانه؟</a:t>
            </a:r>
          </a:p>
          <a:p>
            <a:pPr marL="0" indent="0">
              <a:buNone/>
            </a:pPr>
            <a:r>
              <a:rPr lang="ar-SA" sz="2000" b="1"/>
              <a:t>٤. </a:t>
            </a:r>
            <a:r>
              <a:rPr lang="ar-SA" sz="2000"/>
              <a:t>ما زاوية الليّ المثلى؟ وما الحد الذي لا يُنصح بتجاوزه؟</a:t>
            </a:r>
          </a:p>
          <a:p>
            <a:pPr marL="0" indent="0">
              <a:buNone/>
            </a:pPr>
            <a:r>
              <a:rPr lang="ar-SA" sz="2000" b="1"/>
              <a:t>٥. </a:t>
            </a:r>
            <a:r>
              <a:rPr lang="ar-SA" sz="2000"/>
              <a:t>إذا كان طول الحافة ١٢ سم، فكم يكون نصف قطر المنحنى؟</a:t>
            </a:r>
          </a:p>
          <a:p>
            <a:pPr marL="0" indent="0">
              <a:buNone/>
            </a:pPr>
            <a:r>
              <a:rPr lang="ar-SA" sz="2000" b="1"/>
              <a:t>٦. </a:t>
            </a:r>
            <a:r>
              <a:rPr lang="ar-SA" sz="2000"/>
              <a:t>لماذا يُشترط عدد زوجي من الحواف في المنحنيات المفردة؟</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المشروع التطبيقي: تصميم عبوة مبتكرة</a:t>
            </a:r>
          </a:p>
          <a:p>
            <a:pPr marL="0" indent="0">
              <a:buNone/>
            </a:pPr>
            <a:r>
              <a:rPr lang="ar-SA" sz="2000"/>
              <a:t>يختار الطالب منتجًا (عطرًا، أو شوكولاتة، أو شمعة، أو مستحضر تجميل) ويصمّم له عبوة وفق المتطلبات الآتية:</a:t>
            </a:r>
          </a:p>
          <a:p>
            <a:pPr/>
            <a:r>
              <a:rPr lang="ar-SA" sz="2000" b="1"/>
              <a:t>الدمج: </a:t>
            </a:r>
            <a:r>
              <a:rPr lang="ar-SA" sz="2000"/>
              <a:t>بين تقنيتين من تقنيات المحاضرة في تصميم واحد.</a:t>
            </a:r>
          </a:p>
          <a:p>
            <a:pPr/>
            <a:r>
              <a:rPr lang="ar-SA" sz="2000" b="1"/>
              <a:t>المِفرَد: </a:t>
            </a:r>
            <a:r>
              <a:rPr lang="ar-SA" sz="2000"/>
              <a:t>رسمه كاملًا بألسنته مع التمييز بين خطوط القص والطي.</a:t>
            </a:r>
          </a:p>
          <a:p>
            <a:pPr/>
            <a:r>
              <a:rPr lang="ar-SA" sz="2000" b="1"/>
              <a:t>الغطاء والإغلاق: </a:t>
            </a:r>
            <a:r>
              <a:rPr lang="ar-SA" sz="2000"/>
              <a:t>تحديد موضع الغطاء وآلية الإغلاق مع المسوّغات.</a:t>
            </a:r>
          </a:p>
          <a:p>
            <a:pPr/>
            <a:r>
              <a:rPr lang="ar-SA" sz="2000" b="1"/>
              <a:t>النموذج: </a:t>
            </a:r>
            <a:r>
              <a:rPr lang="ar-SA" sz="2000"/>
              <a:t>تنفيذه بالورق المقوّى بالأدوات والطرق الصحيحة.</a:t>
            </a:r>
          </a:p>
          <a:p>
            <a:pPr/>
            <a:r>
              <a:rPr lang="ar-SA" sz="2000" b="1"/>
              <a:t>التقرير: </a:t>
            </a:r>
            <a:r>
              <a:rPr lang="ar-SA" sz="2000"/>
              <a:t>صفحة توضّح ملاءمة الشكل للمنتج وهويته، ومعالجة متطلبات الحماية والرصّ والعرض.</a:t>
            </a:r>
          </a:p>
          <a:p>
            <a:pPr marL="0" indent="0">
              <a:buNone/>
            </a:pPr>
            <a:r>
              <a:rPr lang="ar-SA" sz="2000" b="1"/>
              <a:t>أمثلة استرشادية: </a:t>
            </a:r>
            <a:r>
              <a:rPr lang="ar-SA" sz="2000"/>
              <a:t>عبوة عطر بكشط الركن يُطبع الشعار على مثلثها، أو علبة شوكولاتة بالليّ المُضلَّع غطاؤها المربع العلوي بقفل لسان.</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Content Placeholder 2"/>
          <p:cNvSpPr>
            <a:spLocks noGrp="1"/>
          </p:cNvSpPr>
          <p:nvPr>
            <p:ph idx="1"/>
          </p:nvPr>
        </p:nvSpPr>
        <p:spPr>
          <a:xfrm>
            <a:off x="1005840" y="1600200"/>
            <a:ext cx="10149840" cy="4389120"/>
          </a:xfrm>
        </p:spPr>
        <p:txBody>
          <a:bodyPr anchor="ctr">
            <a:normAutofit/>
          </a:bodyPr>
          <a:lstStyle/>
          <a:p>
            <a:pPr marL="0" indent="0">
              <a:buNone/>
            </a:pPr>
            <a:r>
              <a:rPr lang="ar-SA" sz="2000" b="1"/>
              <a:t>المصدر:</a:t>
            </a:r>
          </a:p>
          <a:p>
            <a:pPr marL="0" indent="0">
              <a:buNone/>
            </a:pPr>
            <a:r>
              <a:rPr lang="ar-SA" sz="2000"/>
              <a:t>الفصل الرابع «Deforming a Cube» والقسم ١٫٢ «How to Cut and Fold» من الكتاب المرجعي للمقرر، والصور مأخوذة منه.</a:t>
            </a:r>
          </a:p>
        </p:txBody>
      </p:sp>
      <p:sp>
        <p:nvSpPr>
          <p:cNvPr id="15" name="Footer Placeholder 3">
            <a:extLst>
              <a:ext uri="{FF2B5EF4-FFF2-40B4-BE49-F238E27FC236}">
                <a16:creationId xmlns:a16="http://schemas.microsoft.com/office/drawing/2014/main" id="{CFE48E32-A7F6-E621-F2A2-8E8D30A65EAF}"/>
              </a:ext>
            </a:extLst>
          </p:cNvPr>
          <p:cNvSpPr>
            <a:spLocks noGrp="1"/>
          </p:cNvSpPr>
          <p:nvPr>
            <p:ph type="ftr" sz="quarter" idx="11"/>
          </p:nvPr>
        </p:nvSpPr>
        <p:spPr>
          <a:xfrm>
            <a:off x="4038600" y="6356350"/>
            <a:ext cx="4114800" cy="365125"/>
          </a:xfrm>
        </p:spPr>
        <p:txBody>
          <a:bodyPr/>
          <a:lstStyle/>
          <a:p>
            <a:r>
              <a:rPr lang="ar-SA" dirty="0"/>
              <a:t>برنامج التصميم الجرافيكي - المستوى السادس</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8406</TotalTime>
  <Words>530</Words>
  <Application>Microsoft Macintosh PowerPoint</Application>
  <PresentationFormat>Widescreen</PresentationFormat>
  <Paragraphs>43</Paragraphs>
  <Slides>8</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vt:i4>
      </vt:variant>
    </vt:vector>
  </HeadingPairs>
  <TitlesOfParts>
    <vt:vector size="15" baseType="lpstr">
      <vt:lpstr>Aptos</vt:lpstr>
      <vt:lpstr>Arial</vt:lpstr>
      <vt:lpstr>Avenir Medium</vt:lpstr>
      <vt:lpstr>Calibri</vt:lpstr>
      <vt:lpstr>GE Dinar One</vt:lpstr>
      <vt:lpstr>Sakkal Majalla</vt:lpstr>
      <vt:lpstr>Office Theme</vt:lpstr>
      <vt:lpstr>أنواع  وخامات التغليف</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InDesign</dc:title>
  <dc:creator>haifa badran alomar</dc:creator>
  <cp:lastModifiedBy>Nourah Alsadoun</cp:lastModifiedBy>
  <cp:revision>154</cp:revision>
  <dcterms:created xsi:type="dcterms:W3CDTF">2024-04-17T13:12:11Z</dcterms:created>
  <dcterms:modified xsi:type="dcterms:W3CDTF">2026-08-29T02:33:55Z</dcterms:modified>
</cp:coreProperties>
</file>