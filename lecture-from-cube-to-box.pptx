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9048e27d-10be-6c17-edfc-6026d9eed636}">
          <p14:sldIdLst>
            <p14:sldId id="256"/>
            <p14:sldId id="257"/>
          </p14:sldIdLst>
        </p14:section>
        <p14:section name="القص والطي" id="{69b22728-a56a-3cd8-570f-f71fd4122dc9}">
          <p14:sldIdLst>
            <p14:sldId id="258"/>
            <p14:sldId id="259"/>
            <p14:sldId id="260"/>
            <p14:sldId id="261"/>
          </p14:sldIdLst>
        </p14:section>
        <p14:section name="المكعّب" id="{648d434f-aaae-1779-108f-c200a47c7bd5}">
          <p14:sldIdLst>
            <p14:sldId id="262"/>
            <p14:sldId id="263"/>
            <p14:sldId id="264"/>
          </p14:sldIdLst>
        </p14:section>
        <p14:section name="الاستراتيجيات" id="{2438eda5-ed75-7d2b-0628-86d81d8d49d7}">
          <p14:sldIdLst>
            <p14:sldId id="265"/>
          </p14:sldIdLst>
        </p14:section>
        <p14:section name="التقنيات" id="{3f2e529d-1a62-5f21-299e-54238fbf6f0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المنحنيات" id="{9ebc80c3-180c-7372-b09f-484bc8049bba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الاعتبارات" id="{deac3f34-dbb9-6d2d-0dcd-b243e7a80ef2}">
          <p14:sldIdLst>
            <p14:sldId id="282"/>
          </p14:sldIdLst>
        </p14:section>
        <p14:section name="الخاتمة" id="{ada6fd2b-b7a4-1a10-418d-ce8639c4d1c4}">
          <p14:sldIdLst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تمهيد: معظم العبوات في الأسواق صناديق مكعّبة. تتناول المحاضرة كيف نحوّل المكعّب بالقص والطي والتشكيل إلى أشكال مبتكرة دون معرفة متقدمة بالهندسة الفراغية.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خمسة أهداف تغطي المهارة اليدوية، والفهم البنائي للمكعّب، والتطبيق الإبداعي، والتقويم الوظيفي.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الشفرة الكالّة تحتاج ضغطًا أكبر فيزداد احتمال انزلاقها، ولذلك يجب تغييرها بانتظام.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الشفرة الكالّة المقلوبة هي الأداة المفضلة لأنها تضغط الخط ملاصقًا لحافة المسطرة، بخلاف عظمة الطي والقلم.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لذلك يجب أن يميّز المِفرَد بوضوح بين خطوط القص وخطوط الطي، فهذا ما سيقرؤه مصنع القوالب.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يتكوّن المكعّب، شأنه شأن معظم تصاميم التغليف الإنشائي، من أوجه وحواف وأركان.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كشط وجه (Shaving a Face): المفهوم: يُكشط أحد الأوجه بزاوية مائلة فينتج سطح منحدر، ويمكن التحكم في درجة الميل أو إمالته إلى الأمام أو الخلف. التحليل الشكلي: يتحوّل الوجهان الجانبيان إلى شبهي منحرف، ويصبح الوجه العلوي مستطيلًا مائلًا أطول من القاعدة. التوظيف في التغليف: يؤدي السطح المائل دور واجهة عرض للشعار أو المنتج، تُقرأ بسهولة من زاوية نظر المستهلك أمام الرف.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كشط حافة (Shaving an Edge): المفهوم: تُكشط إحدى الحواف فينشأ مكانها وجه جديد، ويمكن التحكم في مقدار الكشط واتجاه ميله. التحليل الشكلي: يزيد عدد الأوجه وجهًا واحدًا، ويتحوّل الوجهان الجانبيان إلى شكلين خماسيين. التوظيف في التغليف: يوفّر الوجه الإضافي مساحة لمعلومة أو عنصر بصري، ويمنح العبوة طابعًا أنعم يلائم علب الهدايا والعطور.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كشط ركن (Shaving a Corner): المفهوم: يُكشط أحد الأركان فينشأ وجه على هيئة مثلث متساوي الأضلاع (زواياه ٦٠°)، لأن القطع يمر بثلاث حواف متساوية. وباختلاف مسافات القطع ينتج مثلث مختلف الأضلاع. التحليل الشكلي: تتحوّل الأوجه الثلاثة الملتقية عند الركن إلى أشكال خماسية. التوظيف في التغليف: المثلث موضع مميز للشعار، وإيقاف العبوة عليه يمنحها أثرًا نحتيًا يلائم الإصدارات الخاصة.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المطّ من حافة إلى حافة (Stretching Edge-to-edge): المفهوم: تُشدّ حافتان متقابلتان في اتجاهين متعاكسين، فينتج صندوق مائل (Leaning Box). التحليل الشكلي: يتحوّل وجهان متقابلان إلى متوازيي أضلاع، وتبقى الأوجه الأربعة الأخرى مستطيلات. التوظيف في التغليف: يوحي الشكل بالحركة والديناميكية، ويلائم المنتجات الشبابية والرياضية.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المطّ من ركن إلى ركن (Stretching Corner-to-corner): المفهوم: يُشدّ ركنان متقابلان فينتج شكل معيّني يُعرف بمتوازي السطوح المعيّني (Rhombohedron). التحليل الشكلي: تتحوّل الأوجه الستة جميعها إلى معيّنات، ولا تبقى أي زاوية قائمة. التوظيف في التغليف: يبدو الشكل كأنه يخالف قوانين المنظور لغياب الزوايا القائمة، فيلائم المنتجات الفاخرة والفنية.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ليّ الوجهين المتقابلين (Twisting Opposite Faces): المفهوم: يُلوى الوجهان العلوي والسفلي ليًّا خفيفًا في اتجاهين متعاكسين، فتتحول الجوانب إلى متوازيات أضلاع. المعيار الرقمي: زاوية الميل المثلى ٨٠° (انحراف ١٠° عن القائمة)، والزوايا الأقل من ٧٠° نادرًا ما تنجح. التوظيف في التغليف: تشويه دقيق لا يُلحظ من النظرة الأولى، ثم يكتشفه المستهلك عند التأمل، فيلائم العلامات الراقية.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الليّ: النسخة المُضلَّعة (Twisting: Faceted Version): المفهوم: يُزاد الليّ حتى تقع أركان المربع العلوي فوق منتصفات حواف المربع السفلي، ثم تُوصل الأركان الثمانية بخطوط طي. التحليل الشكلي: مربعان وثمانية مثلثات متساوية الساقين، ويُعرف الشكل بالمنشور المضاد (Antiprism). ويتطلب ألسنة ذات حافة مثنية (Flanged Tabs). التوظيف في التغليف: شكل بلوري يحاكي الأحجار الكريمة، يلائم المجوهرات والشوكولاتة الفاخرة والشموع.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الضغط من وجه إلى وجه (Compressing Face-to-face): المفهوم: يُضغط وجهان متقابلان باتجاه بعضهما. والشكل المعروض تبسيط تصميمي (Stylization) لشكل هلامي منحنٍ أكثر تعقيدًا. ملاحظة اقتصادية: رغم المظهر المضغوط، تساوي مساحة الورق المستخدمة مساحة المكعّب الأصلي، فلا ترتفع تكلفة المادة. التوظيف في التغليف: شكل يوحي بالمرونة والطرافة، ويلائم المنتجات اللينة ومنتجات الأطفال.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١) ضغط الخط بأداة طي لا قطعه. ٢) فوق الرسم، كي تتجه الشفرة إن انزلقت نحو الورق الزائد. ٣) سبعة أوجه. ٤) ٨٠°، ولا يُنصح بما دون ٧٠°. ٥) ١٢٫٦ سم. ٦) لأنها تعمل في أزواج متعاكسة، فيحتاج كل منحنى إلى مقابل يوازنه.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0" y="1828800"/>
            <a:ext cx="5943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0" y="3611880"/>
            <a:ext cx="5943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517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657600" y="3931920"/>
            <a:ext cx="79854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114800" y="6400800"/>
            <a:ext cx="7528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من المكعّب إلى العبوة · تصميم المغلفات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" descr="مِفرَد مكعّب من الورق المقوّى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669280" y="18288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من المكعّب إلى العبوة</a:t>
            </a:r>
            <a:endParaRPr lang="ar-SA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669280" y="3611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تشويه المكعّب مدخلًا لابتكار أشكال المغلفات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مقرر تصميم المغلفات · التغليف الإنشائي</a:t>
            </a:r>
            <a:endParaRPr lang="ar-SA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أهداف المحاضرة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5"/>
                </a:solidFill>
              </a:rPr>
              <a:t>يُتوقع من الطالب في نهاية المحاضرة أن يكون قادرًا على:</a:t>
            </a:r>
            <a:endParaRPr lang="ar-SA" sz="1800" dirty="0"/>
          </a:p>
        </p:txBody>
      </p:sp>
      <p:sp>
        <p:nvSpPr>
          <p:cNvPr id="4" name="goal-1"/>
          <p:cNvSpPr/>
          <p:nvPr/>
        </p:nvSpPr>
        <p:spPr>
          <a:xfrm>
            <a:off x="9607052" y="2011680"/>
            <a:ext cx="2036003" cy="3291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5" name="badge"/>
          <p:cNvSpPr/>
          <p:nvPr/>
        </p:nvSpPr>
        <p:spPr>
          <a:xfrm>
            <a:off x="10305014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0501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١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744212" y="3154680"/>
            <a:ext cx="1761683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استخدام أدوات القص والطي استخدامًا دقيقًا وآمنًا</a:t>
            </a:r>
            <a:endParaRPr lang="ar-SA" sz="1700" dirty="0"/>
          </a:p>
        </p:txBody>
      </p:sp>
      <p:sp>
        <p:nvSpPr>
          <p:cNvPr id="8" name="goal-2"/>
          <p:cNvSpPr/>
          <p:nvPr/>
        </p:nvSpPr>
        <p:spPr>
          <a:xfrm>
            <a:off x="7342449" y="2011680"/>
            <a:ext cx="2036003" cy="3291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9" name="badge"/>
          <p:cNvSpPr/>
          <p:nvPr/>
        </p:nvSpPr>
        <p:spPr>
          <a:xfrm>
            <a:off x="8040411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0411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٢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479609" y="3154680"/>
            <a:ext cx="1761683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تحليل المكعّب ومِفرَده بوصفه أساسًا للعبوة</a:t>
            </a:r>
            <a:endParaRPr lang="ar-SA" sz="1700" dirty="0"/>
          </a:p>
        </p:txBody>
      </p:sp>
      <p:sp>
        <p:nvSpPr>
          <p:cNvPr id="12" name="goal-3"/>
          <p:cNvSpPr/>
          <p:nvPr/>
        </p:nvSpPr>
        <p:spPr>
          <a:xfrm>
            <a:off x="5077846" y="2011680"/>
            <a:ext cx="2036003" cy="3291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3" name="badge"/>
          <p:cNvSpPr/>
          <p:nvPr/>
        </p:nvSpPr>
        <p:spPr>
          <a:xfrm>
            <a:off x="5775808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758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٣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215006" y="3154680"/>
            <a:ext cx="1761683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تطبيق الاستراتيجيات الثلاث لتشويه المكعّب</a:t>
            </a:r>
            <a:endParaRPr lang="ar-SA" sz="1700" dirty="0"/>
          </a:p>
        </p:txBody>
      </p:sp>
      <p:sp>
        <p:nvSpPr>
          <p:cNvPr id="16" name="goal-4"/>
          <p:cNvSpPr/>
          <p:nvPr/>
        </p:nvSpPr>
        <p:spPr>
          <a:xfrm>
            <a:off x="2813243" y="2011680"/>
            <a:ext cx="2036003" cy="3291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3511205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11205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٤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950403" y="3154680"/>
            <a:ext cx="1761683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رسم الطيات المنحنية وتنفيذها بدقة</a:t>
            </a:r>
            <a:endParaRPr lang="ar-SA" sz="1700" dirty="0"/>
          </a:p>
        </p:txBody>
      </p:sp>
      <p:sp>
        <p:nvSpPr>
          <p:cNvPr id="20" name="goal-5"/>
          <p:cNvSpPr/>
          <p:nvPr/>
        </p:nvSpPr>
        <p:spPr>
          <a:xfrm>
            <a:off x="548640" y="2011680"/>
            <a:ext cx="2036003" cy="3291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1246602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4660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٥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154680"/>
            <a:ext cx="1761683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المواءمة بين الجانبين الجمالي والوظيفي للعبوة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المحور الأول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5176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المهارات الأساسية: القص والطي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657600" y="3931920"/>
            <a:ext cx="79854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جودة النموذج الأولي للعبوة تعتمد على دقة تنفيذه، وإتقان الأدوات شرط سابق لأي عمل تصميمي.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أولًا: القص</a:t>
            </a:r>
            <a:endParaRPr lang="ar-SA" sz="3000" dirty="0"/>
          </a:p>
        </p:txBody>
      </p:sp>
      <p:sp>
        <p:nvSpPr>
          <p:cNvPr id="3" name="frame-cut"/>
          <p:cNvSpPr/>
          <p:nvPr/>
        </p:nvSpPr>
        <p:spPr>
          <a:xfrm>
            <a:off x="548640" y="1280160"/>
            <a:ext cx="420624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cut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2731"/>
            <a:ext cx="4206240" cy="42010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5"/>
                </a:solidFill>
              </a:rPr>
              <a:t>الوضعية القياسية: السبابة على المقبض قرب الشفرة</a:t>
            </a:r>
            <a:endParaRPr lang="ar-SA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80160"/>
          <a:ext cx="6519672" cy="914400"/>
        </p:xfrm>
        <a:graphic>
          <a:graphicData uri="http://schemas.openxmlformats.org/drawingml/2006/table">
            <a:tbl>
              <a:tblPr/>
              <a:tblGrid>
                <a:gridCol w="4507992"/>
                <a:gridCol w="201168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المسوّغ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الأداة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أعلى دقة وأسهل تحكمًا من سكين الحِرف، وشفراته قابلة للاستبدال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المشرط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تضمن خط قص مستقيمًا وثابتًا، والبلاستيكية الشفافة بديل مقبول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المسطرة المعدنية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يحافظ على سطح مستوٍ، بخلاف الخشب والكرتون اللذين يتخدشان سريعًا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لوح القص ذاتي الالتئام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safety"/>
          <p:cNvSpPr/>
          <p:nvPr/>
        </p:nvSpPr>
        <p:spPr>
          <a:xfrm>
            <a:off x="5120640" y="4434840"/>
            <a:ext cx="651967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303520" y="4526280"/>
            <a:ext cx="6153912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قواعد السلامة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• توضع المسطرة فوق الرسم لا فوق الجزء الزائد، فإن انزلقت الشفرة اتجهت نحو الورق الزائد.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• تبقى اليد غير القاطعة دائمًا أعلى اليد القاطعة، وتُغيَّر الشفرة بانتظام.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ثانيًا: الطي</a:t>
            </a:r>
            <a:endParaRPr lang="ar-SA" sz="3000" dirty="0"/>
          </a:p>
        </p:txBody>
      </p:sp>
      <p:sp>
        <p:nvSpPr>
          <p:cNvPr id="3" name="rule"/>
          <p:cNvSpPr/>
          <p:nvPr/>
        </p:nvSpPr>
        <p:spPr>
          <a:xfrm>
            <a:off x="5120640" y="1280160"/>
            <a:ext cx="6519672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0" y="1280160"/>
            <a:ext cx="6153912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chemeClr val="bg1"/>
                </a:solidFill>
              </a:rPr>
              <a:t>لا يُقطع خط الطي… بل يُضغط</a:t>
            </a:r>
            <a:endParaRPr lang="ar-SA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2423160"/>
            <a:ext cx="6519672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يقوم الطي السليم على ضغط ألياف الورق على امتداد الخط، فينثني بسهولة دون أن يضعف.</a:t>
            </a:r>
            <a:endParaRPr lang="ar-SA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3200400"/>
          <a:ext cx="651967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237744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الدقة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الأداة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كفاءة عالية، لكن الخط يبتعد ١–٢ مم عن المسطرة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عظمة الطي (Bone Folder)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بديل عملي، ويشترك في العيب نفسه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القلم الجاف الفارغ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الأعلى دقة: تضغط الخط ملاصقًا لحافة المسطرة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الشفرة الكالّة المقلوبة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frame-crease"/>
          <p:cNvSpPr/>
          <p:nvPr/>
        </p:nvSpPr>
        <p:spPr>
          <a:xfrm>
            <a:off x="548640" y="1280160"/>
            <a:ext cx="420624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img-crease" descr="cre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208" y="1280160"/>
            <a:ext cx="4201104" cy="4206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577840"/>
            <a:ext cx="4206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5"/>
                </a:solidFill>
              </a:rPr>
              <a:t>تُقلب الشفرة فيضغط ظهرها الورق دون أن يقطعه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الصلة بالإنتاج الصناعي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تُنتج العبوات صناعيًا بقالب القص والتكسير (Die-cut) الذي يجمع بين شفرات حادة للقص ومساطر معدنية غير حادة للتكسير. فما يُنفَّذ يدويًا بالمشرط والشفرة الكالّة محاكاة للعملية الصناعية.</a:t>
            </a:r>
            <a:endParaRPr lang="ar-SA" sz="1800" dirty="0"/>
          </a:p>
        </p:txBody>
      </p:sp>
      <p:sp>
        <p:nvSpPr>
          <p:cNvPr id="4" name="cut-card"/>
          <p:cNvSpPr/>
          <p:nvPr/>
        </p:nvSpPr>
        <p:spPr>
          <a:xfrm>
            <a:off x="548640" y="2834640"/>
            <a:ext cx="536432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5" name="crease-card"/>
          <p:cNvSpPr/>
          <p:nvPr/>
        </p:nvSpPr>
        <p:spPr>
          <a:xfrm>
            <a:off x="6278728" y="2834640"/>
            <a:ext cx="5364328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6" name="cut-line"/>
          <p:cNvSpPr/>
          <p:nvPr/>
        </p:nvSpPr>
        <p:spPr>
          <a:xfrm>
            <a:off x="7010248" y="3657600"/>
            <a:ext cx="3901288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4023360"/>
            <a:ext cx="48156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خط القص</a:t>
            </a:r>
            <a:endParaRPr lang="ar-SA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4617720"/>
            <a:ext cx="481568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خط متصل داكن تنفذه شفرة حادة، ويفصل العبوة عن الورق الزائد</a:t>
            </a:r>
            <a:endParaRPr lang="ar-SA" sz="1600" dirty="0"/>
          </a:p>
        </p:txBody>
      </p:sp>
      <p:sp>
        <p:nvSpPr>
          <p:cNvPr id="9" name="crease-line"/>
          <p:cNvSpPr/>
          <p:nvPr/>
        </p:nvSpPr>
        <p:spPr>
          <a:xfrm>
            <a:off x="1280160" y="3657600"/>
            <a:ext cx="3901288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481568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خط الطي</a:t>
            </a:r>
            <a:endParaRPr lang="ar-SA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17720"/>
            <a:ext cx="481568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خط متقطع أو فاتح تنفذه مسطرة غير حادة، يضغط الورق ليسهل طيّه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المحور الثاني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5176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المكعّب أساسًا للتغليف الإنشائي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657600" y="3931920"/>
            <a:ext cx="79854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كل تشويه للمكعّب هو تعديل على واحد أو أكثر من عناصره الثلاثة.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عناصر المكعّب الثلاثة</a:t>
            </a:r>
            <a:endParaRPr lang="ar-SA" sz="3000" dirty="0"/>
          </a:p>
        </p:txBody>
      </p:sp>
      <p:sp>
        <p:nvSpPr>
          <p:cNvPr id="3" name="element-Faces"/>
          <p:cNvSpPr/>
          <p:nvPr/>
        </p:nvSpPr>
        <p:spPr>
          <a:xfrm>
            <a:off x="8188757" y="1463040"/>
            <a:ext cx="3454298" cy="4206240"/>
          </a:xfrm>
          <a:prstGeom prst="roundRect">
            <a:avLst>
              <a:gd name="adj" fmla="val 2647"/>
            </a:avLst>
          </a:prstGeom>
          <a:solidFill>
            <a:schemeClr val="bg2"/>
          </a:solidFill>
          <a:ln/>
        </p:spPr>
      </p:sp>
      <p:sp>
        <p:nvSpPr>
          <p:cNvPr id="4" name="glyph"/>
          <p:cNvSpPr/>
          <p:nvPr/>
        </p:nvSpPr>
        <p:spPr>
          <a:xfrm>
            <a:off x="9367266" y="2103120"/>
            <a:ext cx="1097280" cy="109728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71637" y="3520440"/>
            <a:ext cx="308853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tx2"/>
                </a:solidFill>
              </a:rPr>
              <a:t>الأوجه</a:t>
            </a:r>
            <a:endParaRPr lang="ar-SA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371637" y="4023360"/>
            <a:ext cx="308853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chemeClr val="accent5"/>
                </a:solidFill>
              </a:rPr>
              <a:t>Faces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63077" y="4480560"/>
            <a:ext cx="290565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الأسطح المستوية، وتمثّل مساحات الطباعة والهوية البصرية</a:t>
            </a:r>
            <a:endParaRPr lang="ar-SA" sz="1600" dirty="0"/>
          </a:p>
        </p:txBody>
      </p:sp>
      <p:sp>
        <p:nvSpPr>
          <p:cNvPr id="8" name="element-Edges"/>
          <p:cNvSpPr/>
          <p:nvPr/>
        </p:nvSpPr>
        <p:spPr>
          <a:xfrm>
            <a:off x="4368698" y="1463040"/>
            <a:ext cx="3454298" cy="4206240"/>
          </a:xfrm>
          <a:prstGeom prst="roundRect">
            <a:avLst>
              <a:gd name="adj" fmla="val 2647"/>
            </a:avLst>
          </a:prstGeom>
          <a:solidFill>
            <a:schemeClr val="bg2"/>
          </a:solidFill>
          <a:ln/>
        </p:spPr>
      </p:sp>
      <p:sp>
        <p:nvSpPr>
          <p:cNvPr id="9" name="glyph"/>
          <p:cNvSpPr/>
          <p:nvPr/>
        </p:nvSpPr>
        <p:spPr>
          <a:xfrm>
            <a:off x="5547208" y="2103120"/>
            <a:ext cx="1097280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0" name="edge-mark"/>
          <p:cNvSpPr/>
          <p:nvPr/>
        </p:nvSpPr>
        <p:spPr>
          <a:xfrm>
            <a:off x="6644488" y="2103120"/>
            <a:ext cx="0" cy="1097280"/>
          </a:xfrm>
          <a:prstGeom prst="line">
            <a:avLst/>
          </a:prstGeom>
          <a:noFill/>
          <a:ln w="762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1578" y="3520440"/>
            <a:ext cx="308853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tx2"/>
                </a:solidFill>
              </a:rPr>
              <a:t>الحواف</a:t>
            </a:r>
            <a:endParaRPr lang="ar-SA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4023360"/>
            <a:ext cx="308853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chemeClr val="accent5"/>
                </a:solidFill>
              </a:rPr>
              <a:t>Edges</a:t>
            </a:r>
            <a:endParaRPr lang="ar-S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4480560"/>
            <a:ext cx="290565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خطوط التقاء وجهين، وتمثّل خطوط الطي</a:t>
            </a:r>
            <a:endParaRPr lang="ar-SA" sz="1600" dirty="0"/>
          </a:p>
        </p:txBody>
      </p:sp>
      <p:sp>
        <p:nvSpPr>
          <p:cNvPr id="14" name="element-Corners"/>
          <p:cNvSpPr/>
          <p:nvPr/>
        </p:nvSpPr>
        <p:spPr>
          <a:xfrm>
            <a:off x="548640" y="1463040"/>
            <a:ext cx="3454298" cy="4206240"/>
          </a:xfrm>
          <a:prstGeom prst="roundRect">
            <a:avLst>
              <a:gd name="adj" fmla="val 2647"/>
            </a:avLst>
          </a:prstGeom>
          <a:solidFill>
            <a:schemeClr val="bg2"/>
          </a:solidFill>
          <a:ln/>
        </p:spPr>
      </p:sp>
      <p:sp>
        <p:nvSpPr>
          <p:cNvPr id="15" name="glyph"/>
          <p:cNvSpPr/>
          <p:nvPr/>
        </p:nvSpPr>
        <p:spPr>
          <a:xfrm>
            <a:off x="1727149" y="2103120"/>
            <a:ext cx="1097280" cy="1097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6" name="corner-mark"/>
          <p:cNvSpPr/>
          <p:nvPr/>
        </p:nvSpPr>
        <p:spPr>
          <a:xfrm>
            <a:off x="2687269" y="196596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520440"/>
            <a:ext cx="308853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tx2"/>
                </a:solidFill>
              </a:rPr>
              <a:t>الأركان</a:t>
            </a:r>
            <a:endParaRPr lang="ar-SA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23360"/>
            <a:ext cx="308853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ar-SA" altLang="en-US" sz="1400" dirty="0">
                <a:solidFill>
                  <a:schemeClr val="accent5"/>
                </a:solidFill>
              </a:rPr>
              <a:t>Corners</a:t>
            </a:r>
            <a:endParaRPr lang="ar-SA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80560"/>
            <a:ext cx="290565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نقاط التقاء الحواف، وهي أكثر مواضع العبوة عرضة للتلف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المِفرَد (Net): العبوة قبل الطي</a:t>
            </a:r>
            <a:endParaRPr lang="ar-SA" sz="3000" dirty="0"/>
          </a:p>
        </p:txBody>
      </p:sp>
      <p:sp>
        <p:nvSpPr>
          <p:cNvPr id="3" name="frame-dc1"/>
          <p:cNvSpPr/>
          <p:nvPr/>
        </p:nvSpPr>
        <p:spPr>
          <a:xfrm>
            <a:off x="548640" y="1280160"/>
            <a:ext cx="4754880" cy="402336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dc1" descr="dc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0009"/>
            <a:ext cx="4754880" cy="39836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5"/>
                </a:solidFill>
              </a:rPr>
              <a:t>مِفرَد قياسي لمكعّب بألسنته</a:t>
            </a:r>
            <a:endParaRPr lang="ar-SA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325880"/>
            <a:ext cx="5973775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ترتيب الأوجه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تحديد مواقع الأوجه بالنسبة لبعضها بما يضمن انغلاق الشكل انغلاقًا صحيحًا.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الألسنة (Tabs)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تحديد أشكالها ومواضعها، لأنها أداة الربط بين الأوجه.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آلية الإغلاق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لسان اللصق (Glue Tab) للإغلاق الدائم، وقفل النقر (Click Lock) للإغلاق السريع، وقفل اللسان (Tongue Lock) للفتح والإغلاق المتكرر.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موضع الغطاء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غير ثابت؛ يمكن وضعه على أي وجه وبأي اتجاه، وهو قرار تصميمي يتحدد وفق عرض المنتج واستخدامه.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استراتيجيات تشويه المكعّب الثلاث</a:t>
            </a:r>
            <a:endParaRPr lang="ar-SA" sz="3000" dirty="0"/>
          </a:p>
        </p:txBody>
      </p:sp>
      <p:sp>
        <p:nvSpPr>
          <p:cNvPr id="3" name="strategy-1"/>
          <p:cNvSpPr/>
          <p:nvPr/>
        </p:nvSpPr>
        <p:spPr>
          <a:xfrm>
            <a:off x="8188757" y="1371600"/>
            <a:ext cx="3454298" cy="3566160"/>
          </a:xfrm>
          <a:prstGeom prst="roundRect">
            <a:avLst>
              <a:gd name="adj" fmla="val 264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63077" y="1600200"/>
            <a:ext cx="2905658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bg1"/>
                </a:solidFill>
              </a:rPr>
              <a:t>النحت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463077" y="2423160"/>
            <a:ext cx="290565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2"/>
                </a:solidFill>
              </a:rPr>
              <a:t>المكعّب كتلة صلبة</a:t>
            </a:r>
            <a:endParaRPr lang="ar-SA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63077" y="2926080"/>
            <a:ext cx="2905658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يُكشط جزء من وجه أو حافة أو ركن، بمقدار قليل أو كبير، بصورة متماثلة أو غير متماثلة.</a:t>
            </a:r>
            <a:endParaRPr lang="ar-SA" sz="1600" dirty="0"/>
          </a:p>
        </p:txBody>
      </p:sp>
      <p:sp>
        <p:nvSpPr>
          <p:cNvPr id="7" name="strategy-2"/>
          <p:cNvSpPr/>
          <p:nvPr/>
        </p:nvSpPr>
        <p:spPr>
          <a:xfrm>
            <a:off x="4368698" y="1371600"/>
            <a:ext cx="3454298" cy="3566160"/>
          </a:xfrm>
          <a:prstGeom prst="roundRect">
            <a:avLst>
              <a:gd name="adj" fmla="val 264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3018" y="1600200"/>
            <a:ext cx="2905658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bg1"/>
                </a:solidFill>
              </a:rPr>
              <a:t>المرونة</a:t>
            </a:r>
            <a:endParaRPr lang="ar-SA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423160"/>
            <a:ext cx="290565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2"/>
                </a:solidFill>
              </a:rPr>
              <a:t>المكعّب كتلة مطاطية</a:t>
            </a:r>
            <a:endParaRPr lang="ar-SA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2926080"/>
            <a:ext cx="2905658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يُشدّ أو يُضغط أو يُلوى على محاور تصل بين أوجه أو حواف أو أركان متقابلة.</a:t>
            </a:r>
            <a:endParaRPr lang="ar-SA" sz="1600" dirty="0"/>
          </a:p>
        </p:txBody>
      </p:sp>
      <p:sp>
        <p:nvSpPr>
          <p:cNvPr id="11" name="strategy-3"/>
          <p:cNvSpPr/>
          <p:nvPr/>
        </p:nvSpPr>
        <p:spPr>
          <a:xfrm>
            <a:off x="548640" y="1371600"/>
            <a:ext cx="3454298" cy="3566160"/>
          </a:xfrm>
          <a:prstGeom prst="roundRect">
            <a:avLst>
              <a:gd name="adj" fmla="val 2647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600200"/>
            <a:ext cx="2905658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bg1"/>
                </a:solidFill>
              </a:rPr>
              <a:t>التقويس</a:t>
            </a:r>
            <a:endParaRPr lang="ar-SA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23160"/>
            <a:ext cx="290565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2"/>
                </a:solidFill>
              </a:rPr>
              <a:t>الحواف المنحنية</a:t>
            </a:r>
            <a:endParaRPr lang="ar-S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926080"/>
            <a:ext cx="2905658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تُستبدل الحواف المستقيمة بحواف منحنية، فتتقوّس الأوجه المستوية.</a:t>
            </a:r>
            <a:endParaRPr lang="ar-SA" sz="1600" dirty="0"/>
          </a:p>
        </p:txBody>
      </p:sp>
      <p:sp>
        <p:nvSpPr>
          <p:cNvPr id="15" name="insight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212080"/>
            <a:ext cx="1063721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القيمة المنهجية: متى استوعب المصمم هذه الاستراتيجيات، أصبح ابتكار أشكال تغليف جديدة ميسورًا حتى مع معرفة محدودة بالهندسة الفراغية.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المحور الرابع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5176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التقنيات التطبيقية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657600" y="3931920"/>
            <a:ext cx="79854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ثماني تقنيات من استراتيجيتَي النحت والمرونة، لكلٍّ منها مِفرَد ونموذج منفّذ.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كشط وجه</a:t>
            </a:r>
            <a:endParaRPr lang="ar-SA" sz="3000" dirty="0"/>
          </a:p>
        </p:txBody>
      </p:sp>
      <p:sp>
        <p:nvSpPr>
          <p:cNvPr id="3" name="frame-face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face" descr="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209" y="1234440"/>
            <a:ext cx="4478942" cy="4937760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النحت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٦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Shaving a Face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يُكشط أحد الأوجه بزاوية مائلة فينتج سطح منحدر، ويمكن التحكم في درجة الميل أو إمالته إلى الأمام أو الخلف.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التحليل الشكلي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يتحوّل الوجهان الجانبيان إلى شبهي منحرف، ويصبح الوجه العلوي مستطيلًا مائلًا أطول من القاعدة.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يؤدي السطح المائل دور واجهة عرض للشعار أو المنتج، تُقرأ بسهولة من زاوية نظر المستهلك أمام الرف.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كشط حافة</a:t>
            </a:r>
            <a:endParaRPr lang="ar-SA" sz="3000" dirty="0"/>
          </a:p>
        </p:txBody>
      </p:sp>
      <p:sp>
        <p:nvSpPr>
          <p:cNvPr id="3" name="frame-edge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edge" descr="e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12" y="1234440"/>
            <a:ext cx="4569936" cy="4937760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النحت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٧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Shaving an Edge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تُكشط إحدى الحواف فينشأ مكانها وجه جديد، ويمكن التحكم في مقدار الكشط واتجاه ميله.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التحليل الشكلي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يزيد عدد الأوجه وجهًا واحدًا، ويتحوّل الوجهان الجانبيان إلى شكلين خماسيين.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يوفّر الوجه الإضافي مساحة لمعلومة أو عنصر بصري، ويمنح العبوة طابعًا أنعم يلائم علب الهدايا والعطور.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كشط ركن</a:t>
            </a:r>
            <a:endParaRPr lang="ar-SA" sz="3000" dirty="0"/>
          </a:p>
        </p:txBody>
      </p:sp>
      <p:sp>
        <p:nvSpPr>
          <p:cNvPr id="3" name="frame-corner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corner" descr="cor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34378"/>
            <a:ext cx="5212080" cy="4137883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النحت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٧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Shaving a Corner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يُكشط أحد الأركان فينشأ وجه على هيئة مثلث متساوي الأضلاع (زواياه ٦٠°)، لأن القطع يمر بثلاث حواف متساوية. وباختلاف مسافات القطع ينتج مثلث مختلف الأضلاع.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التحليل الشكلي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تتحوّل الأوجه الثلاثة الملتقية عند الركن إلى أشكال خماسية.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المثلث موضع مميز للشعار، وإيقاف العبوة عليه يمنحها أثرًا نحتيًا يلائم الإصدارات الخاصة.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المطّ من حافة إلى حافة</a:t>
            </a:r>
            <a:endParaRPr lang="ar-SA" sz="3000" dirty="0"/>
          </a:p>
        </p:txBody>
      </p:sp>
      <p:sp>
        <p:nvSpPr>
          <p:cNvPr id="3" name="frame-stretch-edge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stretch-edge" descr="stretch-e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214" y="1234440"/>
            <a:ext cx="4518932" cy="4937760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المرونة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٦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Stretching Edge-to-edge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تُشدّ حافتان متقابلتان في اتجاهين متعاكسين، فينتج صندوق مائل (Leaning Box).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التحليل الشكلي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يتحوّل وجهان متقابلان إلى متوازيي أضلاع، وتبقى الأوجه الأربعة الأخرى مستطيلات.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يوحي الشكل بالحركة والديناميكية، ويلائم المنتجات الشبابية والرياضية.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المطّ من ركن إلى ركن</a:t>
            </a:r>
            <a:endParaRPr lang="ar-SA" sz="3000" dirty="0"/>
          </a:p>
        </p:txBody>
      </p:sp>
      <p:sp>
        <p:nvSpPr>
          <p:cNvPr id="3" name="frame-stretch-corner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stretch-corner" descr="stretch-cor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2843"/>
            <a:ext cx="5212080" cy="4620954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المرونة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٦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Stretching Corner-to-corner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يُشدّ ركنان متقابلان فينتج شكل معيّني يُعرف بمتوازي السطوح المعيّني (Rhombohedron).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التحليل الشكلي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تتحوّل الأوجه الستة جميعها إلى معيّنات، ولا تبقى أي زاوية قائمة.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يبدو الشكل كأنه يخالف قوانين المنظور لغياب الزوايا القائمة، فيلائم المنتجات الفاخرة والفنية.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ليّ الوجهين المتقابلين</a:t>
            </a:r>
            <a:endParaRPr lang="ar-SA" sz="3000" dirty="0"/>
          </a:p>
        </p:txBody>
      </p:sp>
      <p:sp>
        <p:nvSpPr>
          <p:cNvPr id="3" name="frame-twist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twist" descr="tw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43" y="1234440"/>
            <a:ext cx="4980275" cy="4937760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المرونة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٦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Twisting Opposite Faces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يُلوى الوجهان العلوي والسفلي ليًّا خفيفًا في اتجاهين متعاكسين، فتتحول الجوانب إلى متوازيات أضلاع.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المعيار الرقمي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زاوية الميل المثلى ٨٠° (انحراف ١٠° عن القائمة)، والزوايا الأقل من ٧٠° نادرًا ما تنجح.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تشويه دقيق لا يُلحظ من النظرة الأولى، ثم يكتشفه المستهلك عند التأمل، فيلائم العلامات الراقية.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الليّ: النسخة المُضلَّعة</a:t>
            </a:r>
            <a:endParaRPr lang="ar-SA" sz="3000" dirty="0"/>
          </a:p>
        </p:txBody>
      </p:sp>
      <p:sp>
        <p:nvSpPr>
          <p:cNvPr id="3" name="frame-twist-facet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twist-facet" descr="twist-fac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6323"/>
            <a:ext cx="5212080" cy="4353994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المرونة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١٠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Twisting: Faceted Version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يُزاد الليّ حتى تقع أركان المربع العلوي فوق منتصفات حواف المربع السفلي، ثم تُوصل الأركان الثمانية بخطوط طي.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التحليل الشكلي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مربعان وثمانية مثلثات متساوية الساقين، ويُعرف الشكل بالمنشور المضاد (Antiprism). ويتطلب ألسنة ذات حافة مثنية (Flanged Tabs).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شكل بلوري يحاكي الأحجار الكريمة، يلائم المجوهرات والشوكولاتة الفاخرة والشموع.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الضغط من وجه إلى وجه</a:t>
            </a:r>
            <a:endParaRPr lang="ar-SA" sz="3000" dirty="0"/>
          </a:p>
        </p:txBody>
      </p:sp>
      <p:sp>
        <p:nvSpPr>
          <p:cNvPr id="3" name="frame-compress"/>
          <p:cNvSpPr/>
          <p:nvPr/>
        </p:nvSpPr>
        <p:spPr>
          <a:xfrm>
            <a:off x="548640" y="1234440"/>
            <a:ext cx="52120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compress" descr="comp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698" y="1234440"/>
            <a:ext cx="4961965" cy="4937760"/>
          </a:xfrm>
          <a:prstGeom prst="rect">
            <a:avLst/>
          </a:prstGeom>
        </p:spPr>
      </p:pic>
      <p:sp>
        <p:nvSpPr>
          <p:cNvPr id="5" name="chip-strategy"/>
          <p:cNvSpPr/>
          <p:nvPr/>
        </p:nvSpPr>
        <p:spPr>
          <a:xfrm>
            <a:off x="101800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1800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المرونة</a:t>
            </a:r>
            <a:endParaRPr lang="ar-SA" sz="1400" dirty="0"/>
          </a:p>
        </p:txBody>
      </p:sp>
      <p:sp>
        <p:nvSpPr>
          <p:cNvPr id="7" name="chip-faces"/>
          <p:cNvSpPr/>
          <p:nvPr/>
        </p:nvSpPr>
        <p:spPr>
          <a:xfrm>
            <a:off x="8579815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79815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٦ أوجه</a:t>
            </a:r>
            <a:endParaRPr lang="ar-SA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280160"/>
            <a:ext cx="2316175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Compressing Face-to-face</a:t>
            </a:r>
            <a:endParaRPr lang="ar-SA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920240"/>
            <a:ext cx="5562295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المفهوم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يُضغط وجهان متقابلان باتجاه بعضهما. والشكل المعروض تبسيط تصميمي (Stylization) لشكل هلامي منحنٍ أكثر تعقيدًا.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ملاحظة اقتصادية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رغم المظهر المضغوط، تساوي مساحة الورق المستخدمة مساحة المكعّب الأصلي، فلا ترتفع تكلفة المادة.</a:t>
            </a:r>
            <a:endParaRPr lang="ar-SA" sz="15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التوظيف في التغليف</a:t>
            </a:r>
            <a:endParaRPr lang="ar-SA" sz="1500" dirty="0"/>
          </a:p>
          <a:p>
            <a:pPr algn="r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شكل يوحي بالمرونة والطرافة، ويلائم المنتجات اللينة ومنتجات الأطفال.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مقارنة شاملة بين التقنيات</a:t>
            </a:r>
            <a:endParaRPr lang="ar-SA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6065215"/>
                <a:gridCol w="1005840"/>
                <a:gridCol w="1645920"/>
                <a:gridCol w="237744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التغيير الأساسي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الأوجه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الاستراتيجية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التقنية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سطح علوي منحدر، وجانبان شبه منحرفين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النحت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كشط وجه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وجه مستطيل جديد، وجانبان خماسيان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٧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النحت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كشط حافة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وجه مثلث جديد، وثلاثة أوجه خماسية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٧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النحت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كشط ركن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وجهان متوازيا أضلاع: صندوق مائل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المرونة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مطّ حافة لحافة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جميع الأوجه معيّنات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المرونة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مطّ ركن لركن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جوانب متوازيات أضلاع بزاوية ٨٠°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المرونة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ليّ بسيط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مربعان وثمانية مثلثات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١٠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المرونة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ليّ مُضلَّع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جدران منثنية عند منتصفها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٦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المرونة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ضغط وجه لوجه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المحور الخامس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5176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استراتيجية التقويس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657600" y="3931920"/>
            <a:ext cx="79854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يمكن استبدال أي حافة طي مستقيمة تقريبًا بمنحنى مزدوج، فتتحول العبوة الحادة إلى عبوة أنعم وأكثر زخرفة.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رسم المنحنى المزدوج: الخطوات ١–٣</a:t>
            </a:r>
            <a:endParaRPr lang="ar-SA" sz="3000" dirty="0"/>
          </a:p>
        </p:txBody>
      </p:sp>
      <p:sp>
        <p:nvSpPr>
          <p:cNvPr id="3" name="frame-dc1"/>
          <p:cNvSpPr/>
          <p:nvPr/>
        </p:nvSpPr>
        <p:spPr>
          <a:xfrm>
            <a:off x="8188757" y="128016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dc1" descr="dc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8771" y="1280160"/>
            <a:ext cx="3274271" cy="2743200"/>
          </a:xfrm>
          <a:prstGeom prst="rect">
            <a:avLst/>
          </a:prstGeom>
        </p:spPr>
      </p:pic>
      <p:sp>
        <p:nvSpPr>
          <p:cNvPr id="5" name="badge"/>
          <p:cNvSpPr/>
          <p:nvPr/>
        </p:nvSpPr>
        <p:spPr>
          <a:xfrm>
            <a:off x="11094415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94415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88757" y="4206240"/>
            <a:ext cx="276849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إعداد المِفرَد</a:t>
            </a:r>
            <a:endParaRPr lang="ar-S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8757" y="4754880"/>
            <a:ext cx="345429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يُرسم مِفرَد قياسي للمكعّب بألسنته، وتُضاف خطوط إنشاء تمر بمراكز المربعات: خطّان طويلان وخطّان قصيران.</a:t>
            </a:r>
            <a:endParaRPr lang="ar-SA" sz="1500" dirty="0"/>
          </a:p>
        </p:txBody>
      </p:sp>
      <p:sp>
        <p:nvSpPr>
          <p:cNvPr id="9" name="frame-dc2"/>
          <p:cNvSpPr/>
          <p:nvPr/>
        </p:nvSpPr>
        <p:spPr>
          <a:xfrm>
            <a:off x="4368698" y="128016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g-dc2" descr="dc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408" y="1280160"/>
            <a:ext cx="3208879" cy="2743200"/>
          </a:xfrm>
          <a:prstGeom prst="rect">
            <a:avLst/>
          </a:prstGeom>
        </p:spPr>
      </p:pic>
      <p:sp>
        <p:nvSpPr>
          <p:cNvPr id="11" name="badge"/>
          <p:cNvSpPr/>
          <p:nvPr/>
        </p:nvSpPr>
        <p:spPr>
          <a:xfrm>
            <a:off x="7274357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274357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٢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368698" y="4206240"/>
            <a:ext cx="276849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القوس الأول</a:t>
            </a:r>
            <a:endParaRPr lang="ar-SA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368698" y="4754880"/>
            <a:ext cx="345429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يُقاس طول الحافة ويُضاف إليه ٥٪ ليكون نصف القطر، ويُرسم قوس يمر بطرفي الحافة ومركزه على خط الإنشاء يمينها.</a:t>
            </a:r>
            <a:endParaRPr lang="ar-SA" sz="1500" dirty="0"/>
          </a:p>
        </p:txBody>
      </p:sp>
      <p:sp>
        <p:nvSpPr>
          <p:cNvPr id="15" name="frame-dc3"/>
          <p:cNvSpPr/>
          <p:nvPr/>
        </p:nvSpPr>
        <p:spPr>
          <a:xfrm>
            <a:off x="548640" y="128016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img-dc3" descr="dc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64823"/>
            <a:ext cx="3454298" cy="2573874"/>
          </a:xfrm>
          <a:prstGeom prst="rect">
            <a:avLst/>
          </a:prstGeom>
        </p:spPr>
      </p:pic>
      <p:sp>
        <p:nvSpPr>
          <p:cNvPr id="17" name="badge"/>
          <p:cNvSpPr/>
          <p:nvPr/>
        </p:nvSpPr>
        <p:spPr>
          <a:xfrm>
            <a:off x="3454298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345429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٣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06240"/>
            <a:ext cx="276849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القوس الثاني</a:t>
            </a:r>
            <a:endParaRPr lang="ar-SA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754880"/>
            <a:ext cx="345429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تُكرَّر الخطوة السابقة على أن يقع المركز يسار الحافة.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رسم المنحنى المزدوج: الخطوات ٤–٦</a:t>
            </a:r>
            <a:endParaRPr lang="ar-SA" sz="3000" dirty="0"/>
          </a:p>
        </p:txBody>
      </p:sp>
      <p:sp>
        <p:nvSpPr>
          <p:cNvPr id="3" name="frame-dc4"/>
          <p:cNvSpPr/>
          <p:nvPr/>
        </p:nvSpPr>
        <p:spPr>
          <a:xfrm>
            <a:off x="8188757" y="128016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dc4" descr="dc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1467" y="1280160"/>
            <a:ext cx="3208879" cy="2743200"/>
          </a:xfrm>
          <a:prstGeom prst="rect">
            <a:avLst/>
          </a:prstGeom>
        </p:spPr>
      </p:pic>
      <p:sp>
        <p:nvSpPr>
          <p:cNvPr id="5" name="badge"/>
          <p:cNvSpPr/>
          <p:nvPr/>
        </p:nvSpPr>
        <p:spPr>
          <a:xfrm>
            <a:off x="11094415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094415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88757" y="4206240"/>
            <a:ext cx="276849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اكتمال المنحنى</a:t>
            </a:r>
            <a:endParaRPr lang="ar-S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8757" y="4754880"/>
            <a:ext cx="345429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يلتقي القوسان عند طرفي الحافة ويشكّلان هيئة عدسية، هي المنحنى المزدوج.</a:t>
            </a:r>
            <a:endParaRPr lang="ar-SA" sz="1500" dirty="0"/>
          </a:p>
        </p:txBody>
      </p:sp>
      <p:sp>
        <p:nvSpPr>
          <p:cNvPr id="9" name="frame-dc4b"/>
          <p:cNvSpPr/>
          <p:nvPr/>
        </p:nvSpPr>
        <p:spPr>
          <a:xfrm>
            <a:off x="4368698" y="128016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g-dc4b" descr="dc4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8" y="1956688"/>
            <a:ext cx="3454298" cy="1390144"/>
          </a:xfrm>
          <a:prstGeom prst="rect">
            <a:avLst/>
          </a:prstGeom>
        </p:spPr>
      </p:pic>
      <p:sp>
        <p:nvSpPr>
          <p:cNvPr id="11" name="badge"/>
          <p:cNvSpPr/>
          <p:nvPr/>
        </p:nvSpPr>
        <p:spPr>
          <a:xfrm>
            <a:off x="7274357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274357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٥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368698" y="4206240"/>
            <a:ext cx="276849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تعميم المنحنيات</a:t>
            </a:r>
            <a:endParaRPr lang="ar-SA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368698" y="4754880"/>
            <a:ext cx="345429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تُضاف ثلاثة منحنيات بخطوط الإنشاء الطويلة، وتُرسم منحنيات مفردة قصيرة على الألسنة بالخطوط القصيرة.</a:t>
            </a:r>
            <a:endParaRPr lang="ar-SA" sz="1500" dirty="0"/>
          </a:p>
        </p:txBody>
      </p:sp>
      <p:sp>
        <p:nvSpPr>
          <p:cNvPr id="15" name="frame-dc5"/>
          <p:cNvSpPr/>
          <p:nvPr/>
        </p:nvSpPr>
        <p:spPr>
          <a:xfrm>
            <a:off x="548640" y="1280160"/>
            <a:ext cx="3454298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img-dc5" descr="dc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1" y="1280160"/>
            <a:ext cx="2750716" cy="2743200"/>
          </a:xfrm>
          <a:prstGeom prst="rect">
            <a:avLst/>
          </a:prstGeom>
        </p:spPr>
      </p:pic>
      <p:sp>
        <p:nvSpPr>
          <p:cNvPr id="17" name="badge"/>
          <p:cNvSpPr/>
          <p:nvPr/>
        </p:nvSpPr>
        <p:spPr>
          <a:xfrm>
            <a:off x="3454298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345429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٦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06240"/>
            <a:ext cx="276849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الشكل النهائي</a:t>
            </a:r>
            <a:endParaRPr lang="ar-SA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754880"/>
            <a:ext cx="3454298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مكعّب تبدو حواف وجهه العلوي مقعّرة ولينة.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حساب نصف قطر المنحنى</a:t>
            </a:r>
            <a:endParaRPr lang="ar-SA" sz="3000" dirty="0"/>
          </a:p>
        </p:txBody>
      </p:sp>
      <p:sp>
        <p:nvSpPr>
          <p:cNvPr id="3" name="formula"/>
          <p:cNvSpPr/>
          <p:nvPr/>
        </p:nvSpPr>
        <p:spPr>
          <a:xfrm>
            <a:off x="548640" y="1280160"/>
            <a:ext cx="11094415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نصف القطر = طول الحافة + ٥٪</a:t>
            </a:r>
            <a:endParaRPr lang="ar-SA" sz="4000" dirty="0"/>
          </a:p>
        </p:txBody>
      </p:sp>
      <p:sp>
        <p:nvSpPr>
          <p:cNvPr id="5" name="example-0"/>
          <p:cNvSpPr/>
          <p:nvPr/>
        </p:nvSpPr>
        <p:spPr>
          <a:xfrm>
            <a:off x="8188757" y="2834640"/>
            <a:ext cx="3454298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88757" y="2926080"/>
            <a:ext cx="345429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chemeClr val="accent1"/>
                </a:solidFill>
              </a:rPr>
              <a:t>١٠٫٥ سم</a:t>
            </a:r>
            <a:endParaRPr lang="ar-SA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188757" y="3840480"/>
            <a:ext cx="345429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accent5"/>
                </a:solidFill>
              </a:rPr>
              <a:t>نصف القطر لحافة طولها ١٠ سم</a:t>
            </a:r>
            <a:endParaRPr lang="ar-SA" sz="1500" dirty="0"/>
          </a:p>
        </p:txBody>
      </p:sp>
      <p:sp>
        <p:nvSpPr>
          <p:cNvPr id="8" name="example-1"/>
          <p:cNvSpPr/>
          <p:nvPr/>
        </p:nvSpPr>
        <p:spPr>
          <a:xfrm>
            <a:off x="4368698" y="2834640"/>
            <a:ext cx="3454298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68698" y="2926080"/>
            <a:ext cx="345429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chemeClr val="accent1"/>
                </a:solidFill>
              </a:rPr>
              <a:t>٨٫٤ سم</a:t>
            </a:r>
            <a:endParaRPr lang="ar-SA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3840480"/>
            <a:ext cx="345429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accent5"/>
                </a:solidFill>
              </a:rPr>
              <a:t>نصف القطر لحافة طولها ٨ سم</a:t>
            </a:r>
            <a:endParaRPr lang="ar-SA" sz="1500" dirty="0"/>
          </a:p>
        </p:txBody>
      </p:sp>
      <p:sp>
        <p:nvSpPr>
          <p:cNvPr id="11" name="example-2"/>
          <p:cNvSpPr/>
          <p:nvPr/>
        </p:nvSpPr>
        <p:spPr>
          <a:xfrm>
            <a:off x="548640" y="2834640"/>
            <a:ext cx="3454298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345429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chemeClr val="accent1"/>
                </a:solidFill>
              </a:rPr>
              <a:t>١٢٫٦ سم</a:t>
            </a:r>
            <a:endParaRPr lang="ar-SA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345429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accent5"/>
                </a:solidFill>
              </a:rPr>
              <a:t>نصف القطر لحافة طولها ١٢ سم</a:t>
            </a:r>
            <a:endParaRPr lang="ar-SA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1109441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لماذا ٥٪ فقط؟ لأن نصف القطر الكبير نسبيًا يعطي قوسًا لطيف الانحناء يسهل طيّه، في حين يؤدي نصف القطر الصغير إلى منحنى حاد يصعب تنفيذه على الورق.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تنفيذ الطيات المنحنية بالقالب</a:t>
            </a:r>
            <a:endParaRPr lang="ar-SA" sz="3000" dirty="0"/>
          </a:p>
        </p:txBody>
      </p:sp>
      <p:sp>
        <p:nvSpPr>
          <p:cNvPr id="3" name="frame-wedge"/>
          <p:cNvSpPr/>
          <p:nvPr/>
        </p:nvSpPr>
        <p:spPr>
          <a:xfrm>
            <a:off x="548640" y="1371600"/>
            <a:ext cx="3657600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wedge" descr="we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1574"/>
            <a:ext cx="3657600" cy="34147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chemeClr val="accent5"/>
                </a:solidFill>
              </a:rPr>
              <a:t>قالب القطاع الدائري («قطعة الفطيرة»)</a:t>
            </a:r>
            <a:endParaRPr lang="ar-SA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325880"/>
            <a:ext cx="688817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يتعذّر تنفيذ طيّة منحنية دقيقة باليد الحرة، لأن أداة الطي تحتاج إلى دليل تسير عليه.</a:t>
            </a:r>
            <a:endParaRPr lang="ar-SA" sz="1700" dirty="0"/>
          </a:p>
        </p:txBody>
      </p:sp>
      <p:sp>
        <p:nvSpPr>
          <p:cNvPr id="7" name="badge"/>
          <p:cNvSpPr/>
          <p:nvPr/>
        </p:nvSpPr>
        <p:spPr>
          <a:xfrm>
            <a:off x="11140135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4013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2194560"/>
            <a:ext cx="6202375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يُرسم على ورق مقوّى زائد قطاع دائري بنصف قطر المنحنى المطلوب نفسه.</a:t>
            </a:r>
            <a:endParaRPr lang="ar-SA" sz="1600" dirty="0"/>
          </a:p>
        </p:txBody>
      </p:sp>
      <p:sp>
        <p:nvSpPr>
          <p:cNvPr id="10" name="badge"/>
          <p:cNvSpPr/>
          <p:nvPr/>
        </p:nvSpPr>
        <p:spPr>
          <a:xfrm>
            <a:off x="11140135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140135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٢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3063240"/>
            <a:ext cx="6202375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يُقص القالب بدقة عالية، لأن أي عيب في حافته ينتقل إلى الطيّة.</a:t>
            </a:r>
            <a:endParaRPr lang="ar-SA" sz="1600" dirty="0"/>
          </a:p>
        </p:txBody>
      </p:sp>
      <p:sp>
        <p:nvSpPr>
          <p:cNvPr id="13" name="badge"/>
          <p:cNvSpPr/>
          <p:nvPr/>
        </p:nvSpPr>
        <p:spPr>
          <a:xfrm>
            <a:off x="11140135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140135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٣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931920"/>
            <a:ext cx="6202375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يوضع القالب على المِفرَد في موضع المنحنى تمامًا.</a:t>
            </a:r>
            <a:endParaRPr lang="ar-SA" sz="1600" dirty="0"/>
          </a:p>
        </p:txBody>
      </p:sp>
      <p:sp>
        <p:nvSpPr>
          <p:cNvPr id="16" name="badge"/>
          <p:cNvSpPr/>
          <p:nvPr/>
        </p:nvSpPr>
        <p:spPr>
          <a:xfrm>
            <a:off x="11140135" y="4800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140135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٤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4800600"/>
            <a:ext cx="6202375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تُنفّذ الطيّة باستخدام حافة القالب دليلًا لأداة الطي بدل المسطرة.</a:t>
            </a:r>
            <a:endParaRPr lang="ar-SA" sz="1600" dirty="0"/>
          </a:p>
        </p:txBody>
      </p:sp>
      <p:sp>
        <p:nvSpPr>
          <p:cNvPr id="19" name="tip"/>
          <p:cNvSpPr/>
          <p:nvPr/>
        </p:nvSpPr>
        <p:spPr>
          <a:xfrm>
            <a:off x="4754880" y="5669280"/>
            <a:ext cx="6888175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5669280"/>
            <a:ext cx="661385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تتضح هنا أهمية الشفرة الكالّة المقلوبة، لأنها تضغط الخط ملاصقًا لحافة القالب.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المنحنيات المفردة (Single Curves)</a:t>
            </a:r>
            <a:endParaRPr lang="ar-SA" sz="3000" dirty="0"/>
          </a:p>
        </p:txBody>
      </p:sp>
      <p:sp>
        <p:nvSpPr>
          <p:cNvPr id="3" name="frame-single"/>
          <p:cNvSpPr/>
          <p:nvPr/>
        </p:nvSpPr>
        <p:spPr>
          <a:xfrm>
            <a:off x="548640" y="1280160"/>
            <a:ext cx="4572000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g-single" descr="si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3902"/>
            <a:ext cx="4572000" cy="36129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57800"/>
            <a:ext cx="4572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chemeClr val="accent5"/>
                </a:solidFill>
              </a:rPr>
              <a:t>علّة العدد الزوجي: تعمل المنحنيات المفردة في أزواج متعاكسة، فإن كان العدد فرديًا بقي منحنى دون مقابل ولم ينغلق الشكل.</a:t>
            </a:r>
            <a:endParaRPr lang="ar-SA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80160"/>
          <a:ext cx="6248095" cy="914400"/>
        </p:xfrm>
        <a:graphic>
          <a:graphicData uri="http://schemas.openxmlformats.org/drawingml/2006/table">
            <a:tbl>
              <a:tblPr/>
              <a:tblGrid>
                <a:gridCol w="2590495"/>
                <a:gridCol w="2011680"/>
                <a:gridCol w="1645920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المفردة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المزدوجة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وجه المقارنة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الحواف العمودية فقط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أي حافة تقريبًا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الموضع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انعكاسي (صورة مرآة)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حر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الترتيب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زوجي (٤ أو ٦ أو ٨)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غير مشروط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عدد الحواف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طول الحافة + ٥٪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طول الحافة + ٥٪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نصف القطر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394960" y="4343400"/>
            <a:ext cx="6248095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التوظيف في التغليف: </a:t>
            </a:r>
            <a:pPr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تجعل الجدران المقعّرة الإمساك بالعبوة أيسر، وتوحي المنحنيات بالنعومة والرقي، فتلائم مستحضرات التجميل والعطور والهدايا.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الاعتبارات التصميمية والوظيفية</a:t>
            </a:r>
            <a:endParaRPr lang="ar-SA" sz="3000" dirty="0"/>
          </a:p>
        </p:txBody>
      </p:sp>
      <p:sp>
        <p:nvSpPr>
          <p:cNvPr id="3" name="check-0"/>
          <p:cNvSpPr/>
          <p:nvPr/>
        </p:nvSpPr>
        <p:spPr>
          <a:xfrm>
            <a:off x="9075191" y="13258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4" name="badge"/>
          <p:cNvSpPr/>
          <p:nvPr/>
        </p:nvSpPr>
        <p:spPr>
          <a:xfrm>
            <a:off x="11048695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258071" y="21031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ملاءمة المنتج</a:t>
            </a:r>
            <a:endParaRPr lang="ar-S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258071" y="25603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هل يستوعب الشكل المنتج ويحميه؟</a:t>
            </a:r>
            <a:endParaRPr lang="ar-SA" sz="1500" dirty="0"/>
          </a:p>
        </p:txBody>
      </p:sp>
      <p:sp>
        <p:nvSpPr>
          <p:cNvPr id="8" name="check-1"/>
          <p:cNvSpPr/>
          <p:nvPr/>
        </p:nvSpPr>
        <p:spPr>
          <a:xfrm>
            <a:off x="6233008" y="13258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9" name="badge"/>
          <p:cNvSpPr/>
          <p:nvPr/>
        </p:nvSpPr>
        <p:spPr>
          <a:xfrm>
            <a:off x="8206511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06511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1031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الرصّ والتخزين</a:t>
            </a:r>
            <a:endParaRPr lang="ar-SA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5603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الأشكال المائلة أصعب في الرصّ والشحن</a:t>
            </a:r>
            <a:endParaRPr lang="ar-SA" sz="1500" dirty="0"/>
          </a:p>
        </p:txBody>
      </p:sp>
      <p:sp>
        <p:nvSpPr>
          <p:cNvPr id="13" name="check-2"/>
          <p:cNvSpPr/>
          <p:nvPr/>
        </p:nvSpPr>
        <p:spPr>
          <a:xfrm>
            <a:off x="3390824" y="13258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4" name="badge"/>
          <p:cNvSpPr/>
          <p:nvPr/>
        </p:nvSpPr>
        <p:spPr>
          <a:xfrm>
            <a:off x="5364328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6432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٣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73704" y="21031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واجهة العرض</a:t>
            </a:r>
            <a:endParaRPr lang="ar-SA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73704" y="25603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أي الأوجه يواجه المستهلك؟ وأين الشعار؟</a:t>
            </a:r>
            <a:endParaRPr lang="ar-SA" sz="1500" dirty="0"/>
          </a:p>
        </p:txBody>
      </p:sp>
      <p:sp>
        <p:nvSpPr>
          <p:cNvPr id="18" name="check-3"/>
          <p:cNvSpPr/>
          <p:nvPr/>
        </p:nvSpPr>
        <p:spPr>
          <a:xfrm>
            <a:off x="548640" y="13258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9" name="badge"/>
          <p:cNvSpPr/>
          <p:nvPr/>
        </p:nvSpPr>
        <p:spPr>
          <a:xfrm>
            <a:off x="2522144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221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1031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موضع الغطاء</a:t>
            </a:r>
            <a:endParaRPr lang="ar-SA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5603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هل موضع الفتح منطقي وسهل؟</a:t>
            </a:r>
            <a:endParaRPr lang="ar-SA" sz="1500" dirty="0"/>
          </a:p>
        </p:txBody>
      </p:sp>
      <p:sp>
        <p:nvSpPr>
          <p:cNvPr id="23" name="check-4"/>
          <p:cNvSpPr/>
          <p:nvPr/>
        </p:nvSpPr>
        <p:spPr>
          <a:xfrm>
            <a:off x="9075191" y="38404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/>
        </p:spPr>
      </p:sp>
      <p:sp>
        <p:nvSpPr>
          <p:cNvPr id="24" name="check-border-4"/>
          <p:cNvSpPr/>
          <p:nvPr/>
        </p:nvSpPr>
        <p:spPr>
          <a:xfrm>
            <a:off x="9075191" y="3840480"/>
            <a:ext cx="2567864" cy="2240280"/>
          </a:xfrm>
          <a:prstGeom prst="roundRect">
            <a:avLst>
              <a:gd name="adj" fmla="val 4082"/>
            </a:avLst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25" name="badge"/>
          <p:cNvSpPr/>
          <p:nvPr/>
        </p:nvSpPr>
        <p:spPr>
          <a:xfrm>
            <a:off x="11048695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048695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٥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58071" y="46177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آلية الإغلاق</a:t>
            </a:r>
            <a:endParaRPr lang="ar-SA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58071" y="50749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فتح لمرة واحدة أم متكرر؟</a:t>
            </a:r>
            <a:endParaRPr lang="ar-SA" sz="1500" dirty="0"/>
          </a:p>
        </p:txBody>
      </p:sp>
      <p:sp>
        <p:nvSpPr>
          <p:cNvPr id="29" name="check-5"/>
          <p:cNvSpPr/>
          <p:nvPr/>
        </p:nvSpPr>
        <p:spPr>
          <a:xfrm>
            <a:off x="6233008" y="38404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/>
        </p:spPr>
      </p:sp>
      <p:sp>
        <p:nvSpPr>
          <p:cNvPr id="30" name="check-border-5"/>
          <p:cNvSpPr/>
          <p:nvPr/>
        </p:nvSpPr>
        <p:spPr>
          <a:xfrm>
            <a:off x="6233008" y="3840480"/>
            <a:ext cx="2567864" cy="2240280"/>
          </a:xfrm>
          <a:prstGeom prst="roundRect">
            <a:avLst>
              <a:gd name="adj" fmla="val 4082"/>
            </a:avLst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31" name="badge"/>
          <p:cNvSpPr/>
          <p:nvPr/>
        </p:nvSpPr>
        <p:spPr>
          <a:xfrm>
            <a:off x="8206511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06511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٦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15888" y="46177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تكلفة المادة</a:t>
            </a:r>
            <a:endParaRPr lang="ar-SA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15888" y="50749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مساحة الورق مقارنة بالمكعّب الأصلي</a:t>
            </a:r>
            <a:endParaRPr lang="ar-SA" sz="1500" dirty="0"/>
          </a:p>
        </p:txBody>
      </p:sp>
      <p:sp>
        <p:nvSpPr>
          <p:cNvPr id="35" name="check-6"/>
          <p:cNvSpPr/>
          <p:nvPr/>
        </p:nvSpPr>
        <p:spPr>
          <a:xfrm>
            <a:off x="3390824" y="38404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/>
        </p:spPr>
      </p:sp>
      <p:sp>
        <p:nvSpPr>
          <p:cNvPr id="36" name="check-border-6"/>
          <p:cNvSpPr/>
          <p:nvPr/>
        </p:nvSpPr>
        <p:spPr>
          <a:xfrm>
            <a:off x="3390824" y="3840480"/>
            <a:ext cx="2567864" cy="2240280"/>
          </a:xfrm>
          <a:prstGeom prst="roundRect">
            <a:avLst>
              <a:gd name="adj" fmla="val 4082"/>
            </a:avLst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37" name="badge"/>
          <p:cNvSpPr/>
          <p:nvPr/>
        </p:nvSpPr>
        <p:spPr>
          <a:xfrm>
            <a:off x="5364328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6432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٧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573704" y="46177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قابلية التصنيع</a:t>
            </a:r>
            <a:endParaRPr lang="ar-SA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3573704" y="50749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هل يصلح المِفرَد لقالب القص والتكسير؟</a:t>
            </a:r>
            <a:endParaRPr lang="ar-SA" sz="1500" dirty="0"/>
          </a:p>
        </p:txBody>
      </p:sp>
      <p:sp>
        <p:nvSpPr>
          <p:cNvPr id="41" name="check-7"/>
          <p:cNvSpPr/>
          <p:nvPr/>
        </p:nvSpPr>
        <p:spPr>
          <a:xfrm>
            <a:off x="548640" y="3840480"/>
            <a:ext cx="2567864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/>
        </p:spPr>
      </p:sp>
      <p:sp>
        <p:nvSpPr>
          <p:cNvPr id="42" name="check-border-7"/>
          <p:cNvSpPr/>
          <p:nvPr/>
        </p:nvSpPr>
        <p:spPr>
          <a:xfrm>
            <a:off x="548640" y="3840480"/>
            <a:ext cx="2567864" cy="2240280"/>
          </a:xfrm>
          <a:prstGeom prst="roundRect">
            <a:avLst>
              <a:gd name="adj" fmla="val 4082"/>
            </a:avLst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43" name="badge"/>
          <p:cNvSpPr/>
          <p:nvPr/>
        </p:nvSpPr>
        <p:spPr>
          <a:xfrm>
            <a:off x="2522144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22144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٨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4617720"/>
            <a:ext cx="22021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الهوية البصرية</a:t>
            </a:r>
            <a:endParaRPr lang="ar-SA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5074920"/>
            <a:ext cx="220210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هندسي حاد، أم منحنٍ ناعم، أم مائل ديناميكي؟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الخلاصة: أهم ما ينبغي للطالب معرفته</a:t>
            </a:r>
            <a:endParaRPr lang="ar-SA" sz="3000" dirty="0"/>
          </a:p>
        </p:txBody>
      </p:sp>
      <p:sp>
        <p:nvSpPr>
          <p:cNvPr id="3" name="badge"/>
          <p:cNvSpPr/>
          <p:nvPr/>
        </p:nvSpPr>
        <p:spPr>
          <a:xfrm>
            <a:off x="11185855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85855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325880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الطي عملية ضغط لا قطع، والشفرة الكالّة المقلوبة أدق أدواته.</a:t>
            </a:r>
            <a:endParaRPr lang="ar-SA" sz="1600" dirty="0"/>
          </a:p>
        </p:txBody>
      </p:sp>
      <p:sp>
        <p:nvSpPr>
          <p:cNvPr id="6" name="badge"/>
          <p:cNvSpPr/>
          <p:nvPr/>
        </p:nvSpPr>
        <p:spPr>
          <a:xfrm>
            <a:off x="11185855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85855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٢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2313432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توضع المسطرة فوق الرسم، وتبقى اليد غير القاطعة أعلى اليد القاطعة.</a:t>
            </a:r>
            <a:endParaRPr lang="ar-SA" sz="1600" dirty="0"/>
          </a:p>
        </p:txBody>
      </p:sp>
      <p:sp>
        <p:nvSpPr>
          <p:cNvPr id="9" name="badge"/>
          <p:cNvSpPr/>
          <p:nvPr/>
        </p:nvSpPr>
        <p:spPr>
          <a:xfrm>
            <a:off x="11185855" y="3410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85855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٣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3300984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يتكوّن المكعّب من أوجه وحواف وأركان، وكل تشويه تعديل على أحدها.</a:t>
            </a:r>
            <a:endParaRPr lang="ar-SA" sz="1600" dirty="0"/>
          </a:p>
        </p:txBody>
      </p:sp>
      <p:sp>
        <p:nvSpPr>
          <p:cNvPr id="12" name="badge"/>
          <p:cNvSpPr/>
          <p:nvPr/>
        </p:nvSpPr>
        <p:spPr>
          <a:xfrm>
            <a:off x="11185855" y="4398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85855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4288536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استراتيجيات التشويه ثلاث: النحت والمرونة والتقويس.</a:t>
            </a:r>
            <a:endParaRPr lang="ar-SA" sz="1600" dirty="0"/>
          </a:p>
        </p:txBody>
      </p:sp>
      <p:sp>
        <p:nvSpPr>
          <p:cNvPr id="15" name="badge"/>
          <p:cNvSpPr/>
          <p:nvPr/>
        </p:nvSpPr>
        <p:spPr>
          <a:xfrm>
            <a:off x="11185855" y="53858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85855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٥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24448" y="5276088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كشط الحافة أو الركن يضيف وجهًا، بخلاف المطّ والليّ البسيط والضغط.</a:t>
            </a:r>
            <a:endParaRPr lang="ar-SA" sz="1600" dirty="0"/>
          </a:p>
        </p:txBody>
      </p:sp>
      <p:sp>
        <p:nvSpPr>
          <p:cNvPr id="18" name="badge"/>
          <p:cNvSpPr/>
          <p:nvPr/>
        </p:nvSpPr>
        <p:spPr>
          <a:xfrm>
            <a:off x="5410048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1004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٦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325880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زاوية الليّ المثلى ٨٠°، ولا يُنصح بما دون ٧٠°.</a:t>
            </a:r>
            <a:endParaRPr lang="ar-SA" sz="1600" dirty="0"/>
          </a:p>
        </p:txBody>
      </p:sp>
      <p:sp>
        <p:nvSpPr>
          <p:cNvPr id="21" name="badge"/>
          <p:cNvSpPr/>
          <p:nvPr/>
        </p:nvSpPr>
        <p:spPr>
          <a:xfrm>
            <a:off x="5410048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1004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٧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313432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شكل الضغط يحتفظ بمساحة الورق نفسها رغم مظهره المضغوط.</a:t>
            </a:r>
            <a:endParaRPr lang="ar-SA" sz="1600" dirty="0"/>
          </a:p>
        </p:txBody>
      </p:sp>
      <p:sp>
        <p:nvSpPr>
          <p:cNvPr id="24" name="badge"/>
          <p:cNvSpPr/>
          <p:nvPr/>
        </p:nvSpPr>
        <p:spPr>
          <a:xfrm>
            <a:off x="5410048" y="34107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1004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٨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300984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نصف قطر المنحنى = طول الحافة + ٥٪.</a:t>
            </a:r>
            <a:endParaRPr lang="ar-SA" sz="1600" dirty="0"/>
          </a:p>
        </p:txBody>
      </p:sp>
      <p:sp>
        <p:nvSpPr>
          <p:cNvPr id="27" name="badge"/>
          <p:cNvSpPr/>
          <p:nvPr/>
        </p:nvSpPr>
        <p:spPr>
          <a:xfrm>
            <a:off x="5410048" y="4398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10048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٩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288536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المنحنيات المفردة: حواف عمودية، عدد زوجي، ترتيب انعكاسي.</a:t>
            </a:r>
            <a:endParaRPr lang="ar-SA" sz="1600" dirty="0"/>
          </a:p>
        </p:txBody>
      </p:sp>
      <p:sp>
        <p:nvSpPr>
          <p:cNvPr id="30" name="badge"/>
          <p:cNvSpPr/>
          <p:nvPr/>
        </p:nvSpPr>
        <p:spPr>
          <a:xfrm>
            <a:off x="5410048" y="53858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10048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١٠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76088"/>
            <a:ext cx="4678528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تُنفّذ الطيات المنحنية بقالب قطاع دائري لا باليد الحرة.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أسئلة تقويمية</a:t>
            </a:r>
            <a:endParaRPr lang="ar-SA" sz="3000" dirty="0"/>
          </a:p>
        </p:txBody>
      </p:sp>
      <p:sp>
        <p:nvSpPr>
          <p:cNvPr id="3" name="q-0"/>
          <p:cNvSpPr/>
          <p:nvPr/>
        </p:nvSpPr>
        <p:spPr>
          <a:xfrm>
            <a:off x="6324448" y="1371600"/>
            <a:ext cx="53186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badge"/>
          <p:cNvSpPr/>
          <p:nvPr/>
        </p:nvSpPr>
        <p:spPr>
          <a:xfrm>
            <a:off x="1100297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0297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07328" y="1371600"/>
            <a:ext cx="44042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ما الأسلوب الصحيح لإعداد خط الطي؟ ولماذا؟</a:t>
            </a:r>
            <a:endParaRPr lang="ar-SA" sz="1700" dirty="0"/>
          </a:p>
        </p:txBody>
      </p:sp>
      <p:sp>
        <p:nvSpPr>
          <p:cNvPr id="7" name="q-1"/>
          <p:cNvSpPr/>
          <p:nvPr/>
        </p:nvSpPr>
        <p:spPr>
          <a:xfrm>
            <a:off x="6324448" y="2926080"/>
            <a:ext cx="53186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8" name="badge"/>
          <p:cNvSpPr/>
          <p:nvPr/>
        </p:nvSpPr>
        <p:spPr>
          <a:xfrm>
            <a:off x="11002975" y="3337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002975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926080"/>
            <a:ext cx="44042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أين توضع المسطرة أثناء القص؟ علّل.</a:t>
            </a:r>
            <a:endParaRPr lang="ar-SA" sz="1700" dirty="0"/>
          </a:p>
        </p:txBody>
      </p:sp>
      <p:sp>
        <p:nvSpPr>
          <p:cNvPr id="11" name="q-2"/>
          <p:cNvSpPr/>
          <p:nvPr/>
        </p:nvSpPr>
        <p:spPr>
          <a:xfrm>
            <a:off x="6324448" y="4480560"/>
            <a:ext cx="53186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2" name="badge"/>
          <p:cNvSpPr/>
          <p:nvPr/>
        </p:nvSpPr>
        <p:spPr>
          <a:xfrm>
            <a:off x="11002975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002975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٣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4480560"/>
            <a:ext cx="44042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كم يصبح عدد أوجه المكعّب بعد كشط أحد أركانه؟</a:t>
            </a:r>
            <a:endParaRPr lang="ar-SA" sz="1700" dirty="0"/>
          </a:p>
        </p:txBody>
      </p:sp>
      <p:sp>
        <p:nvSpPr>
          <p:cNvPr id="15" name="q-3"/>
          <p:cNvSpPr/>
          <p:nvPr/>
        </p:nvSpPr>
        <p:spPr>
          <a:xfrm>
            <a:off x="548640" y="1371600"/>
            <a:ext cx="53186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5227168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271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1371600"/>
            <a:ext cx="44042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ما زاوية الليّ المثلى؟ وما الحد الذي لا يُنصح بتجاوزه؟</a:t>
            </a:r>
            <a:endParaRPr lang="ar-SA" sz="1700" dirty="0"/>
          </a:p>
        </p:txBody>
      </p:sp>
      <p:sp>
        <p:nvSpPr>
          <p:cNvPr id="19" name="q-4"/>
          <p:cNvSpPr/>
          <p:nvPr/>
        </p:nvSpPr>
        <p:spPr>
          <a:xfrm>
            <a:off x="548640" y="2926080"/>
            <a:ext cx="53186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0" name="badge"/>
          <p:cNvSpPr/>
          <p:nvPr/>
        </p:nvSpPr>
        <p:spPr>
          <a:xfrm>
            <a:off x="5227168" y="3337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2716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٥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926080"/>
            <a:ext cx="44042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إذا كان طول الحافة ١٢ سم، فكم يكون نصف قطر المنحنى؟</a:t>
            </a:r>
            <a:endParaRPr lang="ar-SA" sz="1700" dirty="0"/>
          </a:p>
        </p:txBody>
      </p:sp>
      <p:sp>
        <p:nvSpPr>
          <p:cNvPr id="23" name="q-5"/>
          <p:cNvSpPr/>
          <p:nvPr/>
        </p:nvSpPr>
        <p:spPr>
          <a:xfrm>
            <a:off x="548640" y="4480560"/>
            <a:ext cx="5318608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4" name="badge"/>
          <p:cNvSpPr/>
          <p:nvPr/>
        </p:nvSpPr>
        <p:spPr>
          <a:xfrm>
            <a:off x="5227168" y="4892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27168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٦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480560"/>
            <a:ext cx="44042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لماذا يُشترط عدد زوجي من الحواف في المنحنيات المفردة؟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tx2"/>
                </a:solidFill>
              </a:rPr>
              <a:t>المشروع التطبيقي: تصميم عبوة مبتكرة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يختار الطالب منتجًا (عطرًا، أو شوكولاتة، أو شمعة، أو مستحضر تجميل) ويصمّم له عبوة وفق المتطلبات الآتية:</a:t>
            </a:r>
            <a:endParaRPr lang="ar-SA" sz="1700" dirty="0"/>
          </a:p>
        </p:txBody>
      </p:sp>
      <p:sp>
        <p:nvSpPr>
          <p:cNvPr id="4" name="req-0"/>
          <p:cNvSpPr/>
          <p:nvPr/>
        </p:nvSpPr>
        <p:spPr>
          <a:xfrm>
            <a:off x="9607052" y="2057400"/>
            <a:ext cx="2036003" cy="30175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/>
        </p:spPr>
      </p:sp>
      <p:sp>
        <p:nvSpPr>
          <p:cNvPr id="5" name="badge"/>
          <p:cNvSpPr/>
          <p:nvPr/>
        </p:nvSpPr>
        <p:spPr>
          <a:xfrm>
            <a:off x="10350734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5073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١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744212" y="2926080"/>
            <a:ext cx="1761683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الدمج</a:t>
            </a:r>
            <a:endParaRPr lang="ar-S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44212" y="3474720"/>
            <a:ext cx="1761683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بين تقنيتين من تقنيات المحاضرة في تصميم واحد</a:t>
            </a:r>
            <a:endParaRPr lang="ar-SA" sz="1400" dirty="0"/>
          </a:p>
        </p:txBody>
      </p:sp>
      <p:sp>
        <p:nvSpPr>
          <p:cNvPr id="9" name="req-1"/>
          <p:cNvSpPr/>
          <p:nvPr/>
        </p:nvSpPr>
        <p:spPr>
          <a:xfrm>
            <a:off x="7342449" y="2057400"/>
            <a:ext cx="2036003" cy="301752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10" name="badge"/>
          <p:cNvSpPr/>
          <p:nvPr/>
        </p:nvSpPr>
        <p:spPr>
          <a:xfrm>
            <a:off x="8086131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86131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٢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79609" y="2926080"/>
            <a:ext cx="1761683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المِفرَد</a:t>
            </a:r>
            <a:endParaRPr lang="ar-SA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79609" y="3474720"/>
            <a:ext cx="1761683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رسمه كاملًا بألسنته مع التمييز بين خطوط القص والطي</a:t>
            </a:r>
            <a:endParaRPr lang="ar-SA" sz="1400" dirty="0"/>
          </a:p>
        </p:txBody>
      </p:sp>
      <p:sp>
        <p:nvSpPr>
          <p:cNvPr id="14" name="req-2"/>
          <p:cNvSpPr/>
          <p:nvPr/>
        </p:nvSpPr>
        <p:spPr>
          <a:xfrm>
            <a:off x="5077846" y="2057400"/>
            <a:ext cx="2036003" cy="30175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/>
        </p:spPr>
      </p:sp>
      <p:sp>
        <p:nvSpPr>
          <p:cNvPr id="15" name="badge"/>
          <p:cNvSpPr/>
          <p:nvPr/>
        </p:nvSpPr>
        <p:spPr>
          <a:xfrm>
            <a:off x="5821528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2152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٣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5006" y="2926080"/>
            <a:ext cx="1761683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الغطاء والإغلاق</a:t>
            </a:r>
            <a:endParaRPr lang="ar-SA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15006" y="3474720"/>
            <a:ext cx="1761683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تحديد موضع الغطاء وآلية الإغلاق مع المسوّغات</a:t>
            </a:r>
            <a:endParaRPr lang="ar-SA" sz="1400" dirty="0"/>
          </a:p>
        </p:txBody>
      </p:sp>
      <p:sp>
        <p:nvSpPr>
          <p:cNvPr id="19" name="req-3"/>
          <p:cNvSpPr/>
          <p:nvPr/>
        </p:nvSpPr>
        <p:spPr>
          <a:xfrm>
            <a:off x="2813243" y="2057400"/>
            <a:ext cx="2036003" cy="301752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0" name="badge"/>
          <p:cNvSpPr/>
          <p:nvPr/>
        </p:nvSpPr>
        <p:spPr>
          <a:xfrm>
            <a:off x="3556925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56925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950403" y="2926080"/>
            <a:ext cx="1761683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النموذج</a:t>
            </a:r>
            <a:endParaRPr lang="ar-SA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950403" y="3474720"/>
            <a:ext cx="1761683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تنفيذه بالورق المقوّى بالأدوات والطرق الصحيحة</a:t>
            </a:r>
            <a:endParaRPr lang="ar-SA" sz="1400" dirty="0"/>
          </a:p>
        </p:txBody>
      </p:sp>
      <p:sp>
        <p:nvSpPr>
          <p:cNvPr id="24" name="req-4"/>
          <p:cNvSpPr/>
          <p:nvPr/>
        </p:nvSpPr>
        <p:spPr>
          <a:xfrm>
            <a:off x="548640" y="2057400"/>
            <a:ext cx="2036003" cy="3017520"/>
          </a:xfrm>
          <a:prstGeom prst="roundRect">
            <a:avLst>
              <a:gd name="adj" fmla="val 4491"/>
            </a:avLst>
          </a:prstGeom>
          <a:solidFill>
            <a:schemeClr val="tx2"/>
          </a:solidFill>
          <a:ln/>
        </p:spPr>
      </p:sp>
      <p:sp>
        <p:nvSpPr>
          <p:cNvPr id="25" name="badge"/>
          <p:cNvSpPr/>
          <p:nvPr/>
        </p:nvSpPr>
        <p:spPr>
          <a:xfrm>
            <a:off x="1292322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9232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٥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2926080"/>
            <a:ext cx="1761683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التقرير</a:t>
            </a:r>
            <a:endParaRPr lang="ar-SA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474720"/>
            <a:ext cx="1761683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صفحة توضّح ملاءمة الشكل للمنتج وهويته، ومعالجة الحماية والرصّ والعرض</a:t>
            </a:r>
            <a:endParaRPr lang="ar-SA" sz="1400" dirty="0"/>
          </a:p>
        </p:txBody>
      </p:sp>
      <p:sp>
        <p:nvSpPr>
          <p:cNvPr id="29" name="examples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349240"/>
            <a:ext cx="1072865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أمثلة استرشادية: </a:t>
            </a:r>
            <a:pPr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عبوة عطر بكشط الركن يُطبع الشعار على مثلثها وتُعرض قائمة عليه، أو علبة شوكولاتة بالليّ المُضلَّع غطاؤها المربع العلوي بقفل لسان.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" descr="مِفرَد مكعّب من الورق المقوّى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669280" y="18288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شكرًا لكم</a:t>
            </a:r>
            <a:endParaRPr lang="ar-SA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669280" y="361188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أسئلة ونقاش</a:t>
            </a:r>
            <a:endParaRPr lang="ar-SA" sz="1800" dirty="0"/>
          </a:p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المصدر: الفصل الرابع «Deforming a Cube» والقسم ١٫٢ «How to Cut and Fold» من الكتاب المرجعي للمقرر</a:t>
            </a:r>
            <a:endParaRPr lang="ar-SA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be to Box">
  <a:themeElements>
    <a:clrScheme name="Cube to Box">
      <a:dk1>
        <a:srgbClr val="1D2622"/>
      </a:dk1>
      <a:lt1>
        <a:srgbClr val="FFFFFF"/>
      </a:lt1>
      <a:dk2>
        <a:srgbClr val="1F3B30"/>
      </a:dk2>
      <a:lt2>
        <a:srgbClr val="EEF3F0"/>
      </a:lt2>
      <a:accent1>
        <a:srgbClr val="4F8A70"/>
      </a:accent1>
      <a:accent2>
        <a:srgbClr val="C8643B"/>
      </a:accent2>
      <a:accent3>
        <a:srgbClr val="3AA59A"/>
      </a:accent3>
      <a:accent4>
        <a:srgbClr val="A9CDBB"/>
      </a:accent4>
      <a:accent5>
        <a:srgbClr val="5B6862"/>
      </a:accent5>
      <a:accent6>
        <a:srgbClr val="D5DDD8"/>
      </a:accent6>
      <a:hlink>
        <a:srgbClr val="3AA59A"/>
      </a:hlink>
      <a:folHlink>
        <a:srgbClr val="5B6862"/>
      </a:folHlink>
    </a:clrScheme>
    <a:fontScheme name="Cube to Bo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 المكعّب إلى العبوة</dc:title>
  <dc:subject>تصميم المغلفات: تشويه المكعّب</dc:subject>
  <dc:creator>PptxGenJS</dc:creator>
  <cp:lastModifiedBy>PptxGenJS</cp:lastModifiedBy>
  <cp:revision>1</cp:revision>
  <dcterms:created xsi:type="dcterms:W3CDTF">2026-10-02T16:17:40Z</dcterms:created>
  <dcterms:modified xsi:type="dcterms:W3CDTF">2026-10-02T16:17:40Z</dcterms:modified>
</cp:coreProperties>
</file>